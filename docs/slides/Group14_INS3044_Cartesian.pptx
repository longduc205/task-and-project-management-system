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241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110"/>
    <p:restoredTop sz="94679"/>
  </p:normalViewPr>
  <p:slideViewPr>
    <p:cSldViewPr snapToGrid="0" snapToObjects="1">
      <p:cViewPr varScale="1">
        <p:scale>
          <a:sx n="103" d="100"/>
          <a:sy n="103" d="100"/>
        </p:scale>
        <p:origin x="176" y="280"/>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4818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everyone. Group 14: Đức as PM, Bảo on development, Thịnh on UI/UX, Hiếu leading QA. We've spent 14 weeks building a web-based Task and Project Management System, applying every major discipline of IT project management. The tagline 'an unhurried 14-week build' captures our approach — sound process over speed. Eight sections: WBS, PERT, CPM, budgeting, risk, communication, EVM, and the prototype demo.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presentation mirrors the full project management cycle across eight sections. We'll open with scope, move through WBS, schedule, budget, risk, and communication, then finish with EVM monitoring and the live prototype demo. Each section maps to specific CLOs in the INS3044 syllabus.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 sets the foundation — business context, in-scope and out-of-scope boundaries, and our five SMART objectives tied directly to the INS3044 CLOs.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headline KPIs. BAC is 33.6 million VND from bottom-up estimation. Critical path is 43 working days — we'll derive that in Section III. Risk EMV of 3.08 million is covered by contingency plus management reserve. Five prototype features delivered live.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explicit in-scope — agreed by all four members, traceable to registration. Right: deliberately excluded with rationale. Scope lock is our first defence against R2 scope creep.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objectives, each Specific, Measurable, Achievable, Relevant, Time-bound. OBJ-1: prototype deliverables. OBJ-2: 480-hour budget. OBJ-3: quality at UAT. OBJ-4: risk EMV. OBJ-5: final submission. Every objective is tagged to a CLO.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 the Work Breakdown Structure. Our definitive scope baseline: every deliverable maps to exactly one Level 3 work package. Three-level hierarchy, 16 work packages, 480 person-hours total.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Level 1: the project itself. Level 2: seven branches. Level 3: 16 work packages. Total effort 480 person-hours — verified against the scope statement.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 — the schedule heart. PERT three-point estimation for six activities, full CPM forward and backward pass, critical path A→B→E→G→H, and the Gantt overview.</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16 Level 3 work packages across 14 weeks. Critical path in burnt sienna — zero float. Six diamond milestones. Activity F (Backend) has 8 days of float.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 = (O + 4M + P) / 6. σ = (P − O) / 6. Activity B — UI/UX Design — is the worked example: O=5, M=10, P=18 → TE=10.5d, σ=2.17d.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Forward: ES = max(EF of predecessors), EF = ES + duration. Backward: LF = min(LS of successors), LS = LF − duration. Slack = LS − ES. Critical path A→B→E→G→H = 43 days. Activity F has 8 days of float.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 B → E → G → H = 43 working days, ~9 calendar weeks. Activity F — Backend Dev — has 8 days of float. The project duration is dominated by Frontend Dev at 15 days.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IV — RACI matrix, make-or-buy analysis, and bottom-up budget totalling 33.6 million VND.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Accountable per row, at least one Responsible per row, no member is exclusively Informed. Each of our four members carries A+R roles.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Hours × 50,000 VND/h → labor 24M → +20% OH + G&amp;A + Contingency + Mgmt reserve. G&amp;A reduced from 2.4M to 1.72M to fund the 680K management reserve needed to cover the full EMV of 3.08M. BAC stays at 33.6M.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PV curve: front-loaded during development months 4-7. Cumulative spend reaches BAC of 33.6M at month 8. Locked as the EVM cost baseline at Week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 — six risks, EMV calculations, heatmap, and mitigation planning. Total cost EMV of 3.08M drives our contingency reserve.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risks identified through team brainstorming. EMV = Likelihood × Impact. R2 scope creep has highest EMV at 1.5M VND. Total EMV cost 3.08M, time EMV 13.35 days.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3×3 grid: likelihood vs impact. High zone: R2, R3, R5 need active mitigation. Medium zone: R1 and R6 monitored. Low zone: R4 accepted with preventive measures.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Contingency 2.4M alone doesn't cover EMV 3.08M. Gap of 680K funded by reallocating from G&amp;A. BAC unchanged at 33.6M — reserves reallocated, not added.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 — how the team communicates and resolves conflict. 6-step process for interpersonal issues, formal change control for scope changes.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6-step conflict resolution: focus on issues not personalities, document agreements. Stakeholder power/interest grid: instructors are high power/high interest.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VII — Earned Value Management. Week 6 snapshot: CPI=0.75, SPI≈0.45. Project is over budget and behind schedule. Corrective action planned.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 of 7.5M from completed milestones. AC of 10M from 200 logged hours. PV at W6 should be 16.8M (50% of BAC). CV −2.5M, SV −9.3M, CPI 0.75, SPI 0.45, EAC 44.8M.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ISS-001: stakeholder interviews ran +3h, closed. ISS-002: react-router-dom v7 broke the build, downgraded to v6, closed. ISS-003: integration milestone at risk, open. CR-001 approved replacing Supabase with local state — positive schedule, minor cost saving.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VIII — live demo plan for three features, five lessons learned, and full CLO coverage confirmation.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features in under 3 minutes. Feature 1: task CRUD + assignment. Feature 2: deadline management with overdue highlight. Feature 3: progress dashboard with live metrics. Demo URL localhost:5173.</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LL-1: scope creep at W6 — formal scope lock via CR-001. LL-2: PERT estimates too optimistic — use 1.2× multiplier for design. LL-3: react-router v7 broke build — pin versions in package.json. LL-4: EVM reactive — implement weekly mini-checks. LL-5: no frozen API contract — parallel dev caused 2 days rework. Freeze API at W5.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nine INS3044 Course Learning Outcomes demonstrably covered. CLO 1 through CLO 9 map to specific sections and evidence artefacts.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attention. All four team members can answer questions in their respective areas: Đức on schedule and risk, Bảo on technical implementation, Thịnh on design and UX, Hiếu on testing and quality. Full report, prototype, and presentation materials are in the submission ZIP.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822960" y="548640"/>
            <a:ext cx="10058400" cy="236988"/>
          </a:xfrm>
          <a:prstGeom prst="rect">
            <a:avLst/>
          </a:prstGeom>
          <a:noFill/>
        </p:spPr>
        <p:txBody>
          <a:bodyPr wrap="square" lIns="54864" tIns="18288" rIns="54864" bIns="18288" anchor="t">
            <a:spAutoFit/>
          </a:bodyPr>
          <a:lstStyle/>
          <a:p>
            <a:pPr algn="l">
              <a:lnSpc>
                <a:spcPct val="100000"/>
              </a:lnSpc>
            </a:pPr>
            <a:r>
              <a:rPr sz="1300" b="0" i="0"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INS3044 · IT Project Management</a:t>
            </a:r>
          </a:p>
        </p:txBody>
      </p:sp>
      <p:sp>
        <p:nvSpPr>
          <p:cNvPr id="4" name="TextBox 3"/>
          <p:cNvSpPr txBox="1"/>
          <p:nvPr/>
        </p:nvSpPr>
        <p:spPr>
          <a:xfrm>
            <a:off x="822960" y="1512838"/>
            <a:ext cx="10515600" cy="1005840"/>
          </a:xfrm>
          <a:prstGeom prst="rect">
            <a:avLst/>
          </a:prstGeom>
          <a:noFill/>
        </p:spPr>
        <p:txBody>
          <a:bodyPr wrap="square" lIns="54864" tIns="18288" rIns="54864" bIns="18288" anchor="t">
            <a:spAutoFit/>
          </a:bodyPr>
          <a:lstStyle/>
          <a:p>
            <a:pPr algn="l">
              <a:lnSpc>
                <a:spcPct val="100000"/>
              </a:lnSpc>
            </a:pPr>
            <a:r>
              <a:rPr sz="5800" b="1" i="0">
                <a:solidFill>
                  <a:srgbClr val="2B2419"/>
                </a:solidFill>
                <a:latin typeface="Playfair Display"/>
              </a:rPr>
              <a:t>Task &amp; Project</a:t>
            </a:r>
          </a:p>
        </p:txBody>
      </p:sp>
      <p:sp>
        <p:nvSpPr>
          <p:cNvPr id="5" name="TextBox 4"/>
          <p:cNvSpPr txBox="1"/>
          <p:nvPr/>
        </p:nvSpPr>
        <p:spPr>
          <a:xfrm>
            <a:off x="822960" y="2335798"/>
            <a:ext cx="10515600" cy="822960"/>
          </a:xfrm>
          <a:prstGeom prst="rect">
            <a:avLst/>
          </a:prstGeom>
          <a:noFill/>
        </p:spPr>
        <p:txBody>
          <a:bodyPr wrap="square" lIns="54864" tIns="18288" rIns="54864" bIns="18288" anchor="t">
            <a:spAutoFit/>
          </a:bodyPr>
          <a:lstStyle/>
          <a:p>
            <a:pPr algn="l">
              <a:lnSpc>
                <a:spcPct val="100000"/>
              </a:lnSpc>
            </a:pPr>
            <a:r>
              <a:rPr sz="5800" b="1" i="0">
                <a:solidFill>
                  <a:srgbClr val="2B2419"/>
                </a:solidFill>
                <a:latin typeface="Playfair Display"/>
              </a:rPr>
              <a:t>Management System</a:t>
            </a:r>
          </a:p>
        </p:txBody>
      </p:sp>
      <p:sp>
        <p:nvSpPr>
          <p:cNvPr id="6" name="TextBox 5"/>
          <p:cNvSpPr txBox="1"/>
          <p:nvPr/>
        </p:nvSpPr>
        <p:spPr>
          <a:xfrm>
            <a:off x="822960" y="3250198"/>
            <a:ext cx="8229600" cy="457200"/>
          </a:xfrm>
          <a:prstGeom prst="rect">
            <a:avLst/>
          </a:prstGeom>
          <a:noFill/>
        </p:spPr>
        <p:txBody>
          <a:bodyPr wrap="square" lIns="54864" tIns="18288" rIns="54864" bIns="18288" anchor="t">
            <a:spAutoFit/>
          </a:bodyPr>
          <a:lstStyle/>
          <a:p>
            <a:pPr algn="l">
              <a:lnSpc>
                <a:spcPct val="100000"/>
              </a:lnSpc>
            </a:pPr>
            <a:r>
              <a:rPr sz="2000" b="0" i="1" dirty="0">
                <a:solidFill>
                  <a:srgbClr val="5C4F3F"/>
                </a:solidFill>
                <a:latin typeface="Playfair Display"/>
              </a:rPr>
              <a:t>An unhurried 14-week build</a:t>
            </a:r>
          </a:p>
        </p:txBody>
      </p:sp>
      <p:cxnSp>
        <p:nvCxnSpPr>
          <p:cNvPr id="7" name="Connector 6"/>
          <p:cNvCxnSpPr/>
          <p:nvPr/>
        </p:nvCxnSpPr>
        <p:spPr>
          <a:xfrm>
            <a:off x="822960" y="3780550"/>
            <a:ext cx="1054577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822960" y="393599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398171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PM · Leader</a:t>
            </a:r>
          </a:p>
        </p:txBody>
      </p:sp>
      <p:sp>
        <p:nvSpPr>
          <p:cNvPr id="10" name="TextBox 9"/>
          <p:cNvSpPr txBox="1"/>
          <p:nvPr/>
        </p:nvSpPr>
        <p:spPr>
          <a:xfrm>
            <a:off x="914400" y="421031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Nguyễn Long Đức</a:t>
            </a:r>
          </a:p>
        </p:txBody>
      </p:sp>
      <p:sp>
        <p:nvSpPr>
          <p:cNvPr id="11" name="TextBox 10"/>
          <p:cNvSpPr txBox="1"/>
          <p:nvPr/>
        </p:nvSpPr>
        <p:spPr>
          <a:xfrm>
            <a:off x="914400" y="4548645"/>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23070435</a:t>
            </a:r>
          </a:p>
        </p:txBody>
      </p:sp>
      <p:sp>
        <p:nvSpPr>
          <p:cNvPr id="12" name="Rectangle 11"/>
          <p:cNvSpPr/>
          <p:nvPr/>
        </p:nvSpPr>
        <p:spPr>
          <a:xfrm>
            <a:off x="3474720" y="393599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66160" y="398171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Developer</a:t>
            </a:r>
          </a:p>
        </p:txBody>
      </p:sp>
      <p:sp>
        <p:nvSpPr>
          <p:cNvPr id="14" name="TextBox 13"/>
          <p:cNvSpPr txBox="1"/>
          <p:nvPr/>
        </p:nvSpPr>
        <p:spPr>
          <a:xfrm>
            <a:off x="3566160" y="4210318"/>
            <a:ext cx="2286000" cy="292608"/>
          </a:xfrm>
          <a:prstGeom prst="rect">
            <a:avLst/>
          </a:prstGeom>
          <a:noFill/>
        </p:spPr>
        <p:txBody>
          <a:bodyPr wrap="square" lIns="54864" tIns="18288" rIns="54864" bIns="18288" anchor="t">
            <a:spAutoFit/>
          </a:bodyPr>
          <a:lstStyle/>
          <a:p>
            <a:pPr algn="l">
              <a:lnSpc>
                <a:spcPct val="100000"/>
              </a:lnSpc>
            </a:pPr>
            <a:r>
              <a:rPr sz="1300" b="1" i="0" dirty="0">
                <a:solidFill>
                  <a:srgbClr val="2B2419"/>
                </a:solidFill>
                <a:latin typeface="Playfair Display"/>
              </a:rPr>
              <a:t>Phạm </a:t>
            </a:r>
            <a:r>
              <a:rPr sz="1300" b="1" i="0" dirty="0" err="1">
                <a:solidFill>
                  <a:srgbClr val="2B2419"/>
                </a:solidFill>
                <a:latin typeface="Playfair Display"/>
              </a:rPr>
              <a:t>Hồ</a:t>
            </a:r>
            <a:r>
              <a:rPr sz="1300" b="1" i="0" dirty="0">
                <a:solidFill>
                  <a:srgbClr val="2B2419"/>
                </a:solidFill>
                <a:latin typeface="Playfair Display"/>
              </a:rPr>
              <a:t> Bảo</a:t>
            </a:r>
          </a:p>
        </p:txBody>
      </p:sp>
      <p:sp>
        <p:nvSpPr>
          <p:cNvPr id="15" name="TextBox 14"/>
          <p:cNvSpPr txBox="1"/>
          <p:nvPr/>
        </p:nvSpPr>
        <p:spPr>
          <a:xfrm>
            <a:off x="3566160" y="4548645"/>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23070455</a:t>
            </a:r>
          </a:p>
        </p:txBody>
      </p:sp>
      <p:sp>
        <p:nvSpPr>
          <p:cNvPr id="16" name="Rectangle 15"/>
          <p:cNvSpPr/>
          <p:nvPr/>
        </p:nvSpPr>
        <p:spPr>
          <a:xfrm>
            <a:off x="6126480" y="393599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17920" y="398171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UI / UX Designer</a:t>
            </a:r>
          </a:p>
        </p:txBody>
      </p:sp>
      <p:sp>
        <p:nvSpPr>
          <p:cNvPr id="18" name="TextBox 17"/>
          <p:cNvSpPr txBox="1"/>
          <p:nvPr/>
        </p:nvSpPr>
        <p:spPr>
          <a:xfrm>
            <a:off x="6217920" y="421031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Kiều Bá Thịnh</a:t>
            </a:r>
          </a:p>
        </p:txBody>
      </p:sp>
      <p:sp>
        <p:nvSpPr>
          <p:cNvPr id="19" name="TextBox 18"/>
          <p:cNvSpPr txBox="1"/>
          <p:nvPr/>
        </p:nvSpPr>
        <p:spPr>
          <a:xfrm>
            <a:off x="6217920" y="4548645"/>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23070247</a:t>
            </a:r>
          </a:p>
        </p:txBody>
      </p:sp>
      <p:sp>
        <p:nvSpPr>
          <p:cNvPr id="20" name="Rectangle 19"/>
          <p:cNvSpPr/>
          <p:nvPr/>
        </p:nvSpPr>
        <p:spPr>
          <a:xfrm>
            <a:off x="8778240" y="393599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869680" y="398171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Quality Assurance</a:t>
            </a:r>
          </a:p>
        </p:txBody>
      </p:sp>
      <p:sp>
        <p:nvSpPr>
          <p:cNvPr id="22" name="TextBox 21"/>
          <p:cNvSpPr txBox="1"/>
          <p:nvPr/>
        </p:nvSpPr>
        <p:spPr>
          <a:xfrm>
            <a:off x="8869680" y="421031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Đỗ Huy Hiếu</a:t>
            </a:r>
          </a:p>
        </p:txBody>
      </p:sp>
      <p:sp>
        <p:nvSpPr>
          <p:cNvPr id="23" name="TextBox 22"/>
          <p:cNvSpPr txBox="1"/>
          <p:nvPr/>
        </p:nvSpPr>
        <p:spPr>
          <a:xfrm>
            <a:off x="8869680" y="4548645"/>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23070325</a:t>
            </a:r>
          </a:p>
        </p:txBody>
      </p:sp>
      <p:cxnSp>
        <p:nvCxnSpPr>
          <p:cNvPr id="24" name="Connector 23"/>
          <p:cNvCxnSpPr/>
          <p:nvPr/>
        </p:nvCxnSpPr>
        <p:spPr>
          <a:xfrm>
            <a:off x="822960" y="6053328"/>
            <a:ext cx="1054577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6108192"/>
            <a:ext cx="5486400" cy="190821"/>
          </a:xfrm>
          <a:prstGeom prst="rect">
            <a:avLst/>
          </a:prstGeom>
          <a:noFill/>
        </p:spPr>
        <p:txBody>
          <a:bodyPr wrap="square" lIns="54864" tIns="18288" rIns="54864" bIns="18288" anchor="t">
            <a:spAutoFit/>
          </a:bodyPr>
          <a:lstStyle/>
          <a:p>
            <a:pPr algn="l">
              <a:lnSpc>
                <a:spcPct val="100000"/>
              </a:lnSpc>
            </a:pPr>
            <a:r>
              <a:rPr sz="1000" b="0" i="0" dirty="0">
                <a:solidFill>
                  <a:srgbClr val="8A7A66"/>
                </a:solidFill>
                <a:latin typeface="Inter"/>
              </a:rPr>
              <a:t>Instructors: D</a:t>
            </a:r>
            <a:r>
              <a:rPr lang="en-US" sz="1000" b="0" i="0" dirty="0">
                <a:solidFill>
                  <a:srgbClr val="8A7A66"/>
                </a:solidFill>
                <a:latin typeface="Inter"/>
              </a:rPr>
              <a:t>r</a:t>
            </a:r>
            <a:r>
              <a:rPr sz="1000" b="0" i="0" dirty="0">
                <a:solidFill>
                  <a:srgbClr val="8A7A66"/>
                </a:solidFill>
                <a:latin typeface="Inter"/>
              </a:rPr>
              <a:t> </a:t>
            </a:r>
            <a:r>
              <a:rPr sz="1000" b="0" i="0" dirty="0" err="1">
                <a:solidFill>
                  <a:srgbClr val="8A7A66"/>
                </a:solidFill>
                <a:latin typeface="Inter"/>
              </a:rPr>
              <a:t>Đỗ</a:t>
            </a:r>
            <a:r>
              <a:rPr sz="1000" b="0" i="0" dirty="0">
                <a:solidFill>
                  <a:srgbClr val="8A7A66"/>
                </a:solidFill>
                <a:latin typeface="Inter"/>
              </a:rPr>
              <a:t> Tiến Thành</a:t>
            </a:r>
          </a:p>
        </p:txBody>
      </p:sp>
      <p:sp>
        <p:nvSpPr>
          <p:cNvPr id="26" name="TextBox 25"/>
          <p:cNvSpPr txBox="1"/>
          <p:nvPr/>
        </p:nvSpPr>
        <p:spPr>
          <a:xfrm>
            <a:off x="822960" y="6327648"/>
            <a:ext cx="5486400" cy="274320"/>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Faculty of Applied Sciences · VNU ·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54864" tIns="18288" rIns="54864" bIns="18288" anchor="t">
            <a:spAutoFit/>
          </a:bodyPr>
          <a:lstStyle/>
          <a:p>
            <a:pPr algn="l">
              <a:lnSpc>
                <a:spcPct val="100000"/>
              </a:lnSpc>
            </a:pPr>
            <a:r>
              <a:rPr sz="1000" b="1" i="0" spc="200">
                <a:solidFill>
                  <a:srgbClr val="8A7A66"/>
                </a:solidFill>
                <a:latin typeface="Inter"/>
              </a:rPr>
              <a:t>OVERVIEW</a:t>
            </a:r>
          </a:p>
        </p:txBody>
      </p:sp>
      <p:cxnSp>
        <p:nvCxnSpPr>
          <p:cNvPr id="3" name="Connector 2"/>
          <p:cNvCxnSpPr/>
          <p:nvPr/>
        </p:nvCxnSpPr>
        <p:spPr>
          <a:xfrm>
            <a:off x="640080" y="731520"/>
            <a:ext cx="502920" cy="0"/>
          </a:xfrm>
          <a:prstGeom prst="line">
            <a:avLst/>
          </a:prstGeom>
          <a:ln w="19050">
            <a:solidFill>
              <a:srgbClr val="8C5A2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822960"/>
            <a:ext cx="10972800" cy="731520"/>
          </a:xfrm>
          <a:prstGeom prst="rect">
            <a:avLst/>
          </a:prstGeom>
          <a:noFill/>
        </p:spPr>
        <p:txBody>
          <a:bodyPr wrap="square" lIns="54864" tIns="18288" rIns="54864" bIns="18288" anchor="t">
            <a:spAutoFit/>
          </a:bodyPr>
          <a:lstStyle/>
          <a:p>
            <a:pPr algn="l">
              <a:lnSpc>
                <a:spcPct val="100000"/>
              </a:lnSpc>
            </a:pPr>
            <a:r>
              <a:rPr sz="3600" b="1" i="0">
                <a:solidFill>
                  <a:srgbClr val="2B2419"/>
                </a:solidFill>
                <a:latin typeface="Playfair Display"/>
              </a:rPr>
              <a:t>Eight sections, one project</a:t>
            </a:r>
          </a:p>
        </p:txBody>
      </p:sp>
      <p:sp>
        <p:nvSpPr>
          <p:cNvPr id="5" name="Rectangle 4"/>
          <p:cNvSpPr/>
          <p:nvPr/>
        </p:nvSpPr>
        <p:spPr>
          <a:xfrm>
            <a:off x="640080" y="1874519"/>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929383"/>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I</a:t>
            </a:r>
          </a:p>
        </p:txBody>
      </p:sp>
      <p:sp>
        <p:nvSpPr>
          <p:cNvPr id="7" name="TextBox 6"/>
          <p:cNvSpPr txBox="1"/>
          <p:nvPr/>
        </p:nvSpPr>
        <p:spPr>
          <a:xfrm>
            <a:off x="1734891" y="1965959"/>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Scope &amp; Objectives</a:t>
            </a:r>
          </a:p>
        </p:txBody>
      </p:sp>
      <p:sp>
        <p:nvSpPr>
          <p:cNvPr id="8" name="TextBox 7"/>
          <p:cNvSpPr txBox="1"/>
          <p:nvPr/>
        </p:nvSpPr>
        <p:spPr>
          <a:xfrm>
            <a:off x="1734891" y="2350007"/>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1, 2</a:t>
            </a:r>
          </a:p>
        </p:txBody>
      </p:sp>
      <p:sp>
        <p:nvSpPr>
          <p:cNvPr id="9" name="Rectangle 8"/>
          <p:cNvSpPr/>
          <p:nvPr/>
        </p:nvSpPr>
        <p:spPr>
          <a:xfrm>
            <a:off x="6035040" y="1874519"/>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44768" y="1929383"/>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II</a:t>
            </a:r>
          </a:p>
        </p:txBody>
      </p:sp>
      <p:sp>
        <p:nvSpPr>
          <p:cNvPr id="11" name="TextBox 10"/>
          <p:cNvSpPr txBox="1"/>
          <p:nvPr/>
        </p:nvSpPr>
        <p:spPr>
          <a:xfrm>
            <a:off x="7129851" y="1965959"/>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Work Breakdown Structure</a:t>
            </a:r>
          </a:p>
        </p:txBody>
      </p:sp>
      <p:sp>
        <p:nvSpPr>
          <p:cNvPr id="12" name="TextBox 11"/>
          <p:cNvSpPr txBox="1"/>
          <p:nvPr/>
        </p:nvSpPr>
        <p:spPr>
          <a:xfrm>
            <a:off x="7129851" y="2350007"/>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2, 5</a:t>
            </a:r>
          </a:p>
        </p:txBody>
      </p:sp>
      <p:sp>
        <p:nvSpPr>
          <p:cNvPr id="13" name="Rectangle 12"/>
          <p:cNvSpPr/>
          <p:nvPr/>
        </p:nvSpPr>
        <p:spPr>
          <a:xfrm>
            <a:off x="640080" y="2898647"/>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2953511"/>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III</a:t>
            </a:r>
          </a:p>
        </p:txBody>
      </p:sp>
      <p:sp>
        <p:nvSpPr>
          <p:cNvPr id="15" name="TextBox 14"/>
          <p:cNvSpPr txBox="1"/>
          <p:nvPr/>
        </p:nvSpPr>
        <p:spPr>
          <a:xfrm>
            <a:off x="1734891" y="2990087"/>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Timeline &amp; Milestones</a:t>
            </a:r>
          </a:p>
        </p:txBody>
      </p:sp>
      <p:sp>
        <p:nvSpPr>
          <p:cNvPr id="16" name="TextBox 15"/>
          <p:cNvSpPr txBox="1"/>
          <p:nvPr/>
        </p:nvSpPr>
        <p:spPr>
          <a:xfrm>
            <a:off x="1734891" y="3374135"/>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2, 4, 5</a:t>
            </a:r>
          </a:p>
        </p:txBody>
      </p:sp>
      <p:sp>
        <p:nvSpPr>
          <p:cNvPr id="17" name="Rectangle 16"/>
          <p:cNvSpPr/>
          <p:nvPr/>
        </p:nvSpPr>
        <p:spPr>
          <a:xfrm>
            <a:off x="6035040" y="2898647"/>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44768" y="2953511"/>
            <a:ext cx="731520" cy="804672"/>
          </a:xfrm>
          <a:prstGeom prst="rect">
            <a:avLst/>
          </a:prstGeom>
          <a:noFill/>
        </p:spPr>
        <p:txBody>
          <a:bodyPr wrap="square" lIns="54864" tIns="18288" rIns="54864" bIns="18288" anchor="t">
            <a:spAutoFit/>
          </a:bodyPr>
          <a:lstStyle/>
          <a:p>
            <a:pPr algn="l">
              <a:lnSpc>
                <a:spcPct val="100000"/>
              </a:lnSpc>
            </a:pPr>
            <a:r>
              <a:rPr sz="2400" b="0" i="1" dirty="0">
                <a:solidFill>
                  <a:srgbClr val="8C5A2E"/>
                </a:solidFill>
                <a:latin typeface="Playfair Display"/>
              </a:rPr>
              <a:t>§ IV</a:t>
            </a:r>
          </a:p>
        </p:txBody>
      </p:sp>
      <p:sp>
        <p:nvSpPr>
          <p:cNvPr id="19" name="TextBox 18"/>
          <p:cNvSpPr txBox="1"/>
          <p:nvPr/>
        </p:nvSpPr>
        <p:spPr>
          <a:xfrm>
            <a:off x="7129851" y="2990087"/>
            <a:ext cx="4023360" cy="347472"/>
          </a:xfrm>
          <a:prstGeom prst="rect">
            <a:avLst/>
          </a:prstGeom>
          <a:noFill/>
        </p:spPr>
        <p:txBody>
          <a:bodyPr wrap="square" lIns="54864" tIns="18288" rIns="54864" bIns="18288" anchor="t">
            <a:spAutoFit/>
          </a:bodyPr>
          <a:lstStyle/>
          <a:p>
            <a:pPr algn="l">
              <a:lnSpc>
                <a:spcPct val="100000"/>
              </a:lnSpc>
            </a:pPr>
            <a:r>
              <a:rPr sz="1500" b="1" i="0" dirty="0">
                <a:solidFill>
                  <a:srgbClr val="2B2419"/>
                </a:solidFill>
                <a:latin typeface="Playfair Display"/>
              </a:rPr>
              <a:t>Resource Management</a:t>
            </a:r>
          </a:p>
        </p:txBody>
      </p:sp>
      <p:sp>
        <p:nvSpPr>
          <p:cNvPr id="20" name="TextBox 19"/>
          <p:cNvSpPr txBox="1"/>
          <p:nvPr/>
        </p:nvSpPr>
        <p:spPr>
          <a:xfrm>
            <a:off x="7129851" y="3374135"/>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2, 8, 9</a:t>
            </a:r>
          </a:p>
        </p:txBody>
      </p:sp>
      <p:sp>
        <p:nvSpPr>
          <p:cNvPr id="21" name="Rectangle 20"/>
          <p:cNvSpPr/>
          <p:nvPr/>
        </p:nvSpPr>
        <p:spPr>
          <a:xfrm>
            <a:off x="640080" y="3922775"/>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3977639"/>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V</a:t>
            </a:r>
          </a:p>
        </p:txBody>
      </p:sp>
      <p:sp>
        <p:nvSpPr>
          <p:cNvPr id="23" name="TextBox 22"/>
          <p:cNvSpPr txBox="1"/>
          <p:nvPr/>
        </p:nvSpPr>
        <p:spPr>
          <a:xfrm>
            <a:off x="1734891" y="4014215"/>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Risk Management</a:t>
            </a:r>
          </a:p>
        </p:txBody>
      </p:sp>
      <p:sp>
        <p:nvSpPr>
          <p:cNvPr id="24" name="TextBox 23"/>
          <p:cNvSpPr txBox="1"/>
          <p:nvPr/>
        </p:nvSpPr>
        <p:spPr>
          <a:xfrm>
            <a:off x="1734891" y="4398263"/>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3, 6</a:t>
            </a:r>
          </a:p>
        </p:txBody>
      </p:sp>
      <p:sp>
        <p:nvSpPr>
          <p:cNvPr id="25" name="Rectangle 24"/>
          <p:cNvSpPr/>
          <p:nvPr/>
        </p:nvSpPr>
        <p:spPr>
          <a:xfrm>
            <a:off x="6035040" y="3922775"/>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144768" y="3977639"/>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VI</a:t>
            </a:r>
          </a:p>
        </p:txBody>
      </p:sp>
      <p:sp>
        <p:nvSpPr>
          <p:cNvPr id="27" name="TextBox 26"/>
          <p:cNvSpPr txBox="1"/>
          <p:nvPr/>
        </p:nvSpPr>
        <p:spPr>
          <a:xfrm>
            <a:off x="7129851" y="4014215"/>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Communication</a:t>
            </a:r>
          </a:p>
        </p:txBody>
      </p:sp>
      <p:sp>
        <p:nvSpPr>
          <p:cNvPr id="28" name="TextBox 27"/>
          <p:cNvSpPr txBox="1"/>
          <p:nvPr/>
        </p:nvSpPr>
        <p:spPr>
          <a:xfrm>
            <a:off x="7129851" y="4398263"/>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4, 5, 8, 9, 12</a:t>
            </a:r>
          </a:p>
        </p:txBody>
      </p:sp>
      <p:sp>
        <p:nvSpPr>
          <p:cNvPr id="29" name="Rectangle 28"/>
          <p:cNvSpPr/>
          <p:nvPr/>
        </p:nvSpPr>
        <p:spPr>
          <a:xfrm>
            <a:off x="640080" y="4946903"/>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49808" y="5001767"/>
            <a:ext cx="1005840" cy="406265"/>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VII</a:t>
            </a:r>
          </a:p>
        </p:txBody>
      </p:sp>
      <p:sp>
        <p:nvSpPr>
          <p:cNvPr id="31" name="TextBox 30"/>
          <p:cNvSpPr txBox="1"/>
          <p:nvPr/>
        </p:nvSpPr>
        <p:spPr>
          <a:xfrm>
            <a:off x="1734891" y="5038343"/>
            <a:ext cx="4023360" cy="347472"/>
          </a:xfrm>
          <a:prstGeom prst="rect">
            <a:avLst/>
          </a:prstGeom>
          <a:noFill/>
        </p:spPr>
        <p:txBody>
          <a:bodyPr wrap="square" lIns="54864" tIns="18288" rIns="54864" bIns="18288" anchor="t">
            <a:spAutoFit/>
          </a:bodyPr>
          <a:lstStyle/>
          <a:p>
            <a:pPr algn="l">
              <a:lnSpc>
                <a:spcPct val="100000"/>
              </a:lnSpc>
            </a:pPr>
            <a:r>
              <a:rPr sz="1500" b="1" i="0" dirty="0">
                <a:solidFill>
                  <a:srgbClr val="2B2419"/>
                </a:solidFill>
                <a:latin typeface="Playfair Display"/>
              </a:rPr>
              <a:t>Monitoring &amp; EVM</a:t>
            </a:r>
          </a:p>
        </p:txBody>
      </p:sp>
      <p:sp>
        <p:nvSpPr>
          <p:cNvPr id="32" name="TextBox 31"/>
          <p:cNvSpPr txBox="1"/>
          <p:nvPr/>
        </p:nvSpPr>
        <p:spPr>
          <a:xfrm>
            <a:off x="1734891" y="5422391"/>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7</a:t>
            </a:r>
          </a:p>
        </p:txBody>
      </p:sp>
      <p:sp>
        <p:nvSpPr>
          <p:cNvPr id="33" name="Rectangle 32"/>
          <p:cNvSpPr/>
          <p:nvPr/>
        </p:nvSpPr>
        <p:spPr>
          <a:xfrm>
            <a:off x="6035040" y="4946903"/>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144768" y="5001767"/>
            <a:ext cx="982614" cy="406265"/>
          </a:xfrm>
          <a:prstGeom prst="rect">
            <a:avLst/>
          </a:prstGeom>
          <a:noFill/>
        </p:spPr>
        <p:txBody>
          <a:bodyPr wrap="square" lIns="54864" tIns="18288" rIns="54864" bIns="18288" anchor="t">
            <a:spAutoFit/>
          </a:bodyPr>
          <a:lstStyle/>
          <a:p>
            <a:pPr algn="l">
              <a:lnSpc>
                <a:spcPct val="100000"/>
              </a:lnSpc>
            </a:pPr>
            <a:r>
              <a:rPr sz="2400" b="0" i="1" dirty="0">
                <a:solidFill>
                  <a:srgbClr val="8C5A2E"/>
                </a:solidFill>
                <a:latin typeface="Playfair Display"/>
              </a:rPr>
              <a:t>§ VIII</a:t>
            </a:r>
          </a:p>
        </p:txBody>
      </p:sp>
      <p:sp>
        <p:nvSpPr>
          <p:cNvPr id="35" name="TextBox 34"/>
          <p:cNvSpPr txBox="1"/>
          <p:nvPr/>
        </p:nvSpPr>
        <p:spPr>
          <a:xfrm>
            <a:off x="7129851" y="5038343"/>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Prototype &amp; Lessons</a:t>
            </a:r>
          </a:p>
        </p:txBody>
      </p:sp>
      <p:sp>
        <p:nvSpPr>
          <p:cNvPr id="36" name="TextBox 35"/>
          <p:cNvSpPr txBox="1"/>
          <p:nvPr/>
        </p:nvSpPr>
        <p:spPr>
          <a:xfrm>
            <a:off x="7129851" y="5422391"/>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7, 8, 9</a:t>
            </a:r>
          </a:p>
        </p:txBody>
      </p:sp>
      <p:cxnSp>
        <p:nvCxnSpPr>
          <p:cNvPr id="37" name="Connector 36"/>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39" name="TextBox 38"/>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01 / 31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79952" y="1531307"/>
            <a:ext cx="2011680" cy="1371600"/>
          </a:xfrm>
          <a:prstGeom prst="rect">
            <a:avLst/>
          </a:prstGeom>
          <a:noFill/>
        </p:spPr>
        <p:txBody>
          <a:bodyPr wrap="square" lIns="54864" tIns="18288" rIns="54864" bIns="18288" anchor="t">
            <a:spAutoFit/>
          </a:bodyPr>
          <a:lstStyle/>
          <a:p>
            <a:pPr algn="l">
              <a:lnSpc>
                <a:spcPct val="100000"/>
              </a:lnSpc>
            </a:pPr>
            <a:r>
              <a:rPr sz="12000" b="0" i="1">
                <a:solidFill>
                  <a:srgbClr val="8C5A2E"/>
                </a:solidFill>
                <a:latin typeface="Playfair Display"/>
              </a:rPr>
              <a:t>§</a:t>
            </a:r>
          </a:p>
        </p:txBody>
      </p:sp>
      <p:sp>
        <p:nvSpPr>
          <p:cNvPr id="5" name="TextBox 4"/>
          <p:cNvSpPr txBox="1"/>
          <p:nvPr/>
        </p:nvSpPr>
        <p:spPr>
          <a:xfrm>
            <a:off x="6185792" y="2038060"/>
            <a:ext cx="1828800" cy="1514261"/>
          </a:xfrm>
          <a:prstGeom prst="rect">
            <a:avLst/>
          </a:prstGeom>
          <a:noFill/>
        </p:spPr>
        <p:txBody>
          <a:bodyPr wrap="square" lIns="54864" tIns="18288" rIns="54864" bIns="18288" anchor="t">
            <a:spAutoFit/>
          </a:bodyPr>
          <a:lstStyle/>
          <a:p>
            <a:pPr algn="l">
              <a:lnSpc>
                <a:spcPct val="100000"/>
              </a:lnSpc>
            </a:pPr>
            <a:r>
              <a:rPr sz="9600" b="0" i="1" dirty="0">
                <a:solidFill>
                  <a:srgbClr val="C49A6C"/>
                </a:solidFill>
                <a:latin typeface="Playfair Display"/>
              </a:rPr>
              <a:t>I</a:t>
            </a:r>
          </a:p>
        </p:txBody>
      </p:sp>
      <p:sp>
        <p:nvSpPr>
          <p:cNvPr id="6" name="TextBox 5"/>
          <p:cNvSpPr txBox="1"/>
          <p:nvPr/>
        </p:nvSpPr>
        <p:spPr>
          <a:xfrm>
            <a:off x="1066800" y="3442593"/>
            <a:ext cx="10058400" cy="652486"/>
          </a:xfrm>
          <a:prstGeom prst="rect">
            <a:avLst/>
          </a:prstGeom>
          <a:noFill/>
        </p:spPr>
        <p:txBody>
          <a:bodyPr wrap="square" lIns="54864" tIns="18288" rIns="54864" bIns="18288" anchor="t">
            <a:spAutoFit/>
          </a:bodyPr>
          <a:lstStyle/>
          <a:p>
            <a:pPr algn="ctr">
              <a:lnSpc>
                <a:spcPct val="100000"/>
              </a:lnSpc>
            </a:pPr>
            <a:r>
              <a:rPr sz="4000" b="1" i="0" dirty="0">
                <a:solidFill>
                  <a:srgbClr val="2B2419"/>
                </a:solidFill>
                <a:latin typeface="Playfair Display"/>
              </a:rPr>
              <a:t>Scope &amp; Objectives</a:t>
            </a:r>
          </a:p>
        </p:txBody>
      </p: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02 / 31</a:t>
            </a:r>
          </a:p>
        </p:txBody>
      </p:sp>
      <p:sp>
        <p:nvSpPr>
          <p:cNvPr id="11" name="TextBox 10">
            <a:extLst>
              <a:ext uri="{FF2B5EF4-FFF2-40B4-BE49-F238E27FC236}">
                <a16:creationId xmlns:a16="http://schemas.microsoft.com/office/drawing/2014/main" id="{D18B65D3-5BB8-8E1E-CF29-4FEBC2D7F7BD}"/>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1, 2 · Ch. 1, 2,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dirty="0">
                <a:solidFill>
                  <a:srgbClr val="8A7A66"/>
                </a:solidFill>
                <a:latin typeface="Inter"/>
              </a:rPr>
              <a:t>SCOPE &amp; OBJECTIVES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dirty="0">
                <a:solidFill>
                  <a:srgbClr val="2B2419"/>
                </a:solidFill>
                <a:latin typeface="Playfair Display"/>
              </a:rPr>
              <a:t>Project at a Glance</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03 / 31</a:t>
            </a:r>
          </a:p>
        </p:txBody>
      </p:sp>
      <p:grpSp>
        <p:nvGrpSpPr>
          <p:cNvPr id="27" name="Group 26">
            <a:extLst>
              <a:ext uri="{FF2B5EF4-FFF2-40B4-BE49-F238E27FC236}">
                <a16:creationId xmlns:a16="http://schemas.microsoft.com/office/drawing/2014/main" id="{217933DA-8EC6-5963-66FB-B2C700FEB68A}"/>
              </a:ext>
            </a:extLst>
          </p:cNvPr>
          <p:cNvGrpSpPr/>
          <p:nvPr/>
        </p:nvGrpSpPr>
        <p:grpSpPr>
          <a:xfrm>
            <a:off x="1965960" y="1480207"/>
            <a:ext cx="2651760" cy="1645920"/>
            <a:chOff x="640080" y="1389888"/>
            <a:chExt cx="2651760" cy="1645920"/>
          </a:xfrm>
        </p:grpSpPr>
        <p:sp>
          <p:nvSpPr>
            <p:cNvPr id="8" name="Rectangle 7"/>
            <p:cNvSpPr/>
            <p:nvPr/>
          </p:nvSpPr>
          <p:spPr>
            <a:xfrm>
              <a:off x="640080" y="1389888"/>
              <a:ext cx="2651760" cy="1645920"/>
            </a:xfrm>
            <a:prstGeom prst="rect">
              <a:avLst/>
            </a:prstGeom>
            <a:solidFill>
              <a:srgbClr val="C49A6C"/>
            </a:solidFill>
            <a:ln>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463040"/>
              <a:ext cx="2505456" cy="905256"/>
            </a:xfrm>
            <a:prstGeom prst="rect">
              <a:avLst/>
            </a:prstGeom>
            <a:noFill/>
          </p:spPr>
          <p:txBody>
            <a:bodyPr wrap="square" lIns="54864" tIns="18288" rIns="54864" bIns="18288" anchor="t">
              <a:spAutoFit/>
            </a:bodyPr>
            <a:lstStyle/>
            <a:p>
              <a:pPr algn="ctr">
                <a:lnSpc>
                  <a:spcPct val="100000"/>
                </a:lnSpc>
              </a:pPr>
              <a:r>
                <a:rPr sz="2400" b="1" i="0">
                  <a:solidFill>
                    <a:srgbClr val="8C5A2E"/>
                  </a:solidFill>
                  <a:latin typeface="Playfair Display"/>
                </a:rPr>
                <a:t>33,600,000 VND</a:t>
              </a:r>
            </a:p>
          </p:txBody>
        </p:sp>
        <p:sp>
          <p:nvSpPr>
            <p:cNvPr id="10" name="TextBox 9"/>
            <p:cNvSpPr txBox="1"/>
            <p:nvPr/>
          </p:nvSpPr>
          <p:spPr>
            <a:xfrm>
              <a:off x="694944" y="2245766"/>
              <a:ext cx="2542032" cy="362102"/>
            </a:xfrm>
            <a:prstGeom prst="rect">
              <a:avLst/>
            </a:prstGeom>
            <a:noFill/>
          </p:spPr>
          <p:txBody>
            <a:bodyPr wrap="square" lIns="54864" tIns="18288" rIns="54864" bIns="18288" anchor="t">
              <a:spAutoFit/>
            </a:bodyPr>
            <a:lstStyle/>
            <a:p>
              <a:pPr algn="ctr">
                <a:lnSpc>
                  <a:spcPct val="100000"/>
                </a:lnSpc>
              </a:pPr>
              <a:r>
                <a:rPr sz="900" b="0" i="0">
                  <a:solidFill>
                    <a:srgbClr val="5C4F3F"/>
                  </a:solidFill>
                  <a:latin typeface="Inter"/>
                </a:rPr>
                <a:t>Budget at Completion (BAC)</a:t>
              </a:r>
            </a:p>
          </p:txBody>
        </p:sp>
      </p:grpSp>
      <p:grpSp>
        <p:nvGrpSpPr>
          <p:cNvPr id="28" name="Group 27">
            <a:extLst>
              <a:ext uri="{FF2B5EF4-FFF2-40B4-BE49-F238E27FC236}">
                <a16:creationId xmlns:a16="http://schemas.microsoft.com/office/drawing/2014/main" id="{5DFEE6E1-2BE8-B6E3-6C2D-F0352877A442}"/>
              </a:ext>
            </a:extLst>
          </p:cNvPr>
          <p:cNvGrpSpPr/>
          <p:nvPr/>
        </p:nvGrpSpPr>
        <p:grpSpPr>
          <a:xfrm>
            <a:off x="7574280" y="1490159"/>
            <a:ext cx="2651760" cy="1645920"/>
            <a:chOff x="3456432" y="1800379"/>
            <a:chExt cx="2651760" cy="1645920"/>
          </a:xfrm>
        </p:grpSpPr>
        <p:sp>
          <p:nvSpPr>
            <p:cNvPr id="11" name="Rectangle 10"/>
            <p:cNvSpPr/>
            <p:nvPr/>
          </p:nvSpPr>
          <p:spPr>
            <a:xfrm>
              <a:off x="3456432" y="1800379"/>
              <a:ext cx="2651760" cy="164592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29584" y="1873531"/>
              <a:ext cx="2505456" cy="905256"/>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43 working days</a:t>
              </a:r>
            </a:p>
          </p:txBody>
        </p:sp>
        <p:sp>
          <p:nvSpPr>
            <p:cNvPr id="13" name="TextBox 12"/>
            <p:cNvSpPr txBox="1"/>
            <p:nvPr/>
          </p:nvSpPr>
          <p:spPr>
            <a:xfrm>
              <a:off x="3511296" y="2656257"/>
              <a:ext cx="2542032" cy="362102"/>
            </a:xfrm>
            <a:prstGeom prst="rect">
              <a:avLst/>
            </a:prstGeom>
            <a:noFill/>
          </p:spPr>
          <p:txBody>
            <a:bodyPr wrap="square" lIns="54864" tIns="18288" rIns="54864" bIns="18288" anchor="t">
              <a:spAutoFit/>
            </a:bodyPr>
            <a:lstStyle/>
            <a:p>
              <a:pPr algn="ctr">
                <a:lnSpc>
                  <a:spcPct val="100000"/>
                </a:lnSpc>
              </a:pPr>
              <a:r>
                <a:rPr sz="900" b="0" i="0">
                  <a:solidFill>
                    <a:srgbClr val="5C4F3F"/>
                  </a:solidFill>
                  <a:latin typeface="Inter"/>
                </a:rPr>
                <a:t>Critical Path Duration</a:t>
              </a:r>
            </a:p>
          </p:txBody>
        </p:sp>
        <p:sp>
          <p:nvSpPr>
            <p:cNvPr id="14" name="TextBox 13"/>
            <p:cNvSpPr txBox="1"/>
            <p:nvPr/>
          </p:nvSpPr>
          <p:spPr>
            <a:xfrm>
              <a:off x="3511296" y="3018359"/>
              <a:ext cx="2542032" cy="329184"/>
            </a:xfrm>
            <a:prstGeom prst="rect">
              <a:avLst/>
            </a:prstGeom>
            <a:noFill/>
          </p:spPr>
          <p:txBody>
            <a:bodyPr wrap="square" lIns="54864" tIns="18288" rIns="54864" bIns="18288" anchor="t">
              <a:spAutoFit/>
            </a:bodyPr>
            <a:lstStyle/>
            <a:p>
              <a:pPr algn="ctr">
                <a:lnSpc>
                  <a:spcPct val="100000"/>
                </a:lnSpc>
              </a:pPr>
              <a:r>
                <a:rPr sz="800" b="0" i="1">
                  <a:solidFill>
                    <a:srgbClr val="8A7A66"/>
                  </a:solidFill>
                  <a:latin typeface="Inter"/>
                </a:rPr>
                <a:t>A→B→E→G→H</a:t>
              </a:r>
            </a:p>
          </p:txBody>
        </p:sp>
      </p:grpSp>
      <p:grpSp>
        <p:nvGrpSpPr>
          <p:cNvPr id="29" name="Group 28">
            <a:extLst>
              <a:ext uri="{FF2B5EF4-FFF2-40B4-BE49-F238E27FC236}">
                <a16:creationId xmlns:a16="http://schemas.microsoft.com/office/drawing/2014/main" id="{FCD6D0F0-8082-8BFE-427E-E2A36E70CE45}"/>
              </a:ext>
            </a:extLst>
          </p:cNvPr>
          <p:cNvGrpSpPr/>
          <p:nvPr/>
        </p:nvGrpSpPr>
        <p:grpSpPr>
          <a:xfrm>
            <a:off x="1965960" y="3721921"/>
            <a:ext cx="2651760" cy="1645920"/>
            <a:chOff x="6272784" y="1800379"/>
            <a:chExt cx="2651760" cy="1645920"/>
          </a:xfrm>
        </p:grpSpPr>
        <p:sp>
          <p:nvSpPr>
            <p:cNvPr id="15" name="Rectangle 14"/>
            <p:cNvSpPr/>
            <p:nvPr/>
          </p:nvSpPr>
          <p:spPr>
            <a:xfrm>
              <a:off x="6272784" y="1800379"/>
              <a:ext cx="2651760" cy="164592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45936" y="1873531"/>
              <a:ext cx="2505456" cy="905256"/>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3,080,000 VND</a:t>
              </a:r>
            </a:p>
          </p:txBody>
        </p:sp>
        <p:sp>
          <p:nvSpPr>
            <p:cNvPr id="17" name="TextBox 16"/>
            <p:cNvSpPr txBox="1"/>
            <p:nvPr/>
          </p:nvSpPr>
          <p:spPr>
            <a:xfrm>
              <a:off x="6327648" y="2656257"/>
              <a:ext cx="2542032" cy="362102"/>
            </a:xfrm>
            <a:prstGeom prst="rect">
              <a:avLst/>
            </a:prstGeom>
            <a:noFill/>
          </p:spPr>
          <p:txBody>
            <a:bodyPr wrap="square" lIns="54864" tIns="18288" rIns="54864" bIns="18288" anchor="t">
              <a:spAutoFit/>
            </a:bodyPr>
            <a:lstStyle/>
            <a:p>
              <a:pPr algn="ctr">
                <a:lnSpc>
                  <a:spcPct val="100000"/>
                </a:lnSpc>
              </a:pPr>
              <a:r>
                <a:rPr sz="900" b="0" i="0">
                  <a:solidFill>
                    <a:srgbClr val="5C4F3F"/>
                  </a:solidFill>
                  <a:latin typeface="Inter"/>
                </a:rPr>
                <a:t>Total Risk EMV (Cost)</a:t>
              </a:r>
            </a:p>
          </p:txBody>
        </p:sp>
        <p:sp>
          <p:nvSpPr>
            <p:cNvPr id="18" name="TextBox 17"/>
            <p:cNvSpPr txBox="1"/>
            <p:nvPr/>
          </p:nvSpPr>
          <p:spPr>
            <a:xfrm>
              <a:off x="6327648" y="3018359"/>
              <a:ext cx="2542032" cy="329184"/>
            </a:xfrm>
            <a:prstGeom prst="rect">
              <a:avLst/>
            </a:prstGeom>
            <a:noFill/>
          </p:spPr>
          <p:txBody>
            <a:bodyPr wrap="square" lIns="54864" tIns="18288" rIns="54864" bIns="18288" anchor="t">
              <a:spAutoFit/>
            </a:bodyPr>
            <a:lstStyle/>
            <a:p>
              <a:pPr algn="ctr">
                <a:lnSpc>
                  <a:spcPct val="100000"/>
                </a:lnSpc>
              </a:pPr>
              <a:r>
                <a:rPr sz="800" b="0" i="1">
                  <a:solidFill>
                    <a:srgbClr val="8A7A66"/>
                  </a:solidFill>
                  <a:latin typeface="Inter"/>
                </a:rPr>
                <a:t>6 risks</a:t>
              </a:r>
            </a:p>
          </p:txBody>
        </p:sp>
      </p:grpSp>
      <p:grpSp>
        <p:nvGrpSpPr>
          <p:cNvPr id="30" name="Group 29">
            <a:extLst>
              <a:ext uri="{FF2B5EF4-FFF2-40B4-BE49-F238E27FC236}">
                <a16:creationId xmlns:a16="http://schemas.microsoft.com/office/drawing/2014/main" id="{1FEC5462-7BA2-4A53-144C-636AB53ADA31}"/>
              </a:ext>
            </a:extLst>
          </p:cNvPr>
          <p:cNvGrpSpPr/>
          <p:nvPr/>
        </p:nvGrpSpPr>
        <p:grpSpPr>
          <a:xfrm>
            <a:off x="7574280" y="3721921"/>
            <a:ext cx="2651760" cy="1645920"/>
            <a:chOff x="9089136" y="1800379"/>
            <a:chExt cx="2651760" cy="1645920"/>
          </a:xfrm>
        </p:grpSpPr>
        <p:sp>
          <p:nvSpPr>
            <p:cNvPr id="19" name="Rectangle 18"/>
            <p:cNvSpPr/>
            <p:nvPr/>
          </p:nvSpPr>
          <p:spPr>
            <a:xfrm>
              <a:off x="9089136" y="1800379"/>
              <a:ext cx="2651760" cy="164592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62288" y="1873531"/>
              <a:ext cx="2505456" cy="905256"/>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5 core features</a:t>
              </a:r>
            </a:p>
          </p:txBody>
        </p:sp>
        <p:sp>
          <p:nvSpPr>
            <p:cNvPr id="21" name="TextBox 20"/>
            <p:cNvSpPr txBox="1"/>
            <p:nvPr/>
          </p:nvSpPr>
          <p:spPr>
            <a:xfrm>
              <a:off x="9144000" y="2656257"/>
              <a:ext cx="2542032" cy="362102"/>
            </a:xfrm>
            <a:prstGeom prst="rect">
              <a:avLst/>
            </a:prstGeom>
            <a:noFill/>
          </p:spPr>
          <p:txBody>
            <a:bodyPr wrap="square" lIns="54864" tIns="18288" rIns="54864" bIns="18288" anchor="t">
              <a:spAutoFit/>
            </a:bodyPr>
            <a:lstStyle/>
            <a:p>
              <a:pPr algn="ctr">
                <a:lnSpc>
                  <a:spcPct val="100000"/>
                </a:lnSpc>
              </a:pPr>
              <a:r>
                <a:rPr sz="900" b="0" i="0">
                  <a:solidFill>
                    <a:srgbClr val="5C4F3F"/>
                  </a:solidFill>
                  <a:latin typeface="Inter"/>
                </a:rPr>
                <a:t>Prototype Feature Areas</a:t>
              </a:r>
            </a:p>
          </p:txBody>
        </p:sp>
        <p:sp>
          <p:nvSpPr>
            <p:cNvPr id="22" name="TextBox 21"/>
            <p:cNvSpPr txBox="1"/>
            <p:nvPr/>
          </p:nvSpPr>
          <p:spPr>
            <a:xfrm>
              <a:off x="9144000" y="3018359"/>
              <a:ext cx="2542032" cy="329184"/>
            </a:xfrm>
            <a:prstGeom prst="rect">
              <a:avLst/>
            </a:prstGeom>
            <a:noFill/>
          </p:spPr>
          <p:txBody>
            <a:bodyPr wrap="square" lIns="54864" tIns="18288" rIns="54864" bIns="18288" anchor="t">
              <a:spAutoFit/>
            </a:bodyPr>
            <a:lstStyle/>
            <a:p>
              <a:pPr algn="ctr">
                <a:lnSpc>
                  <a:spcPct val="100000"/>
                </a:lnSpc>
              </a:pPr>
              <a:r>
                <a:rPr sz="800" b="0" i="1">
                  <a:solidFill>
                    <a:srgbClr val="8A7A66"/>
                  </a:solidFill>
                  <a:latin typeface="Inter"/>
                </a:rPr>
                <a:t>≥ 3 req.</a:t>
              </a:r>
            </a:p>
          </p:txBody>
        </p:sp>
      </p:grpSp>
      <p:sp>
        <p:nvSpPr>
          <p:cNvPr id="23" name="TextBox 22"/>
          <p:cNvSpPr txBox="1"/>
          <p:nvPr/>
        </p:nvSpPr>
        <p:spPr>
          <a:xfrm>
            <a:off x="640080" y="5881420"/>
            <a:ext cx="10972800" cy="190821"/>
          </a:xfrm>
          <a:prstGeom prst="rect">
            <a:avLst/>
          </a:prstGeom>
          <a:noFill/>
        </p:spPr>
        <p:txBody>
          <a:bodyPr wrap="square" lIns="54864" tIns="18288" rIns="54864" bIns="18288" anchor="t">
            <a:spAutoFit/>
          </a:bodyPr>
          <a:lstStyle/>
          <a:p>
            <a:pPr algn="ctr">
              <a:lnSpc>
                <a:spcPct val="100000"/>
              </a:lnSpc>
            </a:pP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BAC: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Labour</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24M · OH 20% · G&amp;A reallocated · Contingency 2.4M ·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Mgmt</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reserve 0.68M</a:t>
            </a:r>
          </a:p>
        </p:txBody>
      </p:sp>
      <p:sp>
        <p:nvSpPr>
          <p:cNvPr id="24" name="TextBox 23"/>
          <p:cNvSpPr txBox="1"/>
          <p:nvPr/>
        </p:nvSpPr>
        <p:spPr>
          <a:xfrm>
            <a:off x="640080" y="6219748"/>
            <a:ext cx="10972800" cy="190821"/>
          </a:xfrm>
          <a:prstGeom prst="rect">
            <a:avLst/>
          </a:prstGeom>
          <a:noFill/>
        </p:spPr>
        <p:txBody>
          <a:bodyPr wrap="square" lIns="54864" tIns="18288" rIns="54864" bIns="18288" anchor="t">
            <a:spAutoFit/>
          </a:bodyPr>
          <a:lstStyle/>
          <a:p>
            <a:pPr algn="ctr">
              <a:lnSpc>
                <a:spcPct val="100000"/>
              </a:lnSpc>
            </a:pP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Risk EMV: Contingency 2,400,000 +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Mgmt</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reserve 680,000 = 3,080,000 VND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SCOPE &amp; OBJECTIVES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Scope Boundaries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04 / 31</a:t>
            </a:r>
          </a:p>
        </p:txBody>
      </p:sp>
      <p:grpSp>
        <p:nvGrpSpPr>
          <p:cNvPr id="32" name="Group 31">
            <a:extLst>
              <a:ext uri="{FF2B5EF4-FFF2-40B4-BE49-F238E27FC236}">
                <a16:creationId xmlns:a16="http://schemas.microsoft.com/office/drawing/2014/main" id="{A62E7FDF-95E8-CF4C-8C63-4E7EC20501FD}"/>
              </a:ext>
            </a:extLst>
          </p:cNvPr>
          <p:cNvGrpSpPr/>
          <p:nvPr/>
        </p:nvGrpSpPr>
        <p:grpSpPr>
          <a:xfrm>
            <a:off x="640080" y="1417320"/>
            <a:ext cx="5303520" cy="4008386"/>
            <a:chOff x="640080" y="1417320"/>
            <a:chExt cx="5303520" cy="4008386"/>
          </a:xfrm>
        </p:grpSpPr>
        <p:sp>
          <p:nvSpPr>
            <p:cNvPr id="8" name="Rectangle 7"/>
            <p:cNvSpPr/>
            <p:nvPr/>
          </p:nvSpPr>
          <p:spPr>
            <a:xfrm>
              <a:off x="640080" y="1417320"/>
              <a:ext cx="5303520" cy="365760"/>
            </a:xfrm>
            <a:prstGeom prst="rect">
              <a:avLst/>
            </a:prstGeom>
            <a:solidFill>
              <a:srgbClr val="5B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417320"/>
              <a:ext cx="5303520" cy="365760"/>
            </a:xfrm>
            <a:prstGeom prst="rect">
              <a:avLst/>
            </a:prstGeom>
            <a:noFill/>
          </p:spPr>
          <p:txBody>
            <a:bodyPr wrap="square" lIns="54864" tIns="18288" rIns="54864" bIns="18288" anchor="t">
              <a:spAutoFit/>
            </a:bodyPr>
            <a:lstStyle/>
            <a:p>
              <a:pPr algn="ctr">
                <a:lnSpc>
                  <a:spcPct val="100000"/>
                </a:lnSpc>
              </a:pPr>
              <a:r>
                <a:rPr sz="1200" b="1" i="0">
                  <a:solidFill>
                    <a:srgbClr val="FFFFFF"/>
                  </a:solidFill>
                  <a:latin typeface="Inter"/>
                </a:rPr>
                <a:t>IN SCOPE</a:t>
              </a:r>
            </a:p>
          </p:txBody>
        </p:sp>
        <p:sp>
          <p:nvSpPr>
            <p:cNvPr id="10" name="TextBox 9"/>
            <p:cNvSpPr txBox="1"/>
            <p:nvPr/>
          </p:nvSpPr>
          <p:spPr>
            <a:xfrm>
              <a:off x="685800" y="1927656"/>
              <a:ext cx="5212080" cy="206210"/>
            </a:xfrm>
            <a:prstGeom prst="rect">
              <a:avLst/>
            </a:prstGeom>
            <a:noFill/>
          </p:spPr>
          <p:txBody>
            <a:bodyPr wrap="square" lIns="54864" tIns="18288" rIns="54864" bIns="18288" anchor="t">
              <a:spAutoFit/>
            </a:bodyPr>
            <a:lstStyle/>
            <a:p>
              <a:pPr algn="l">
                <a:lnSpc>
                  <a:spcPct val="100000"/>
                </a:lnSpc>
              </a:pPr>
              <a:r>
                <a:rPr sz="1100" b="0" i="0" dirty="0">
                  <a:solidFill>
                    <a:srgbClr val="2B2419"/>
                  </a:solidFill>
                  <a:latin typeface="Inter"/>
                </a:rPr>
                <a:t>·  Project CRUD (create, read, update, delete)</a:t>
              </a:r>
            </a:p>
          </p:txBody>
        </p:sp>
        <p:sp>
          <p:nvSpPr>
            <p:cNvPr id="11" name="TextBox 10"/>
            <p:cNvSpPr txBox="1"/>
            <p:nvPr/>
          </p:nvSpPr>
          <p:spPr>
            <a:xfrm>
              <a:off x="685800" y="229341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Task CRUD with user assignment</a:t>
              </a:r>
            </a:p>
          </p:txBody>
        </p:sp>
        <p:sp>
          <p:nvSpPr>
            <p:cNvPr id="12" name="TextBox 11"/>
            <p:cNvSpPr txBox="1"/>
            <p:nvPr/>
          </p:nvSpPr>
          <p:spPr>
            <a:xfrm>
              <a:off x="685800" y="265917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Status workflow: To Do → In Progress → Done</a:t>
              </a:r>
            </a:p>
          </p:txBody>
        </p:sp>
        <p:sp>
          <p:nvSpPr>
            <p:cNvPr id="13" name="TextBox 12"/>
            <p:cNvSpPr txBox="1"/>
            <p:nvPr/>
          </p:nvSpPr>
          <p:spPr>
            <a:xfrm>
              <a:off x="685800" y="302493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Task deadline with overdue highlighting</a:t>
              </a:r>
            </a:p>
          </p:txBody>
        </p:sp>
        <p:sp>
          <p:nvSpPr>
            <p:cNvPr id="14" name="TextBox 13"/>
            <p:cNvSpPr txBox="1"/>
            <p:nvPr/>
          </p:nvSpPr>
          <p:spPr>
            <a:xfrm>
              <a:off x="685800" y="339069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Task progress % (0–100%) per task</a:t>
              </a:r>
            </a:p>
          </p:txBody>
        </p:sp>
        <p:sp>
          <p:nvSpPr>
            <p:cNvPr id="15" name="TextBox 14"/>
            <p:cNvSpPr txBox="1"/>
            <p:nvPr/>
          </p:nvSpPr>
          <p:spPr>
            <a:xfrm>
              <a:off x="685800" y="375645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Project dashboard (counts &amp; progress)</a:t>
              </a:r>
            </a:p>
          </p:txBody>
        </p:sp>
        <p:sp>
          <p:nvSpPr>
            <p:cNvPr id="16" name="TextBox 15"/>
            <p:cNvSpPr txBox="1"/>
            <p:nvPr/>
          </p:nvSpPr>
          <p:spPr>
            <a:xfrm>
              <a:off x="685800" y="412221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Role-based UI: Admin / PM / Member</a:t>
              </a:r>
            </a:p>
          </p:txBody>
        </p:sp>
        <p:sp>
          <p:nvSpPr>
            <p:cNvPr id="17" name="TextBox 16"/>
            <p:cNvSpPr txBox="1"/>
            <p:nvPr/>
          </p:nvSpPr>
          <p:spPr>
            <a:xfrm>
              <a:off x="685800" y="448797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Responsive single-page web application</a:t>
              </a:r>
            </a:p>
          </p:txBody>
        </p:sp>
        <p:sp>
          <p:nvSpPr>
            <p:cNvPr id="18" name="TextBox 17"/>
            <p:cNvSpPr txBox="1"/>
            <p:nvPr/>
          </p:nvSpPr>
          <p:spPr>
            <a:xfrm>
              <a:off x="685800" y="485373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Functional prototype (≥ 3 features live)</a:t>
              </a:r>
            </a:p>
          </p:txBody>
        </p:sp>
        <p:sp>
          <p:nvSpPr>
            <p:cNvPr id="19" name="TextBox 18"/>
            <p:cNvSpPr txBox="1"/>
            <p:nvPr/>
          </p:nvSpPr>
          <p:spPr>
            <a:xfrm>
              <a:off x="685800" y="521949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Full PM documentation (WBS, CPM, budget, risk, EVM)</a:t>
              </a:r>
            </a:p>
          </p:txBody>
        </p:sp>
      </p:grpSp>
      <p:grpSp>
        <p:nvGrpSpPr>
          <p:cNvPr id="33" name="Group 32">
            <a:extLst>
              <a:ext uri="{FF2B5EF4-FFF2-40B4-BE49-F238E27FC236}">
                <a16:creationId xmlns:a16="http://schemas.microsoft.com/office/drawing/2014/main" id="{327E8282-FBC5-D72C-5850-7B2A7451E24C}"/>
              </a:ext>
            </a:extLst>
          </p:cNvPr>
          <p:cNvGrpSpPr/>
          <p:nvPr/>
        </p:nvGrpSpPr>
        <p:grpSpPr>
          <a:xfrm>
            <a:off x="6217920" y="1417320"/>
            <a:ext cx="5303520" cy="2911106"/>
            <a:chOff x="6217920" y="1417320"/>
            <a:chExt cx="5303520" cy="2911106"/>
          </a:xfrm>
        </p:grpSpPr>
        <p:sp>
          <p:nvSpPr>
            <p:cNvPr id="20" name="Rectangle 19"/>
            <p:cNvSpPr/>
            <p:nvPr/>
          </p:nvSpPr>
          <p:spPr>
            <a:xfrm>
              <a:off x="6217920" y="1417320"/>
              <a:ext cx="5303520" cy="365760"/>
            </a:xfrm>
            <a:prstGeom prst="rect">
              <a:avLst/>
            </a:prstGeom>
            <a:solidFill>
              <a:srgbClr val="A65D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217920" y="1417320"/>
              <a:ext cx="5303520" cy="365760"/>
            </a:xfrm>
            <a:prstGeom prst="rect">
              <a:avLst/>
            </a:prstGeom>
            <a:noFill/>
          </p:spPr>
          <p:txBody>
            <a:bodyPr wrap="square" lIns="54864" tIns="18288" rIns="54864" bIns="18288" anchor="t">
              <a:spAutoFit/>
            </a:bodyPr>
            <a:lstStyle/>
            <a:p>
              <a:pPr algn="ctr">
                <a:lnSpc>
                  <a:spcPct val="100000"/>
                </a:lnSpc>
              </a:pPr>
              <a:r>
                <a:rPr sz="1200" b="1" i="0">
                  <a:solidFill>
                    <a:srgbClr val="FFFFFF"/>
                  </a:solidFill>
                  <a:latin typeface="Inter"/>
                </a:rPr>
                <a:t>OUT OF SCOPE</a:t>
              </a:r>
            </a:p>
          </p:txBody>
        </p:sp>
        <p:sp>
          <p:nvSpPr>
            <p:cNvPr id="22" name="TextBox 21"/>
            <p:cNvSpPr txBox="1"/>
            <p:nvPr/>
          </p:nvSpPr>
          <p:spPr>
            <a:xfrm>
              <a:off x="6263640" y="1927656"/>
              <a:ext cx="5212080" cy="206210"/>
            </a:xfrm>
            <a:prstGeom prst="rect">
              <a:avLst/>
            </a:prstGeom>
            <a:noFill/>
          </p:spPr>
          <p:txBody>
            <a:bodyPr wrap="square" lIns="54864" tIns="18288" rIns="54864" bIns="18288" anchor="t">
              <a:spAutoFit/>
            </a:bodyPr>
            <a:lstStyle/>
            <a:p>
              <a:pPr algn="l">
                <a:lnSpc>
                  <a:spcPct val="100000"/>
                </a:lnSpc>
              </a:pPr>
              <a:r>
                <a:rPr sz="1100" b="0" i="0" dirty="0">
                  <a:solidFill>
                    <a:srgbClr val="2B2419"/>
                  </a:solidFill>
                  <a:latin typeface="Inter"/>
                </a:rPr>
                <a:t>✗  Native iOS / Android application</a:t>
              </a:r>
            </a:p>
          </p:txBody>
        </p:sp>
        <p:sp>
          <p:nvSpPr>
            <p:cNvPr id="23" name="TextBox 22"/>
            <p:cNvSpPr txBox="1"/>
            <p:nvPr/>
          </p:nvSpPr>
          <p:spPr>
            <a:xfrm>
              <a:off x="6263640" y="2293416"/>
              <a:ext cx="5212080" cy="206210"/>
            </a:xfrm>
            <a:prstGeom prst="rect">
              <a:avLst/>
            </a:prstGeom>
            <a:noFill/>
          </p:spPr>
          <p:txBody>
            <a:bodyPr wrap="square" lIns="54864" tIns="18288" rIns="54864" bIns="18288" anchor="t">
              <a:spAutoFit/>
            </a:bodyPr>
            <a:lstStyle/>
            <a:p>
              <a:pPr algn="l">
                <a:lnSpc>
                  <a:spcPct val="100000"/>
                </a:lnSpc>
              </a:pPr>
              <a:r>
                <a:rPr sz="1100" b="0" i="0" dirty="0">
                  <a:solidFill>
                    <a:srgbClr val="2B2419"/>
                  </a:solidFill>
                  <a:latin typeface="Inter"/>
                </a:rPr>
                <a:t>✗  Real-time chat or messaging</a:t>
              </a:r>
            </a:p>
          </p:txBody>
        </p:sp>
        <p:sp>
          <p:nvSpPr>
            <p:cNvPr id="24" name="TextBox 23"/>
            <p:cNvSpPr txBox="1"/>
            <p:nvPr/>
          </p:nvSpPr>
          <p:spPr>
            <a:xfrm>
              <a:off x="6263640" y="265917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Billing, invoicing, payment processing</a:t>
              </a:r>
            </a:p>
          </p:txBody>
        </p:sp>
        <p:sp>
          <p:nvSpPr>
            <p:cNvPr id="25" name="TextBox 24"/>
            <p:cNvSpPr txBox="1"/>
            <p:nvPr/>
          </p:nvSpPr>
          <p:spPr>
            <a:xfrm>
              <a:off x="6263640" y="302493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Third-party integrations (Slack, GitHub, Outlook)</a:t>
              </a:r>
            </a:p>
          </p:txBody>
        </p:sp>
        <p:sp>
          <p:nvSpPr>
            <p:cNvPr id="26" name="TextBox 25"/>
            <p:cNvSpPr txBox="1"/>
            <p:nvPr/>
          </p:nvSpPr>
          <p:spPr>
            <a:xfrm>
              <a:off x="6263640" y="339069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Multi-tenancy (multiple organisations)</a:t>
              </a:r>
            </a:p>
          </p:txBody>
        </p:sp>
        <p:sp>
          <p:nvSpPr>
            <p:cNvPr id="27" name="TextBox 26"/>
            <p:cNvSpPr txBox="1"/>
            <p:nvPr/>
          </p:nvSpPr>
          <p:spPr>
            <a:xfrm>
              <a:off x="6263640" y="375645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Post-launch maintenance or support</a:t>
              </a:r>
            </a:p>
          </p:txBody>
        </p:sp>
        <p:sp>
          <p:nvSpPr>
            <p:cNvPr id="28" name="TextBox 27"/>
            <p:cNvSpPr txBox="1"/>
            <p:nvPr/>
          </p:nvSpPr>
          <p:spPr>
            <a:xfrm>
              <a:off x="6263640" y="412221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Automated email / push notifications</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SCOPE &amp; OBJECTIVES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SMART Objectives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05 / 31</a:t>
            </a:r>
          </a:p>
        </p:txBody>
      </p:sp>
      <p:graphicFrame>
        <p:nvGraphicFramePr>
          <p:cNvPr id="8" name="Table 7"/>
          <p:cNvGraphicFramePr>
            <a:graphicFrameLocks noGrp="1"/>
          </p:cNvGraphicFramePr>
          <p:nvPr>
            <p:extLst>
              <p:ext uri="{D42A27DB-BD31-4B8C-83A1-F6EECF244321}">
                <p14:modId xmlns:p14="http://schemas.microsoft.com/office/powerpoint/2010/main" val="4233020580"/>
              </p:ext>
            </p:extLst>
          </p:nvPr>
        </p:nvGraphicFramePr>
        <p:xfrm>
          <a:off x="640080" y="1417318"/>
          <a:ext cx="11247120" cy="4489704"/>
        </p:xfrm>
        <a:graphic>
          <a:graphicData uri="http://schemas.openxmlformats.org/drawingml/2006/table">
            <a:tbl>
              <a:tblPr firstRow="1" bandRow="1">
                <a:tableStyleId>{5C22544A-7EE6-4342-B048-85BDC9FD1C3A}</a:tableStyleId>
              </a:tblPr>
              <a:tblGrid>
                <a:gridCol w="658368">
                  <a:extLst>
                    <a:ext uri="{9D8B030D-6E8A-4147-A177-3AD203B41FA5}">
                      <a16:colId xmlns:a16="http://schemas.microsoft.com/office/drawing/2014/main" val="20000"/>
                    </a:ext>
                  </a:extLst>
                </a:gridCol>
                <a:gridCol w="9674352">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748284">
                <a:tc>
                  <a:txBody>
                    <a:bodyPr/>
                    <a:lstStyle/>
                    <a:p>
                      <a:r>
                        <a:rPr sz="1300" b="1">
                          <a:solidFill>
                            <a:srgbClr val="FFFFFF"/>
                          </a:solidFill>
                          <a:latin typeface="Inter"/>
                        </a:rPr>
                        <a:t>#</a:t>
                      </a:r>
                    </a:p>
                  </a:txBody>
                  <a:tcPr marL="73152" marR="73152" marT="36576" marB="36576">
                    <a:solidFill>
                      <a:srgbClr val="8C5A2E"/>
                    </a:solidFill>
                  </a:tcPr>
                </a:tc>
                <a:tc>
                  <a:txBody>
                    <a:bodyPr/>
                    <a:lstStyle/>
                    <a:p>
                      <a:r>
                        <a:rPr sz="1300" b="1">
                          <a:solidFill>
                            <a:srgbClr val="FFFFFF"/>
                          </a:solidFill>
                          <a:latin typeface="Inter"/>
                        </a:rPr>
                        <a:t>Objective</a:t>
                      </a:r>
                    </a:p>
                  </a:txBody>
                  <a:tcPr marL="73152" marR="73152" marT="36576" marB="36576">
                    <a:solidFill>
                      <a:srgbClr val="8C5A2E"/>
                    </a:solidFill>
                  </a:tcPr>
                </a:tc>
                <a:tc>
                  <a:txBody>
                    <a:bodyPr/>
                    <a:lstStyle/>
                    <a:p>
                      <a:r>
                        <a:rPr sz="1300" b="1">
                          <a:solidFill>
                            <a:srgbClr val="FFFFFF"/>
                          </a:solidFill>
                          <a:latin typeface="Inter"/>
                        </a:rPr>
                        <a:t>CLO</a:t>
                      </a:r>
                    </a:p>
                  </a:txBody>
                  <a:tcPr marL="73152" marR="73152" marT="36576" marB="36576">
                    <a:solidFill>
                      <a:srgbClr val="8C5A2E"/>
                    </a:solidFill>
                  </a:tcPr>
                </a:tc>
                <a:extLst>
                  <a:ext uri="{0D108BD9-81ED-4DB2-BD59-A6C34878D82A}">
                    <a16:rowId xmlns:a16="http://schemas.microsoft.com/office/drawing/2014/main" val="10000"/>
                  </a:ext>
                </a:extLst>
              </a:tr>
              <a:tr h="748284">
                <a:tc>
                  <a:txBody>
                    <a:bodyPr/>
                    <a:lstStyle/>
                    <a:p>
                      <a:r>
                        <a:rPr sz="1300" b="0">
                          <a:solidFill>
                            <a:srgbClr val="2B2419"/>
                          </a:solidFill>
                          <a:latin typeface="Inter"/>
                        </a:rPr>
                        <a:t>OBJ-1</a:t>
                      </a:r>
                    </a:p>
                  </a:txBody>
                  <a:tcPr marL="73152" marR="73152" marT="36576" marB="36576">
                    <a:solidFill>
                      <a:srgbClr val="F5EFE6"/>
                    </a:solidFill>
                  </a:tcPr>
                </a:tc>
                <a:tc>
                  <a:txBody>
                    <a:bodyPr/>
                    <a:lstStyle/>
                    <a:p>
                      <a:r>
                        <a:rPr sz="1300" b="0">
                          <a:solidFill>
                            <a:srgbClr val="2B2419"/>
                          </a:solidFill>
                          <a:latin typeface="Inter"/>
                        </a:rPr>
                        <a:t>Deliver working prototype: task CRUD, assignment, deadline tracking, progress
monitoring for 3 roles — demo at W10, submit at W14</a:t>
                      </a:r>
                    </a:p>
                  </a:txBody>
                  <a:tcPr marL="73152" marR="73152" marT="36576" marB="36576">
                    <a:solidFill>
                      <a:srgbClr val="F5EFE6"/>
                    </a:solidFill>
                  </a:tcPr>
                </a:tc>
                <a:tc>
                  <a:txBody>
                    <a:bodyPr/>
                    <a:lstStyle/>
                    <a:p>
                      <a:r>
                        <a:rPr sz="1300" b="0">
                          <a:solidFill>
                            <a:srgbClr val="2B2419"/>
                          </a:solidFill>
                          <a:latin typeface="Inter"/>
                        </a:rPr>
                        <a:t>CLO 1, 2</a:t>
                      </a:r>
                    </a:p>
                  </a:txBody>
                  <a:tcPr marL="73152" marR="73152" marT="36576" marB="36576">
                    <a:solidFill>
                      <a:srgbClr val="F5EFE6"/>
                    </a:solidFill>
                  </a:tcPr>
                </a:tc>
                <a:extLst>
                  <a:ext uri="{0D108BD9-81ED-4DB2-BD59-A6C34878D82A}">
                    <a16:rowId xmlns:a16="http://schemas.microsoft.com/office/drawing/2014/main" val="10001"/>
                  </a:ext>
                </a:extLst>
              </a:tr>
              <a:tr h="748284">
                <a:tc>
                  <a:txBody>
                    <a:bodyPr/>
                    <a:lstStyle/>
                    <a:p>
                      <a:r>
                        <a:rPr sz="1300" b="0">
                          <a:solidFill>
                            <a:srgbClr val="2B2419"/>
                          </a:solidFill>
                          <a:latin typeface="Inter"/>
                        </a:rPr>
                        <a:t>OBJ-2</a:t>
                      </a:r>
                    </a:p>
                  </a:txBody>
                  <a:tcPr marL="73152" marR="73152" marT="36576" marB="36576">
                    <a:solidFill>
                      <a:srgbClr val="F5EFE6"/>
                    </a:solidFill>
                  </a:tcPr>
                </a:tc>
                <a:tc>
                  <a:txBody>
                    <a:bodyPr/>
                    <a:lstStyle/>
                    <a:p>
                      <a:r>
                        <a:rPr sz="1300" b="0">
                          <a:solidFill>
                            <a:srgbClr val="2B2419"/>
                          </a:solidFill>
                          <a:latin typeface="Inter"/>
                        </a:rPr>
                        <a:t>Complete all 16 WBS Level 3 packages within 480 person-hours (±10%)
by Week 14; tracked weekly in Trello</a:t>
                      </a:r>
                    </a:p>
                  </a:txBody>
                  <a:tcPr marL="73152" marR="73152" marT="36576" marB="36576">
                    <a:solidFill>
                      <a:srgbClr val="F5EFE6"/>
                    </a:solidFill>
                  </a:tcPr>
                </a:tc>
                <a:tc>
                  <a:txBody>
                    <a:bodyPr/>
                    <a:lstStyle/>
                    <a:p>
                      <a:r>
                        <a:rPr sz="1300" b="0">
                          <a:solidFill>
                            <a:srgbClr val="2B2419"/>
                          </a:solidFill>
                          <a:latin typeface="Inter"/>
                        </a:rPr>
                        <a:t>CLO 2, 4</a:t>
                      </a:r>
                    </a:p>
                  </a:txBody>
                  <a:tcPr marL="73152" marR="73152" marT="36576" marB="36576">
                    <a:solidFill>
                      <a:srgbClr val="F5EFE6"/>
                    </a:solidFill>
                  </a:tcPr>
                </a:tc>
                <a:extLst>
                  <a:ext uri="{0D108BD9-81ED-4DB2-BD59-A6C34878D82A}">
                    <a16:rowId xmlns:a16="http://schemas.microsoft.com/office/drawing/2014/main" val="10002"/>
                  </a:ext>
                </a:extLst>
              </a:tr>
              <a:tr h="748284">
                <a:tc>
                  <a:txBody>
                    <a:bodyPr/>
                    <a:lstStyle/>
                    <a:p>
                      <a:r>
                        <a:rPr sz="1300" b="0">
                          <a:solidFill>
                            <a:srgbClr val="2B2419"/>
                          </a:solidFill>
                          <a:latin typeface="Inter"/>
                        </a:rPr>
                        <a:t>OBJ-3</a:t>
                      </a:r>
                    </a:p>
                  </a:txBody>
                  <a:tcPr marL="73152" marR="73152" marT="36576" marB="36576">
                    <a:solidFill>
                      <a:srgbClr val="F5EFE6"/>
                    </a:solidFill>
                  </a:tcPr>
                </a:tc>
                <a:tc>
                  <a:txBody>
                    <a:bodyPr/>
                    <a:lstStyle/>
                    <a:p>
                      <a:r>
                        <a:rPr sz="1300" b="0">
                          <a:solidFill>
                            <a:srgbClr val="2B2419"/>
                          </a:solidFill>
                          <a:latin typeface="Inter"/>
                        </a:rPr>
                        <a:t>Pass UAT with ≥ 80% test coverage and ≤ 10 defects/KLOC;
UAT sign-off at Week 12</a:t>
                      </a:r>
                    </a:p>
                  </a:txBody>
                  <a:tcPr marL="73152" marR="73152" marT="36576" marB="36576">
                    <a:solidFill>
                      <a:srgbClr val="F5EFE6"/>
                    </a:solidFill>
                  </a:tcPr>
                </a:tc>
                <a:tc>
                  <a:txBody>
                    <a:bodyPr/>
                    <a:lstStyle/>
                    <a:p>
                      <a:r>
                        <a:rPr sz="1300" b="0">
                          <a:solidFill>
                            <a:srgbClr val="2B2419"/>
                          </a:solidFill>
                          <a:latin typeface="Inter"/>
                        </a:rPr>
                        <a:t>CLO 3, 6</a:t>
                      </a:r>
                    </a:p>
                  </a:txBody>
                  <a:tcPr marL="73152" marR="73152" marT="36576" marB="36576">
                    <a:solidFill>
                      <a:srgbClr val="F5EFE6"/>
                    </a:solidFill>
                  </a:tcPr>
                </a:tc>
                <a:extLst>
                  <a:ext uri="{0D108BD9-81ED-4DB2-BD59-A6C34878D82A}">
                    <a16:rowId xmlns:a16="http://schemas.microsoft.com/office/drawing/2014/main" val="10003"/>
                  </a:ext>
                </a:extLst>
              </a:tr>
              <a:tr h="748284">
                <a:tc>
                  <a:txBody>
                    <a:bodyPr/>
                    <a:lstStyle/>
                    <a:p>
                      <a:r>
                        <a:rPr sz="1300" b="0">
                          <a:solidFill>
                            <a:srgbClr val="2B2419"/>
                          </a:solidFill>
                          <a:latin typeface="Inter"/>
                        </a:rPr>
                        <a:t>OBJ-4</a:t>
                      </a:r>
                    </a:p>
                  </a:txBody>
                  <a:tcPr marL="73152" marR="73152" marT="36576" marB="36576">
                    <a:solidFill>
                      <a:srgbClr val="F5EFE6"/>
                    </a:solidFill>
                  </a:tcPr>
                </a:tc>
                <a:tc>
                  <a:txBody>
                    <a:bodyPr/>
                    <a:lstStyle/>
                    <a:p>
                      <a:r>
                        <a:rPr sz="1300" b="0">
                          <a:solidFill>
                            <a:srgbClr val="2B2419"/>
                          </a:solidFill>
                          <a:latin typeface="Inter"/>
                        </a:rPr>
                        <a:t>Identify ≥ 6 risks; contingency reserve ≥ Total Risk EMV;
risk register updated bi-weekly</a:t>
                      </a:r>
                    </a:p>
                  </a:txBody>
                  <a:tcPr marL="73152" marR="73152" marT="36576" marB="36576">
                    <a:solidFill>
                      <a:srgbClr val="F5EFE6"/>
                    </a:solidFill>
                  </a:tcPr>
                </a:tc>
                <a:tc>
                  <a:txBody>
                    <a:bodyPr/>
                    <a:lstStyle/>
                    <a:p>
                      <a:r>
                        <a:rPr sz="1300" b="0">
                          <a:solidFill>
                            <a:srgbClr val="2B2419"/>
                          </a:solidFill>
                          <a:latin typeface="Inter"/>
                        </a:rPr>
                        <a:t>CLO 3, 6</a:t>
                      </a:r>
                    </a:p>
                  </a:txBody>
                  <a:tcPr marL="73152" marR="73152" marT="36576" marB="36576">
                    <a:solidFill>
                      <a:srgbClr val="F5EFE6"/>
                    </a:solidFill>
                  </a:tcPr>
                </a:tc>
                <a:extLst>
                  <a:ext uri="{0D108BD9-81ED-4DB2-BD59-A6C34878D82A}">
                    <a16:rowId xmlns:a16="http://schemas.microsoft.com/office/drawing/2014/main" val="10004"/>
                  </a:ext>
                </a:extLst>
              </a:tr>
              <a:tr h="748284">
                <a:tc>
                  <a:txBody>
                    <a:bodyPr/>
                    <a:lstStyle/>
                    <a:p>
                      <a:r>
                        <a:rPr sz="1300" b="0">
                          <a:solidFill>
                            <a:srgbClr val="2B2419"/>
                          </a:solidFill>
                          <a:latin typeface="Inter"/>
                        </a:rPr>
                        <a:t>OBJ-5</a:t>
                      </a:r>
                    </a:p>
                  </a:txBody>
                  <a:tcPr marL="73152" marR="73152" marT="36576" marB="36576">
                    <a:solidFill>
                      <a:srgbClr val="F5EFE6"/>
                    </a:solidFill>
                  </a:tcPr>
                </a:tc>
                <a:tc>
                  <a:txBody>
                    <a:bodyPr/>
                    <a:lstStyle/>
                    <a:p>
                      <a:r>
                        <a:rPr sz="1300" b="0">
                          <a:solidFill>
                            <a:srgbClr val="2B2419"/>
                          </a:solidFill>
                          <a:latin typeface="Inter"/>
                        </a:rPr>
                        <a:t>Submit full ZIP package (report, prototype, PPTX+PDF, evidence)
before Week 14 deadline</a:t>
                      </a:r>
                    </a:p>
                  </a:txBody>
                  <a:tcPr marL="73152" marR="73152" marT="36576" marB="36576">
                    <a:solidFill>
                      <a:srgbClr val="F5EFE6"/>
                    </a:solidFill>
                  </a:tcPr>
                </a:tc>
                <a:tc>
                  <a:txBody>
                    <a:bodyPr/>
                    <a:lstStyle/>
                    <a:p>
                      <a:r>
                        <a:rPr sz="1300" b="0" dirty="0">
                          <a:solidFill>
                            <a:srgbClr val="2B2419"/>
                          </a:solidFill>
                          <a:latin typeface="Inter"/>
                        </a:rPr>
                        <a:t>CLO 7, 8, 9</a:t>
                      </a:r>
                    </a:p>
                  </a:txBody>
                  <a:tcPr marL="73152" marR="73152" marT="36576" marB="36576">
                    <a:solidFill>
                      <a:srgbClr val="F5EF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67437"/>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06 / 31</a:t>
            </a:r>
          </a:p>
        </p:txBody>
      </p:sp>
      <p:sp>
        <p:nvSpPr>
          <p:cNvPr id="11" name="TextBox 10">
            <a:extLst>
              <a:ext uri="{FF2B5EF4-FFF2-40B4-BE49-F238E27FC236}">
                <a16:creationId xmlns:a16="http://schemas.microsoft.com/office/drawing/2014/main" id="{2133CD2B-6F8E-8DFD-C70C-70571F9CBA7B}"/>
              </a:ext>
            </a:extLst>
          </p:cNvPr>
          <p:cNvSpPr txBox="1"/>
          <p:nvPr/>
        </p:nvSpPr>
        <p:spPr>
          <a:xfrm>
            <a:off x="5093453" y="1531313"/>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D88F19BA-D981-B24C-15F0-EA34E1508CBB}"/>
              </a:ext>
            </a:extLst>
          </p:cNvPr>
          <p:cNvSpPr txBox="1"/>
          <p:nvPr/>
        </p:nvSpPr>
        <p:spPr>
          <a:xfrm>
            <a:off x="6099293" y="2038066"/>
            <a:ext cx="1828800" cy="1514261"/>
          </a:xfrm>
          <a:prstGeom prst="rect">
            <a:avLst/>
          </a:prstGeom>
          <a:noFill/>
        </p:spPr>
        <p:txBody>
          <a:bodyPr wrap="square" lIns="54864" tIns="18288" rIns="54864" bIns="18288" anchor="t">
            <a:spAutoFit/>
          </a:bodyPr>
          <a:lstStyle/>
          <a:p>
            <a:pPr algn="l">
              <a:lnSpc>
                <a:spcPct val="100000"/>
              </a:lnSpc>
            </a:pPr>
            <a:r>
              <a:rPr sz="9600" b="0" i="1" dirty="0">
                <a:solidFill>
                  <a:srgbClr val="C49A6C"/>
                </a:solidFill>
                <a:latin typeface="Playfair Display"/>
              </a:rPr>
              <a:t>I</a:t>
            </a:r>
            <a:r>
              <a:rPr lang="en-US" sz="9600" b="0" i="1" dirty="0">
                <a:solidFill>
                  <a:srgbClr val="C49A6C"/>
                </a:solidFill>
                <a:latin typeface="Playfair Display"/>
              </a:rPr>
              <a:t>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3B4AF8B1-CDA9-54C3-28B0-A929ED94A40E}"/>
              </a:ext>
            </a:extLst>
          </p:cNvPr>
          <p:cNvSpPr txBox="1"/>
          <p:nvPr/>
        </p:nvSpPr>
        <p:spPr>
          <a:xfrm>
            <a:off x="1066800" y="3442599"/>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Work Breakdown Structure</a:t>
            </a:r>
          </a:p>
        </p:txBody>
      </p:sp>
      <p:sp>
        <p:nvSpPr>
          <p:cNvPr id="15" name="TextBox 14">
            <a:extLst>
              <a:ext uri="{FF2B5EF4-FFF2-40B4-BE49-F238E27FC236}">
                <a16:creationId xmlns:a16="http://schemas.microsoft.com/office/drawing/2014/main" id="{DA2FB353-C2F4-EA5A-80B3-30C4B6EC7D3D}"/>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2, 5 · Ch. 4, 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WORK BREAKDOWN STRUCTURE</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WBS — Three-Level Hierarchy</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07 / 31</a:t>
            </a:r>
          </a:p>
        </p:txBody>
      </p:sp>
      <p:sp>
        <p:nvSpPr>
          <p:cNvPr id="8" name="Rectangle 7"/>
          <p:cNvSpPr/>
          <p:nvPr/>
        </p:nvSpPr>
        <p:spPr>
          <a:xfrm>
            <a:off x="640080" y="984832"/>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98483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1.0</a:t>
            </a:r>
          </a:p>
        </p:txBody>
      </p:sp>
      <p:sp>
        <p:nvSpPr>
          <p:cNvPr id="10" name="TextBox 9"/>
          <p:cNvSpPr txBox="1"/>
          <p:nvPr/>
        </p:nvSpPr>
        <p:spPr>
          <a:xfrm>
            <a:off x="1188720" y="984832"/>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Task &amp; Project Management System</a:t>
            </a:r>
          </a:p>
        </p:txBody>
      </p:sp>
      <p:sp>
        <p:nvSpPr>
          <p:cNvPr id="11" name="Rectangle 10"/>
          <p:cNvSpPr/>
          <p:nvPr/>
        </p:nvSpPr>
        <p:spPr>
          <a:xfrm>
            <a:off x="822960" y="1181428"/>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 y="118142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a:t>
            </a:r>
          </a:p>
        </p:txBody>
      </p:sp>
      <p:sp>
        <p:nvSpPr>
          <p:cNvPr id="13" name="TextBox 12"/>
          <p:cNvSpPr txBox="1"/>
          <p:nvPr/>
        </p:nvSpPr>
        <p:spPr>
          <a:xfrm>
            <a:off x="1371600" y="1181428"/>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Project Management</a:t>
            </a:r>
          </a:p>
        </p:txBody>
      </p:sp>
      <p:sp>
        <p:nvSpPr>
          <p:cNvPr id="14" name="TextBox 13"/>
          <p:cNvSpPr txBox="1"/>
          <p:nvPr/>
        </p:nvSpPr>
        <p:spPr>
          <a:xfrm>
            <a:off x="1408176" y="137802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1.1.1</a:t>
            </a:r>
          </a:p>
        </p:txBody>
      </p:sp>
      <p:sp>
        <p:nvSpPr>
          <p:cNvPr id="15" name="TextBox 14"/>
          <p:cNvSpPr txBox="1"/>
          <p:nvPr/>
        </p:nvSpPr>
        <p:spPr>
          <a:xfrm>
            <a:off x="1920240" y="137802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Project Charter &amp; Kickoff</a:t>
            </a:r>
          </a:p>
        </p:txBody>
      </p:sp>
      <p:sp>
        <p:nvSpPr>
          <p:cNvPr id="16" name="TextBox 15"/>
          <p:cNvSpPr txBox="1"/>
          <p:nvPr/>
        </p:nvSpPr>
        <p:spPr>
          <a:xfrm>
            <a:off x="1408176" y="157462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1.1.2</a:t>
            </a:r>
          </a:p>
        </p:txBody>
      </p:sp>
      <p:sp>
        <p:nvSpPr>
          <p:cNvPr id="17" name="TextBox 16"/>
          <p:cNvSpPr txBox="1"/>
          <p:nvPr/>
        </p:nvSpPr>
        <p:spPr>
          <a:xfrm>
            <a:off x="1920240" y="1574620"/>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Status Meetings (12 × 2 h)</a:t>
            </a:r>
          </a:p>
        </p:txBody>
      </p:sp>
      <p:sp>
        <p:nvSpPr>
          <p:cNvPr id="18" name="TextBox 17"/>
          <p:cNvSpPr txBox="1"/>
          <p:nvPr/>
        </p:nvSpPr>
        <p:spPr>
          <a:xfrm>
            <a:off x="1408176" y="177121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1.1.3</a:t>
            </a:r>
          </a:p>
        </p:txBody>
      </p:sp>
      <p:sp>
        <p:nvSpPr>
          <p:cNvPr id="19" name="TextBox 18"/>
          <p:cNvSpPr txBox="1"/>
          <p:nvPr/>
        </p:nvSpPr>
        <p:spPr>
          <a:xfrm>
            <a:off x="1920240" y="1771216"/>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Risk Reviews</a:t>
            </a:r>
          </a:p>
        </p:txBody>
      </p:sp>
      <p:sp>
        <p:nvSpPr>
          <p:cNvPr id="20" name="TextBox 19"/>
          <p:cNvSpPr txBox="1"/>
          <p:nvPr/>
        </p:nvSpPr>
        <p:spPr>
          <a:xfrm>
            <a:off x="1408176" y="196781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1.1.4</a:t>
            </a:r>
          </a:p>
        </p:txBody>
      </p:sp>
      <p:sp>
        <p:nvSpPr>
          <p:cNvPr id="21" name="TextBox 20"/>
          <p:cNvSpPr txBox="1"/>
          <p:nvPr/>
        </p:nvSpPr>
        <p:spPr>
          <a:xfrm>
            <a:off x="1920240" y="1967812"/>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Final Report Writing</a:t>
            </a:r>
          </a:p>
        </p:txBody>
      </p:sp>
      <p:sp>
        <p:nvSpPr>
          <p:cNvPr id="22" name="Rectangle 21"/>
          <p:cNvSpPr/>
          <p:nvPr/>
        </p:nvSpPr>
        <p:spPr>
          <a:xfrm>
            <a:off x="822960" y="2164408"/>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9536" y="216440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1.2</a:t>
            </a:r>
          </a:p>
        </p:txBody>
      </p:sp>
      <p:sp>
        <p:nvSpPr>
          <p:cNvPr id="24" name="TextBox 23"/>
          <p:cNvSpPr txBox="1"/>
          <p:nvPr/>
        </p:nvSpPr>
        <p:spPr>
          <a:xfrm>
            <a:off x="1371600" y="2164408"/>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Requirements &amp; Analysis</a:t>
            </a:r>
          </a:p>
        </p:txBody>
      </p:sp>
      <p:sp>
        <p:nvSpPr>
          <p:cNvPr id="25" name="TextBox 24"/>
          <p:cNvSpPr txBox="1"/>
          <p:nvPr/>
        </p:nvSpPr>
        <p:spPr>
          <a:xfrm>
            <a:off x="1408176" y="236100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1.2.1</a:t>
            </a:r>
          </a:p>
        </p:txBody>
      </p:sp>
      <p:sp>
        <p:nvSpPr>
          <p:cNvPr id="26" name="TextBox 25"/>
          <p:cNvSpPr txBox="1"/>
          <p:nvPr/>
        </p:nvSpPr>
        <p:spPr>
          <a:xfrm>
            <a:off x="1920240" y="236100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Stakeholder Interviews</a:t>
            </a:r>
          </a:p>
        </p:txBody>
      </p:sp>
      <p:sp>
        <p:nvSpPr>
          <p:cNvPr id="27" name="TextBox 26"/>
          <p:cNvSpPr txBox="1"/>
          <p:nvPr/>
        </p:nvSpPr>
        <p:spPr>
          <a:xfrm>
            <a:off x="1408176" y="255760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1.2.2</a:t>
            </a:r>
          </a:p>
        </p:txBody>
      </p:sp>
      <p:sp>
        <p:nvSpPr>
          <p:cNvPr id="28" name="TextBox 27"/>
          <p:cNvSpPr txBox="1"/>
          <p:nvPr/>
        </p:nvSpPr>
        <p:spPr>
          <a:xfrm>
            <a:off x="1920240" y="2557600"/>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Requirements Document</a:t>
            </a:r>
          </a:p>
        </p:txBody>
      </p:sp>
      <p:sp>
        <p:nvSpPr>
          <p:cNvPr id="29" name="TextBox 28"/>
          <p:cNvSpPr txBox="1"/>
          <p:nvPr/>
        </p:nvSpPr>
        <p:spPr>
          <a:xfrm>
            <a:off x="1408176" y="275419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1.2.3</a:t>
            </a:r>
          </a:p>
        </p:txBody>
      </p:sp>
      <p:sp>
        <p:nvSpPr>
          <p:cNvPr id="30" name="TextBox 29"/>
          <p:cNvSpPr txBox="1"/>
          <p:nvPr/>
        </p:nvSpPr>
        <p:spPr>
          <a:xfrm>
            <a:off x="1920240" y="2754196"/>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Requirements Sign-off</a:t>
            </a:r>
          </a:p>
        </p:txBody>
      </p:sp>
      <p:sp>
        <p:nvSpPr>
          <p:cNvPr id="31" name="Rectangle 30"/>
          <p:cNvSpPr/>
          <p:nvPr/>
        </p:nvSpPr>
        <p:spPr>
          <a:xfrm>
            <a:off x="822960" y="2950792"/>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9536" y="295079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1.3</a:t>
            </a:r>
          </a:p>
        </p:txBody>
      </p:sp>
      <p:sp>
        <p:nvSpPr>
          <p:cNvPr id="33" name="TextBox 32"/>
          <p:cNvSpPr txBox="1"/>
          <p:nvPr/>
        </p:nvSpPr>
        <p:spPr>
          <a:xfrm>
            <a:off x="1371600" y="2950792"/>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System Design</a:t>
            </a:r>
          </a:p>
        </p:txBody>
      </p:sp>
      <p:sp>
        <p:nvSpPr>
          <p:cNvPr id="34" name="TextBox 33"/>
          <p:cNvSpPr txBox="1"/>
          <p:nvPr/>
        </p:nvSpPr>
        <p:spPr>
          <a:xfrm>
            <a:off x="1408176" y="314738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1.3.1</a:t>
            </a:r>
          </a:p>
        </p:txBody>
      </p:sp>
      <p:sp>
        <p:nvSpPr>
          <p:cNvPr id="35" name="TextBox 34"/>
          <p:cNvSpPr txBox="1"/>
          <p:nvPr/>
        </p:nvSpPr>
        <p:spPr>
          <a:xfrm>
            <a:off x="1920240" y="3147388"/>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UI/UX Design (Figma)</a:t>
            </a:r>
          </a:p>
        </p:txBody>
      </p:sp>
      <p:sp>
        <p:nvSpPr>
          <p:cNvPr id="36" name="TextBox 35"/>
          <p:cNvSpPr txBox="1"/>
          <p:nvPr/>
        </p:nvSpPr>
        <p:spPr>
          <a:xfrm>
            <a:off x="1408176" y="334398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1.3.2</a:t>
            </a:r>
          </a:p>
        </p:txBody>
      </p:sp>
      <p:sp>
        <p:nvSpPr>
          <p:cNvPr id="37" name="TextBox 36"/>
          <p:cNvSpPr txBox="1"/>
          <p:nvPr/>
        </p:nvSpPr>
        <p:spPr>
          <a:xfrm>
            <a:off x="1920240" y="334398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Database / Data-Model Schema</a:t>
            </a:r>
          </a:p>
        </p:txBody>
      </p:sp>
      <p:sp>
        <p:nvSpPr>
          <p:cNvPr id="38" name="TextBox 37"/>
          <p:cNvSpPr txBox="1"/>
          <p:nvPr/>
        </p:nvSpPr>
        <p:spPr>
          <a:xfrm>
            <a:off x="1408176" y="354058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1.3.3</a:t>
            </a:r>
          </a:p>
        </p:txBody>
      </p:sp>
      <p:sp>
        <p:nvSpPr>
          <p:cNvPr id="39" name="TextBox 38"/>
          <p:cNvSpPr txBox="1"/>
          <p:nvPr/>
        </p:nvSpPr>
        <p:spPr>
          <a:xfrm>
            <a:off x="1920240" y="3540580"/>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API / Service Contract</a:t>
            </a:r>
          </a:p>
        </p:txBody>
      </p:sp>
      <p:sp>
        <p:nvSpPr>
          <p:cNvPr id="40" name="Rectangle 39"/>
          <p:cNvSpPr/>
          <p:nvPr/>
        </p:nvSpPr>
        <p:spPr>
          <a:xfrm>
            <a:off x="822960" y="3737176"/>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59536" y="373717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1.4</a:t>
            </a:r>
          </a:p>
        </p:txBody>
      </p:sp>
      <p:sp>
        <p:nvSpPr>
          <p:cNvPr id="42" name="TextBox 41"/>
          <p:cNvSpPr txBox="1"/>
          <p:nvPr/>
        </p:nvSpPr>
        <p:spPr>
          <a:xfrm>
            <a:off x="1371600" y="3737176"/>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Development</a:t>
            </a:r>
          </a:p>
        </p:txBody>
      </p:sp>
      <p:sp>
        <p:nvSpPr>
          <p:cNvPr id="43" name="TextBox 42"/>
          <p:cNvSpPr txBox="1"/>
          <p:nvPr/>
        </p:nvSpPr>
        <p:spPr>
          <a:xfrm>
            <a:off x="1408176" y="393377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1.4.1</a:t>
            </a:r>
          </a:p>
        </p:txBody>
      </p:sp>
      <p:sp>
        <p:nvSpPr>
          <p:cNvPr id="44" name="TextBox 43"/>
          <p:cNvSpPr txBox="1"/>
          <p:nvPr/>
        </p:nvSpPr>
        <p:spPr>
          <a:xfrm>
            <a:off x="1920240" y="3933772"/>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Frontend (React + Vite + TS)</a:t>
            </a:r>
          </a:p>
        </p:txBody>
      </p:sp>
      <p:sp>
        <p:nvSpPr>
          <p:cNvPr id="45" name="TextBox 44"/>
          <p:cNvSpPr txBox="1"/>
          <p:nvPr/>
        </p:nvSpPr>
        <p:spPr>
          <a:xfrm>
            <a:off x="1408176" y="413036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1.4.2</a:t>
            </a:r>
          </a:p>
        </p:txBody>
      </p:sp>
      <p:sp>
        <p:nvSpPr>
          <p:cNvPr id="46" name="TextBox 45"/>
          <p:cNvSpPr txBox="1"/>
          <p:nvPr/>
        </p:nvSpPr>
        <p:spPr>
          <a:xfrm>
            <a:off x="1920240" y="4130368"/>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Backend / Persistence Layer</a:t>
            </a:r>
          </a:p>
        </p:txBody>
      </p:sp>
      <p:sp>
        <p:nvSpPr>
          <p:cNvPr id="47" name="TextBox 46"/>
          <p:cNvSpPr txBox="1"/>
          <p:nvPr/>
        </p:nvSpPr>
        <p:spPr>
          <a:xfrm>
            <a:off x="1408176" y="432696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1.4.3</a:t>
            </a:r>
          </a:p>
        </p:txBody>
      </p:sp>
      <p:sp>
        <p:nvSpPr>
          <p:cNvPr id="48" name="TextBox 47"/>
          <p:cNvSpPr txBox="1"/>
          <p:nvPr/>
        </p:nvSpPr>
        <p:spPr>
          <a:xfrm>
            <a:off x="1920240" y="432696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Integration &amp; Wiring</a:t>
            </a:r>
          </a:p>
        </p:txBody>
      </p:sp>
      <p:sp>
        <p:nvSpPr>
          <p:cNvPr id="49" name="Rectangle 48"/>
          <p:cNvSpPr/>
          <p:nvPr/>
        </p:nvSpPr>
        <p:spPr>
          <a:xfrm>
            <a:off x="822960" y="4523560"/>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59536" y="452356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1.5</a:t>
            </a:r>
          </a:p>
        </p:txBody>
      </p:sp>
      <p:sp>
        <p:nvSpPr>
          <p:cNvPr id="51" name="TextBox 50"/>
          <p:cNvSpPr txBox="1"/>
          <p:nvPr/>
        </p:nvSpPr>
        <p:spPr>
          <a:xfrm>
            <a:off x="1371600" y="4523560"/>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Testing &amp; QA</a:t>
            </a:r>
          </a:p>
        </p:txBody>
      </p:sp>
      <p:sp>
        <p:nvSpPr>
          <p:cNvPr id="52" name="TextBox 51"/>
          <p:cNvSpPr txBox="1"/>
          <p:nvPr/>
        </p:nvSpPr>
        <p:spPr>
          <a:xfrm>
            <a:off x="1408176" y="472015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1.5.1</a:t>
            </a:r>
          </a:p>
        </p:txBody>
      </p:sp>
      <p:sp>
        <p:nvSpPr>
          <p:cNvPr id="53" name="TextBox 52"/>
          <p:cNvSpPr txBox="1"/>
          <p:nvPr/>
        </p:nvSpPr>
        <p:spPr>
          <a:xfrm>
            <a:off x="1920240" y="4720156"/>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Unit Tests (Vitest)</a:t>
            </a:r>
          </a:p>
        </p:txBody>
      </p:sp>
      <p:sp>
        <p:nvSpPr>
          <p:cNvPr id="54" name="TextBox 53"/>
          <p:cNvSpPr txBox="1"/>
          <p:nvPr/>
        </p:nvSpPr>
        <p:spPr>
          <a:xfrm>
            <a:off x="1408176" y="491675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1.5.2</a:t>
            </a:r>
          </a:p>
        </p:txBody>
      </p:sp>
      <p:sp>
        <p:nvSpPr>
          <p:cNvPr id="55" name="TextBox 54"/>
          <p:cNvSpPr txBox="1"/>
          <p:nvPr/>
        </p:nvSpPr>
        <p:spPr>
          <a:xfrm>
            <a:off x="1920240" y="4916752"/>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Integration Tests</a:t>
            </a:r>
          </a:p>
        </p:txBody>
      </p:sp>
      <p:sp>
        <p:nvSpPr>
          <p:cNvPr id="56" name="TextBox 55"/>
          <p:cNvSpPr txBox="1"/>
          <p:nvPr/>
        </p:nvSpPr>
        <p:spPr>
          <a:xfrm>
            <a:off x="1408176" y="511334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1.5.3</a:t>
            </a:r>
          </a:p>
        </p:txBody>
      </p:sp>
      <p:sp>
        <p:nvSpPr>
          <p:cNvPr id="57" name="TextBox 56"/>
          <p:cNvSpPr txBox="1"/>
          <p:nvPr/>
        </p:nvSpPr>
        <p:spPr>
          <a:xfrm>
            <a:off x="1920240" y="5113348"/>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User Acceptance Test</a:t>
            </a:r>
          </a:p>
        </p:txBody>
      </p:sp>
      <p:sp>
        <p:nvSpPr>
          <p:cNvPr id="58" name="Rectangle 57"/>
          <p:cNvSpPr/>
          <p:nvPr/>
        </p:nvSpPr>
        <p:spPr>
          <a:xfrm>
            <a:off x="822960" y="5309944"/>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59536" y="530994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1.6</a:t>
            </a:r>
          </a:p>
        </p:txBody>
      </p:sp>
      <p:sp>
        <p:nvSpPr>
          <p:cNvPr id="60" name="TextBox 59"/>
          <p:cNvSpPr txBox="1"/>
          <p:nvPr/>
        </p:nvSpPr>
        <p:spPr>
          <a:xfrm>
            <a:off x="1371600" y="5309944"/>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Documentation</a:t>
            </a:r>
          </a:p>
        </p:txBody>
      </p:sp>
      <p:sp>
        <p:nvSpPr>
          <p:cNvPr id="61" name="TextBox 60"/>
          <p:cNvSpPr txBox="1"/>
          <p:nvPr/>
        </p:nvSpPr>
        <p:spPr>
          <a:xfrm>
            <a:off x="1408176" y="550654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1.6.1</a:t>
            </a:r>
          </a:p>
        </p:txBody>
      </p:sp>
      <p:sp>
        <p:nvSpPr>
          <p:cNvPr id="62" name="TextBox 61"/>
          <p:cNvSpPr txBox="1"/>
          <p:nvPr/>
        </p:nvSpPr>
        <p:spPr>
          <a:xfrm>
            <a:off x="1920240" y="5506540"/>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User Guide</a:t>
            </a:r>
          </a:p>
        </p:txBody>
      </p:sp>
      <p:sp>
        <p:nvSpPr>
          <p:cNvPr id="63" name="TextBox 62"/>
          <p:cNvSpPr txBox="1"/>
          <p:nvPr/>
        </p:nvSpPr>
        <p:spPr>
          <a:xfrm>
            <a:off x="1408176" y="570313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1.6.2</a:t>
            </a:r>
          </a:p>
        </p:txBody>
      </p:sp>
      <p:sp>
        <p:nvSpPr>
          <p:cNvPr id="64" name="TextBox 63"/>
          <p:cNvSpPr txBox="1"/>
          <p:nvPr/>
        </p:nvSpPr>
        <p:spPr>
          <a:xfrm>
            <a:off x="1920240" y="5703136"/>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Technical Documentation</a:t>
            </a:r>
          </a:p>
        </p:txBody>
      </p:sp>
      <p:sp>
        <p:nvSpPr>
          <p:cNvPr id="65" name="Rectangle 64"/>
          <p:cNvSpPr/>
          <p:nvPr/>
        </p:nvSpPr>
        <p:spPr>
          <a:xfrm>
            <a:off x="822960" y="5899732"/>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59536" y="589973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1.7</a:t>
            </a:r>
          </a:p>
        </p:txBody>
      </p:sp>
      <p:sp>
        <p:nvSpPr>
          <p:cNvPr id="67" name="TextBox 66"/>
          <p:cNvSpPr txBox="1"/>
          <p:nvPr/>
        </p:nvSpPr>
        <p:spPr>
          <a:xfrm>
            <a:off x="1371600" y="5899732"/>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Presentation &amp; Submission</a:t>
            </a:r>
          </a:p>
        </p:txBody>
      </p:sp>
      <p:sp>
        <p:nvSpPr>
          <p:cNvPr id="68" name="TextBox 67"/>
          <p:cNvSpPr txBox="1"/>
          <p:nvPr/>
        </p:nvSpPr>
        <p:spPr>
          <a:xfrm>
            <a:off x="1408176" y="609632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1.7.1</a:t>
            </a:r>
          </a:p>
        </p:txBody>
      </p:sp>
      <p:sp>
        <p:nvSpPr>
          <p:cNvPr id="69" name="TextBox 68"/>
          <p:cNvSpPr txBox="1"/>
          <p:nvPr/>
        </p:nvSpPr>
        <p:spPr>
          <a:xfrm>
            <a:off x="1920240" y="6096328"/>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Slide Deck</a:t>
            </a:r>
          </a:p>
        </p:txBody>
      </p:sp>
      <p:sp>
        <p:nvSpPr>
          <p:cNvPr id="70" name="TextBox 69"/>
          <p:cNvSpPr txBox="1"/>
          <p:nvPr/>
        </p:nvSpPr>
        <p:spPr>
          <a:xfrm>
            <a:off x="1408176" y="629292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1.7.2</a:t>
            </a:r>
          </a:p>
        </p:txBody>
      </p:sp>
      <p:sp>
        <p:nvSpPr>
          <p:cNvPr id="71" name="TextBox 70"/>
          <p:cNvSpPr txBox="1"/>
          <p:nvPr/>
        </p:nvSpPr>
        <p:spPr>
          <a:xfrm>
            <a:off x="1920240" y="629292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Rehearsal</a:t>
            </a:r>
          </a:p>
        </p:txBody>
      </p:sp>
      <p:cxnSp>
        <p:nvCxnSpPr>
          <p:cNvPr id="72" name="Connector 71"/>
          <p:cNvCxnSpPr/>
          <p:nvPr/>
        </p:nvCxnSpPr>
        <p:spPr>
          <a:xfrm>
            <a:off x="6104241" y="1824228"/>
            <a:ext cx="5760720" cy="0"/>
          </a:xfrm>
          <a:prstGeom prst="line">
            <a:avLst/>
          </a:prstGeom>
          <a:ln w="6350">
            <a:solidFill>
              <a:srgbClr val="D9CDB8"/>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104241" y="1888236"/>
            <a:ext cx="576072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WBS Level 3 Hours</a:t>
            </a:r>
          </a:p>
        </p:txBody>
      </p:sp>
      <p:sp>
        <p:nvSpPr>
          <p:cNvPr id="74" name="Rectangle 73"/>
          <p:cNvSpPr/>
          <p:nvPr/>
        </p:nvSpPr>
        <p:spPr>
          <a:xfrm>
            <a:off x="6104241" y="2418588"/>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195681" y="2446020"/>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1.1 PM</a:t>
            </a:r>
          </a:p>
        </p:txBody>
      </p:sp>
      <p:sp>
        <p:nvSpPr>
          <p:cNvPr id="76" name="TextBox 75"/>
          <p:cNvSpPr txBox="1"/>
          <p:nvPr/>
        </p:nvSpPr>
        <p:spPr>
          <a:xfrm>
            <a:off x="7658721" y="2436876"/>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60 h</a:t>
            </a:r>
          </a:p>
        </p:txBody>
      </p:sp>
      <p:sp>
        <p:nvSpPr>
          <p:cNvPr id="77" name="Rectangle 76"/>
          <p:cNvSpPr/>
          <p:nvPr/>
        </p:nvSpPr>
        <p:spPr>
          <a:xfrm>
            <a:off x="8938881" y="2418588"/>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9030321" y="2446020"/>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1.2 Req</a:t>
            </a:r>
          </a:p>
        </p:txBody>
      </p:sp>
      <p:sp>
        <p:nvSpPr>
          <p:cNvPr id="79" name="TextBox 78"/>
          <p:cNvSpPr txBox="1"/>
          <p:nvPr/>
        </p:nvSpPr>
        <p:spPr>
          <a:xfrm>
            <a:off x="10493361" y="2436876"/>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50 h</a:t>
            </a:r>
          </a:p>
        </p:txBody>
      </p:sp>
      <p:sp>
        <p:nvSpPr>
          <p:cNvPr id="80" name="Rectangle 79"/>
          <p:cNvSpPr/>
          <p:nvPr/>
        </p:nvSpPr>
        <p:spPr>
          <a:xfrm>
            <a:off x="6104241" y="2894076"/>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6195681" y="2921508"/>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1.3 Design</a:t>
            </a:r>
          </a:p>
        </p:txBody>
      </p:sp>
      <p:sp>
        <p:nvSpPr>
          <p:cNvPr id="82" name="TextBox 81"/>
          <p:cNvSpPr txBox="1"/>
          <p:nvPr/>
        </p:nvSpPr>
        <p:spPr>
          <a:xfrm>
            <a:off x="7658721" y="2912364"/>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80 h</a:t>
            </a:r>
          </a:p>
        </p:txBody>
      </p:sp>
      <p:sp>
        <p:nvSpPr>
          <p:cNvPr id="83" name="Rectangle 82"/>
          <p:cNvSpPr/>
          <p:nvPr/>
        </p:nvSpPr>
        <p:spPr>
          <a:xfrm>
            <a:off x="8938881" y="2894076"/>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9030321" y="2921508"/>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1.4 Dev</a:t>
            </a:r>
          </a:p>
        </p:txBody>
      </p:sp>
      <p:sp>
        <p:nvSpPr>
          <p:cNvPr id="85" name="TextBox 84"/>
          <p:cNvSpPr txBox="1"/>
          <p:nvPr/>
        </p:nvSpPr>
        <p:spPr>
          <a:xfrm>
            <a:off x="10493361" y="2912364"/>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180 h</a:t>
            </a:r>
          </a:p>
        </p:txBody>
      </p:sp>
      <p:sp>
        <p:nvSpPr>
          <p:cNvPr id="86" name="Rectangle 85"/>
          <p:cNvSpPr/>
          <p:nvPr/>
        </p:nvSpPr>
        <p:spPr>
          <a:xfrm>
            <a:off x="6104241" y="3369564"/>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195681" y="3396996"/>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1.5 QA</a:t>
            </a:r>
          </a:p>
        </p:txBody>
      </p:sp>
      <p:sp>
        <p:nvSpPr>
          <p:cNvPr id="88" name="TextBox 87"/>
          <p:cNvSpPr txBox="1"/>
          <p:nvPr/>
        </p:nvSpPr>
        <p:spPr>
          <a:xfrm>
            <a:off x="7658721" y="3387852"/>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60 h</a:t>
            </a:r>
          </a:p>
        </p:txBody>
      </p:sp>
      <p:sp>
        <p:nvSpPr>
          <p:cNvPr id="89" name="Rectangle 88"/>
          <p:cNvSpPr/>
          <p:nvPr/>
        </p:nvSpPr>
        <p:spPr>
          <a:xfrm>
            <a:off x="8938881" y="3369564"/>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030321" y="3396996"/>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1.6 Docs</a:t>
            </a:r>
          </a:p>
        </p:txBody>
      </p:sp>
      <p:sp>
        <p:nvSpPr>
          <p:cNvPr id="91" name="TextBox 90"/>
          <p:cNvSpPr txBox="1"/>
          <p:nvPr/>
        </p:nvSpPr>
        <p:spPr>
          <a:xfrm>
            <a:off x="10493361" y="3387852"/>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30 h</a:t>
            </a:r>
          </a:p>
        </p:txBody>
      </p:sp>
      <p:sp>
        <p:nvSpPr>
          <p:cNvPr id="92" name="Rectangle 91"/>
          <p:cNvSpPr/>
          <p:nvPr/>
        </p:nvSpPr>
        <p:spPr>
          <a:xfrm>
            <a:off x="6104241" y="3845052"/>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6195681" y="3872484"/>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1.7 Pres</a:t>
            </a:r>
          </a:p>
        </p:txBody>
      </p:sp>
      <p:sp>
        <p:nvSpPr>
          <p:cNvPr id="94" name="TextBox 93"/>
          <p:cNvSpPr txBox="1"/>
          <p:nvPr/>
        </p:nvSpPr>
        <p:spPr>
          <a:xfrm>
            <a:off x="7658721" y="3863340"/>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20 h</a:t>
            </a:r>
          </a:p>
        </p:txBody>
      </p:sp>
      <p:cxnSp>
        <p:nvCxnSpPr>
          <p:cNvPr id="95" name="Connector 94"/>
          <p:cNvCxnSpPr/>
          <p:nvPr/>
        </p:nvCxnSpPr>
        <p:spPr>
          <a:xfrm>
            <a:off x="6104241" y="4293108"/>
            <a:ext cx="5760720"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6104241" y="4384547"/>
            <a:ext cx="5760720" cy="347472"/>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Total Labor: 480 h × 50,000 VND/h = 24,000,000 VND</a:t>
            </a:r>
          </a:p>
        </p:txBody>
      </p:sp>
      <p:sp>
        <p:nvSpPr>
          <p:cNvPr id="97" name="TextBox 96"/>
          <p:cNvSpPr txBox="1"/>
          <p:nvPr/>
        </p:nvSpPr>
        <p:spPr>
          <a:xfrm>
            <a:off x="6104241" y="4777740"/>
            <a:ext cx="5760720" cy="256032"/>
          </a:xfrm>
          <a:prstGeom prst="rect">
            <a:avLst/>
          </a:prstGeom>
          <a:noFill/>
        </p:spPr>
        <p:txBody>
          <a:bodyPr wrap="square" lIns="54864" tIns="18288" rIns="54864" bIns="18288" anchor="t">
            <a:spAutoFit/>
          </a:bodyPr>
          <a:lstStyle/>
          <a:p>
            <a:pPr algn="l">
              <a:lnSpc>
                <a:spcPct val="100000"/>
              </a:lnSpc>
            </a:pPr>
            <a:r>
              <a:rPr sz="1000" b="0" i="1">
                <a:solidFill>
                  <a:srgbClr val="8A7A66"/>
                </a:solidFill>
                <a:latin typeface="Inter"/>
              </a:rPr>
              <a:t>→ See Budget Rollup in Section IV</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08 / 31</a:t>
            </a:r>
          </a:p>
        </p:txBody>
      </p:sp>
      <p:sp>
        <p:nvSpPr>
          <p:cNvPr id="11" name="TextBox 10">
            <a:extLst>
              <a:ext uri="{FF2B5EF4-FFF2-40B4-BE49-F238E27FC236}">
                <a16:creationId xmlns:a16="http://schemas.microsoft.com/office/drawing/2014/main" id="{0169D1ED-8EF9-4CE6-4662-DF4899708F3B}"/>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7B7574DC-6E46-6D8B-B82C-D8B75CB70C44}"/>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sz="9600" b="0" i="1" dirty="0">
                <a:solidFill>
                  <a:srgbClr val="C49A6C"/>
                </a:solidFill>
                <a:latin typeface="Playfair Display"/>
              </a:rPr>
              <a:t>I</a:t>
            </a:r>
            <a:r>
              <a:rPr lang="en-US" sz="9600" b="0" i="1" dirty="0">
                <a:solidFill>
                  <a:srgbClr val="C49A6C"/>
                </a:solidFill>
                <a:latin typeface="Playfair Display"/>
              </a:rPr>
              <a:t>II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ADB38FD2-F548-332D-8DB0-8CC78A8755F1}"/>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Timeline &amp; Milestones</a:t>
            </a:r>
          </a:p>
        </p:txBody>
      </p:sp>
      <p:sp>
        <p:nvSpPr>
          <p:cNvPr id="15" name="TextBox 14">
            <a:extLst>
              <a:ext uri="{FF2B5EF4-FFF2-40B4-BE49-F238E27FC236}">
                <a16:creationId xmlns:a16="http://schemas.microsoft.com/office/drawing/2014/main" id="{43A6FECE-C7FC-5242-C0CB-316A1922D327}"/>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2, 4, 5 · Ch. 4, 8, 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TIMELINE &amp; MILESTONES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Gantt Chart — 14-Week Timeline</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09 / 31</a:t>
            </a:r>
          </a:p>
        </p:txBody>
      </p:sp>
      <p:sp>
        <p:nvSpPr>
          <p:cNvPr id="8" name="TextBox 7"/>
          <p:cNvSpPr txBox="1"/>
          <p:nvPr/>
        </p:nvSpPr>
        <p:spPr>
          <a:xfrm>
            <a:off x="640080" y="1133109"/>
            <a:ext cx="1371600" cy="310896"/>
          </a:xfrm>
          <a:prstGeom prst="rect">
            <a:avLst/>
          </a:prstGeom>
          <a:noFill/>
        </p:spPr>
        <p:txBody>
          <a:bodyPr wrap="square" lIns="54864" tIns="18288" rIns="54864" bIns="18288" anchor="t">
            <a:spAutoFit/>
          </a:bodyPr>
          <a:lstStyle/>
          <a:p>
            <a:pPr algn="l">
              <a:lnSpc>
                <a:spcPct val="100000"/>
              </a:lnSpc>
            </a:pPr>
            <a:r>
              <a:rPr sz="800" b="1" i="0">
                <a:solidFill>
                  <a:srgbClr val="8A7A66"/>
                </a:solidFill>
                <a:latin typeface="Inter"/>
              </a:rPr>
              <a:t>WBS</a:t>
            </a:r>
          </a:p>
        </p:txBody>
      </p:sp>
      <p:sp>
        <p:nvSpPr>
          <p:cNvPr id="9" name="Rectangle 8"/>
          <p:cNvSpPr/>
          <p:nvPr/>
        </p:nvSpPr>
        <p:spPr>
          <a:xfrm>
            <a:off x="2148840"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48840"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W1</a:t>
            </a:r>
          </a:p>
        </p:txBody>
      </p:sp>
      <p:sp>
        <p:nvSpPr>
          <p:cNvPr id="11" name="Rectangle 10"/>
          <p:cNvSpPr/>
          <p:nvPr/>
        </p:nvSpPr>
        <p:spPr>
          <a:xfrm>
            <a:off x="2843784"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43784"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W2</a:t>
            </a:r>
          </a:p>
        </p:txBody>
      </p:sp>
      <p:sp>
        <p:nvSpPr>
          <p:cNvPr id="13" name="Rectangle 12"/>
          <p:cNvSpPr/>
          <p:nvPr/>
        </p:nvSpPr>
        <p:spPr>
          <a:xfrm>
            <a:off x="3538728"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38728"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W3</a:t>
            </a:r>
          </a:p>
        </p:txBody>
      </p:sp>
      <p:sp>
        <p:nvSpPr>
          <p:cNvPr id="15" name="Rectangle 14"/>
          <p:cNvSpPr/>
          <p:nvPr/>
        </p:nvSpPr>
        <p:spPr>
          <a:xfrm>
            <a:off x="4233672"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33672"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W4</a:t>
            </a:r>
          </a:p>
        </p:txBody>
      </p:sp>
      <p:sp>
        <p:nvSpPr>
          <p:cNvPr id="17" name="Rectangle 16"/>
          <p:cNvSpPr/>
          <p:nvPr/>
        </p:nvSpPr>
        <p:spPr>
          <a:xfrm>
            <a:off x="4928616"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928616"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W5</a:t>
            </a:r>
          </a:p>
        </p:txBody>
      </p:sp>
      <p:sp>
        <p:nvSpPr>
          <p:cNvPr id="19" name="Rectangle 18"/>
          <p:cNvSpPr/>
          <p:nvPr/>
        </p:nvSpPr>
        <p:spPr>
          <a:xfrm>
            <a:off x="5623560"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623560"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W6</a:t>
            </a:r>
          </a:p>
        </p:txBody>
      </p:sp>
      <p:sp>
        <p:nvSpPr>
          <p:cNvPr id="21" name="Rectangle 20"/>
          <p:cNvSpPr/>
          <p:nvPr/>
        </p:nvSpPr>
        <p:spPr>
          <a:xfrm>
            <a:off x="6318504"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18504"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W7</a:t>
            </a:r>
          </a:p>
        </p:txBody>
      </p:sp>
      <p:sp>
        <p:nvSpPr>
          <p:cNvPr id="23" name="Rectangle 22"/>
          <p:cNvSpPr/>
          <p:nvPr/>
        </p:nvSpPr>
        <p:spPr>
          <a:xfrm>
            <a:off x="7013448"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013448"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W8</a:t>
            </a:r>
          </a:p>
        </p:txBody>
      </p:sp>
      <p:sp>
        <p:nvSpPr>
          <p:cNvPr id="25" name="Rectangle 24"/>
          <p:cNvSpPr/>
          <p:nvPr/>
        </p:nvSpPr>
        <p:spPr>
          <a:xfrm>
            <a:off x="7708392"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08392"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W9</a:t>
            </a:r>
          </a:p>
        </p:txBody>
      </p:sp>
      <p:sp>
        <p:nvSpPr>
          <p:cNvPr id="27" name="Rectangle 26"/>
          <p:cNvSpPr/>
          <p:nvPr/>
        </p:nvSpPr>
        <p:spPr>
          <a:xfrm>
            <a:off x="8403336"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03336"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W10</a:t>
            </a:r>
          </a:p>
        </p:txBody>
      </p:sp>
      <p:sp>
        <p:nvSpPr>
          <p:cNvPr id="29" name="Rectangle 28"/>
          <p:cNvSpPr/>
          <p:nvPr/>
        </p:nvSpPr>
        <p:spPr>
          <a:xfrm>
            <a:off x="9098280"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098280"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W11</a:t>
            </a:r>
          </a:p>
        </p:txBody>
      </p:sp>
      <p:sp>
        <p:nvSpPr>
          <p:cNvPr id="31" name="Rectangle 30"/>
          <p:cNvSpPr/>
          <p:nvPr/>
        </p:nvSpPr>
        <p:spPr>
          <a:xfrm>
            <a:off x="9793224"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793224"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W12</a:t>
            </a:r>
          </a:p>
        </p:txBody>
      </p:sp>
      <p:sp>
        <p:nvSpPr>
          <p:cNvPr id="33" name="Rectangle 32"/>
          <p:cNvSpPr/>
          <p:nvPr/>
        </p:nvSpPr>
        <p:spPr>
          <a:xfrm>
            <a:off x="10488168"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488168"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W13</a:t>
            </a:r>
          </a:p>
        </p:txBody>
      </p:sp>
      <p:sp>
        <p:nvSpPr>
          <p:cNvPr id="35" name="Rectangle 34"/>
          <p:cNvSpPr/>
          <p:nvPr/>
        </p:nvSpPr>
        <p:spPr>
          <a:xfrm>
            <a:off x="11183112" y="1133109"/>
            <a:ext cx="667512"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1183112" y="1133109"/>
            <a:ext cx="667512" cy="310896"/>
          </a:xfrm>
          <a:prstGeom prst="rect">
            <a:avLst/>
          </a:prstGeom>
          <a:noFill/>
        </p:spPr>
        <p:txBody>
          <a:bodyPr wrap="square" lIns="54864" tIns="18288" rIns="54864" bIns="18288" anchor="t">
            <a:spAutoFit/>
          </a:bodyPr>
          <a:lstStyle/>
          <a:p>
            <a:pPr algn="ctr">
              <a:lnSpc>
                <a:spcPct val="100000"/>
              </a:lnSpc>
            </a:pPr>
            <a:r>
              <a:rPr sz="800" b="1" i="0">
                <a:solidFill>
                  <a:srgbClr val="2B2419"/>
                </a:solidFill>
                <a:latin typeface="Inter"/>
              </a:rPr>
              <a:t>W14</a:t>
            </a:r>
          </a:p>
        </p:txBody>
      </p:sp>
      <p:sp>
        <p:nvSpPr>
          <p:cNvPr id="37" name="TextBox 36"/>
          <p:cNvSpPr txBox="1"/>
          <p:nvPr/>
        </p:nvSpPr>
        <p:spPr>
          <a:xfrm>
            <a:off x="640080" y="1498869"/>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1.1.1</a:t>
            </a:r>
          </a:p>
        </p:txBody>
      </p:sp>
      <p:sp>
        <p:nvSpPr>
          <p:cNvPr id="38" name="TextBox 37"/>
          <p:cNvSpPr txBox="1"/>
          <p:nvPr/>
        </p:nvSpPr>
        <p:spPr>
          <a:xfrm>
            <a:off x="1143000" y="1498869"/>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Charter &amp; Kickof</a:t>
            </a:r>
          </a:p>
        </p:txBody>
      </p:sp>
      <p:sp>
        <p:nvSpPr>
          <p:cNvPr id="39" name="Rectangle 38"/>
          <p:cNvSpPr/>
          <p:nvPr/>
        </p:nvSpPr>
        <p:spPr>
          <a:xfrm>
            <a:off x="2148840" y="1535445"/>
            <a:ext cx="1353312"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40080" y="1736613"/>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1.1.2</a:t>
            </a:r>
          </a:p>
        </p:txBody>
      </p:sp>
      <p:sp>
        <p:nvSpPr>
          <p:cNvPr id="41" name="TextBox 40"/>
          <p:cNvSpPr txBox="1"/>
          <p:nvPr/>
        </p:nvSpPr>
        <p:spPr>
          <a:xfrm>
            <a:off x="1143000" y="1736613"/>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Status Meetings</a:t>
            </a:r>
          </a:p>
        </p:txBody>
      </p:sp>
      <p:sp>
        <p:nvSpPr>
          <p:cNvPr id="42" name="Rectangle 41"/>
          <p:cNvSpPr/>
          <p:nvPr/>
        </p:nvSpPr>
        <p:spPr>
          <a:xfrm>
            <a:off x="2148840" y="1773189"/>
            <a:ext cx="9692640"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40080" y="1974357"/>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1.1.3</a:t>
            </a:r>
          </a:p>
        </p:txBody>
      </p:sp>
      <p:sp>
        <p:nvSpPr>
          <p:cNvPr id="44" name="TextBox 43"/>
          <p:cNvSpPr txBox="1"/>
          <p:nvPr/>
        </p:nvSpPr>
        <p:spPr>
          <a:xfrm>
            <a:off x="1143000" y="1974357"/>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Risk Reviews</a:t>
            </a:r>
          </a:p>
        </p:txBody>
      </p:sp>
      <p:sp>
        <p:nvSpPr>
          <p:cNvPr id="45" name="Rectangle 44"/>
          <p:cNvSpPr/>
          <p:nvPr/>
        </p:nvSpPr>
        <p:spPr>
          <a:xfrm>
            <a:off x="2148840" y="2010933"/>
            <a:ext cx="9692640"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40080" y="2212101"/>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1.2.1</a:t>
            </a:r>
          </a:p>
        </p:txBody>
      </p:sp>
      <p:sp>
        <p:nvSpPr>
          <p:cNvPr id="47" name="TextBox 46"/>
          <p:cNvSpPr txBox="1"/>
          <p:nvPr/>
        </p:nvSpPr>
        <p:spPr>
          <a:xfrm>
            <a:off x="1143000" y="2212101"/>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Stakeholder Inte</a:t>
            </a:r>
          </a:p>
        </p:txBody>
      </p:sp>
      <p:sp>
        <p:nvSpPr>
          <p:cNvPr id="48" name="Rectangle 47"/>
          <p:cNvSpPr/>
          <p:nvPr/>
        </p:nvSpPr>
        <p:spPr>
          <a:xfrm>
            <a:off x="2843784" y="2248677"/>
            <a:ext cx="658368"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40080" y="2449845"/>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1.2.2</a:t>
            </a:r>
          </a:p>
        </p:txBody>
      </p:sp>
      <p:sp>
        <p:nvSpPr>
          <p:cNvPr id="50" name="TextBox 49"/>
          <p:cNvSpPr txBox="1"/>
          <p:nvPr/>
        </p:nvSpPr>
        <p:spPr>
          <a:xfrm>
            <a:off x="1143000" y="2449845"/>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Requirements Doc</a:t>
            </a:r>
          </a:p>
        </p:txBody>
      </p:sp>
      <p:sp>
        <p:nvSpPr>
          <p:cNvPr id="51" name="Rectangle 50"/>
          <p:cNvSpPr/>
          <p:nvPr/>
        </p:nvSpPr>
        <p:spPr>
          <a:xfrm>
            <a:off x="2843784" y="2486421"/>
            <a:ext cx="1353312"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0080" y="2687589"/>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1.2.3</a:t>
            </a:r>
          </a:p>
        </p:txBody>
      </p:sp>
      <p:sp>
        <p:nvSpPr>
          <p:cNvPr id="53" name="TextBox 52"/>
          <p:cNvSpPr txBox="1"/>
          <p:nvPr/>
        </p:nvSpPr>
        <p:spPr>
          <a:xfrm>
            <a:off x="1143000" y="2687589"/>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Req Sign-off</a:t>
            </a:r>
          </a:p>
        </p:txBody>
      </p:sp>
      <p:sp>
        <p:nvSpPr>
          <p:cNvPr id="54" name="Rectangle 53"/>
          <p:cNvSpPr/>
          <p:nvPr/>
        </p:nvSpPr>
        <p:spPr>
          <a:xfrm>
            <a:off x="3538728" y="2724165"/>
            <a:ext cx="658368"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0080" y="2925333"/>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1.3.1</a:t>
            </a:r>
          </a:p>
        </p:txBody>
      </p:sp>
      <p:sp>
        <p:nvSpPr>
          <p:cNvPr id="56" name="TextBox 55"/>
          <p:cNvSpPr txBox="1"/>
          <p:nvPr/>
        </p:nvSpPr>
        <p:spPr>
          <a:xfrm>
            <a:off x="1143000" y="2925333"/>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UI/UX Design</a:t>
            </a:r>
          </a:p>
        </p:txBody>
      </p:sp>
      <p:sp>
        <p:nvSpPr>
          <p:cNvPr id="57" name="Rectangle 56"/>
          <p:cNvSpPr/>
          <p:nvPr/>
        </p:nvSpPr>
        <p:spPr>
          <a:xfrm>
            <a:off x="3538728" y="2961909"/>
            <a:ext cx="2048256"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0080" y="3163077"/>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1.3.2</a:t>
            </a:r>
          </a:p>
        </p:txBody>
      </p:sp>
      <p:sp>
        <p:nvSpPr>
          <p:cNvPr id="59" name="TextBox 58"/>
          <p:cNvSpPr txBox="1"/>
          <p:nvPr/>
        </p:nvSpPr>
        <p:spPr>
          <a:xfrm>
            <a:off x="1143000" y="3163077"/>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DB Schema</a:t>
            </a:r>
          </a:p>
        </p:txBody>
      </p:sp>
      <p:sp>
        <p:nvSpPr>
          <p:cNvPr id="60" name="Rectangle 59"/>
          <p:cNvSpPr/>
          <p:nvPr/>
        </p:nvSpPr>
        <p:spPr>
          <a:xfrm>
            <a:off x="3538728" y="3199653"/>
            <a:ext cx="135331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40080" y="3400821"/>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1.3.3</a:t>
            </a:r>
          </a:p>
        </p:txBody>
      </p:sp>
      <p:sp>
        <p:nvSpPr>
          <p:cNvPr id="62" name="TextBox 61"/>
          <p:cNvSpPr txBox="1"/>
          <p:nvPr/>
        </p:nvSpPr>
        <p:spPr>
          <a:xfrm>
            <a:off x="1143000" y="3400821"/>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API Contract</a:t>
            </a:r>
          </a:p>
        </p:txBody>
      </p:sp>
      <p:sp>
        <p:nvSpPr>
          <p:cNvPr id="63" name="Rectangle 62"/>
          <p:cNvSpPr/>
          <p:nvPr/>
        </p:nvSpPr>
        <p:spPr>
          <a:xfrm>
            <a:off x="4233672" y="3437397"/>
            <a:ext cx="135331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40080" y="3638565"/>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1.4.1</a:t>
            </a:r>
          </a:p>
        </p:txBody>
      </p:sp>
      <p:sp>
        <p:nvSpPr>
          <p:cNvPr id="65" name="TextBox 64"/>
          <p:cNvSpPr txBox="1"/>
          <p:nvPr/>
        </p:nvSpPr>
        <p:spPr>
          <a:xfrm>
            <a:off x="1143000" y="3638565"/>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Frontend Dev</a:t>
            </a:r>
          </a:p>
        </p:txBody>
      </p:sp>
      <p:sp>
        <p:nvSpPr>
          <p:cNvPr id="66" name="Rectangle 65"/>
          <p:cNvSpPr/>
          <p:nvPr/>
        </p:nvSpPr>
        <p:spPr>
          <a:xfrm>
            <a:off x="4928616" y="3675141"/>
            <a:ext cx="3438144"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40080" y="3876309"/>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1.4.2</a:t>
            </a:r>
          </a:p>
        </p:txBody>
      </p:sp>
      <p:sp>
        <p:nvSpPr>
          <p:cNvPr id="68" name="TextBox 67"/>
          <p:cNvSpPr txBox="1"/>
          <p:nvPr/>
        </p:nvSpPr>
        <p:spPr>
          <a:xfrm>
            <a:off x="1143000" y="3876309"/>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Backend Dev</a:t>
            </a:r>
          </a:p>
        </p:txBody>
      </p:sp>
      <p:sp>
        <p:nvSpPr>
          <p:cNvPr id="69" name="Rectangle 68"/>
          <p:cNvSpPr/>
          <p:nvPr/>
        </p:nvSpPr>
        <p:spPr>
          <a:xfrm>
            <a:off x="4928616" y="3912885"/>
            <a:ext cx="2743200"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40080" y="4114053"/>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1.4.3</a:t>
            </a:r>
          </a:p>
        </p:txBody>
      </p:sp>
      <p:sp>
        <p:nvSpPr>
          <p:cNvPr id="71" name="TextBox 70"/>
          <p:cNvSpPr txBox="1"/>
          <p:nvPr/>
        </p:nvSpPr>
        <p:spPr>
          <a:xfrm>
            <a:off x="1143000" y="4114053"/>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Integration</a:t>
            </a:r>
          </a:p>
        </p:txBody>
      </p:sp>
      <p:sp>
        <p:nvSpPr>
          <p:cNvPr id="72" name="Rectangle 71"/>
          <p:cNvSpPr/>
          <p:nvPr/>
        </p:nvSpPr>
        <p:spPr>
          <a:xfrm>
            <a:off x="7013448" y="4150629"/>
            <a:ext cx="1353312"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40080" y="4351797"/>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1.5.1</a:t>
            </a:r>
          </a:p>
        </p:txBody>
      </p:sp>
      <p:sp>
        <p:nvSpPr>
          <p:cNvPr id="74" name="TextBox 73"/>
          <p:cNvSpPr txBox="1"/>
          <p:nvPr/>
        </p:nvSpPr>
        <p:spPr>
          <a:xfrm>
            <a:off x="1143000" y="4351797"/>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Unit Tests</a:t>
            </a:r>
          </a:p>
        </p:txBody>
      </p:sp>
      <p:sp>
        <p:nvSpPr>
          <p:cNvPr id="75" name="Rectangle 74"/>
          <p:cNvSpPr/>
          <p:nvPr/>
        </p:nvSpPr>
        <p:spPr>
          <a:xfrm>
            <a:off x="6318504" y="4388373"/>
            <a:ext cx="2743200"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40080" y="4589541"/>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1.5.2</a:t>
            </a:r>
          </a:p>
        </p:txBody>
      </p:sp>
      <p:sp>
        <p:nvSpPr>
          <p:cNvPr id="77" name="TextBox 76"/>
          <p:cNvSpPr txBox="1"/>
          <p:nvPr/>
        </p:nvSpPr>
        <p:spPr>
          <a:xfrm>
            <a:off x="1143000" y="4589541"/>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Integration Test</a:t>
            </a:r>
          </a:p>
        </p:txBody>
      </p:sp>
      <p:sp>
        <p:nvSpPr>
          <p:cNvPr id="78" name="Rectangle 77"/>
          <p:cNvSpPr/>
          <p:nvPr/>
        </p:nvSpPr>
        <p:spPr>
          <a:xfrm>
            <a:off x="7708392" y="4626117"/>
            <a:ext cx="2048256"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40080" y="4827285"/>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1.5.3</a:t>
            </a:r>
          </a:p>
        </p:txBody>
      </p:sp>
      <p:sp>
        <p:nvSpPr>
          <p:cNvPr id="80" name="TextBox 79"/>
          <p:cNvSpPr txBox="1"/>
          <p:nvPr/>
        </p:nvSpPr>
        <p:spPr>
          <a:xfrm>
            <a:off x="1143000" y="4827285"/>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UAT</a:t>
            </a:r>
          </a:p>
        </p:txBody>
      </p:sp>
      <p:sp>
        <p:nvSpPr>
          <p:cNvPr id="81" name="Rectangle 80"/>
          <p:cNvSpPr/>
          <p:nvPr/>
        </p:nvSpPr>
        <p:spPr>
          <a:xfrm>
            <a:off x="9793224" y="4863861"/>
            <a:ext cx="658368"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640080" y="5065029"/>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1.6.1</a:t>
            </a:r>
          </a:p>
        </p:txBody>
      </p:sp>
      <p:sp>
        <p:nvSpPr>
          <p:cNvPr id="83" name="TextBox 82"/>
          <p:cNvSpPr txBox="1"/>
          <p:nvPr/>
        </p:nvSpPr>
        <p:spPr>
          <a:xfrm>
            <a:off x="1143000" y="5065029"/>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User Guide</a:t>
            </a:r>
          </a:p>
        </p:txBody>
      </p:sp>
      <p:sp>
        <p:nvSpPr>
          <p:cNvPr id="84" name="Rectangle 83"/>
          <p:cNvSpPr/>
          <p:nvPr/>
        </p:nvSpPr>
        <p:spPr>
          <a:xfrm>
            <a:off x="9098280" y="5101605"/>
            <a:ext cx="2048256"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640080" y="5302773"/>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1.6.2</a:t>
            </a:r>
          </a:p>
        </p:txBody>
      </p:sp>
      <p:sp>
        <p:nvSpPr>
          <p:cNvPr id="86" name="TextBox 85"/>
          <p:cNvSpPr txBox="1"/>
          <p:nvPr/>
        </p:nvSpPr>
        <p:spPr>
          <a:xfrm>
            <a:off x="1143000" y="5302773"/>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Tech Docs</a:t>
            </a:r>
          </a:p>
        </p:txBody>
      </p:sp>
      <p:sp>
        <p:nvSpPr>
          <p:cNvPr id="87" name="Rectangle 86"/>
          <p:cNvSpPr/>
          <p:nvPr/>
        </p:nvSpPr>
        <p:spPr>
          <a:xfrm>
            <a:off x="9098280" y="5339349"/>
            <a:ext cx="2048256"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40080" y="5540517"/>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1.7.1</a:t>
            </a:r>
          </a:p>
        </p:txBody>
      </p:sp>
      <p:sp>
        <p:nvSpPr>
          <p:cNvPr id="89" name="TextBox 88"/>
          <p:cNvSpPr txBox="1"/>
          <p:nvPr/>
        </p:nvSpPr>
        <p:spPr>
          <a:xfrm>
            <a:off x="1143000" y="5540517"/>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Slide Deck</a:t>
            </a:r>
          </a:p>
        </p:txBody>
      </p:sp>
      <p:sp>
        <p:nvSpPr>
          <p:cNvPr id="90" name="Rectangle 89"/>
          <p:cNvSpPr/>
          <p:nvPr/>
        </p:nvSpPr>
        <p:spPr>
          <a:xfrm>
            <a:off x="9793224" y="5577093"/>
            <a:ext cx="135331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640080" y="5778261"/>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1.7.2</a:t>
            </a:r>
          </a:p>
        </p:txBody>
      </p:sp>
      <p:sp>
        <p:nvSpPr>
          <p:cNvPr id="92" name="TextBox 91"/>
          <p:cNvSpPr txBox="1"/>
          <p:nvPr/>
        </p:nvSpPr>
        <p:spPr>
          <a:xfrm>
            <a:off x="1143000" y="5778261"/>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Rehearsal</a:t>
            </a:r>
          </a:p>
        </p:txBody>
      </p:sp>
      <p:sp>
        <p:nvSpPr>
          <p:cNvPr id="93" name="Rectangle 92"/>
          <p:cNvSpPr/>
          <p:nvPr/>
        </p:nvSpPr>
        <p:spPr>
          <a:xfrm>
            <a:off x="10488168" y="5814837"/>
            <a:ext cx="135331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5-Point Star 94"/>
          <p:cNvSpPr/>
          <p:nvPr/>
        </p:nvSpPr>
        <p:spPr>
          <a:xfrm>
            <a:off x="2368296"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2093976"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M1: Charter
Approved</a:t>
            </a:r>
          </a:p>
        </p:txBody>
      </p:sp>
      <p:sp>
        <p:nvSpPr>
          <p:cNvPr id="97" name="5-Point Star 96"/>
          <p:cNvSpPr/>
          <p:nvPr/>
        </p:nvSpPr>
        <p:spPr>
          <a:xfrm>
            <a:off x="3758184"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3483864"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M2: Req
Sign-off</a:t>
            </a:r>
          </a:p>
        </p:txBody>
      </p:sp>
      <p:sp>
        <p:nvSpPr>
          <p:cNvPr id="99" name="5-Point Star 98"/>
          <p:cNvSpPr/>
          <p:nvPr/>
        </p:nvSpPr>
        <p:spPr>
          <a:xfrm>
            <a:off x="5148072"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4873752"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M3: Design
Review</a:t>
            </a:r>
          </a:p>
        </p:txBody>
      </p:sp>
      <p:sp>
        <p:nvSpPr>
          <p:cNvPr id="101" name="5-Point Star 100"/>
          <p:cNvSpPr/>
          <p:nvPr/>
        </p:nvSpPr>
        <p:spPr>
          <a:xfrm>
            <a:off x="8622792"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348472"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M4: Proto
Demo</a:t>
            </a:r>
          </a:p>
        </p:txBody>
      </p:sp>
      <p:sp>
        <p:nvSpPr>
          <p:cNvPr id="103" name="5-Point Star 102"/>
          <p:cNvSpPr/>
          <p:nvPr/>
        </p:nvSpPr>
        <p:spPr>
          <a:xfrm>
            <a:off x="10012680"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9738360"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M5: Testing
Complete</a:t>
            </a:r>
          </a:p>
        </p:txBody>
      </p:sp>
      <p:sp>
        <p:nvSpPr>
          <p:cNvPr id="105" name="5-Point Star 104"/>
          <p:cNvSpPr/>
          <p:nvPr/>
        </p:nvSpPr>
        <p:spPr>
          <a:xfrm>
            <a:off x="11402568"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11128248"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M6: Final
Submission</a:t>
            </a:r>
          </a:p>
        </p:txBody>
      </p:sp>
      <p:sp>
        <p:nvSpPr>
          <p:cNvPr id="107" name="Rectangle 106"/>
          <p:cNvSpPr/>
          <p:nvPr/>
        </p:nvSpPr>
        <p:spPr>
          <a:xfrm>
            <a:off x="640080" y="6131169"/>
            <a:ext cx="256032"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950976" y="6131169"/>
            <a:ext cx="1645920" cy="182880"/>
          </a:xfrm>
          <a:prstGeom prst="rect">
            <a:avLst/>
          </a:prstGeom>
          <a:noFill/>
        </p:spPr>
        <p:txBody>
          <a:bodyPr wrap="square" lIns="54864" tIns="18288" rIns="54864" bIns="18288" anchor="t">
            <a:spAutoFit/>
          </a:bodyPr>
          <a:lstStyle/>
          <a:p>
            <a:pPr algn="l">
              <a:lnSpc>
                <a:spcPct val="100000"/>
              </a:lnSpc>
            </a:pPr>
            <a:r>
              <a:rPr sz="800" b="0" i="0">
                <a:solidFill>
                  <a:srgbClr val="2B2419"/>
                </a:solidFill>
                <a:latin typeface="Inter"/>
              </a:rPr>
              <a:t>Critical path</a:t>
            </a:r>
          </a:p>
        </p:txBody>
      </p:sp>
      <p:sp>
        <p:nvSpPr>
          <p:cNvPr id="109" name="Rectangle 108"/>
          <p:cNvSpPr/>
          <p:nvPr/>
        </p:nvSpPr>
        <p:spPr>
          <a:xfrm>
            <a:off x="640080" y="6357798"/>
            <a:ext cx="25603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950976" y="6357798"/>
            <a:ext cx="1371600" cy="182880"/>
          </a:xfrm>
          <a:prstGeom prst="rect">
            <a:avLst/>
          </a:prstGeom>
          <a:noFill/>
        </p:spPr>
        <p:txBody>
          <a:bodyPr wrap="square" lIns="54864" tIns="18288" rIns="54864" bIns="18288" anchor="t">
            <a:spAutoFit/>
          </a:bodyPr>
          <a:lstStyle/>
          <a:p>
            <a:pPr algn="l">
              <a:lnSpc>
                <a:spcPct val="100000"/>
              </a:lnSpc>
            </a:pPr>
            <a:r>
              <a:rPr sz="800" b="0" i="0">
                <a:solidFill>
                  <a:srgbClr val="2B2419"/>
                </a:solidFill>
                <a:latin typeface="Inter"/>
              </a:rPr>
              <a:t>Non-critical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TIMELINE &amp; MILESTONES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PERT Three-Point Estimates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10 / 31</a:t>
            </a:r>
          </a:p>
        </p:txBody>
      </p:sp>
      <p:graphicFrame>
        <p:nvGraphicFramePr>
          <p:cNvPr id="8" name="Table 7"/>
          <p:cNvGraphicFramePr>
            <a:graphicFrameLocks noGrp="1"/>
          </p:cNvGraphicFramePr>
          <p:nvPr>
            <p:extLst>
              <p:ext uri="{D42A27DB-BD31-4B8C-83A1-F6EECF244321}">
                <p14:modId xmlns:p14="http://schemas.microsoft.com/office/powerpoint/2010/main" val="1902662836"/>
              </p:ext>
            </p:extLst>
          </p:nvPr>
        </p:nvGraphicFramePr>
        <p:xfrm>
          <a:off x="640079" y="1417319"/>
          <a:ext cx="11247119" cy="3340008"/>
        </p:xfrm>
        <a:graphic>
          <a:graphicData uri="http://schemas.openxmlformats.org/drawingml/2006/table">
            <a:tbl>
              <a:tblPr firstRow="1" bandRow="1">
                <a:tableStyleId>{5C22544A-7EE6-4342-B048-85BDC9FD1C3A}</a:tableStyleId>
              </a:tblPr>
              <a:tblGrid>
                <a:gridCol w="725621">
                  <a:extLst>
                    <a:ext uri="{9D8B030D-6E8A-4147-A177-3AD203B41FA5}">
                      <a16:colId xmlns:a16="http://schemas.microsoft.com/office/drawing/2014/main" val="20000"/>
                    </a:ext>
                  </a:extLst>
                </a:gridCol>
                <a:gridCol w="2176862">
                  <a:extLst>
                    <a:ext uri="{9D8B030D-6E8A-4147-A177-3AD203B41FA5}">
                      <a16:colId xmlns:a16="http://schemas.microsoft.com/office/drawing/2014/main" val="20001"/>
                    </a:ext>
                  </a:extLst>
                </a:gridCol>
                <a:gridCol w="749808">
                  <a:extLst>
                    <a:ext uri="{9D8B030D-6E8A-4147-A177-3AD203B41FA5}">
                      <a16:colId xmlns:a16="http://schemas.microsoft.com/office/drawing/2014/main" val="20002"/>
                    </a:ext>
                  </a:extLst>
                </a:gridCol>
                <a:gridCol w="749808">
                  <a:extLst>
                    <a:ext uri="{9D8B030D-6E8A-4147-A177-3AD203B41FA5}">
                      <a16:colId xmlns:a16="http://schemas.microsoft.com/office/drawing/2014/main" val="20003"/>
                    </a:ext>
                  </a:extLst>
                </a:gridCol>
                <a:gridCol w="749808">
                  <a:extLst>
                    <a:ext uri="{9D8B030D-6E8A-4147-A177-3AD203B41FA5}">
                      <a16:colId xmlns:a16="http://schemas.microsoft.com/office/drawing/2014/main" val="20004"/>
                    </a:ext>
                  </a:extLst>
                </a:gridCol>
                <a:gridCol w="1934988">
                  <a:extLst>
                    <a:ext uri="{9D8B030D-6E8A-4147-A177-3AD203B41FA5}">
                      <a16:colId xmlns:a16="http://schemas.microsoft.com/office/drawing/2014/main" val="20005"/>
                    </a:ext>
                  </a:extLst>
                </a:gridCol>
                <a:gridCol w="1330304">
                  <a:extLst>
                    <a:ext uri="{9D8B030D-6E8A-4147-A177-3AD203B41FA5}">
                      <a16:colId xmlns:a16="http://schemas.microsoft.com/office/drawing/2014/main" val="20006"/>
                    </a:ext>
                  </a:extLst>
                </a:gridCol>
                <a:gridCol w="2829920">
                  <a:extLst>
                    <a:ext uri="{9D8B030D-6E8A-4147-A177-3AD203B41FA5}">
                      <a16:colId xmlns:a16="http://schemas.microsoft.com/office/drawing/2014/main" val="20007"/>
                    </a:ext>
                  </a:extLst>
                </a:gridCol>
              </a:tblGrid>
              <a:tr h="477144">
                <a:tc>
                  <a:txBody>
                    <a:bodyPr/>
                    <a:lstStyle/>
                    <a:p>
                      <a:r>
                        <a:rPr sz="1300" b="1">
                          <a:solidFill>
                            <a:srgbClr val="FFFFFF"/>
                          </a:solidFill>
                          <a:latin typeface="Inter"/>
                        </a:rPr>
                        <a:t>Act.</a:t>
                      </a:r>
                    </a:p>
                  </a:txBody>
                  <a:tcPr marL="73152" marR="73152" marT="36576" marB="36576">
                    <a:solidFill>
                      <a:srgbClr val="8C5A2E"/>
                    </a:solidFill>
                  </a:tcPr>
                </a:tc>
                <a:tc>
                  <a:txBody>
                    <a:bodyPr/>
                    <a:lstStyle/>
                    <a:p>
                      <a:r>
                        <a:rPr sz="1300" b="1">
                          <a:solidFill>
                            <a:srgbClr val="FFFFFF"/>
                          </a:solidFill>
                          <a:latin typeface="Inter"/>
                        </a:rPr>
                        <a:t>Description</a:t>
                      </a:r>
                    </a:p>
                  </a:txBody>
                  <a:tcPr marL="73152" marR="73152" marT="36576" marB="36576">
                    <a:solidFill>
                      <a:srgbClr val="8C5A2E"/>
                    </a:solidFill>
                  </a:tcPr>
                </a:tc>
                <a:tc>
                  <a:txBody>
                    <a:bodyPr/>
                    <a:lstStyle/>
                    <a:p>
                      <a:r>
                        <a:rPr sz="1300" b="1">
                          <a:solidFill>
                            <a:srgbClr val="FFFFFF"/>
                          </a:solidFill>
                          <a:latin typeface="Inter"/>
                        </a:rPr>
                        <a:t>O (d)</a:t>
                      </a:r>
                    </a:p>
                  </a:txBody>
                  <a:tcPr marL="73152" marR="73152" marT="36576" marB="36576">
                    <a:solidFill>
                      <a:srgbClr val="8C5A2E"/>
                    </a:solidFill>
                  </a:tcPr>
                </a:tc>
                <a:tc>
                  <a:txBody>
                    <a:bodyPr/>
                    <a:lstStyle/>
                    <a:p>
                      <a:r>
                        <a:rPr sz="1300" b="1">
                          <a:solidFill>
                            <a:srgbClr val="FFFFFF"/>
                          </a:solidFill>
                          <a:latin typeface="Inter"/>
                        </a:rPr>
                        <a:t>M (d)</a:t>
                      </a:r>
                    </a:p>
                  </a:txBody>
                  <a:tcPr marL="73152" marR="73152" marT="36576" marB="36576">
                    <a:solidFill>
                      <a:srgbClr val="8C5A2E"/>
                    </a:solidFill>
                  </a:tcPr>
                </a:tc>
                <a:tc>
                  <a:txBody>
                    <a:bodyPr/>
                    <a:lstStyle/>
                    <a:p>
                      <a:r>
                        <a:rPr sz="1300" b="1">
                          <a:solidFill>
                            <a:srgbClr val="FFFFFF"/>
                          </a:solidFill>
                          <a:latin typeface="Inter"/>
                        </a:rPr>
                        <a:t>P (d)</a:t>
                      </a:r>
                    </a:p>
                  </a:txBody>
                  <a:tcPr marL="73152" marR="73152" marT="36576" marB="36576">
                    <a:solidFill>
                      <a:srgbClr val="8C5A2E"/>
                    </a:solidFill>
                  </a:tcPr>
                </a:tc>
                <a:tc>
                  <a:txBody>
                    <a:bodyPr/>
                    <a:lstStyle/>
                    <a:p>
                      <a:r>
                        <a:rPr sz="1300" b="1">
                          <a:solidFill>
                            <a:srgbClr val="FFFFFF"/>
                          </a:solidFill>
                          <a:latin typeface="Inter"/>
                        </a:rPr>
                        <a:t>TE = (O+4M+P)/6</a:t>
                      </a:r>
                    </a:p>
                  </a:txBody>
                  <a:tcPr marL="73152" marR="73152" marT="36576" marB="36576">
                    <a:solidFill>
                      <a:srgbClr val="8C5A2E"/>
                    </a:solidFill>
                  </a:tcPr>
                </a:tc>
                <a:tc>
                  <a:txBody>
                    <a:bodyPr/>
                    <a:lstStyle/>
                    <a:p>
                      <a:r>
                        <a:rPr sz="1300" b="1">
                          <a:solidFill>
                            <a:srgbClr val="FFFFFF"/>
                          </a:solidFill>
                          <a:latin typeface="Inter"/>
                        </a:rPr>
                        <a:t>σ = (P−O)/6</a:t>
                      </a:r>
                    </a:p>
                  </a:txBody>
                  <a:tcPr marL="73152" marR="73152" marT="36576" marB="36576">
                    <a:solidFill>
                      <a:srgbClr val="8C5A2E"/>
                    </a:solidFill>
                  </a:tcPr>
                </a:tc>
                <a:tc>
                  <a:txBody>
                    <a:bodyPr/>
                    <a:lstStyle/>
                    <a:p>
                      <a:r>
                        <a:rPr sz="1300" b="1">
                          <a:solidFill>
                            <a:srgbClr val="FFFFFF"/>
                          </a:solidFill>
                          <a:latin typeface="Inter"/>
                        </a:rPr>
                        <a:t>Notes</a:t>
                      </a:r>
                    </a:p>
                  </a:txBody>
                  <a:tcPr marL="73152" marR="73152" marT="36576" marB="36576">
                    <a:solidFill>
                      <a:srgbClr val="8C5A2E"/>
                    </a:solidFill>
                  </a:tcPr>
                </a:tc>
                <a:extLst>
                  <a:ext uri="{0D108BD9-81ED-4DB2-BD59-A6C34878D82A}">
                    <a16:rowId xmlns:a16="http://schemas.microsoft.com/office/drawing/2014/main" val="10000"/>
                  </a:ext>
                </a:extLst>
              </a:tr>
              <a:tr h="477144">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Requirements</a:t>
                      </a:r>
                    </a:p>
                  </a:txBody>
                  <a:tcPr marL="73152" marR="73152" marT="36576" marB="36576">
                    <a:solidFill>
                      <a:srgbClr val="F5EFE6"/>
                    </a:solidFill>
                  </a:tcPr>
                </a:tc>
                <a:tc>
                  <a:txBody>
                    <a:bodyPr/>
                    <a:lstStyle/>
                    <a:p>
                      <a:r>
                        <a:rPr sz="1300" b="0">
                          <a:solidFill>
                            <a:srgbClr val="2B2419"/>
                          </a:solidFill>
                          <a:latin typeface="Inter"/>
                        </a:rPr>
                        <a:t>3</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9</a:t>
                      </a:r>
                    </a:p>
                  </a:txBody>
                  <a:tcPr marL="73152" marR="73152" marT="36576" marB="36576">
                    <a:solidFill>
                      <a:srgbClr val="F5EFE6"/>
                    </a:solidFill>
                  </a:tcPr>
                </a:tc>
                <a:tc>
                  <a:txBody>
                    <a:bodyPr/>
                    <a:lstStyle/>
                    <a:p>
                      <a:r>
                        <a:rPr sz="1300" b="0">
                          <a:solidFill>
                            <a:srgbClr val="2B2419"/>
                          </a:solidFill>
                          <a:latin typeface="Inter"/>
                        </a:rPr>
                        <a:t>5.33 d</a:t>
                      </a:r>
                    </a:p>
                  </a:txBody>
                  <a:tcPr marL="73152" marR="73152" marT="36576" marB="36576">
                    <a:solidFill>
                      <a:srgbClr val="F5EFE6"/>
                    </a:solidFill>
                  </a:tcPr>
                </a:tc>
                <a:tc>
                  <a:txBody>
                    <a:bodyPr/>
                    <a:lstStyle/>
                    <a:p>
                      <a:r>
                        <a:rPr sz="1300" b="0">
                          <a:solidFill>
                            <a:srgbClr val="2B2419"/>
                          </a:solidFill>
                          <a:latin typeface="Inter"/>
                        </a:rPr>
                        <a:t>1.00 d</a:t>
                      </a:r>
                    </a:p>
                  </a:txBody>
                  <a:tcPr marL="73152" marR="73152" marT="36576" marB="36576">
                    <a:solidFill>
                      <a:srgbClr val="F5EFE6"/>
                    </a:solidFill>
                  </a:tcPr>
                </a:tc>
                <a:tc>
                  <a:txBody>
                    <a:bodyPr/>
                    <a:lstStyle/>
                    <a:p>
                      <a:r>
                        <a:rPr sz="1300" b="0">
                          <a:solidFill>
                            <a:srgbClr val="2B2419"/>
                          </a:solidFill>
                          <a:latin typeface="Inter"/>
                        </a:rPr>
                        <a:t>Critical path</a:t>
                      </a:r>
                    </a:p>
                  </a:txBody>
                  <a:tcPr marL="73152" marR="73152" marT="36576" marB="36576">
                    <a:solidFill>
                      <a:srgbClr val="F5EFE6"/>
                    </a:solidFill>
                  </a:tcPr>
                </a:tc>
                <a:extLst>
                  <a:ext uri="{0D108BD9-81ED-4DB2-BD59-A6C34878D82A}">
                    <a16:rowId xmlns:a16="http://schemas.microsoft.com/office/drawing/2014/main" val="10001"/>
                  </a:ext>
                </a:extLst>
              </a:tr>
              <a:tr h="477144">
                <a:tc>
                  <a:txBody>
                    <a:bodyPr/>
                    <a:lstStyle/>
                    <a:p>
                      <a:r>
                        <a:rPr sz="1300" b="0">
                          <a:solidFill>
                            <a:srgbClr val="2B2419"/>
                          </a:solidFill>
                          <a:latin typeface="Inter"/>
                        </a:rPr>
                        <a:t>B</a:t>
                      </a:r>
                    </a:p>
                  </a:txBody>
                  <a:tcPr marL="73152" marR="73152" marT="36576" marB="36576">
                    <a:solidFill>
                      <a:srgbClr val="E8D5BC"/>
                    </a:solidFill>
                  </a:tcPr>
                </a:tc>
                <a:tc>
                  <a:txBody>
                    <a:bodyPr/>
                    <a:lstStyle/>
                    <a:p>
                      <a:r>
                        <a:rPr sz="1300" b="0">
                          <a:solidFill>
                            <a:srgbClr val="2B2419"/>
                          </a:solidFill>
                          <a:latin typeface="Inter"/>
                        </a:rPr>
                        <a:t>UI/UX Design</a:t>
                      </a:r>
                    </a:p>
                  </a:txBody>
                  <a:tcPr marL="73152" marR="73152" marT="36576" marB="36576">
                    <a:solidFill>
                      <a:srgbClr val="E8D5BC"/>
                    </a:solidFill>
                  </a:tcPr>
                </a:tc>
                <a:tc>
                  <a:txBody>
                    <a:bodyPr/>
                    <a:lstStyle/>
                    <a:p>
                      <a:r>
                        <a:rPr sz="1300" b="0">
                          <a:solidFill>
                            <a:srgbClr val="2B2419"/>
                          </a:solidFill>
                          <a:latin typeface="Inter"/>
                        </a:rPr>
                        <a:t>5</a:t>
                      </a:r>
                    </a:p>
                  </a:txBody>
                  <a:tcPr marL="73152" marR="73152" marT="36576" marB="36576">
                    <a:solidFill>
                      <a:srgbClr val="E8D5BC"/>
                    </a:solidFill>
                  </a:tcPr>
                </a:tc>
                <a:tc>
                  <a:txBody>
                    <a:bodyPr/>
                    <a:lstStyle/>
                    <a:p>
                      <a:r>
                        <a:rPr sz="1300" b="0">
                          <a:solidFill>
                            <a:srgbClr val="2B2419"/>
                          </a:solidFill>
                          <a:latin typeface="Inter"/>
                        </a:rPr>
                        <a:t>10</a:t>
                      </a:r>
                    </a:p>
                  </a:txBody>
                  <a:tcPr marL="73152" marR="73152" marT="36576" marB="36576">
                    <a:solidFill>
                      <a:srgbClr val="E8D5BC"/>
                    </a:solidFill>
                  </a:tcPr>
                </a:tc>
                <a:tc>
                  <a:txBody>
                    <a:bodyPr/>
                    <a:lstStyle/>
                    <a:p>
                      <a:r>
                        <a:rPr sz="1300" b="0">
                          <a:solidFill>
                            <a:srgbClr val="2B2419"/>
                          </a:solidFill>
                          <a:latin typeface="Inter"/>
                        </a:rPr>
                        <a:t>18</a:t>
                      </a:r>
                    </a:p>
                  </a:txBody>
                  <a:tcPr marL="73152" marR="73152" marT="36576" marB="36576">
                    <a:solidFill>
                      <a:srgbClr val="E8D5BC"/>
                    </a:solidFill>
                  </a:tcPr>
                </a:tc>
                <a:tc>
                  <a:txBody>
                    <a:bodyPr/>
                    <a:lstStyle/>
                    <a:p>
                      <a:r>
                        <a:rPr sz="1300" b="0">
                          <a:solidFill>
                            <a:srgbClr val="2B2419"/>
                          </a:solidFill>
                          <a:latin typeface="Inter"/>
                        </a:rPr>
                        <a:t>10.50 d</a:t>
                      </a:r>
                    </a:p>
                  </a:txBody>
                  <a:tcPr marL="73152" marR="73152" marT="36576" marB="36576">
                    <a:solidFill>
                      <a:srgbClr val="E8D5BC"/>
                    </a:solidFill>
                  </a:tcPr>
                </a:tc>
                <a:tc>
                  <a:txBody>
                    <a:bodyPr/>
                    <a:lstStyle/>
                    <a:p>
                      <a:r>
                        <a:rPr sz="1300" b="0">
                          <a:solidFill>
                            <a:srgbClr val="2B2419"/>
                          </a:solidFill>
                          <a:latin typeface="Inter"/>
                        </a:rPr>
                        <a:t>2.17 d</a:t>
                      </a:r>
                    </a:p>
                  </a:txBody>
                  <a:tcPr marL="73152" marR="73152" marT="36576" marB="36576">
                    <a:solidFill>
                      <a:srgbClr val="E8D5BC"/>
                    </a:solidFill>
                  </a:tcPr>
                </a:tc>
                <a:tc>
                  <a:txBody>
                    <a:bodyPr/>
                    <a:lstStyle/>
                    <a:p>
                      <a:r>
                        <a:rPr sz="1300" b="0">
                          <a:solidFill>
                            <a:srgbClr val="2B2419"/>
                          </a:solidFill>
                          <a:latin typeface="Inter"/>
                        </a:rPr>
                        <a:t>★ Worked example</a:t>
                      </a:r>
                    </a:p>
                  </a:txBody>
                  <a:tcPr marL="73152" marR="73152" marT="36576" marB="36576">
                    <a:solidFill>
                      <a:srgbClr val="E8D5BC"/>
                    </a:solidFill>
                  </a:tcPr>
                </a:tc>
                <a:extLst>
                  <a:ext uri="{0D108BD9-81ED-4DB2-BD59-A6C34878D82A}">
                    <a16:rowId xmlns:a16="http://schemas.microsoft.com/office/drawing/2014/main" val="10002"/>
                  </a:ext>
                </a:extLst>
              </a:tr>
              <a:tr h="477144">
                <a:tc>
                  <a:txBody>
                    <a:bodyPr/>
                    <a:lstStyle/>
                    <a:p>
                      <a:r>
                        <a:rPr sz="1300" b="0">
                          <a:solidFill>
                            <a:srgbClr val="2B2419"/>
                          </a:solidFill>
                          <a:latin typeface="Inter"/>
                        </a:rPr>
                        <a:t>E</a:t>
                      </a:r>
                    </a:p>
                  </a:txBody>
                  <a:tcPr marL="73152" marR="73152" marT="36576" marB="36576">
                    <a:solidFill>
                      <a:srgbClr val="F5EFE6"/>
                    </a:solidFill>
                  </a:tcPr>
                </a:tc>
                <a:tc>
                  <a:txBody>
                    <a:bodyPr/>
                    <a:lstStyle/>
                    <a:p>
                      <a:r>
                        <a:rPr sz="1300" b="0">
                          <a:solidFill>
                            <a:srgbClr val="2B2419"/>
                          </a:solidFill>
                          <a:latin typeface="Inter"/>
                        </a:rPr>
                        <a:t>Frontend Dev</a:t>
                      </a:r>
                    </a:p>
                  </a:txBody>
                  <a:tcPr marL="73152" marR="73152" marT="36576" marB="36576">
                    <a:solidFill>
                      <a:srgbClr val="F5EFE6"/>
                    </a:solidFill>
                  </a:tcPr>
                </a:tc>
                <a:tc>
                  <a:txBody>
                    <a:bodyPr/>
                    <a:lstStyle/>
                    <a:p>
                      <a:r>
                        <a:rPr sz="1300" b="0">
                          <a:solidFill>
                            <a:srgbClr val="2B2419"/>
                          </a:solidFill>
                          <a:latin typeface="Inter"/>
                        </a:rPr>
                        <a:t>10</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22</a:t>
                      </a:r>
                    </a:p>
                  </a:txBody>
                  <a:tcPr marL="73152" marR="73152" marT="36576" marB="36576">
                    <a:solidFill>
                      <a:srgbClr val="F5EFE6"/>
                    </a:solidFill>
                  </a:tcPr>
                </a:tc>
                <a:tc>
                  <a:txBody>
                    <a:bodyPr/>
                    <a:lstStyle/>
                    <a:p>
                      <a:r>
                        <a:rPr sz="1300" b="0">
                          <a:solidFill>
                            <a:srgbClr val="2B2419"/>
                          </a:solidFill>
                          <a:latin typeface="Inter"/>
                        </a:rPr>
                        <a:t>15.33 d</a:t>
                      </a:r>
                    </a:p>
                  </a:txBody>
                  <a:tcPr marL="73152" marR="73152" marT="36576" marB="36576">
                    <a:solidFill>
                      <a:srgbClr val="F5EFE6"/>
                    </a:solidFill>
                  </a:tcPr>
                </a:tc>
                <a:tc>
                  <a:txBody>
                    <a:bodyPr/>
                    <a:lstStyle/>
                    <a:p>
                      <a:r>
                        <a:rPr sz="1300" b="0">
                          <a:solidFill>
                            <a:srgbClr val="2B2419"/>
                          </a:solidFill>
                          <a:latin typeface="Inter"/>
                        </a:rPr>
                        <a:t>2.00 d</a:t>
                      </a:r>
                    </a:p>
                  </a:txBody>
                  <a:tcPr marL="73152" marR="73152" marT="36576" marB="36576">
                    <a:solidFill>
                      <a:srgbClr val="F5EFE6"/>
                    </a:solidFill>
                  </a:tcPr>
                </a:tc>
                <a:tc>
                  <a:txBody>
                    <a:bodyPr/>
                    <a:lstStyle/>
                    <a:p>
                      <a:r>
                        <a:rPr sz="1300" b="0">
                          <a:solidFill>
                            <a:srgbClr val="2B2419"/>
                          </a:solidFill>
                          <a:latin typeface="Inter"/>
                        </a:rPr>
                        <a:t>Critical path</a:t>
                      </a:r>
                    </a:p>
                  </a:txBody>
                  <a:tcPr marL="73152" marR="73152" marT="36576" marB="36576">
                    <a:solidFill>
                      <a:srgbClr val="F5EFE6"/>
                    </a:solidFill>
                  </a:tcPr>
                </a:tc>
                <a:extLst>
                  <a:ext uri="{0D108BD9-81ED-4DB2-BD59-A6C34878D82A}">
                    <a16:rowId xmlns:a16="http://schemas.microsoft.com/office/drawing/2014/main" val="10003"/>
                  </a:ext>
                </a:extLst>
              </a:tr>
              <a:tr h="477144">
                <a:tc>
                  <a:txBody>
                    <a:bodyPr/>
                    <a:lstStyle/>
                    <a:p>
                      <a:r>
                        <a:rPr sz="1300" b="0">
                          <a:solidFill>
                            <a:srgbClr val="2B2419"/>
                          </a:solidFill>
                          <a:latin typeface="Inter"/>
                        </a:rPr>
                        <a:t>F</a:t>
                      </a:r>
                    </a:p>
                  </a:txBody>
                  <a:tcPr marL="73152" marR="73152" marT="36576" marB="36576">
                    <a:solidFill>
                      <a:srgbClr val="F5EFE6"/>
                    </a:solidFill>
                  </a:tcPr>
                </a:tc>
                <a:tc>
                  <a:txBody>
                    <a:bodyPr/>
                    <a:lstStyle/>
                    <a:p>
                      <a:r>
                        <a:rPr sz="1300" b="0">
                          <a:solidFill>
                            <a:srgbClr val="2B2419"/>
                          </a:solidFill>
                          <a:latin typeface="Inter"/>
                        </a:rPr>
                        <a:t>Backend Dev</a:t>
                      </a:r>
                    </a:p>
                  </a:txBody>
                  <a:tcPr marL="73152" marR="73152" marT="36576" marB="36576">
                    <a:solidFill>
                      <a:srgbClr val="F5EFE6"/>
                    </a:solidFill>
                  </a:tcPr>
                </a:tc>
                <a:tc>
                  <a:txBody>
                    <a:bodyPr/>
                    <a:lstStyle/>
                    <a:p>
                      <a:r>
                        <a:rPr sz="1300" b="0">
                          <a:solidFill>
                            <a:srgbClr val="2B2419"/>
                          </a:solidFill>
                          <a:latin typeface="Inter"/>
                        </a:rPr>
                        <a:t>8</a:t>
                      </a:r>
                    </a:p>
                  </a:txBody>
                  <a:tcPr marL="73152" marR="73152" marT="36576" marB="36576">
                    <a:solidFill>
                      <a:srgbClr val="F5EFE6"/>
                    </a:solidFill>
                  </a:tcPr>
                </a:tc>
                <a:tc>
                  <a:txBody>
                    <a:bodyPr/>
                    <a:lstStyle/>
                    <a:p>
                      <a:r>
                        <a:rPr sz="1300" b="0">
                          <a:solidFill>
                            <a:srgbClr val="2B2419"/>
                          </a:solidFill>
                          <a:latin typeface="Inter"/>
                        </a:rPr>
                        <a:t>12</a:t>
                      </a:r>
                    </a:p>
                  </a:txBody>
                  <a:tcPr marL="73152" marR="73152" marT="36576" marB="36576">
                    <a:solidFill>
                      <a:srgbClr val="F5EFE6"/>
                    </a:solidFill>
                  </a:tcPr>
                </a:tc>
                <a:tc>
                  <a:txBody>
                    <a:bodyPr/>
                    <a:lstStyle/>
                    <a:p>
                      <a:r>
                        <a:rPr sz="1300" b="0">
                          <a:solidFill>
                            <a:srgbClr val="2B2419"/>
                          </a:solidFill>
                          <a:latin typeface="Inter"/>
                        </a:rPr>
                        <a:t>20</a:t>
                      </a:r>
                    </a:p>
                  </a:txBody>
                  <a:tcPr marL="73152" marR="73152" marT="36576" marB="36576">
                    <a:solidFill>
                      <a:srgbClr val="F5EFE6"/>
                    </a:solidFill>
                  </a:tcPr>
                </a:tc>
                <a:tc>
                  <a:txBody>
                    <a:bodyPr/>
                    <a:lstStyle/>
                    <a:p>
                      <a:r>
                        <a:rPr sz="1300" b="0">
                          <a:solidFill>
                            <a:srgbClr val="2B2419"/>
                          </a:solidFill>
                          <a:latin typeface="Inter"/>
                        </a:rPr>
                        <a:t>12.67 d</a:t>
                      </a:r>
                    </a:p>
                  </a:txBody>
                  <a:tcPr marL="73152" marR="73152" marT="36576" marB="36576">
                    <a:solidFill>
                      <a:srgbClr val="F5EFE6"/>
                    </a:solidFill>
                  </a:tcPr>
                </a:tc>
                <a:tc>
                  <a:txBody>
                    <a:bodyPr/>
                    <a:lstStyle/>
                    <a:p>
                      <a:r>
                        <a:rPr sz="1300" b="0">
                          <a:solidFill>
                            <a:srgbClr val="2B2419"/>
                          </a:solidFill>
                          <a:latin typeface="Inter"/>
                        </a:rPr>
                        <a:t>2.00 d</a:t>
                      </a:r>
                    </a:p>
                  </a:txBody>
                  <a:tcPr marL="73152" marR="73152" marT="36576" marB="36576">
                    <a:solidFill>
                      <a:srgbClr val="F5EFE6"/>
                    </a:solidFill>
                  </a:tcPr>
                </a:tc>
                <a:tc>
                  <a:txBody>
                    <a:bodyPr/>
                    <a:lstStyle/>
                    <a:p>
                      <a:r>
                        <a:rPr sz="1300" b="0">
                          <a:solidFill>
                            <a:srgbClr val="2B2419"/>
                          </a:solidFill>
                          <a:latin typeface="Inter"/>
                        </a:rPr>
                        <a:t>Non-critical; 8 d float</a:t>
                      </a:r>
                    </a:p>
                  </a:txBody>
                  <a:tcPr marL="73152" marR="73152" marT="36576" marB="36576">
                    <a:solidFill>
                      <a:srgbClr val="F5EFE6"/>
                    </a:solidFill>
                  </a:tcPr>
                </a:tc>
                <a:extLst>
                  <a:ext uri="{0D108BD9-81ED-4DB2-BD59-A6C34878D82A}">
                    <a16:rowId xmlns:a16="http://schemas.microsoft.com/office/drawing/2014/main" val="10004"/>
                  </a:ext>
                </a:extLst>
              </a:tr>
              <a:tr h="477144">
                <a:tc>
                  <a:txBody>
                    <a:bodyPr/>
                    <a:lstStyle/>
                    <a:p>
                      <a:r>
                        <a:rPr sz="1300" b="0">
                          <a:solidFill>
                            <a:srgbClr val="2B2419"/>
                          </a:solidFill>
                          <a:latin typeface="Inter"/>
                        </a:rPr>
                        <a:t>G</a:t>
                      </a:r>
                    </a:p>
                  </a:txBody>
                  <a:tcPr marL="73152" marR="73152" marT="36576" marB="36576">
                    <a:solidFill>
                      <a:srgbClr val="F5EFE6"/>
                    </a:solidFill>
                  </a:tcPr>
                </a:tc>
                <a:tc>
                  <a:txBody>
                    <a:bodyPr/>
                    <a:lstStyle/>
                    <a:p>
                      <a:r>
                        <a:rPr sz="1300" b="0">
                          <a:solidFill>
                            <a:srgbClr val="2B2419"/>
                          </a:solidFill>
                          <a:latin typeface="Inter"/>
                        </a:rPr>
                        <a:t>Integration</a:t>
                      </a:r>
                    </a:p>
                  </a:txBody>
                  <a:tcPr marL="73152" marR="73152" marT="36576" marB="36576">
                    <a:solidFill>
                      <a:srgbClr val="F5EFE6"/>
                    </a:solidFill>
                  </a:tcPr>
                </a:tc>
                <a:tc>
                  <a:txBody>
                    <a:bodyPr/>
                    <a:lstStyle/>
                    <a:p>
                      <a:r>
                        <a:rPr sz="1300" b="0">
                          <a:solidFill>
                            <a:srgbClr val="2B2419"/>
                          </a:solidFill>
                          <a:latin typeface="Inter"/>
                        </a:rPr>
                        <a:t>3</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8</a:t>
                      </a:r>
                    </a:p>
                  </a:txBody>
                  <a:tcPr marL="73152" marR="73152" marT="36576" marB="36576">
                    <a:solidFill>
                      <a:srgbClr val="F5EFE6"/>
                    </a:solidFill>
                  </a:tcPr>
                </a:tc>
                <a:tc>
                  <a:txBody>
                    <a:bodyPr/>
                    <a:lstStyle/>
                    <a:p>
                      <a:r>
                        <a:rPr sz="1300" b="0">
                          <a:solidFill>
                            <a:srgbClr val="2B2419"/>
                          </a:solidFill>
                          <a:latin typeface="Inter"/>
                        </a:rPr>
                        <a:t>5.17 d</a:t>
                      </a:r>
                    </a:p>
                  </a:txBody>
                  <a:tcPr marL="73152" marR="73152" marT="36576" marB="36576">
                    <a:solidFill>
                      <a:srgbClr val="F5EFE6"/>
                    </a:solidFill>
                  </a:tcPr>
                </a:tc>
                <a:tc>
                  <a:txBody>
                    <a:bodyPr/>
                    <a:lstStyle/>
                    <a:p>
                      <a:r>
                        <a:rPr sz="1300" b="0">
                          <a:solidFill>
                            <a:srgbClr val="2B2419"/>
                          </a:solidFill>
                          <a:latin typeface="Inter"/>
                        </a:rPr>
                        <a:t>0.83 d</a:t>
                      </a:r>
                    </a:p>
                  </a:txBody>
                  <a:tcPr marL="73152" marR="73152" marT="36576" marB="36576">
                    <a:solidFill>
                      <a:srgbClr val="F5EFE6"/>
                    </a:solidFill>
                  </a:tcPr>
                </a:tc>
                <a:tc>
                  <a:txBody>
                    <a:bodyPr/>
                    <a:lstStyle/>
                    <a:p>
                      <a:r>
                        <a:rPr sz="1300" b="0">
                          <a:solidFill>
                            <a:srgbClr val="2B2419"/>
                          </a:solidFill>
                          <a:latin typeface="Inter"/>
                        </a:rPr>
                        <a:t>Critical path</a:t>
                      </a:r>
                    </a:p>
                  </a:txBody>
                  <a:tcPr marL="73152" marR="73152" marT="36576" marB="36576">
                    <a:solidFill>
                      <a:srgbClr val="F5EFE6"/>
                    </a:solidFill>
                  </a:tcPr>
                </a:tc>
                <a:extLst>
                  <a:ext uri="{0D108BD9-81ED-4DB2-BD59-A6C34878D82A}">
                    <a16:rowId xmlns:a16="http://schemas.microsoft.com/office/drawing/2014/main" val="10005"/>
                  </a:ext>
                </a:extLst>
              </a:tr>
              <a:tr h="477144">
                <a:tc>
                  <a:txBody>
                    <a:bodyPr/>
                    <a:lstStyle/>
                    <a:p>
                      <a:r>
                        <a:rPr sz="1300" b="0">
                          <a:solidFill>
                            <a:srgbClr val="2B2419"/>
                          </a:solidFill>
                          <a:latin typeface="Inter"/>
                        </a:rPr>
                        <a:t>H</a:t>
                      </a:r>
                    </a:p>
                  </a:txBody>
                  <a:tcPr marL="73152" marR="73152" marT="36576" marB="36576">
                    <a:solidFill>
                      <a:srgbClr val="F5EFE6"/>
                    </a:solidFill>
                  </a:tcPr>
                </a:tc>
                <a:tc>
                  <a:txBody>
                    <a:bodyPr/>
                    <a:lstStyle/>
                    <a:p>
                      <a:r>
                        <a:rPr sz="1300" b="0">
                          <a:solidFill>
                            <a:srgbClr val="2B2419"/>
                          </a:solidFill>
                          <a:latin typeface="Inter"/>
                        </a:rPr>
                        <a:t>Testing</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8</a:t>
                      </a:r>
                    </a:p>
                  </a:txBody>
                  <a:tcPr marL="73152" marR="73152" marT="36576" marB="36576">
                    <a:solidFill>
                      <a:srgbClr val="F5EFE6"/>
                    </a:solidFill>
                  </a:tcPr>
                </a:tc>
                <a:tc>
                  <a:txBody>
                    <a:bodyPr/>
                    <a:lstStyle/>
                    <a:p>
                      <a:r>
                        <a:rPr sz="1300" b="0">
                          <a:solidFill>
                            <a:srgbClr val="2B2419"/>
                          </a:solidFill>
                          <a:latin typeface="Inter"/>
                        </a:rPr>
                        <a:t>14</a:t>
                      </a:r>
                    </a:p>
                  </a:txBody>
                  <a:tcPr marL="73152" marR="73152" marT="36576" marB="36576">
                    <a:solidFill>
                      <a:srgbClr val="F5EFE6"/>
                    </a:solidFill>
                  </a:tcPr>
                </a:tc>
                <a:tc>
                  <a:txBody>
                    <a:bodyPr/>
                    <a:lstStyle/>
                    <a:p>
                      <a:r>
                        <a:rPr sz="1300" b="0">
                          <a:solidFill>
                            <a:srgbClr val="2B2419"/>
                          </a:solidFill>
                          <a:latin typeface="Inter"/>
                        </a:rPr>
                        <a:t>8.50 d</a:t>
                      </a:r>
                    </a:p>
                  </a:txBody>
                  <a:tcPr marL="73152" marR="73152" marT="36576" marB="36576">
                    <a:solidFill>
                      <a:srgbClr val="F5EFE6"/>
                    </a:solidFill>
                  </a:tcPr>
                </a:tc>
                <a:tc>
                  <a:txBody>
                    <a:bodyPr/>
                    <a:lstStyle/>
                    <a:p>
                      <a:r>
                        <a:rPr sz="1300" b="0">
                          <a:solidFill>
                            <a:srgbClr val="2B2419"/>
                          </a:solidFill>
                          <a:latin typeface="Inter"/>
                        </a:rPr>
                        <a:t>1.50 d</a:t>
                      </a:r>
                    </a:p>
                  </a:txBody>
                  <a:tcPr marL="73152" marR="73152" marT="36576" marB="36576">
                    <a:solidFill>
                      <a:srgbClr val="F5EFE6"/>
                    </a:solidFill>
                  </a:tcPr>
                </a:tc>
                <a:tc>
                  <a:txBody>
                    <a:bodyPr/>
                    <a:lstStyle/>
                    <a:p>
                      <a:r>
                        <a:rPr sz="1300" b="0" dirty="0">
                          <a:solidFill>
                            <a:srgbClr val="2B2419"/>
                          </a:solidFill>
                          <a:latin typeface="Inter"/>
                        </a:rPr>
                        <a:t>Critical path</a:t>
                      </a:r>
                    </a:p>
                  </a:txBody>
                  <a:tcPr marL="73152" marR="73152" marT="36576" marB="36576">
                    <a:solidFill>
                      <a:srgbClr val="F5EFE6"/>
                    </a:solidFill>
                  </a:tcPr>
                </a:tc>
                <a:extLst>
                  <a:ext uri="{0D108BD9-81ED-4DB2-BD59-A6C34878D82A}">
                    <a16:rowId xmlns:a16="http://schemas.microsoft.com/office/drawing/2014/main" val="10006"/>
                  </a:ext>
                </a:extLst>
              </a:tr>
            </a:tbl>
          </a:graphicData>
        </a:graphic>
      </p:graphicFrame>
      <p:grpSp>
        <p:nvGrpSpPr>
          <p:cNvPr id="12" name="Group 11">
            <a:extLst>
              <a:ext uri="{FF2B5EF4-FFF2-40B4-BE49-F238E27FC236}">
                <a16:creationId xmlns:a16="http://schemas.microsoft.com/office/drawing/2014/main" id="{49E04D07-9008-074E-C1A2-1BE424D20E8C}"/>
              </a:ext>
            </a:extLst>
          </p:cNvPr>
          <p:cNvGrpSpPr/>
          <p:nvPr/>
        </p:nvGrpSpPr>
        <p:grpSpPr>
          <a:xfrm>
            <a:off x="640080" y="4926896"/>
            <a:ext cx="11247120" cy="1481328"/>
            <a:chOff x="640080" y="3913632"/>
            <a:chExt cx="11247120" cy="1481328"/>
          </a:xfrm>
        </p:grpSpPr>
        <p:sp>
          <p:nvSpPr>
            <p:cNvPr id="9" name="Rectangle 8"/>
            <p:cNvSpPr/>
            <p:nvPr/>
          </p:nvSpPr>
          <p:spPr>
            <a:xfrm>
              <a:off x="640080" y="3913632"/>
              <a:ext cx="11247120" cy="1481328"/>
            </a:xfrm>
            <a:prstGeom prst="rect">
              <a:avLst/>
            </a:prstGeom>
            <a:solidFill>
              <a:srgbClr val="E8D5BC"/>
            </a:solidFill>
            <a:ln>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3977639"/>
              <a:ext cx="5486400" cy="347472"/>
            </a:xfrm>
            <a:prstGeom prst="rect">
              <a:avLst/>
            </a:prstGeom>
            <a:noFill/>
          </p:spPr>
          <p:txBody>
            <a:bodyPr wrap="square" lIns="54864" tIns="18288" rIns="54864" bIns="18288" anchor="t">
              <a:spAutoFit/>
            </a:bodyPr>
            <a:lstStyle/>
            <a:p>
              <a:pPr algn="l">
                <a:lnSpc>
                  <a:spcPct val="100000"/>
                </a:lnSpc>
              </a:pPr>
              <a:r>
                <a:rPr sz="1200" b="1" i="0">
                  <a:solidFill>
                    <a:srgbClr val="8C5A2E"/>
                  </a:solidFill>
                  <a:latin typeface="Playfair Display"/>
                </a:rPr>
                <a:t>Worked Example — Activity B (UI/UX Design)</a:t>
              </a:r>
            </a:p>
          </p:txBody>
        </p:sp>
        <p:sp>
          <p:nvSpPr>
            <p:cNvPr id="11" name="TextBox 10"/>
            <p:cNvSpPr txBox="1"/>
            <p:nvPr/>
          </p:nvSpPr>
          <p:spPr>
            <a:xfrm>
              <a:off x="822960" y="4370832"/>
              <a:ext cx="10881360" cy="775597"/>
            </a:xfrm>
            <a:prstGeom prst="rect">
              <a:avLst/>
            </a:prstGeom>
            <a:noFill/>
          </p:spPr>
          <p:txBody>
            <a:bodyPr wrap="square" lIns="54864" tIns="18288" rIns="54864" bIns="18288" anchor="t">
              <a:spAutoFit/>
            </a:bodyPr>
            <a:lstStyle/>
            <a:p>
              <a:pPr algn="l">
                <a:lnSpc>
                  <a:spcPct val="100000"/>
                </a:lnSpc>
              </a:pPr>
              <a:r>
                <a:rPr sz="1200" b="0" i="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O = 5 days, M = 10 days, P = 18 days
TE = (5 + 4×10 + 18) / 6 = 63 / 6 = 10.5 days
</a:t>
              </a:r>
              <a:r>
                <a:rPr sz="1200" b="0" i="0" dirty="0" err="1">
                  <a:solidFill>
                    <a:srgbClr val="2B2419"/>
                  </a:solidFill>
                  <a:latin typeface="Iosevka NFM" panose="02000509030000000004" pitchFamily="49" charset="0"/>
                  <a:ea typeface="Iosevka NFM" panose="02000509030000000004" pitchFamily="49" charset="0"/>
                  <a:cs typeface="Iosevka NFM" panose="02000509030000000004" pitchFamily="49" charset="0"/>
                </a:rPr>
                <a:t>σ</a:t>
              </a:r>
              <a:r>
                <a:rPr sz="1200" b="0" i="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  = (18 − 5) / 6 = 13 / 6 ≈ 2.17 days
~68% probability of completing within 10.5 ± 2.17 days.</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TIMELINE &amp; MILESTONES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CPM — Forward &amp; Backward Pass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11 / 31</a:t>
            </a:r>
          </a:p>
        </p:txBody>
      </p:sp>
      <p:graphicFrame>
        <p:nvGraphicFramePr>
          <p:cNvPr id="8" name="Table 7"/>
          <p:cNvGraphicFramePr>
            <a:graphicFrameLocks noGrp="1"/>
          </p:cNvGraphicFramePr>
          <p:nvPr>
            <p:extLst>
              <p:ext uri="{D42A27DB-BD31-4B8C-83A1-F6EECF244321}">
                <p14:modId xmlns:p14="http://schemas.microsoft.com/office/powerpoint/2010/main" val="2999248468"/>
              </p:ext>
            </p:extLst>
          </p:nvPr>
        </p:nvGraphicFramePr>
        <p:xfrm>
          <a:off x="640080" y="1417319"/>
          <a:ext cx="10911531" cy="4535415"/>
        </p:xfrm>
        <a:graphic>
          <a:graphicData uri="http://schemas.openxmlformats.org/drawingml/2006/table">
            <a:tbl>
              <a:tblPr firstRow="1" bandRow="1">
                <a:tableStyleId>{5C22544A-7EE6-4342-B048-85BDC9FD1C3A}</a:tableStyleId>
              </a:tblPr>
              <a:tblGrid>
                <a:gridCol w="810992">
                  <a:extLst>
                    <a:ext uri="{9D8B030D-6E8A-4147-A177-3AD203B41FA5}">
                      <a16:colId xmlns:a16="http://schemas.microsoft.com/office/drawing/2014/main" val="20000"/>
                    </a:ext>
                  </a:extLst>
                </a:gridCol>
                <a:gridCol w="2764747">
                  <a:extLst>
                    <a:ext uri="{9D8B030D-6E8A-4147-A177-3AD203B41FA5}">
                      <a16:colId xmlns:a16="http://schemas.microsoft.com/office/drawing/2014/main" val="20001"/>
                    </a:ext>
                  </a:extLst>
                </a:gridCol>
                <a:gridCol w="921582">
                  <a:extLst>
                    <a:ext uri="{9D8B030D-6E8A-4147-A177-3AD203B41FA5}">
                      <a16:colId xmlns:a16="http://schemas.microsoft.com/office/drawing/2014/main" val="20002"/>
                    </a:ext>
                  </a:extLst>
                </a:gridCol>
                <a:gridCol w="1327078">
                  <a:extLst>
                    <a:ext uri="{9D8B030D-6E8A-4147-A177-3AD203B41FA5}">
                      <a16:colId xmlns:a16="http://schemas.microsoft.com/office/drawing/2014/main" val="20003"/>
                    </a:ext>
                  </a:extLst>
                </a:gridCol>
                <a:gridCol w="810992">
                  <a:extLst>
                    <a:ext uri="{9D8B030D-6E8A-4147-A177-3AD203B41FA5}">
                      <a16:colId xmlns:a16="http://schemas.microsoft.com/office/drawing/2014/main" val="20004"/>
                    </a:ext>
                  </a:extLst>
                </a:gridCol>
                <a:gridCol w="810992">
                  <a:extLst>
                    <a:ext uri="{9D8B030D-6E8A-4147-A177-3AD203B41FA5}">
                      <a16:colId xmlns:a16="http://schemas.microsoft.com/office/drawing/2014/main" val="20005"/>
                    </a:ext>
                  </a:extLst>
                </a:gridCol>
                <a:gridCol w="810992">
                  <a:extLst>
                    <a:ext uri="{9D8B030D-6E8A-4147-A177-3AD203B41FA5}">
                      <a16:colId xmlns:a16="http://schemas.microsoft.com/office/drawing/2014/main" val="20006"/>
                    </a:ext>
                  </a:extLst>
                </a:gridCol>
                <a:gridCol w="810992">
                  <a:extLst>
                    <a:ext uri="{9D8B030D-6E8A-4147-A177-3AD203B41FA5}">
                      <a16:colId xmlns:a16="http://schemas.microsoft.com/office/drawing/2014/main" val="20007"/>
                    </a:ext>
                  </a:extLst>
                </a:gridCol>
                <a:gridCol w="1032172">
                  <a:extLst>
                    <a:ext uri="{9D8B030D-6E8A-4147-A177-3AD203B41FA5}">
                      <a16:colId xmlns:a16="http://schemas.microsoft.com/office/drawing/2014/main" val="20008"/>
                    </a:ext>
                  </a:extLst>
                </a:gridCol>
                <a:gridCol w="810992">
                  <a:extLst>
                    <a:ext uri="{9D8B030D-6E8A-4147-A177-3AD203B41FA5}">
                      <a16:colId xmlns:a16="http://schemas.microsoft.com/office/drawing/2014/main" val="20009"/>
                    </a:ext>
                  </a:extLst>
                </a:gridCol>
              </a:tblGrid>
              <a:tr h="503935">
                <a:tc>
                  <a:txBody>
                    <a:bodyPr/>
                    <a:lstStyle/>
                    <a:p>
                      <a:r>
                        <a:rPr sz="1300" b="1" dirty="0">
                          <a:solidFill>
                            <a:srgbClr val="FFFFFF"/>
                          </a:solidFill>
                          <a:latin typeface="Inter"/>
                        </a:rPr>
                        <a:t>Act.</a:t>
                      </a:r>
                    </a:p>
                  </a:txBody>
                  <a:tcPr marL="73152" marR="73152" marT="36576" marB="36576">
                    <a:solidFill>
                      <a:srgbClr val="8C5A2E"/>
                    </a:solidFill>
                  </a:tcPr>
                </a:tc>
                <a:tc>
                  <a:txBody>
                    <a:bodyPr/>
                    <a:lstStyle/>
                    <a:p>
                      <a:r>
                        <a:rPr sz="1300" b="1">
                          <a:solidFill>
                            <a:srgbClr val="FFFFFF"/>
                          </a:solidFill>
                          <a:latin typeface="Inter"/>
                        </a:rPr>
                        <a:t>Description</a:t>
                      </a:r>
                    </a:p>
                  </a:txBody>
                  <a:tcPr marL="73152" marR="73152" marT="36576" marB="36576">
                    <a:solidFill>
                      <a:srgbClr val="8C5A2E"/>
                    </a:solidFill>
                  </a:tcPr>
                </a:tc>
                <a:tc>
                  <a:txBody>
                    <a:bodyPr/>
                    <a:lstStyle/>
                    <a:p>
                      <a:r>
                        <a:rPr sz="1300" b="1">
                          <a:solidFill>
                            <a:srgbClr val="FFFFFF"/>
                          </a:solidFill>
                          <a:latin typeface="Inter"/>
                        </a:rPr>
                        <a:t>Dur.</a:t>
                      </a:r>
                    </a:p>
                  </a:txBody>
                  <a:tcPr marL="73152" marR="73152" marT="36576" marB="36576">
                    <a:solidFill>
                      <a:srgbClr val="8C5A2E"/>
                    </a:solidFill>
                  </a:tcPr>
                </a:tc>
                <a:tc>
                  <a:txBody>
                    <a:bodyPr/>
                    <a:lstStyle/>
                    <a:p>
                      <a:r>
                        <a:rPr sz="1300" b="1">
                          <a:solidFill>
                            <a:srgbClr val="FFFFFF"/>
                          </a:solidFill>
                          <a:latin typeface="Inter"/>
                        </a:rPr>
                        <a:t>Pred.</a:t>
                      </a:r>
                    </a:p>
                  </a:txBody>
                  <a:tcPr marL="73152" marR="73152" marT="36576" marB="36576">
                    <a:solidFill>
                      <a:srgbClr val="8C5A2E"/>
                    </a:solidFill>
                  </a:tcPr>
                </a:tc>
                <a:tc>
                  <a:txBody>
                    <a:bodyPr/>
                    <a:lstStyle/>
                    <a:p>
                      <a:r>
                        <a:rPr sz="1300" b="1">
                          <a:solidFill>
                            <a:srgbClr val="FFFFFF"/>
                          </a:solidFill>
                          <a:latin typeface="Inter"/>
                        </a:rPr>
                        <a:t>ES</a:t>
                      </a:r>
                    </a:p>
                  </a:txBody>
                  <a:tcPr marL="73152" marR="73152" marT="36576" marB="36576">
                    <a:solidFill>
                      <a:srgbClr val="8C5A2E"/>
                    </a:solidFill>
                  </a:tcPr>
                </a:tc>
                <a:tc>
                  <a:txBody>
                    <a:bodyPr/>
                    <a:lstStyle/>
                    <a:p>
                      <a:r>
                        <a:rPr sz="1300" b="1">
                          <a:solidFill>
                            <a:srgbClr val="FFFFFF"/>
                          </a:solidFill>
                          <a:latin typeface="Inter"/>
                        </a:rPr>
                        <a:t>EF</a:t>
                      </a:r>
                    </a:p>
                  </a:txBody>
                  <a:tcPr marL="73152" marR="73152" marT="36576" marB="36576">
                    <a:solidFill>
                      <a:srgbClr val="8C5A2E"/>
                    </a:solidFill>
                  </a:tcPr>
                </a:tc>
                <a:tc>
                  <a:txBody>
                    <a:bodyPr/>
                    <a:lstStyle/>
                    <a:p>
                      <a:r>
                        <a:rPr sz="1300" b="1">
                          <a:solidFill>
                            <a:srgbClr val="FFFFFF"/>
                          </a:solidFill>
                          <a:latin typeface="Inter"/>
                        </a:rPr>
                        <a:t>LS</a:t>
                      </a:r>
                    </a:p>
                  </a:txBody>
                  <a:tcPr marL="73152" marR="73152" marT="36576" marB="36576">
                    <a:solidFill>
                      <a:srgbClr val="8C5A2E"/>
                    </a:solidFill>
                  </a:tcPr>
                </a:tc>
                <a:tc>
                  <a:txBody>
                    <a:bodyPr/>
                    <a:lstStyle/>
                    <a:p>
                      <a:r>
                        <a:rPr sz="1300" b="1">
                          <a:solidFill>
                            <a:srgbClr val="FFFFFF"/>
                          </a:solidFill>
                          <a:latin typeface="Inter"/>
                        </a:rPr>
                        <a:t>LF</a:t>
                      </a:r>
                    </a:p>
                  </a:txBody>
                  <a:tcPr marL="73152" marR="73152" marT="36576" marB="36576">
                    <a:solidFill>
                      <a:srgbClr val="8C5A2E"/>
                    </a:solidFill>
                  </a:tcPr>
                </a:tc>
                <a:tc>
                  <a:txBody>
                    <a:bodyPr/>
                    <a:lstStyle/>
                    <a:p>
                      <a:r>
                        <a:rPr sz="1300" b="1">
                          <a:solidFill>
                            <a:srgbClr val="FFFFFF"/>
                          </a:solidFill>
                          <a:latin typeface="Inter"/>
                        </a:rPr>
                        <a:t>Slack</a:t>
                      </a:r>
                    </a:p>
                  </a:txBody>
                  <a:tcPr marL="73152" marR="73152" marT="36576" marB="36576">
                    <a:solidFill>
                      <a:srgbClr val="8C5A2E"/>
                    </a:solidFill>
                  </a:tcPr>
                </a:tc>
                <a:tc>
                  <a:txBody>
                    <a:bodyPr/>
                    <a:lstStyle/>
                    <a:p>
                      <a:r>
                        <a:rPr sz="1300" b="1">
                          <a:solidFill>
                            <a:srgbClr val="FFFFFF"/>
                          </a:solidFill>
                          <a:latin typeface="Inter"/>
                        </a:rPr>
                        <a:t>CP?</a:t>
                      </a:r>
                    </a:p>
                  </a:txBody>
                  <a:tcPr marL="73152" marR="73152" marT="36576" marB="36576">
                    <a:solidFill>
                      <a:srgbClr val="8C5A2E"/>
                    </a:solidFill>
                  </a:tcPr>
                </a:tc>
                <a:extLst>
                  <a:ext uri="{0D108BD9-81ED-4DB2-BD59-A6C34878D82A}">
                    <a16:rowId xmlns:a16="http://schemas.microsoft.com/office/drawing/2014/main" val="10000"/>
                  </a:ext>
                </a:extLst>
              </a:tr>
              <a:tr h="503935">
                <a:tc>
                  <a:txBody>
                    <a:bodyPr/>
                    <a:lstStyle/>
                    <a:p>
                      <a:r>
                        <a:rPr sz="1300" b="0">
                          <a:solidFill>
                            <a:srgbClr val="2B2419"/>
                          </a:solidFill>
                          <a:latin typeface="Inter"/>
                        </a:rPr>
                        <a:t>A</a:t>
                      </a:r>
                    </a:p>
                  </a:txBody>
                  <a:tcPr marL="73152" marR="73152" marT="36576" marB="36576">
                    <a:solidFill>
                      <a:srgbClr val="E8D5BC"/>
                    </a:solidFill>
                  </a:tcPr>
                </a:tc>
                <a:tc>
                  <a:txBody>
                    <a:bodyPr/>
                    <a:lstStyle/>
                    <a:p>
                      <a:r>
                        <a:rPr sz="1300" b="0">
                          <a:solidFill>
                            <a:srgbClr val="2B2419"/>
                          </a:solidFill>
                          <a:latin typeface="Inter"/>
                        </a:rPr>
                        <a:t>Requirements</a:t>
                      </a:r>
                    </a:p>
                  </a:txBody>
                  <a:tcPr marL="73152" marR="73152" marT="36576" marB="36576">
                    <a:solidFill>
                      <a:srgbClr val="E8D5BC"/>
                    </a:solidFill>
                  </a:tcPr>
                </a:tc>
                <a:tc>
                  <a:txBody>
                    <a:bodyPr/>
                    <a:lstStyle/>
                    <a:p>
                      <a:r>
                        <a:rPr sz="1300" b="0">
                          <a:solidFill>
                            <a:srgbClr val="2B2419"/>
                          </a:solidFill>
                          <a:latin typeface="Inter"/>
                        </a:rPr>
                        <a:t>5 d</a:t>
                      </a:r>
                    </a:p>
                  </a:txBody>
                  <a:tcPr marL="73152" marR="73152" marT="36576" marB="36576">
                    <a:solidFill>
                      <a:srgbClr val="E8D5BC"/>
                    </a:solidFill>
                  </a:tcPr>
                </a:tc>
                <a:tc>
                  <a:txBody>
                    <a:bodyPr/>
                    <a:lstStyle/>
                    <a:p>
                      <a:r>
                        <a:rPr sz="1300" b="0">
                          <a:solidFill>
                            <a:srgbClr val="2B2419"/>
                          </a:solidFill>
                          <a:latin typeface="Inter"/>
                        </a:rPr>
                        <a:t>—</a:t>
                      </a:r>
                    </a:p>
                  </a:txBody>
                  <a:tcPr marL="73152" marR="73152" marT="36576" marB="36576">
                    <a:solidFill>
                      <a:srgbClr val="E8D5BC"/>
                    </a:solidFill>
                  </a:tcPr>
                </a:tc>
                <a:tc>
                  <a:txBody>
                    <a:bodyPr/>
                    <a:lstStyle/>
                    <a:p>
                      <a:r>
                        <a:rPr sz="1300" b="0">
                          <a:solidFill>
                            <a:srgbClr val="2B2419"/>
                          </a:solidFill>
                          <a:latin typeface="Inter"/>
                        </a:rPr>
                        <a:t>0</a:t>
                      </a:r>
                    </a:p>
                  </a:txBody>
                  <a:tcPr marL="73152" marR="73152" marT="36576" marB="36576">
                    <a:solidFill>
                      <a:srgbClr val="E8D5BC"/>
                    </a:solidFill>
                  </a:tcPr>
                </a:tc>
                <a:tc>
                  <a:txBody>
                    <a:bodyPr/>
                    <a:lstStyle/>
                    <a:p>
                      <a:r>
                        <a:rPr sz="1300" b="0">
                          <a:solidFill>
                            <a:srgbClr val="2B2419"/>
                          </a:solidFill>
                          <a:latin typeface="Inter"/>
                        </a:rPr>
                        <a:t>5</a:t>
                      </a:r>
                    </a:p>
                  </a:txBody>
                  <a:tcPr marL="73152" marR="73152" marT="36576" marB="36576">
                    <a:solidFill>
                      <a:srgbClr val="E8D5BC"/>
                    </a:solidFill>
                  </a:tcPr>
                </a:tc>
                <a:tc>
                  <a:txBody>
                    <a:bodyPr/>
                    <a:lstStyle/>
                    <a:p>
                      <a:r>
                        <a:rPr sz="1300" b="0">
                          <a:solidFill>
                            <a:srgbClr val="2B2419"/>
                          </a:solidFill>
                          <a:latin typeface="Inter"/>
                        </a:rPr>
                        <a:t>0</a:t>
                      </a:r>
                    </a:p>
                  </a:txBody>
                  <a:tcPr marL="73152" marR="73152" marT="36576" marB="36576">
                    <a:solidFill>
                      <a:srgbClr val="E8D5BC"/>
                    </a:solidFill>
                  </a:tcPr>
                </a:tc>
                <a:tc>
                  <a:txBody>
                    <a:bodyPr/>
                    <a:lstStyle/>
                    <a:p>
                      <a:r>
                        <a:rPr sz="1300" b="0">
                          <a:solidFill>
                            <a:srgbClr val="2B2419"/>
                          </a:solidFill>
                          <a:latin typeface="Inter"/>
                        </a:rPr>
                        <a:t>5</a:t>
                      </a:r>
                    </a:p>
                  </a:txBody>
                  <a:tcPr marL="73152" marR="73152" marT="36576" marB="36576">
                    <a:solidFill>
                      <a:srgbClr val="E8D5BC"/>
                    </a:solidFill>
                  </a:tcPr>
                </a:tc>
                <a:tc>
                  <a:txBody>
                    <a:bodyPr/>
                    <a:lstStyle/>
                    <a:p>
                      <a:r>
                        <a:rPr sz="1300" b="0">
                          <a:solidFill>
                            <a:srgbClr val="2B2419"/>
                          </a:solidFill>
                          <a:latin typeface="Inter"/>
                        </a:rPr>
                        <a:t>0</a:t>
                      </a:r>
                    </a:p>
                  </a:txBody>
                  <a:tcPr marL="73152" marR="73152" marT="36576" marB="36576">
                    <a:solidFill>
                      <a:srgbClr val="E8D5BC"/>
                    </a:solidFill>
                  </a:tcPr>
                </a:tc>
                <a:tc>
                  <a:txBody>
                    <a:bodyPr/>
                    <a:lstStyle/>
                    <a:p>
                      <a:r>
                        <a:rPr sz="1300" b="0">
                          <a:solidFill>
                            <a:srgbClr val="2B2419"/>
                          </a:solidFill>
                          <a:latin typeface="Inter"/>
                        </a:rPr>
                        <a:t>★</a:t>
                      </a:r>
                    </a:p>
                  </a:txBody>
                  <a:tcPr marL="73152" marR="73152" marT="36576" marB="36576">
                    <a:solidFill>
                      <a:srgbClr val="E8D5BC"/>
                    </a:solidFill>
                  </a:tcPr>
                </a:tc>
                <a:extLst>
                  <a:ext uri="{0D108BD9-81ED-4DB2-BD59-A6C34878D82A}">
                    <a16:rowId xmlns:a16="http://schemas.microsoft.com/office/drawing/2014/main" val="10001"/>
                  </a:ext>
                </a:extLst>
              </a:tr>
              <a:tr h="503935">
                <a:tc>
                  <a:txBody>
                    <a:bodyPr/>
                    <a:lstStyle/>
                    <a:p>
                      <a:r>
                        <a:rPr sz="1300" b="0">
                          <a:solidFill>
                            <a:srgbClr val="2B2419"/>
                          </a:solidFill>
                          <a:latin typeface="Inter"/>
                        </a:rPr>
                        <a:t>B</a:t>
                      </a:r>
                    </a:p>
                  </a:txBody>
                  <a:tcPr marL="73152" marR="73152" marT="36576" marB="36576">
                    <a:solidFill>
                      <a:srgbClr val="F5EFE6"/>
                    </a:solidFill>
                  </a:tcPr>
                </a:tc>
                <a:tc>
                  <a:txBody>
                    <a:bodyPr/>
                    <a:lstStyle/>
                    <a:p>
                      <a:r>
                        <a:rPr sz="1300" b="0">
                          <a:solidFill>
                            <a:srgbClr val="2B2419"/>
                          </a:solidFill>
                          <a:latin typeface="Inter"/>
                        </a:rPr>
                        <a:t>UI/UX Design</a:t>
                      </a:r>
                    </a:p>
                  </a:txBody>
                  <a:tcPr marL="73152" marR="73152" marT="36576" marB="36576">
                    <a:solidFill>
                      <a:srgbClr val="F5EFE6"/>
                    </a:solidFill>
                  </a:tcPr>
                </a:tc>
                <a:tc>
                  <a:txBody>
                    <a:bodyPr/>
                    <a:lstStyle/>
                    <a:p>
                      <a:r>
                        <a:rPr sz="1300" b="0">
                          <a:solidFill>
                            <a:srgbClr val="2B2419"/>
                          </a:solidFill>
                          <a:latin typeface="Inter"/>
                        </a:rPr>
                        <a:t>10 d</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0</a:t>
                      </a:r>
                    </a:p>
                  </a:txBody>
                  <a:tcPr marL="73152" marR="73152" marT="36576" marB="36576">
                    <a:solidFill>
                      <a:srgbClr val="F5EFE6"/>
                    </a:solidFill>
                  </a:tcPr>
                </a:tc>
                <a:tc>
                  <a:txBody>
                    <a:bodyPr/>
                    <a:lstStyle/>
                    <a:p>
                      <a:r>
                        <a:rPr sz="1300" b="0">
                          <a:solidFill>
                            <a:srgbClr val="2B2419"/>
                          </a:solidFill>
                          <a:latin typeface="Inter"/>
                        </a:rPr>
                        <a:t>★</a:t>
                      </a:r>
                    </a:p>
                  </a:txBody>
                  <a:tcPr marL="73152" marR="73152" marT="36576" marB="36576">
                    <a:solidFill>
                      <a:srgbClr val="F5EFE6"/>
                    </a:solidFill>
                  </a:tcPr>
                </a:tc>
                <a:extLst>
                  <a:ext uri="{0D108BD9-81ED-4DB2-BD59-A6C34878D82A}">
                    <a16:rowId xmlns:a16="http://schemas.microsoft.com/office/drawing/2014/main" val="10002"/>
                  </a:ext>
                </a:extLst>
              </a:tr>
              <a:tr h="503935">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DB Schema</a:t>
                      </a:r>
                    </a:p>
                  </a:txBody>
                  <a:tcPr marL="73152" marR="73152" marT="36576" marB="36576">
                    <a:solidFill>
                      <a:srgbClr val="F5EFE6"/>
                    </a:solidFill>
                  </a:tcPr>
                </a:tc>
                <a:tc>
                  <a:txBody>
                    <a:bodyPr/>
                    <a:lstStyle/>
                    <a:p>
                      <a:r>
                        <a:rPr sz="1300" b="0">
                          <a:solidFill>
                            <a:srgbClr val="2B2419"/>
                          </a:solidFill>
                          <a:latin typeface="Inter"/>
                        </a:rPr>
                        <a:t>4 d</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9</a:t>
                      </a:r>
                    </a:p>
                  </a:txBody>
                  <a:tcPr marL="73152" marR="73152" marT="36576" marB="36576">
                    <a:solidFill>
                      <a:srgbClr val="F5EFE6"/>
                    </a:solidFill>
                  </a:tcPr>
                </a:tc>
                <a:tc>
                  <a:txBody>
                    <a:bodyPr/>
                    <a:lstStyle/>
                    <a:p>
                      <a:r>
                        <a:rPr sz="1300" b="0">
                          <a:solidFill>
                            <a:srgbClr val="2B2419"/>
                          </a:solidFill>
                          <a:latin typeface="Inter"/>
                        </a:rPr>
                        <a:t>14</a:t>
                      </a:r>
                    </a:p>
                  </a:txBody>
                  <a:tcPr marL="73152" marR="73152" marT="36576" marB="36576">
                    <a:solidFill>
                      <a:srgbClr val="F5EFE6"/>
                    </a:solidFill>
                  </a:tcPr>
                </a:tc>
                <a:tc>
                  <a:txBody>
                    <a:bodyPr/>
                    <a:lstStyle/>
                    <a:p>
                      <a:r>
                        <a:rPr sz="1300" b="0">
                          <a:solidFill>
                            <a:srgbClr val="2B2419"/>
                          </a:solidFill>
                          <a:latin typeface="Inter"/>
                        </a:rPr>
                        <a:t>18</a:t>
                      </a:r>
                    </a:p>
                  </a:txBody>
                  <a:tcPr marL="73152" marR="73152" marT="36576" marB="36576">
                    <a:solidFill>
                      <a:srgbClr val="F5EFE6"/>
                    </a:solidFill>
                  </a:tcPr>
                </a:tc>
                <a:tc>
                  <a:txBody>
                    <a:bodyPr/>
                    <a:lstStyle/>
                    <a:p>
                      <a:r>
                        <a:rPr sz="1300" b="0">
                          <a:solidFill>
                            <a:srgbClr val="2B2419"/>
                          </a:solidFill>
                          <a:latin typeface="Inter"/>
                        </a:rPr>
                        <a:t>9</a:t>
                      </a:r>
                    </a:p>
                  </a:txBody>
                  <a:tcPr marL="73152" marR="73152" marT="36576" marB="36576">
                    <a:solidFill>
                      <a:srgbClr val="F5EFE6"/>
                    </a:solidFill>
                  </a:tcPr>
                </a:tc>
                <a:tc>
                  <a:txBody>
                    <a:bodyPr/>
                    <a:lstStyle/>
                    <a:p>
                      <a:endParaRPr sz="1300"/>
                    </a:p>
                  </a:txBody>
                  <a:tcPr marL="73152" marR="73152" marT="36576" marB="36576">
                    <a:solidFill>
                      <a:srgbClr val="F5EFE6"/>
                    </a:solidFill>
                  </a:tcPr>
                </a:tc>
                <a:extLst>
                  <a:ext uri="{0D108BD9-81ED-4DB2-BD59-A6C34878D82A}">
                    <a16:rowId xmlns:a16="http://schemas.microsoft.com/office/drawing/2014/main" val="10003"/>
                  </a:ext>
                </a:extLst>
              </a:tr>
              <a:tr h="503935">
                <a:tc>
                  <a:txBody>
                    <a:bodyPr/>
                    <a:lstStyle/>
                    <a:p>
                      <a:r>
                        <a:rPr sz="1300" b="0">
                          <a:solidFill>
                            <a:srgbClr val="2B2419"/>
                          </a:solidFill>
                          <a:latin typeface="Inter"/>
                        </a:rPr>
                        <a:t>D</a:t>
                      </a:r>
                    </a:p>
                  </a:txBody>
                  <a:tcPr marL="73152" marR="73152" marT="36576" marB="36576">
                    <a:solidFill>
                      <a:srgbClr val="E8D5BC"/>
                    </a:solidFill>
                  </a:tcPr>
                </a:tc>
                <a:tc>
                  <a:txBody>
                    <a:bodyPr/>
                    <a:lstStyle/>
                    <a:p>
                      <a:r>
                        <a:rPr sz="1300" b="0">
                          <a:solidFill>
                            <a:srgbClr val="2B2419"/>
                          </a:solidFill>
                          <a:latin typeface="Inter"/>
                        </a:rPr>
                        <a:t>API Design</a:t>
                      </a:r>
                    </a:p>
                  </a:txBody>
                  <a:tcPr marL="73152" marR="73152" marT="36576" marB="36576">
                    <a:solidFill>
                      <a:srgbClr val="E8D5BC"/>
                    </a:solidFill>
                  </a:tcPr>
                </a:tc>
                <a:tc>
                  <a:txBody>
                    <a:bodyPr/>
                    <a:lstStyle/>
                    <a:p>
                      <a:r>
                        <a:rPr sz="1300" b="0">
                          <a:solidFill>
                            <a:srgbClr val="2B2419"/>
                          </a:solidFill>
                          <a:latin typeface="Inter"/>
                        </a:rPr>
                        <a:t>5 d</a:t>
                      </a:r>
                    </a:p>
                  </a:txBody>
                  <a:tcPr marL="73152" marR="73152" marT="36576" marB="36576">
                    <a:solidFill>
                      <a:srgbClr val="E8D5BC"/>
                    </a:solidFill>
                  </a:tcPr>
                </a:tc>
                <a:tc>
                  <a:txBody>
                    <a:bodyPr/>
                    <a:lstStyle/>
                    <a:p>
                      <a:r>
                        <a:rPr sz="1300" b="0">
                          <a:solidFill>
                            <a:srgbClr val="2B2419"/>
                          </a:solidFill>
                          <a:latin typeface="Inter"/>
                        </a:rPr>
                        <a:t>A</a:t>
                      </a:r>
                    </a:p>
                  </a:txBody>
                  <a:tcPr marL="73152" marR="73152" marT="36576" marB="36576">
                    <a:solidFill>
                      <a:srgbClr val="E8D5BC"/>
                    </a:solidFill>
                  </a:tcPr>
                </a:tc>
                <a:tc>
                  <a:txBody>
                    <a:bodyPr/>
                    <a:lstStyle/>
                    <a:p>
                      <a:r>
                        <a:rPr sz="1300" b="0">
                          <a:solidFill>
                            <a:srgbClr val="2B2419"/>
                          </a:solidFill>
                          <a:latin typeface="Inter"/>
                        </a:rPr>
                        <a:t>5</a:t>
                      </a:r>
                    </a:p>
                  </a:txBody>
                  <a:tcPr marL="73152" marR="73152" marT="36576" marB="36576">
                    <a:solidFill>
                      <a:srgbClr val="E8D5BC"/>
                    </a:solidFill>
                  </a:tcPr>
                </a:tc>
                <a:tc>
                  <a:txBody>
                    <a:bodyPr/>
                    <a:lstStyle/>
                    <a:p>
                      <a:r>
                        <a:rPr sz="1300" b="0">
                          <a:solidFill>
                            <a:srgbClr val="2B2419"/>
                          </a:solidFill>
                          <a:latin typeface="Inter"/>
                        </a:rPr>
                        <a:t>10</a:t>
                      </a:r>
                    </a:p>
                  </a:txBody>
                  <a:tcPr marL="73152" marR="73152" marT="36576" marB="36576">
                    <a:solidFill>
                      <a:srgbClr val="E8D5BC"/>
                    </a:solidFill>
                  </a:tcPr>
                </a:tc>
                <a:tc>
                  <a:txBody>
                    <a:bodyPr/>
                    <a:lstStyle/>
                    <a:p>
                      <a:r>
                        <a:rPr sz="1300" b="0">
                          <a:solidFill>
                            <a:srgbClr val="2B2419"/>
                          </a:solidFill>
                          <a:latin typeface="Inter"/>
                        </a:rPr>
                        <a:t>13</a:t>
                      </a:r>
                    </a:p>
                  </a:txBody>
                  <a:tcPr marL="73152" marR="73152" marT="36576" marB="36576">
                    <a:solidFill>
                      <a:srgbClr val="E8D5BC"/>
                    </a:solidFill>
                  </a:tcPr>
                </a:tc>
                <a:tc>
                  <a:txBody>
                    <a:bodyPr/>
                    <a:lstStyle/>
                    <a:p>
                      <a:r>
                        <a:rPr sz="1300" b="0">
                          <a:solidFill>
                            <a:srgbClr val="2B2419"/>
                          </a:solidFill>
                          <a:latin typeface="Inter"/>
                        </a:rPr>
                        <a:t>18</a:t>
                      </a:r>
                    </a:p>
                  </a:txBody>
                  <a:tcPr marL="73152" marR="73152" marT="36576" marB="36576">
                    <a:solidFill>
                      <a:srgbClr val="E8D5BC"/>
                    </a:solidFill>
                  </a:tcPr>
                </a:tc>
                <a:tc>
                  <a:txBody>
                    <a:bodyPr/>
                    <a:lstStyle/>
                    <a:p>
                      <a:r>
                        <a:rPr sz="1300" b="0">
                          <a:solidFill>
                            <a:srgbClr val="2B2419"/>
                          </a:solidFill>
                          <a:latin typeface="Inter"/>
                        </a:rPr>
                        <a:t>8</a:t>
                      </a:r>
                    </a:p>
                  </a:txBody>
                  <a:tcPr marL="73152" marR="73152" marT="36576" marB="36576">
                    <a:solidFill>
                      <a:srgbClr val="E8D5BC"/>
                    </a:solidFill>
                  </a:tcPr>
                </a:tc>
                <a:tc>
                  <a:txBody>
                    <a:bodyPr/>
                    <a:lstStyle/>
                    <a:p>
                      <a:endParaRPr sz="1300"/>
                    </a:p>
                  </a:txBody>
                  <a:tcPr marL="73152" marR="73152" marT="36576" marB="36576">
                    <a:solidFill>
                      <a:srgbClr val="E8D5BC"/>
                    </a:solidFill>
                  </a:tcPr>
                </a:tc>
                <a:extLst>
                  <a:ext uri="{0D108BD9-81ED-4DB2-BD59-A6C34878D82A}">
                    <a16:rowId xmlns:a16="http://schemas.microsoft.com/office/drawing/2014/main" val="10004"/>
                  </a:ext>
                </a:extLst>
              </a:tr>
              <a:tr h="503935">
                <a:tc>
                  <a:txBody>
                    <a:bodyPr/>
                    <a:lstStyle/>
                    <a:p>
                      <a:r>
                        <a:rPr sz="1300" b="0">
                          <a:solidFill>
                            <a:srgbClr val="2B2419"/>
                          </a:solidFill>
                          <a:latin typeface="Inter"/>
                        </a:rPr>
                        <a:t>E</a:t>
                      </a:r>
                    </a:p>
                  </a:txBody>
                  <a:tcPr marL="73152" marR="73152" marT="36576" marB="36576">
                    <a:solidFill>
                      <a:srgbClr val="F5EFE6"/>
                    </a:solidFill>
                  </a:tcPr>
                </a:tc>
                <a:tc>
                  <a:txBody>
                    <a:bodyPr/>
                    <a:lstStyle/>
                    <a:p>
                      <a:r>
                        <a:rPr sz="1300" b="0">
                          <a:solidFill>
                            <a:srgbClr val="2B2419"/>
                          </a:solidFill>
                          <a:latin typeface="Inter"/>
                        </a:rPr>
                        <a:t>Frontend Dev</a:t>
                      </a:r>
                    </a:p>
                  </a:txBody>
                  <a:tcPr marL="73152" marR="73152" marT="36576" marB="36576">
                    <a:solidFill>
                      <a:srgbClr val="F5EFE6"/>
                    </a:solidFill>
                  </a:tcPr>
                </a:tc>
                <a:tc>
                  <a:txBody>
                    <a:bodyPr/>
                    <a:lstStyle/>
                    <a:p>
                      <a:r>
                        <a:rPr sz="1300" b="0">
                          <a:solidFill>
                            <a:srgbClr val="2B2419"/>
                          </a:solidFill>
                          <a:latin typeface="Inter"/>
                        </a:rPr>
                        <a:t>15 d</a:t>
                      </a:r>
                    </a:p>
                  </a:txBody>
                  <a:tcPr marL="73152" marR="73152" marT="36576" marB="36576">
                    <a:solidFill>
                      <a:srgbClr val="F5EFE6"/>
                    </a:solidFill>
                  </a:tcPr>
                </a:tc>
                <a:tc>
                  <a:txBody>
                    <a:bodyPr/>
                    <a:lstStyle/>
                    <a:p>
                      <a:r>
                        <a:rPr sz="1300" b="0">
                          <a:solidFill>
                            <a:srgbClr val="2B2419"/>
                          </a:solidFill>
                          <a:latin typeface="Inter"/>
                        </a:rPr>
                        <a:t>B</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30</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30</a:t>
                      </a:r>
                    </a:p>
                  </a:txBody>
                  <a:tcPr marL="73152" marR="73152" marT="36576" marB="36576">
                    <a:solidFill>
                      <a:srgbClr val="F5EFE6"/>
                    </a:solidFill>
                  </a:tcPr>
                </a:tc>
                <a:tc>
                  <a:txBody>
                    <a:bodyPr/>
                    <a:lstStyle/>
                    <a:p>
                      <a:r>
                        <a:rPr sz="1300" b="0">
                          <a:solidFill>
                            <a:srgbClr val="2B2419"/>
                          </a:solidFill>
                          <a:latin typeface="Inter"/>
                        </a:rPr>
                        <a:t>0</a:t>
                      </a:r>
                    </a:p>
                  </a:txBody>
                  <a:tcPr marL="73152" marR="73152" marT="36576" marB="36576">
                    <a:solidFill>
                      <a:srgbClr val="F5EFE6"/>
                    </a:solidFill>
                  </a:tcPr>
                </a:tc>
                <a:tc>
                  <a:txBody>
                    <a:bodyPr/>
                    <a:lstStyle/>
                    <a:p>
                      <a:r>
                        <a:rPr sz="1300" b="0">
                          <a:solidFill>
                            <a:srgbClr val="2B2419"/>
                          </a:solidFill>
                          <a:latin typeface="Inter"/>
                        </a:rPr>
                        <a:t>★</a:t>
                      </a:r>
                    </a:p>
                  </a:txBody>
                  <a:tcPr marL="73152" marR="73152" marT="36576" marB="36576">
                    <a:solidFill>
                      <a:srgbClr val="F5EFE6"/>
                    </a:solidFill>
                  </a:tcPr>
                </a:tc>
                <a:extLst>
                  <a:ext uri="{0D108BD9-81ED-4DB2-BD59-A6C34878D82A}">
                    <a16:rowId xmlns:a16="http://schemas.microsoft.com/office/drawing/2014/main" val="10005"/>
                  </a:ext>
                </a:extLst>
              </a:tr>
              <a:tr h="503935">
                <a:tc>
                  <a:txBody>
                    <a:bodyPr/>
                    <a:lstStyle/>
                    <a:p>
                      <a:r>
                        <a:rPr sz="1300" b="0">
                          <a:solidFill>
                            <a:srgbClr val="2B2419"/>
                          </a:solidFill>
                          <a:latin typeface="Inter"/>
                        </a:rPr>
                        <a:t>F</a:t>
                      </a:r>
                    </a:p>
                  </a:txBody>
                  <a:tcPr marL="73152" marR="73152" marT="36576" marB="36576">
                    <a:solidFill>
                      <a:srgbClr val="E8D5BC"/>
                    </a:solidFill>
                  </a:tcPr>
                </a:tc>
                <a:tc>
                  <a:txBody>
                    <a:bodyPr/>
                    <a:lstStyle/>
                    <a:p>
                      <a:r>
                        <a:rPr sz="1300" b="0">
                          <a:solidFill>
                            <a:srgbClr val="2B2419"/>
                          </a:solidFill>
                          <a:latin typeface="Inter"/>
                        </a:rPr>
                        <a:t>Backend Dev</a:t>
                      </a:r>
                    </a:p>
                  </a:txBody>
                  <a:tcPr marL="73152" marR="73152" marT="36576" marB="36576">
                    <a:solidFill>
                      <a:srgbClr val="E8D5BC"/>
                    </a:solidFill>
                  </a:tcPr>
                </a:tc>
                <a:tc>
                  <a:txBody>
                    <a:bodyPr/>
                    <a:lstStyle/>
                    <a:p>
                      <a:r>
                        <a:rPr sz="1300" b="0">
                          <a:solidFill>
                            <a:srgbClr val="2B2419"/>
                          </a:solidFill>
                          <a:latin typeface="Inter"/>
                        </a:rPr>
                        <a:t>12 d</a:t>
                      </a:r>
                    </a:p>
                  </a:txBody>
                  <a:tcPr marL="73152" marR="73152" marT="36576" marB="36576">
                    <a:solidFill>
                      <a:srgbClr val="E8D5BC"/>
                    </a:solidFill>
                  </a:tcPr>
                </a:tc>
                <a:tc>
                  <a:txBody>
                    <a:bodyPr/>
                    <a:lstStyle/>
                    <a:p>
                      <a:r>
                        <a:rPr sz="1300" b="0">
                          <a:solidFill>
                            <a:srgbClr val="2B2419"/>
                          </a:solidFill>
                          <a:latin typeface="Inter"/>
                        </a:rPr>
                        <a:t>C, D</a:t>
                      </a:r>
                    </a:p>
                  </a:txBody>
                  <a:tcPr marL="73152" marR="73152" marT="36576" marB="36576">
                    <a:solidFill>
                      <a:srgbClr val="E8D5BC"/>
                    </a:solidFill>
                  </a:tcPr>
                </a:tc>
                <a:tc>
                  <a:txBody>
                    <a:bodyPr/>
                    <a:lstStyle/>
                    <a:p>
                      <a:r>
                        <a:rPr sz="1300" b="0">
                          <a:solidFill>
                            <a:srgbClr val="2B2419"/>
                          </a:solidFill>
                          <a:latin typeface="Inter"/>
                        </a:rPr>
                        <a:t>10</a:t>
                      </a:r>
                    </a:p>
                  </a:txBody>
                  <a:tcPr marL="73152" marR="73152" marT="36576" marB="36576">
                    <a:solidFill>
                      <a:srgbClr val="E8D5BC"/>
                    </a:solidFill>
                  </a:tcPr>
                </a:tc>
                <a:tc>
                  <a:txBody>
                    <a:bodyPr/>
                    <a:lstStyle/>
                    <a:p>
                      <a:r>
                        <a:rPr sz="1300" b="0">
                          <a:solidFill>
                            <a:srgbClr val="2B2419"/>
                          </a:solidFill>
                          <a:latin typeface="Inter"/>
                        </a:rPr>
                        <a:t>22</a:t>
                      </a:r>
                    </a:p>
                  </a:txBody>
                  <a:tcPr marL="73152" marR="73152" marT="36576" marB="36576">
                    <a:solidFill>
                      <a:srgbClr val="E8D5BC"/>
                    </a:solidFill>
                  </a:tcPr>
                </a:tc>
                <a:tc>
                  <a:txBody>
                    <a:bodyPr/>
                    <a:lstStyle/>
                    <a:p>
                      <a:r>
                        <a:rPr sz="1300" b="0">
                          <a:solidFill>
                            <a:srgbClr val="2B2419"/>
                          </a:solidFill>
                          <a:latin typeface="Inter"/>
                        </a:rPr>
                        <a:t>18</a:t>
                      </a:r>
                    </a:p>
                  </a:txBody>
                  <a:tcPr marL="73152" marR="73152" marT="36576" marB="36576">
                    <a:solidFill>
                      <a:srgbClr val="E8D5BC"/>
                    </a:solidFill>
                  </a:tcPr>
                </a:tc>
                <a:tc>
                  <a:txBody>
                    <a:bodyPr/>
                    <a:lstStyle/>
                    <a:p>
                      <a:r>
                        <a:rPr sz="1300" b="0">
                          <a:solidFill>
                            <a:srgbClr val="2B2419"/>
                          </a:solidFill>
                          <a:latin typeface="Inter"/>
                        </a:rPr>
                        <a:t>30</a:t>
                      </a:r>
                    </a:p>
                  </a:txBody>
                  <a:tcPr marL="73152" marR="73152" marT="36576" marB="36576">
                    <a:solidFill>
                      <a:srgbClr val="E8D5BC"/>
                    </a:solidFill>
                  </a:tcPr>
                </a:tc>
                <a:tc>
                  <a:txBody>
                    <a:bodyPr/>
                    <a:lstStyle/>
                    <a:p>
                      <a:r>
                        <a:rPr sz="1300" b="0">
                          <a:solidFill>
                            <a:srgbClr val="2B2419"/>
                          </a:solidFill>
                          <a:latin typeface="Inter"/>
                        </a:rPr>
                        <a:t>8</a:t>
                      </a:r>
                    </a:p>
                  </a:txBody>
                  <a:tcPr marL="73152" marR="73152" marT="36576" marB="36576">
                    <a:solidFill>
                      <a:srgbClr val="E8D5BC"/>
                    </a:solidFill>
                  </a:tcPr>
                </a:tc>
                <a:tc>
                  <a:txBody>
                    <a:bodyPr/>
                    <a:lstStyle/>
                    <a:p>
                      <a:endParaRPr sz="1300"/>
                    </a:p>
                  </a:txBody>
                  <a:tcPr marL="73152" marR="73152" marT="36576" marB="36576">
                    <a:solidFill>
                      <a:srgbClr val="E8D5BC"/>
                    </a:solidFill>
                  </a:tcPr>
                </a:tc>
                <a:extLst>
                  <a:ext uri="{0D108BD9-81ED-4DB2-BD59-A6C34878D82A}">
                    <a16:rowId xmlns:a16="http://schemas.microsoft.com/office/drawing/2014/main" val="10006"/>
                  </a:ext>
                </a:extLst>
              </a:tr>
              <a:tr h="503935">
                <a:tc>
                  <a:txBody>
                    <a:bodyPr/>
                    <a:lstStyle/>
                    <a:p>
                      <a:r>
                        <a:rPr sz="1300" b="0">
                          <a:solidFill>
                            <a:srgbClr val="2B2419"/>
                          </a:solidFill>
                          <a:latin typeface="Inter"/>
                        </a:rPr>
                        <a:t>G</a:t>
                      </a:r>
                    </a:p>
                  </a:txBody>
                  <a:tcPr marL="73152" marR="73152" marT="36576" marB="36576">
                    <a:solidFill>
                      <a:srgbClr val="E8D5BC"/>
                    </a:solidFill>
                  </a:tcPr>
                </a:tc>
                <a:tc>
                  <a:txBody>
                    <a:bodyPr/>
                    <a:lstStyle/>
                    <a:p>
                      <a:r>
                        <a:rPr sz="1300" b="0">
                          <a:solidFill>
                            <a:srgbClr val="2B2419"/>
                          </a:solidFill>
                          <a:latin typeface="Inter"/>
                        </a:rPr>
                        <a:t>Integration</a:t>
                      </a:r>
                    </a:p>
                  </a:txBody>
                  <a:tcPr marL="73152" marR="73152" marT="36576" marB="36576">
                    <a:solidFill>
                      <a:srgbClr val="E8D5BC"/>
                    </a:solidFill>
                  </a:tcPr>
                </a:tc>
                <a:tc>
                  <a:txBody>
                    <a:bodyPr/>
                    <a:lstStyle/>
                    <a:p>
                      <a:r>
                        <a:rPr sz="1300" b="0">
                          <a:solidFill>
                            <a:srgbClr val="2B2419"/>
                          </a:solidFill>
                          <a:latin typeface="Inter"/>
                        </a:rPr>
                        <a:t>5 d</a:t>
                      </a:r>
                    </a:p>
                  </a:txBody>
                  <a:tcPr marL="73152" marR="73152" marT="36576" marB="36576">
                    <a:solidFill>
                      <a:srgbClr val="E8D5BC"/>
                    </a:solidFill>
                  </a:tcPr>
                </a:tc>
                <a:tc>
                  <a:txBody>
                    <a:bodyPr/>
                    <a:lstStyle/>
                    <a:p>
                      <a:r>
                        <a:rPr sz="1300" b="0">
                          <a:solidFill>
                            <a:srgbClr val="2B2419"/>
                          </a:solidFill>
                          <a:latin typeface="Inter"/>
                        </a:rPr>
                        <a:t>E, F</a:t>
                      </a:r>
                    </a:p>
                  </a:txBody>
                  <a:tcPr marL="73152" marR="73152" marT="36576" marB="36576">
                    <a:solidFill>
                      <a:srgbClr val="E8D5BC"/>
                    </a:solidFill>
                  </a:tcPr>
                </a:tc>
                <a:tc>
                  <a:txBody>
                    <a:bodyPr/>
                    <a:lstStyle/>
                    <a:p>
                      <a:r>
                        <a:rPr sz="1300" b="0">
                          <a:solidFill>
                            <a:srgbClr val="2B2419"/>
                          </a:solidFill>
                          <a:latin typeface="Inter"/>
                        </a:rPr>
                        <a:t>30</a:t>
                      </a:r>
                    </a:p>
                  </a:txBody>
                  <a:tcPr marL="73152" marR="73152" marT="36576" marB="36576">
                    <a:solidFill>
                      <a:srgbClr val="E8D5BC"/>
                    </a:solidFill>
                  </a:tcPr>
                </a:tc>
                <a:tc>
                  <a:txBody>
                    <a:bodyPr/>
                    <a:lstStyle/>
                    <a:p>
                      <a:r>
                        <a:rPr sz="1300" b="0">
                          <a:solidFill>
                            <a:srgbClr val="2B2419"/>
                          </a:solidFill>
                          <a:latin typeface="Inter"/>
                        </a:rPr>
                        <a:t>35</a:t>
                      </a:r>
                    </a:p>
                  </a:txBody>
                  <a:tcPr marL="73152" marR="73152" marT="36576" marB="36576">
                    <a:solidFill>
                      <a:srgbClr val="E8D5BC"/>
                    </a:solidFill>
                  </a:tcPr>
                </a:tc>
                <a:tc>
                  <a:txBody>
                    <a:bodyPr/>
                    <a:lstStyle/>
                    <a:p>
                      <a:r>
                        <a:rPr sz="1300" b="0">
                          <a:solidFill>
                            <a:srgbClr val="2B2419"/>
                          </a:solidFill>
                          <a:latin typeface="Inter"/>
                        </a:rPr>
                        <a:t>30</a:t>
                      </a:r>
                    </a:p>
                  </a:txBody>
                  <a:tcPr marL="73152" marR="73152" marT="36576" marB="36576">
                    <a:solidFill>
                      <a:srgbClr val="E8D5BC"/>
                    </a:solidFill>
                  </a:tcPr>
                </a:tc>
                <a:tc>
                  <a:txBody>
                    <a:bodyPr/>
                    <a:lstStyle/>
                    <a:p>
                      <a:r>
                        <a:rPr sz="1300" b="0">
                          <a:solidFill>
                            <a:srgbClr val="2B2419"/>
                          </a:solidFill>
                          <a:latin typeface="Inter"/>
                        </a:rPr>
                        <a:t>35</a:t>
                      </a:r>
                    </a:p>
                  </a:txBody>
                  <a:tcPr marL="73152" marR="73152" marT="36576" marB="36576">
                    <a:solidFill>
                      <a:srgbClr val="E8D5BC"/>
                    </a:solidFill>
                  </a:tcPr>
                </a:tc>
                <a:tc>
                  <a:txBody>
                    <a:bodyPr/>
                    <a:lstStyle/>
                    <a:p>
                      <a:r>
                        <a:rPr sz="1300" b="0">
                          <a:solidFill>
                            <a:srgbClr val="2B2419"/>
                          </a:solidFill>
                          <a:latin typeface="Inter"/>
                        </a:rPr>
                        <a:t>0</a:t>
                      </a:r>
                    </a:p>
                  </a:txBody>
                  <a:tcPr marL="73152" marR="73152" marT="36576" marB="36576">
                    <a:solidFill>
                      <a:srgbClr val="E8D5BC"/>
                    </a:solidFill>
                  </a:tcPr>
                </a:tc>
                <a:tc>
                  <a:txBody>
                    <a:bodyPr/>
                    <a:lstStyle/>
                    <a:p>
                      <a:r>
                        <a:rPr sz="1300" b="0">
                          <a:solidFill>
                            <a:srgbClr val="2B2419"/>
                          </a:solidFill>
                          <a:latin typeface="Inter"/>
                        </a:rPr>
                        <a:t>★</a:t>
                      </a:r>
                    </a:p>
                  </a:txBody>
                  <a:tcPr marL="73152" marR="73152" marT="36576" marB="36576">
                    <a:solidFill>
                      <a:srgbClr val="E8D5BC"/>
                    </a:solidFill>
                  </a:tcPr>
                </a:tc>
                <a:extLst>
                  <a:ext uri="{0D108BD9-81ED-4DB2-BD59-A6C34878D82A}">
                    <a16:rowId xmlns:a16="http://schemas.microsoft.com/office/drawing/2014/main" val="10007"/>
                  </a:ext>
                </a:extLst>
              </a:tr>
              <a:tr h="503935">
                <a:tc>
                  <a:txBody>
                    <a:bodyPr/>
                    <a:lstStyle/>
                    <a:p>
                      <a:r>
                        <a:rPr sz="1300" b="0">
                          <a:solidFill>
                            <a:srgbClr val="2B2419"/>
                          </a:solidFill>
                          <a:latin typeface="Inter"/>
                        </a:rPr>
                        <a:t>H</a:t>
                      </a:r>
                    </a:p>
                  </a:txBody>
                  <a:tcPr marL="73152" marR="73152" marT="36576" marB="36576">
                    <a:solidFill>
                      <a:srgbClr val="F5EFE6"/>
                    </a:solidFill>
                  </a:tcPr>
                </a:tc>
                <a:tc>
                  <a:txBody>
                    <a:bodyPr/>
                    <a:lstStyle/>
                    <a:p>
                      <a:r>
                        <a:rPr sz="1300" b="0">
                          <a:solidFill>
                            <a:srgbClr val="2B2419"/>
                          </a:solidFill>
                          <a:latin typeface="Inter"/>
                        </a:rPr>
                        <a:t>Testing</a:t>
                      </a:r>
                    </a:p>
                  </a:txBody>
                  <a:tcPr marL="73152" marR="73152" marT="36576" marB="36576">
                    <a:solidFill>
                      <a:srgbClr val="F5EFE6"/>
                    </a:solidFill>
                  </a:tcPr>
                </a:tc>
                <a:tc>
                  <a:txBody>
                    <a:bodyPr/>
                    <a:lstStyle/>
                    <a:p>
                      <a:r>
                        <a:rPr sz="1300" b="0">
                          <a:solidFill>
                            <a:srgbClr val="2B2419"/>
                          </a:solidFill>
                          <a:latin typeface="Inter"/>
                        </a:rPr>
                        <a:t>8 d</a:t>
                      </a:r>
                    </a:p>
                  </a:txBody>
                  <a:tcPr marL="73152" marR="73152" marT="36576" marB="36576">
                    <a:solidFill>
                      <a:srgbClr val="F5EFE6"/>
                    </a:solidFill>
                  </a:tcPr>
                </a:tc>
                <a:tc>
                  <a:txBody>
                    <a:bodyPr/>
                    <a:lstStyle/>
                    <a:p>
                      <a:r>
                        <a:rPr sz="1300" b="0">
                          <a:solidFill>
                            <a:srgbClr val="2B2419"/>
                          </a:solidFill>
                          <a:latin typeface="Inter"/>
                        </a:rPr>
                        <a:t>G</a:t>
                      </a:r>
                    </a:p>
                  </a:txBody>
                  <a:tcPr marL="73152" marR="73152" marT="36576" marB="36576">
                    <a:solidFill>
                      <a:srgbClr val="F5EFE6"/>
                    </a:solidFill>
                  </a:tcPr>
                </a:tc>
                <a:tc>
                  <a:txBody>
                    <a:bodyPr/>
                    <a:lstStyle/>
                    <a:p>
                      <a:r>
                        <a:rPr sz="1300" b="0">
                          <a:solidFill>
                            <a:srgbClr val="2B2419"/>
                          </a:solidFill>
                          <a:latin typeface="Inter"/>
                        </a:rPr>
                        <a:t>35</a:t>
                      </a:r>
                    </a:p>
                  </a:txBody>
                  <a:tcPr marL="73152" marR="73152" marT="36576" marB="36576">
                    <a:solidFill>
                      <a:srgbClr val="F5EFE6"/>
                    </a:solidFill>
                  </a:tcPr>
                </a:tc>
                <a:tc>
                  <a:txBody>
                    <a:bodyPr/>
                    <a:lstStyle/>
                    <a:p>
                      <a:r>
                        <a:rPr sz="1300" b="0">
                          <a:solidFill>
                            <a:srgbClr val="2B2419"/>
                          </a:solidFill>
                          <a:latin typeface="Inter"/>
                        </a:rPr>
                        <a:t>43</a:t>
                      </a:r>
                    </a:p>
                  </a:txBody>
                  <a:tcPr marL="73152" marR="73152" marT="36576" marB="36576">
                    <a:solidFill>
                      <a:srgbClr val="F5EFE6"/>
                    </a:solidFill>
                  </a:tcPr>
                </a:tc>
                <a:tc>
                  <a:txBody>
                    <a:bodyPr/>
                    <a:lstStyle/>
                    <a:p>
                      <a:r>
                        <a:rPr sz="1300" b="0">
                          <a:solidFill>
                            <a:srgbClr val="2B2419"/>
                          </a:solidFill>
                          <a:latin typeface="Inter"/>
                        </a:rPr>
                        <a:t>35</a:t>
                      </a:r>
                    </a:p>
                  </a:txBody>
                  <a:tcPr marL="73152" marR="73152" marT="36576" marB="36576">
                    <a:solidFill>
                      <a:srgbClr val="F5EFE6"/>
                    </a:solidFill>
                  </a:tcPr>
                </a:tc>
                <a:tc>
                  <a:txBody>
                    <a:bodyPr/>
                    <a:lstStyle/>
                    <a:p>
                      <a:r>
                        <a:rPr sz="1300" b="0">
                          <a:solidFill>
                            <a:srgbClr val="2B2419"/>
                          </a:solidFill>
                          <a:latin typeface="Inter"/>
                        </a:rPr>
                        <a:t>43</a:t>
                      </a:r>
                    </a:p>
                  </a:txBody>
                  <a:tcPr marL="73152" marR="73152" marT="36576" marB="36576">
                    <a:solidFill>
                      <a:srgbClr val="F5EFE6"/>
                    </a:solidFill>
                  </a:tcPr>
                </a:tc>
                <a:tc>
                  <a:txBody>
                    <a:bodyPr/>
                    <a:lstStyle/>
                    <a:p>
                      <a:r>
                        <a:rPr sz="1300" b="0">
                          <a:solidFill>
                            <a:srgbClr val="2B2419"/>
                          </a:solidFill>
                          <a:latin typeface="Inter"/>
                        </a:rPr>
                        <a:t>0</a:t>
                      </a:r>
                    </a:p>
                  </a:txBody>
                  <a:tcPr marL="73152" marR="73152" marT="36576" marB="36576">
                    <a:solidFill>
                      <a:srgbClr val="F5EFE6"/>
                    </a:solidFill>
                  </a:tcPr>
                </a:tc>
                <a:tc>
                  <a:txBody>
                    <a:bodyPr/>
                    <a:lstStyle/>
                    <a:p>
                      <a:r>
                        <a:rPr sz="1300" b="0" dirty="0">
                          <a:solidFill>
                            <a:srgbClr val="2B2419"/>
                          </a:solidFill>
                          <a:latin typeface="Inter"/>
                        </a:rPr>
                        <a:t>★</a:t>
                      </a:r>
                    </a:p>
                  </a:txBody>
                  <a:tcPr marL="73152" marR="73152" marT="36576" marB="36576">
                    <a:solidFill>
                      <a:srgbClr val="F5EFE6"/>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TIMELINE &amp; MILESTONES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8C5A2E"/>
                </a:solidFill>
                <a:latin typeface="Playfair Display"/>
              </a:rPr>
              <a:t>The Critical Path</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12 / 31</a:t>
            </a:r>
          </a:p>
        </p:txBody>
      </p:sp>
      <p:cxnSp>
        <p:nvCxnSpPr>
          <p:cNvPr id="8" name="Connector 7"/>
          <p:cNvCxnSpPr/>
          <p:nvPr/>
        </p:nvCxnSpPr>
        <p:spPr>
          <a:xfrm>
            <a:off x="640080" y="1713636"/>
            <a:ext cx="11247120"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640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A</a:t>
            </a:r>
          </a:p>
        </p:txBody>
      </p:sp>
      <p:sp>
        <p:nvSpPr>
          <p:cNvPr id="11" name="TextBox 10"/>
          <p:cNvSpPr txBox="1"/>
          <p:nvPr/>
        </p:nvSpPr>
        <p:spPr>
          <a:xfrm>
            <a:off x="685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Requirements
5 days</a:t>
            </a:r>
          </a:p>
        </p:txBody>
      </p:sp>
      <p:sp>
        <p:nvSpPr>
          <p:cNvPr id="12" name="TextBox 11"/>
          <p:cNvSpPr txBox="1"/>
          <p:nvPr/>
        </p:nvSpPr>
        <p:spPr>
          <a:xfrm>
            <a:off x="2560320" y="2262276"/>
            <a:ext cx="365760" cy="548640"/>
          </a:xfrm>
          <a:prstGeom prst="rect">
            <a:avLst/>
          </a:prstGeom>
          <a:noFill/>
        </p:spPr>
        <p:txBody>
          <a:bodyPr wrap="square" lIns="54864" tIns="18288" rIns="54864" bIns="18288" anchor="t">
            <a:spAutoFit/>
          </a:bodyPr>
          <a:lstStyle/>
          <a:p>
            <a:pPr algn="l">
              <a:lnSpc>
                <a:spcPct val="100000"/>
              </a:lnSpc>
            </a:pPr>
            <a:r>
              <a:rPr sz="2600" b="0" i="0">
                <a:solidFill>
                  <a:srgbClr val="8C5A2E"/>
                </a:solidFill>
                <a:latin typeface="Inter"/>
              </a:rPr>
              <a:t>→</a:t>
            </a:r>
          </a:p>
        </p:txBody>
      </p:sp>
      <p:sp>
        <p:nvSpPr>
          <p:cNvPr id="13" name="Rectangle 12"/>
          <p:cNvSpPr/>
          <p:nvPr/>
        </p:nvSpPr>
        <p:spPr>
          <a:xfrm>
            <a:off x="2926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26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B</a:t>
            </a:r>
          </a:p>
        </p:txBody>
      </p:sp>
      <p:sp>
        <p:nvSpPr>
          <p:cNvPr id="15" name="TextBox 14"/>
          <p:cNvSpPr txBox="1"/>
          <p:nvPr/>
        </p:nvSpPr>
        <p:spPr>
          <a:xfrm>
            <a:off x="2971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UI/UX Design
10 days</a:t>
            </a:r>
          </a:p>
        </p:txBody>
      </p:sp>
      <p:sp>
        <p:nvSpPr>
          <p:cNvPr id="16" name="TextBox 15"/>
          <p:cNvSpPr txBox="1"/>
          <p:nvPr/>
        </p:nvSpPr>
        <p:spPr>
          <a:xfrm>
            <a:off x="4846320" y="2262276"/>
            <a:ext cx="365760" cy="548640"/>
          </a:xfrm>
          <a:prstGeom prst="rect">
            <a:avLst/>
          </a:prstGeom>
          <a:noFill/>
        </p:spPr>
        <p:txBody>
          <a:bodyPr wrap="square" lIns="54864" tIns="18288" rIns="54864" bIns="18288" anchor="t">
            <a:spAutoFit/>
          </a:bodyPr>
          <a:lstStyle/>
          <a:p>
            <a:pPr algn="l">
              <a:lnSpc>
                <a:spcPct val="100000"/>
              </a:lnSpc>
            </a:pPr>
            <a:r>
              <a:rPr sz="2600" b="0" i="0">
                <a:solidFill>
                  <a:srgbClr val="8C5A2E"/>
                </a:solidFill>
                <a:latin typeface="Inter"/>
              </a:rPr>
              <a:t>→</a:t>
            </a:r>
          </a:p>
        </p:txBody>
      </p:sp>
      <p:sp>
        <p:nvSpPr>
          <p:cNvPr id="17" name="Rectangle 16"/>
          <p:cNvSpPr/>
          <p:nvPr/>
        </p:nvSpPr>
        <p:spPr>
          <a:xfrm>
            <a:off x="5212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12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E</a:t>
            </a:r>
          </a:p>
        </p:txBody>
      </p:sp>
      <p:sp>
        <p:nvSpPr>
          <p:cNvPr id="19" name="TextBox 18"/>
          <p:cNvSpPr txBox="1"/>
          <p:nvPr/>
        </p:nvSpPr>
        <p:spPr>
          <a:xfrm>
            <a:off x="5257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Frontend Dev
15 days</a:t>
            </a:r>
          </a:p>
        </p:txBody>
      </p:sp>
      <p:sp>
        <p:nvSpPr>
          <p:cNvPr id="20" name="TextBox 19"/>
          <p:cNvSpPr txBox="1"/>
          <p:nvPr/>
        </p:nvSpPr>
        <p:spPr>
          <a:xfrm>
            <a:off x="7132320" y="2262276"/>
            <a:ext cx="365760" cy="548640"/>
          </a:xfrm>
          <a:prstGeom prst="rect">
            <a:avLst/>
          </a:prstGeom>
          <a:noFill/>
        </p:spPr>
        <p:txBody>
          <a:bodyPr wrap="square" lIns="54864" tIns="18288" rIns="54864" bIns="18288" anchor="t">
            <a:spAutoFit/>
          </a:bodyPr>
          <a:lstStyle/>
          <a:p>
            <a:pPr algn="l">
              <a:lnSpc>
                <a:spcPct val="100000"/>
              </a:lnSpc>
            </a:pPr>
            <a:r>
              <a:rPr sz="2600" b="0" i="0">
                <a:solidFill>
                  <a:srgbClr val="8C5A2E"/>
                </a:solidFill>
                <a:latin typeface="Inter"/>
              </a:rPr>
              <a:t>→</a:t>
            </a:r>
          </a:p>
        </p:txBody>
      </p:sp>
      <p:sp>
        <p:nvSpPr>
          <p:cNvPr id="21" name="Rectangle 20"/>
          <p:cNvSpPr/>
          <p:nvPr/>
        </p:nvSpPr>
        <p:spPr>
          <a:xfrm>
            <a:off x="7498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G</a:t>
            </a:r>
          </a:p>
        </p:txBody>
      </p:sp>
      <p:sp>
        <p:nvSpPr>
          <p:cNvPr id="23" name="TextBox 22"/>
          <p:cNvSpPr txBox="1"/>
          <p:nvPr/>
        </p:nvSpPr>
        <p:spPr>
          <a:xfrm>
            <a:off x="7543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Integration
5 days</a:t>
            </a:r>
          </a:p>
        </p:txBody>
      </p:sp>
      <p:sp>
        <p:nvSpPr>
          <p:cNvPr id="24" name="TextBox 23"/>
          <p:cNvSpPr txBox="1"/>
          <p:nvPr/>
        </p:nvSpPr>
        <p:spPr>
          <a:xfrm>
            <a:off x="9418320" y="2262276"/>
            <a:ext cx="365760" cy="548640"/>
          </a:xfrm>
          <a:prstGeom prst="rect">
            <a:avLst/>
          </a:prstGeom>
          <a:noFill/>
        </p:spPr>
        <p:txBody>
          <a:bodyPr wrap="square" lIns="54864" tIns="18288" rIns="54864" bIns="18288" anchor="t">
            <a:spAutoFit/>
          </a:bodyPr>
          <a:lstStyle/>
          <a:p>
            <a:pPr algn="l">
              <a:lnSpc>
                <a:spcPct val="100000"/>
              </a:lnSpc>
            </a:pPr>
            <a:r>
              <a:rPr sz="2600" b="0" i="0">
                <a:solidFill>
                  <a:srgbClr val="8C5A2E"/>
                </a:solidFill>
                <a:latin typeface="Inter"/>
              </a:rPr>
              <a:t>→</a:t>
            </a:r>
          </a:p>
        </p:txBody>
      </p:sp>
      <p:sp>
        <p:nvSpPr>
          <p:cNvPr id="25" name="Rectangle 24"/>
          <p:cNvSpPr/>
          <p:nvPr/>
        </p:nvSpPr>
        <p:spPr>
          <a:xfrm>
            <a:off x="9784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H</a:t>
            </a:r>
          </a:p>
        </p:txBody>
      </p:sp>
      <p:sp>
        <p:nvSpPr>
          <p:cNvPr id="27" name="TextBox 26"/>
          <p:cNvSpPr txBox="1"/>
          <p:nvPr/>
        </p:nvSpPr>
        <p:spPr>
          <a:xfrm>
            <a:off x="9829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Testing
8 days</a:t>
            </a:r>
          </a:p>
        </p:txBody>
      </p:sp>
      <p:cxnSp>
        <p:nvCxnSpPr>
          <p:cNvPr id="28" name="Connector 27"/>
          <p:cNvCxnSpPr/>
          <p:nvPr/>
        </p:nvCxnSpPr>
        <p:spPr>
          <a:xfrm>
            <a:off x="640080" y="3359556"/>
            <a:ext cx="11247120"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40080" y="3450996"/>
            <a:ext cx="11247120" cy="530352"/>
          </a:xfrm>
          <a:prstGeom prst="rect">
            <a:avLst/>
          </a:prstGeom>
          <a:noFill/>
        </p:spPr>
        <p:txBody>
          <a:bodyPr wrap="square" lIns="54864" tIns="18288" rIns="54864" bIns="18288" anchor="t">
            <a:spAutoFit/>
          </a:bodyPr>
          <a:lstStyle/>
          <a:p>
            <a:pPr algn="ctr">
              <a:lnSpc>
                <a:spcPct val="100000"/>
              </a:lnSpc>
            </a:pPr>
            <a:r>
              <a:rPr sz="2000" b="1" i="0" dirty="0">
                <a:solidFill>
                  <a:srgbClr val="8C5A2E"/>
                </a:solidFill>
                <a:latin typeface="Playfair Display"/>
              </a:rPr>
              <a:t>A → B → E → G → H  =  5 + 10 + 15 + 5 + 8  =  43 working days</a:t>
            </a:r>
          </a:p>
        </p:txBody>
      </p:sp>
      <p:sp>
        <p:nvSpPr>
          <p:cNvPr id="30" name="TextBox 29"/>
          <p:cNvSpPr txBox="1"/>
          <p:nvPr/>
        </p:nvSpPr>
        <p:spPr>
          <a:xfrm>
            <a:off x="640080" y="4054500"/>
            <a:ext cx="11247120" cy="221599"/>
          </a:xfrm>
          <a:prstGeom prst="rect">
            <a:avLst/>
          </a:prstGeom>
          <a:noFill/>
        </p:spPr>
        <p:txBody>
          <a:bodyPr wrap="square" lIns="54864" tIns="18288" rIns="54864" bIns="18288" anchor="t">
            <a:spAutoFit/>
          </a:bodyPr>
          <a:lstStyle/>
          <a:p>
            <a:pPr algn="ctr">
              <a:lnSpc>
                <a:spcPct val="100000"/>
              </a:lnSpc>
            </a:pPr>
            <a:r>
              <a:rPr sz="1200" b="0" i="1" dirty="0">
                <a:solidFill>
                  <a:srgbClr val="5C4F3F"/>
                </a:solidFill>
                <a:latin typeface="Iosevka NFM" panose="02000509030000000004" pitchFamily="49" charset="0"/>
                <a:ea typeface="Iosevka NFM" panose="02000509030000000004" pitchFamily="49" charset="0"/>
                <a:cs typeface="Iosevka NFM" panose="02000509030000000004" pitchFamily="49" charset="0"/>
              </a:rPr>
              <a:t>≈ 9 calendar weeks  ·  Activity F (Backend Dev) has 8 days of float</a:t>
            </a:r>
          </a:p>
        </p:txBody>
      </p:sp>
      <p:graphicFrame>
        <p:nvGraphicFramePr>
          <p:cNvPr id="31" name="Table 30"/>
          <p:cNvGraphicFramePr>
            <a:graphicFrameLocks noGrp="1"/>
          </p:cNvGraphicFramePr>
          <p:nvPr>
            <p:extLst>
              <p:ext uri="{D42A27DB-BD31-4B8C-83A1-F6EECF244321}">
                <p14:modId xmlns:p14="http://schemas.microsoft.com/office/powerpoint/2010/main" val="1479275869"/>
              </p:ext>
            </p:extLst>
          </p:nvPr>
        </p:nvGraphicFramePr>
        <p:xfrm>
          <a:off x="640080" y="4571999"/>
          <a:ext cx="11064240" cy="1655056"/>
        </p:xfrm>
        <a:graphic>
          <a:graphicData uri="http://schemas.openxmlformats.org/drawingml/2006/table">
            <a:tbl>
              <a:tblPr firstRow="1" bandRow="1">
                <a:tableStyleId>{5C22544A-7EE6-4342-B048-85BDC9FD1C3A}</a:tableStyleId>
              </a:tblPr>
              <a:tblGrid>
                <a:gridCol w="2603351">
                  <a:extLst>
                    <a:ext uri="{9D8B030D-6E8A-4147-A177-3AD203B41FA5}">
                      <a16:colId xmlns:a16="http://schemas.microsoft.com/office/drawing/2014/main" val="20000"/>
                    </a:ext>
                  </a:extLst>
                </a:gridCol>
                <a:gridCol w="1301675">
                  <a:extLst>
                    <a:ext uri="{9D8B030D-6E8A-4147-A177-3AD203B41FA5}">
                      <a16:colId xmlns:a16="http://schemas.microsoft.com/office/drawing/2014/main" val="20001"/>
                    </a:ext>
                  </a:extLst>
                </a:gridCol>
                <a:gridCol w="7159214">
                  <a:extLst>
                    <a:ext uri="{9D8B030D-6E8A-4147-A177-3AD203B41FA5}">
                      <a16:colId xmlns:a16="http://schemas.microsoft.com/office/drawing/2014/main" val="20002"/>
                    </a:ext>
                  </a:extLst>
                </a:gridCol>
              </a:tblGrid>
              <a:tr h="413764">
                <a:tc>
                  <a:txBody>
                    <a:bodyPr/>
                    <a:lstStyle/>
                    <a:p>
                      <a:r>
                        <a:rPr sz="1300" b="1" dirty="0">
                          <a:solidFill>
                            <a:srgbClr val="FFFFFF"/>
                          </a:solidFill>
                          <a:latin typeface="Inter"/>
                        </a:rPr>
                        <a:t>Activity</a:t>
                      </a:r>
                    </a:p>
                  </a:txBody>
                  <a:tcPr marL="73152" marR="73152" marT="36576" marB="36576">
                    <a:solidFill>
                      <a:srgbClr val="8C5A2E"/>
                    </a:solidFill>
                  </a:tcPr>
                </a:tc>
                <a:tc>
                  <a:txBody>
                    <a:bodyPr/>
                    <a:lstStyle/>
                    <a:p>
                      <a:r>
                        <a:rPr sz="1300" b="1">
                          <a:solidFill>
                            <a:srgbClr val="FFFFFF"/>
                          </a:solidFill>
                          <a:latin typeface="Inter"/>
                        </a:rPr>
                        <a:t>Slack</a:t>
                      </a:r>
                    </a:p>
                  </a:txBody>
                  <a:tcPr marL="73152" marR="73152" marT="36576" marB="36576">
                    <a:solidFill>
                      <a:srgbClr val="8C5A2E"/>
                    </a:solidFill>
                  </a:tcPr>
                </a:tc>
                <a:tc>
                  <a:txBody>
                    <a:bodyPr/>
                    <a:lstStyle/>
                    <a:p>
                      <a:r>
                        <a:rPr sz="1300" b="1">
                          <a:solidFill>
                            <a:srgbClr val="FFFFFF"/>
                          </a:solidFill>
                          <a:latin typeface="Inter"/>
                        </a:rPr>
                        <a:t>Interpretation</a:t>
                      </a:r>
                    </a:p>
                  </a:txBody>
                  <a:tcPr marL="73152" marR="73152" marT="36576" marB="36576">
                    <a:solidFill>
                      <a:srgbClr val="8C5A2E"/>
                    </a:solidFill>
                  </a:tcPr>
                </a:tc>
                <a:extLst>
                  <a:ext uri="{0D108BD9-81ED-4DB2-BD59-A6C34878D82A}">
                    <a16:rowId xmlns:a16="http://schemas.microsoft.com/office/drawing/2014/main" val="10000"/>
                  </a:ext>
                </a:extLst>
              </a:tr>
              <a:tr h="413764">
                <a:tc>
                  <a:txBody>
                    <a:bodyPr/>
                    <a:lstStyle/>
                    <a:p>
                      <a:r>
                        <a:rPr sz="1300" b="0">
                          <a:solidFill>
                            <a:srgbClr val="2B2419"/>
                          </a:solidFill>
                          <a:latin typeface="Inter"/>
                        </a:rPr>
                        <a:t>F — Backend Dev</a:t>
                      </a:r>
                    </a:p>
                  </a:txBody>
                  <a:tcPr marL="73152" marR="73152" marT="36576" marB="36576">
                    <a:solidFill>
                      <a:srgbClr val="F5EFE6"/>
                    </a:solidFill>
                  </a:tcPr>
                </a:tc>
                <a:tc>
                  <a:txBody>
                    <a:bodyPr/>
                    <a:lstStyle/>
                    <a:p>
                      <a:r>
                        <a:rPr sz="1300" b="0">
                          <a:solidFill>
                            <a:srgbClr val="2B2419"/>
                          </a:solidFill>
                          <a:latin typeface="Inter"/>
                        </a:rPr>
                        <a:t>8 days</a:t>
                      </a:r>
                    </a:p>
                  </a:txBody>
                  <a:tcPr marL="73152" marR="73152" marT="36576" marB="36576">
                    <a:solidFill>
                      <a:srgbClr val="F5EFE6"/>
                    </a:solidFill>
                  </a:tcPr>
                </a:tc>
                <a:tc>
                  <a:txBody>
                    <a:bodyPr/>
                    <a:lstStyle/>
                    <a:p>
                      <a:r>
                        <a:rPr sz="1300" b="0" dirty="0">
                          <a:solidFill>
                            <a:srgbClr val="2B2419"/>
                          </a:solidFill>
                          <a:latin typeface="Inter"/>
                        </a:rPr>
                        <a:t>Can slip up to 8 days without delaying project</a:t>
                      </a:r>
                    </a:p>
                  </a:txBody>
                  <a:tcPr marL="73152" marR="73152" marT="36576" marB="36576">
                    <a:solidFill>
                      <a:srgbClr val="F5EFE6"/>
                    </a:solidFill>
                  </a:tcPr>
                </a:tc>
                <a:extLst>
                  <a:ext uri="{0D108BD9-81ED-4DB2-BD59-A6C34878D82A}">
                    <a16:rowId xmlns:a16="http://schemas.microsoft.com/office/drawing/2014/main" val="10001"/>
                  </a:ext>
                </a:extLst>
              </a:tr>
              <a:tr h="413764">
                <a:tc>
                  <a:txBody>
                    <a:bodyPr/>
                    <a:lstStyle/>
                    <a:p>
                      <a:r>
                        <a:rPr sz="1300" b="0">
                          <a:solidFill>
                            <a:srgbClr val="2B2419"/>
                          </a:solidFill>
                          <a:latin typeface="Inter"/>
                        </a:rPr>
                        <a:t>D — API Design</a:t>
                      </a:r>
                    </a:p>
                  </a:txBody>
                  <a:tcPr marL="73152" marR="73152" marT="36576" marB="36576">
                    <a:solidFill>
                      <a:srgbClr val="F5EFE6"/>
                    </a:solidFill>
                  </a:tcPr>
                </a:tc>
                <a:tc>
                  <a:txBody>
                    <a:bodyPr/>
                    <a:lstStyle/>
                    <a:p>
                      <a:r>
                        <a:rPr sz="1300" b="0">
                          <a:solidFill>
                            <a:srgbClr val="2B2419"/>
                          </a:solidFill>
                          <a:latin typeface="Inter"/>
                        </a:rPr>
                        <a:t>8 days</a:t>
                      </a:r>
                    </a:p>
                  </a:txBody>
                  <a:tcPr marL="73152" marR="73152" marT="36576" marB="36576">
                    <a:solidFill>
                      <a:srgbClr val="F5EFE6"/>
                    </a:solidFill>
                  </a:tcPr>
                </a:tc>
                <a:tc>
                  <a:txBody>
                    <a:bodyPr/>
                    <a:lstStyle/>
                    <a:p>
                      <a:r>
                        <a:rPr sz="1300" b="0">
                          <a:solidFill>
                            <a:srgbClr val="2B2419"/>
                          </a:solidFill>
                          <a:latin typeface="Inter"/>
                        </a:rPr>
                        <a:t>Can slip up to 8 days</a:t>
                      </a:r>
                    </a:p>
                  </a:txBody>
                  <a:tcPr marL="73152" marR="73152" marT="36576" marB="36576">
                    <a:solidFill>
                      <a:srgbClr val="F5EFE6"/>
                    </a:solidFill>
                  </a:tcPr>
                </a:tc>
                <a:extLst>
                  <a:ext uri="{0D108BD9-81ED-4DB2-BD59-A6C34878D82A}">
                    <a16:rowId xmlns:a16="http://schemas.microsoft.com/office/drawing/2014/main" val="10002"/>
                  </a:ext>
                </a:extLst>
              </a:tr>
              <a:tr h="413764">
                <a:tc>
                  <a:txBody>
                    <a:bodyPr/>
                    <a:lstStyle/>
                    <a:p>
                      <a:r>
                        <a:rPr sz="1300" b="0">
                          <a:solidFill>
                            <a:srgbClr val="2B2419"/>
                          </a:solidFill>
                          <a:latin typeface="Inter"/>
                        </a:rPr>
                        <a:t>C — DB Schema</a:t>
                      </a:r>
                    </a:p>
                  </a:txBody>
                  <a:tcPr marL="73152" marR="73152" marT="36576" marB="36576">
                    <a:solidFill>
                      <a:srgbClr val="F5EFE6"/>
                    </a:solidFill>
                  </a:tcPr>
                </a:tc>
                <a:tc>
                  <a:txBody>
                    <a:bodyPr/>
                    <a:lstStyle/>
                    <a:p>
                      <a:r>
                        <a:rPr sz="1300" b="0">
                          <a:solidFill>
                            <a:srgbClr val="2B2419"/>
                          </a:solidFill>
                          <a:latin typeface="Inter"/>
                        </a:rPr>
                        <a:t>9 days</a:t>
                      </a:r>
                    </a:p>
                  </a:txBody>
                  <a:tcPr marL="73152" marR="73152" marT="36576" marB="36576">
                    <a:solidFill>
                      <a:srgbClr val="F5EFE6"/>
                    </a:solidFill>
                  </a:tcPr>
                </a:tc>
                <a:tc>
                  <a:txBody>
                    <a:bodyPr/>
                    <a:lstStyle/>
                    <a:p>
                      <a:r>
                        <a:rPr sz="1300" b="0" dirty="0">
                          <a:solidFill>
                            <a:srgbClr val="2B2419"/>
                          </a:solidFill>
                          <a:latin typeface="Inter"/>
                        </a:rPr>
                        <a:t>Can slip up to 9 days</a:t>
                      </a:r>
                    </a:p>
                  </a:txBody>
                  <a:tcPr marL="73152" marR="73152" marT="36576" marB="36576">
                    <a:solidFill>
                      <a:srgbClr val="F5EFE6"/>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13 / 31</a:t>
            </a:r>
          </a:p>
        </p:txBody>
      </p:sp>
      <p:sp>
        <p:nvSpPr>
          <p:cNvPr id="11" name="TextBox 10">
            <a:extLst>
              <a:ext uri="{FF2B5EF4-FFF2-40B4-BE49-F238E27FC236}">
                <a16:creationId xmlns:a16="http://schemas.microsoft.com/office/drawing/2014/main" id="{E31DA571-AD88-DB7B-8342-59A6BC8130A9}"/>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30C6E533-43DB-DC8D-257F-52681DD03A21}"/>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sz="9600" b="0" i="1" dirty="0">
                <a:solidFill>
                  <a:srgbClr val="C49A6C"/>
                </a:solidFill>
                <a:latin typeface="Playfair Display"/>
              </a:rPr>
              <a:t>I</a:t>
            </a:r>
            <a:r>
              <a:rPr lang="en-US" sz="9600" i="1" dirty="0">
                <a:solidFill>
                  <a:srgbClr val="C49A6C"/>
                </a:solidFill>
                <a:latin typeface="Playfair Display"/>
              </a:rPr>
              <a:t>V</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43E3FB33-1BF3-6558-8845-2D3753EBBA7A}"/>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Resource Management</a:t>
            </a:r>
          </a:p>
        </p:txBody>
      </p:sp>
      <p:sp>
        <p:nvSpPr>
          <p:cNvPr id="17" name="TextBox 16">
            <a:extLst>
              <a:ext uri="{FF2B5EF4-FFF2-40B4-BE49-F238E27FC236}">
                <a16:creationId xmlns:a16="http://schemas.microsoft.com/office/drawing/2014/main" id="{095E1776-6BD6-5371-7D6B-DD5090B4450B}"/>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2, 8, 9 · Ch. 5, 11, 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RESOURCE MANAGEMENT</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dirty="0">
                <a:solidFill>
                  <a:srgbClr val="2B2418"/>
                </a:solidFill>
                <a:latin typeface="Playfair Display"/>
              </a:rPr>
              <a:t>RACI</a:t>
            </a:r>
            <a:r>
              <a:rPr sz="2800" b="1" i="0" dirty="0">
                <a:solidFill>
                  <a:srgbClr val="2B2419"/>
                </a:solidFill>
                <a:latin typeface="Playfair Display"/>
              </a:rPr>
              <a:t> Matrix — Responsibility Assignment</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14 / 31</a:t>
            </a:r>
          </a:p>
        </p:txBody>
      </p:sp>
      <p:graphicFrame>
        <p:nvGraphicFramePr>
          <p:cNvPr id="8" name="Table 7"/>
          <p:cNvGraphicFramePr>
            <a:graphicFrameLocks noGrp="1"/>
          </p:cNvGraphicFramePr>
          <p:nvPr>
            <p:extLst>
              <p:ext uri="{D42A27DB-BD31-4B8C-83A1-F6EECF244321}">
                <p14:modId xmlns:p14="http://schemas.microsoft.com/office/powerpoint/2010/main" val="1550234697"/>
              </p:ext>
            </p:extLst>
          </p:nvPr>
        </p:nvGraphicFramePr>
        <p:xfrm>
          <a:off x="640079" y="1417319"/>
          <a:ext cx="10911536" cy="4535410"/>
        </p:xfrm>
        <a:graphic>
          <a:graphicData uri="http://schemas.openxmlformats.org/drawingml/2006/table">
            <a:tbl>
              <a:tblPr firstRow="1" bandRow="1">
                <a:tableStyleId>{5C22544A-7EE6-4342-B048-85BDC9FD1C3A}</a:tableStyleId>
              </a:tblPr>
              <a:tblGrid>
                <a:gridCol w="2546025">
                  <a:extLst>
                    <a:ext uri="{9D8B030D-6E8A-4147-A177-3AD203B41FA5}">
                      <a16:colId xmlns:a16="http://schemas.microsoft.com/office/drawing/2014/main" val="20000"/>
                    </a:ext>
                  </a:extLst>
                </a:gridCol>
                <a:gridCol w="666816">
                  <a:extLst>
                    <a:ext uri="{9D8B030D-6E8A-4147-A177-3AD203B41FA5}">
                      <a16:colId xmlns:a16="http://schemas.microsoft.com/office/drawing/2014/main" val="20001"/>
                    </a:ext>
                  </a:extLst>
                </a:gridCol>
                <a:gridCol w="1879209">
                  <a:extLst>
                    <a:ext uri="{9D8B030D-6E8A-4147-A177-3AD203B41FA5}">
                      <a16:colId xmlns:a16="http://schemas.microsoft.com/office/drawing/2014/main" val="20002"/>
                    </a:ext>
                  </a:extLst>
                </a:gridCol>
                <a:gridCol w="1879209">
                  <a:extLst>
                    <a:ext uri="{9D8B030D-6E8A-4147-A177-3AD203B41FA5}">
                      <a16:colId xmlns:a16="http://schemas.microsoft.com/office/drawing/2014/main" val="20003"/>
                    </a:ext>
                  </a:extLst>
                </a:gridCol>
                <a:gridCol w="2061068">
                  <a:extLst>
                    <a:ext uri="{9D8B030D-6E8A-4147-A177-3AD203B41FA5}">
                      <a16:colId xmlns:a16="http://schemas.microsoft.com/office/drawing/2014/main" val="20004"/>
                    </a:ext>
                  </a:extLst>
                </a:gridCol>
                <a:gridCol w="1879209">
                  <a:extLst>
                    <a:ext uri="{9D8B030D-6E8A-4147-A177-3AD203B41FA5}">
                      <a16:colId xmlns:a16="http://schemas.microsoft.com/office/drawing/2014/main" val="20005"/>
                    </a:ext>
                  </a:extLst>
                </a:gridCol>
              </a:tblGrid>
              <a:tr h="412310">
                <a:tc>
                  <a:txBody>
                    <a:bodyPr/>
                    <a:lstStyle/>
                    <a:p>
                      <a:r>
                        <a:rPr sz="1300" b="1" dirty="0">
                          <a:solidFill>
                            <a:srgbClr val="FFFFFF"/>
                          </a:solidFill>
                          <a:latin typeface="Inter"/>
                        </a:rPr>
                        <a:t>Work Package</a:t>
                      </a:r>
                    </a:p>
                  </a:txBody>
                  <a:tcPr marL="73152" marR="73152" marT="36576" marB="36576">
                    <a:solidFill>
                      <a:srgbClr val="8C5A2E"/>
                    </a:solidFill>
                  </a:tcPr>
                </a:tc>
                <a:tc>
                  <a:txBody>
                    <a:bodyPr/>
                    <a:lstStyle/>
                    <a:p>
                      <a:r>
                        <a:rPr sz="1300" b="1">
                          <a:solidFill>
                            <a:srgbClr val="FFFFFF"/>
                          </a:solidFill>
                          <a:latin typeface="Inter"/>
                        </a:rPr>
                        <a:t>WBS</a:t>
                      </a:r>
                    </a:p>
                  </a:txBody>
                  <a:tcPr marL="73152" marR="73152" marT="36576" marB="36576">
                    <a:solidFill>
                      <a:srgbClr val="8C5A2E"/>
                    </a:solidFill>
                  </a:tcPr>
                </a:tc>
                <a:tc>
                  <a:txBody>
                    <a:bodyPr/>
                    <a:lstStyle/>
                    <a:p>
                      <a:r>
                        <a:rPr sz="1300" b="1">
                          <a:solidFill>
                            <a:srgbClr val="FFFFFF"/>
                          </a:solidFill>
                          <a:latin typeface="Inter"/>
                        </a:rPr>
                        <a:t>Đức (PM)</a:t>
                      </a:r>
                    </a:p>
                  </a:txBody>
                  <a:tcPr marL="73152" marR="73152" marT="36576" marB="36576">
                    <a:solidFill>
                      <a:srgbClr val="8C5A2E"/>
                    </a:solidFill>
                  </a:tcPr>
                </a:tc>
                <a:tc>
                  <a:txBody>
                    <a:bodyPr/>
                    <a:lstStyle/>
                    <a:p>
                      <a:r>
                        <a:rPr sz="1300" b="1">
                          <a:solidFill>
                            <a:srgbClr val="FFFFFF"/>
                          </a:solidFill>
                          <a:latin typeface="Inter"/>
                        </a:rPr>
                        <a:t>Bảo (Dev)</a:t>
                      </a:r>
                    </a:p>
                  </a:txBody>
                  <a:tcPr marL="73152" marR="73152" marT="36576" marB="36576">
                    <a:solidFill>
                      <a:srgbClr val="8C5A2E"/>
                    </a:solidFill>
                  </a:tcPr>
                </a:tc>
                <a:tc>
                  <a:txBody>
                    <a:bodyPr/>
                    <a:lstStyle/>
                    <a:p>
                      <a:r>
                        <a:rPr sz="1300" b="1">
                          <a:solidFill>
                            <a:srgbClr val="FFFFFF"/>
                          </a:solidFill>
                          <a:latin typeface="Inter"/>
                        </a:rPr>
                        <a:t>Thịnh (UI/UX)</a:t>
                      </a:r>
                    </a:p>
                  </a:txBody>
                  <a:tcPr marL="73152" marR="73152" marT="36576" marB="36576">
                    <a:solidFill>
                      <a:srgbClr val="8C5A2E"/>
                    </a:solidFill>
                  </a:tcPr>
                </a:tc>
                <a:tc>
                  <a:txBody>
                    <a:bodyPr/>
                    <a:lstStyle/>
                    <a:p>
                      <a:r>
                        <a:rPr sz="1300" b="1">
                          <a:solidFill>
                            <a:srgbClr val="FFFFFF"/>
                          </a:solidFill>
                          <a:latin typeface="Inter"/>
                        </a:rPr>
                        <a:t>Hiếu (QA)</a:t>
                      </a:r>
                    </a:p>
                  </a:txBody>
                  <a:tcPr marL="73152" marR="73152" marT="36576" marB="36576">
                    <a:solidFill>
                      <a:srgbClr val="8C5A2E"/>
                    </a:solidFill>
                  </a:tcPr>
                </a:tc>
                <a:extLst>
                  <a:ext uri="{0D108BD9-81ED-4DB2-BD59-A6C34878D82A}">
                    <a16:rowId xmlns:a16="http://schemas.microsoft.com/office/drawing/2014/main" val="10000"/>
                  </a:ext>
                </a:extLst>
              </a:tr>
              <a:tr h="412310">
                <a:tc>
                  <a:txBody>
                    <a:bodyPr/>
                    <a:lstStyle/>
                    <a:p>
                      <a:r>
                        <a:rPr sz="1300" b="0">
                          <a:solidFill>
                            <a:srgbClr val="2B2419"/>
                          </a:solidFill>
                          <a:latin typeface="Inter"/>
                        </a:rPr>
                        <a:t>Project Planning</a:t>
                      </a:r>
                    </a:p>
                  </a:txBody>
                  <a:tcPr marL="73152" marR="73152" marT="36576" marB="36576">
                    <a:solidFill>
                      <a:srgbClr val="F5EFE6"/>
                    </a:solidFill>
                  </a:tcPr>
                </a:tc>
                <a:tc>
                  <a:txBody>
                    <a:bodyPr/>
                    <a:lstStyle/>
                    <a:p>
                      <a:r>
                        <a:rPr sz="1300" b="0">
                          <a:solidFill>
                            <a:srgbClr val="2B2419"/>
                          </a:solidFill>
                          <a:latin typeface="Inter"/>
                        </a:rPr>
                        <a:t>1.1.1</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extLst>
                  <a:ext uri="{0D108BD9-81ED-4DB2-BD59-A6C34878D82A}">
                    <a16:rowId xmlns:a16="http://schemas.microsoft.com/office/drawing/2014/main" val="10001"/>
                  </a:ext>
                </a:extLst>
              </a:tr>
              <a:tr h="412310">
                <a:tc>
                  <a:txBody>
                    <a:bodyPr/>
                    <a:lstStyle/>
                    <a:p>
                      <a:r>
                        <a:rPr sz="1300" b="0">
                          <a:solidFill>
                            <a:srgbClr val="2B2419"/>
                          </a:solidFill>
                          <a:latin typeface="Inter"/>
                        </a:rPr>
                        <a:t>Requirements</a:t>
                      </a:r>
                    </a:p>
                  </a:txBody>
                  <a:tcPr marL="73152" marR="73152" marT="36576" marB="36576">
                    <a:solidFill>
                      <a:srgbClr val="F5EFE6"/>
                    </a:solidFill>
                  </a:tcPr>
                </a:tc>
                <a:tc>
                  <a:txBody>
                    <a:bodyPr/>
                    <a:lstStyle/>
                    <a:p>
                      <a:r>
                        <a:rPr sz="1300" b="0">
                          <a:solidFill>
                            <a:srgbClr val="2B2419"/>
                          </a:solidFill>
                          <a:latin typeface="Inter"/>
                        </a:rPr>
                        <a:t>1.2</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extLst>
                  <a:ext uri="{0D108BD9-81ED-4DB2-BD59-A6C34878D82A}">
                    <a16:rowId xmlns:a16="http://schemas.microsoft.com/office/drawing/2014/main" val="10002"/>
                  </a:ext>
                </a:extLst>
              </a:tr>
              <a:tr h="412310">
                <a:tc>
                  <a:txBody>
                    <a:bodyPr/>
                    <a:lstStyle/>
                    <a:p>
                      <a:r>
                        <a:rPr sz="1300" b="0">
                          <a:solidFill>
                            <a:srgbClr val="2B2419"/>
                          </a:solidFill>
                          <a:latin typeface="Inter"/>
                        </a:rPr>
                        <a:t>UI/UX Design</a:t>
                      </a:r>
                    </a:p>
                  </a:txBody>
                  <a:tcPr marL="73152" marR="73152" marT="36576" marB="36576">
                    <a:solidFill>
                      <a:srgbClr val="F5EFE6"/>
                    </a:solidFill>
                  </a:tcPr>
                </a:tc>
                <a:tc>
                  <a:txBody>
                    <a:bodyPr/>
                    <a:lstStyle/>
                    <a:p>
                      <a:r>
                        <a:rPr sz="1300" b="0">
                          <a:solidFill>
                            <a:srgbClr val="2B2419"/>
                          </a:solidFill>
                          <a:latin typeface="Inter"/>
                        </a:rPr>
                        <a:t>1.3.1</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extLst>
                  <a:ext uri="{0D108BD9-81ED-4DB2-BD59-A6C34878D82A}">
                    <a16:rowId xmlns:a16="http://schemas.microsoft.com/office/drawing/2014/main" val="10003"/>
                  </a:ext>
                </a:extLst>
              </a:tr>
              <a:tr h="412310">
                <a:tc>
                  <a:txBody>
                    <a:bodyPr/>
                    <a:lstStyle/>
                    <a:p>
                      <a:r>
                        <a:rPr sz="1300" b="0">
                          <a:solidFill>
                            <a:srgbClr val="2B2419"/>
                          </a:solidFill>
                          <a:latin typeface="Inter"/>
                        </a:rPr>
                        <a:t>DB Schema</a:t>
                      </a:r>
                    </a:p>
                  </a:txBody>
                  <a:tcPr marL="73152" marR="73152" marT="36576" marB="36576">
                    <a:solidFill>
                      <a:srgbClr val="F5EFE6"/>
                    </a:solidFill>
                  </a:tcPr>
                </a:tc>
                <a:tc>
                  <a:txBody>
                    <a:bodyPr/>
                    <a:lstStyle/>
                    <a:p>
                      <a:r>
                        <a:rPr sz="1300" b="0">
                          <a:solidFill>
                            <a:srgbClr val="2B2419"/>
                          </a:solidFill>
                          <a:latin typeface="Inter"/>
                        </a:rPr>
                        <a:t>1.3.2</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extLst>
                  <a:ext uri="{0D108BD9-81ED-4DB2-BD59-A6C34878D82A}">
                    <a16:rowId xmlns:a16="http://schemas.microsoft.com/office/drawing/2014/main" val="10004"/>
                  </a:ext>
                </a:extLst>
              </a:tr>
              <a:tr h="412310">
                <a:tc>
                  <a:txBody>
                    <a:bodyPr/>
                    <a:lstStyle/>
                    <a:p>
                      <a:r>
                        <a:rPr sz="1300" b="0">
                          <a:solidFill>
                            <a:srgbClr val="2B2419"/>
                          </a:solidFill>
                          <a:latin typeface="Inter"/>
                        </a:rPr>
                        <a:t>API Design</a:t>
                      </a:r>
                    </a:p>
                  </a:txBody>
                  <a:tcPr marL="73152" marR="73152" marT="36576" marB="36576">
                    <a:solidFill>
                      <a:srgbClr val="F5EFE6"/>
                    </a:solidFill>
                  </a:tcPr>
                </a:tc>
                <a:tc>
                  <a:txBody>
                    <a:bodyPr/>
                    <a:lstStyle/>
                    <a:p>
                      <a:r>
                        <a:rPr sz="1300" b="0">
                          <a:solidFill>
                            <a:srgbClr val="2B2419"/>
                          </a:solidFill>
                          <a:latin typeface="Inter"/>
                        </a:rPr>
                        <a:t>1.3.3</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extLst>
                  <a:ext uri="{0D108BD9-81ED-4DB2-BD59-A6C34878D82A}">
                    <a16:rowId xmlns:a16="http://schemas.microsoft.com/office/drawing/2014/main" val="10005"/>
                  </a:ext>
                </a:extLst>
              </a:tr>
              <a:tr h="412310">
                <a:tc>
                  <a:txBody>
                    <a:bodyPr/>
                    <a:lstStyle/>
                    <a:p>
                      <a:r>
                        <a:rPr sz="1300" b="0">
                          <a:solidFill>
                            <a:srgbClr val="2B2419"/>
                          </a:solidFill>
                          <a:latin typeface="Inter"/>
                        </a:rPr>
                        <a:t>Frontend Dev</a:t>
                      </a:r>
                    </a:p>
                  </a:txBody>
                  <a:tcPr marL="73152" marR="73152" marT="36576" marB="36576">
                    <a:solidFill>
                      <a:srgbClr val="F5EFE6"/>
                    </a:solidFill>
                  </a:tcPr>
                </a:tc>
                <a:tc>
                  <a:txBody>
                    <a:bodyPr/>
                    <a:lstStyle/>
                    <a:p>
                      <a:r>
                        <a:rPr sz="1300" b="0">
                          <a:solidFill>
                            <a:srgbClr val="2B2419"/>
                          </a:solidFill>
                          <a:latin typeface="Inter"/>
                        </a:rPr>
                        <a:t>1.4.1</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extLst>
                  <a:ext uri="{0D108BD9-81ED-4DB2-BD59-A6C34878D82A}">
                    <a16:rowId xmlns:a16="http://schemas.microsoft.com/office/drawing/2014/main" val="10006"/>
                  </a:ext>
                </a:extLst>
              </a:tr>
              <a:tr h="412310">
                <a:tc>
                  <a:txBody>
                    <a:bodyPr/>
                    <a:lstStyle/>
                    <a:p>
                      <a:r>
                        <a:rPr sz="1300" b="0">
                          <a:solidFill>
                            <a:srgbClr val="2B2419"/>
                          </a:solidFill>
                          <a:latin typeface="Inter"/>
                        </a:rPr>
                        <a:t>Backend Dev</a:t>
                      </a:r>
                    </a:p>
                  </a:txBody>
                  <a:tcPr marL="73152" marR="73152" marT="36576" marB="36576">
                    <a:solidFill>
                      <a:srgbClr val="F5EFE6"/>
                    </a:solidFill>
                  </a:tcPr>
                </a:tc>
                <a:tc>
                  <a:txBody>
                    <a:bodyPr/>
                    <a:lstStyle/>
                    <a:p>
                      <a:r>
                        <a:rPr sz="1300" b="0">
                          <a:solidFill>
                            <a:srgbClr val="2B2419"/>
                          </a:solidFill>
                          <a:latin typeface="Inter"/>
                        </a:rPr>
                        <a:t>1.4.2</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extLst>
                  <a:ext uri="{0D108BD9-81ED-4DB2-BD59-A6C34878D82A}">
                    <a16:rowId xmlns:a16="http://schemas.microsoft.com/office/drawing/2014/main" val="10007"/>
                  </a:ext>
                </a:extLst>
              </a:tr>
              <a:tr h="412310">
                <a:tc>
                  <a:txBody>
                    <a:bodyPr/>
                    <a:lstStyle/>
                    <a:p>
                      <a:r>
                        <a:rPr sz="1300" b="0">
                          <a:solidFill>
                            <a:srgbClr val="2B2419"/>
                          </a:solidFill>
                          <a:latin typeface="Inter"/>
                        </a:rPr>
                        <a:t>Unit Testing</a:t>
                      </a:r>
                    </a:p>
                  </a:txBody>
                  <a:tcPr marL="73152" marR="73152" marT="36576" marB="36576">
                    <a:solidFill>
                      <a:srgbClr val="F5EFE6"/>
                    </a:solidFill>
                  </a:tcPr>
                </a:tc>
                <a:tc>
                  <a:txBody>
                    <a:bodyPr/>
                    <a:lstStyle/>
                    <a:p>
                      <a:r>
                        <a:rPr sz="1300" b="0">
                          <a:solidFill>
                            <a:srgbClr val="2B2419"/>
                          </a:solidFill>
                          <a:latin typeface="Inter"/>
                        </a:rPr>
                        <a:t>1.5.1</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extLst>
                  <a:ext uri="{0D108BD9-81ED-4DB2-BD59-A6C34878D82A}">
                    <a16:rowId xmlns:a16="http://schemas.microsoft.com/office/drawing/2014/main" val="10008"/>
                  </a:ext>
                </a:extLst>
              </a:tr>
              <a:tr h="412310">
                <a:tc>
                  <a:txBody>
                    <a:bodyPr/>
                    <a:lstStyle/>
                    <a:p>
                      <a:r>
                        <a:rPr sz="1300" b="0">
                          <a:solidFill>
                            <a:srgbClr val="2B2419"/>
                          </a:solidFill>
                          <a:latin typeface="Inter"/>
                        </a:rPr>
                        <a:t>Documentation</a:t>
                      </a:r>
                    </a:p>
                  </a:txBody>
                  <a:tcPr marL="73152" marR="73152" marT="36576" marB="36576">
                    <a:solidFill>
                      <a:srgbClr val="F5EFE6"/>
                    </a:solidFill>
                  </a:tcPr>
                </a:tc>
                <a:tc>
                  <a:txBody>
                    <a:bodyPr/>
                    <a:lstStyle/>
                    <a:p>
                      <a:r>
                        <a:rPr sz="1300" b="0">
                          <a:solidFill>
                            <a:srgbClr val="2B2419"/>
                          </a:solidFill>
                          <a:latin typeface="Inter"/>
                        </a:rPr>
                        <a:t>1.6</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extLst>
                  <a:ext uri="{0D108BD9-81ED-4DB2-BD59-A6C34878D82A}">
                    <a16:rowId xmlns:a16="http://schemas.microsoft.com/office/drawing/2014/main" val="10009"/>
                  </a:ext>
                </a:extLst>
              </a:tr>
              <a:tr h="412310">
                <a:tc>
                  <a:txBody>
                    <a:bodyPr/>
                    <a:lstStyle/>
                    <a:p>
                      <a:r>
                        <a:rPr sz="1300" b="0">
                          <a:solidFill>
                            <a:srgbClr val="2B2419"/>
                          </a:solidFill>
                          <a:latin typeface="Inter"/>
                        </a:rPr>
                        <a:t>Presentation</a:t>
                      </a:r>
                    </a:p>
                  </a:txBody>
                  <a:tcPr marL="73152" marR="73152" marT="36576" marB="36576">
                    <a:solidFill>
                      <a:srgbClr val="F5EFE6"/>
                    </a:solidFill>
                  </a:tcPr>
                </a:tc>
                <a:tc>
                  <a:txBody>
                    <a:bodyPr/>
                    <a:lstStyle/>
                    <a:p>
                      <a:r>
                        <a:rPr sz="1300" b="0">
                          <a:solidFill>
                            <a:srgbClr val="2B2419"/>
                          </a:solidFill>
                          <a:latin typeface="Inter"/>
                        </a:rPr>
                        <a:t>1.7</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dirty="0">
                          <a:solidFill>
                            <a:srgbClr val="2B2419"/>
                          </a:solidFill>
                          <a:latin typeface="Inter"/>
                        </a:rPr>
                        <a:t>R</a:t>
                      </a:r>
                    </a:p>
                  </a:txBody>
                  <a:tcPr marL="73152" marR="73152" marT="36576" marB="36576">
                    <a:solidFill>
                      <a:srgbClr val="F5EFE6"/>
                    </a:solidFill>
                  </a:tcPr>
                </a:tc>
                <a:extLst>
                  <a:ext uri="{0D108BD9-81ED-4DB2-BD59-A6C34878D82A}">
                    <a16:rowId xmlns:a16="http://schemas.microsoft.com/office/drawing/2014/main" val="10010"/>
                  </a:ext>
                </a:extLst>
              </a:tr>
            </a:tbl>
          </a:graphicData>
        </a:graphic>
      </p:graphicFrame>
      <p:sp>
        <p:nvSpPr>
          <p:cNvPr id="9" name="TextBox 8"/>
          <p:cNvSpPr txBox="1"/>
          <p:nvPr/>
        </p:nvSpPr>
        <p:spPr>
          <a:xfrm>
            <a:off x="640080" y="6213349"/>
            <a:ext cx="10972800" cy="175433"/>
          </a:xfrm>
          <a:prstGeom prst="rect">
            <a:avLst/>
          </a:prstGeom>
          <a:noFill/>
        </p:spPr>
        <p:txBody>
          <a:bodyPr wrap="square" lIns="54864" tIns="18288" rIns="54864" bIns="18288" anchor="t">
            <a:spAutoFit/>
          </a:bodyPr>
          <a:lstStyle/>
          <a:p>
            <a:pPr algn="l">
              <a:lnSpc>
                <a:spcPct val="100000"/>
              </a:lnSpc>
            </a:pPr>
            <a:r>
              <a:rPr sz="9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R = Responsible  ·  A = Accountable  ·  C = Consulted  ·  I = Informed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RESOURCE MANAGEMENT</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dirty="0">
                <a:solidFill>
                  <a:srgbClr val="2B2418"/>
                </a:solidFill>
                <a:latin typeface="Playfair Display"/>
              </a:rPr>
              <a:t>Bottom-Up Budget Rollup</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15 / 31</a:t>
            </a:r>
          </a:p>
        </p:txBody>
      </p:sp>
      <p:graphicFrame>
        <p:nvGraphicFramePr>
          <p:cNvPr id="8" name="Table 7"/>
          <p:cNvGraphicFramePr>
            <a:graphicFrameLocks noGrp="1"/>
          </p:cNvGraphicFramePr>
          <p:nvPr>
            <p:extLst>
              <p:ext uri="{D42A27DB-BD31-4B8C-83A1-F6EECF244321}">
                <p14:modId xmlns:p14="http://schemas.microsoft.com/office/powerpoint/2010/main" val="2701082320"/>
              </p:ext>
            </p:extLst>
          </p:nvPr>
        </p:nvGraphicFramePr>
        <p:xfrm>
          <a:off x="640080" y="1095048"/>
          <a:ext cx="6811044" cy="5242386"/>
        </p:xfrm>
        <a:graphic>
          <a:graphicData uri="http://schemas.openxmlformats.org/drawingml/2006/table">
            <a:tbl>
              <a:tblPr firstRow="1" bandRow="1">
                <a:tableStyleId>{5C22544A-7EE6-4342-B048-85BDC9FD1C3A}</a:tableStyleId>
              </a:tblPr>
              <a:tblGrid>
                <a:gridCol w="589613">
                  <a:extLst>
                    <a:ext uri="{9D8B030D-6E8A-4147-A177-3AD203B41FA5}">
                      <a16:colId xmlns:a16="http://schemas.microsoft.com/office/drawing/2014/main" val="20000"/>
                    </a:ext>
                  </a:extLst>
                </a:gridCol>
                <a:gridCol w="3456351">
                  <a:extLst>
                    <a:ext uri="{9D8B030D-6E8A-4147-A177-3AD203B41FA5}">
                      <a16:colId xmlns:a16="http://schemas.microsoft.com/office/drawing/2014/main" val="20001"/>
                    </a:ext>
                  </a:extLst>
                </a:gridCol>
                <a:gridCol w="731933">
                  <a:extLst>
                    <a:ext uri="{9D8B030D-6E8A-4147-A177-3AD203B41FA5}">
                      <a16:colId xmlns:a16="http://schemas.microsoft.com/office/drawing/2014/main" val="20002"/>
                    </a:ext>
                  </a:extLst>
                </a:gridCol>
                <a:gridCol w="2033147">
                  <a:extLst>
                    <a:ext uri="{9D8B030D-6E8A-4147-A177-3AD203B41FA5}">
                      <a16:colId xmlns:a16="http://schemas.microsoft.com/office/drawing/2014/main" val="20003"/>
                    </a:ext>
                  </a:extLst>
                </a:gridCol>
              </a:tblGrid>
              <a:tr h="365171">
                <a:tc>
                  <a:txBody>
                    <a:bodyPr/>
                    <a:lstStyle/>
                    <a:p>
                      <a:r>
                        <a:rPr sz="1300" b="1">
                          <a:solidFill>
                            <a:srgbClr val="FFFFFF"/>
                          </a:solidFill>
                          <a:latin typeface="Inter"/>
                        </a:rPr>
                        <a:t>WBS</a:t>
                      </a:r>
                    </a:p>
                  </a:txBody>
                  <a:tcPr marL="73152" marR="73152" marT="36576" marB="36576">
                    <a:solidFill>
                      <a:srgbClr val="8C5A2E"/>
                    </a:solidFill>
                  </a:tcPr>
                </a:tc>
                <a:tc>
                  <a:txBody>
                    <a:bodyPr/>
                    <a:lstStyle/>
                    <a:p>
                      <a:r>
                        <a:rPr sz="1300" b="1">
                          <a:solidFill>
                            <a:srgbClr val="FFFFFF"/>
                          </a:solidFill>
                          <a:latin typeface="Inter"/>
                        </a:rPr>
                        <a:t>Work Package</a:t>
                      </a:r>
                    </a:p>
                  </a:txBody>
                  <a:tcPr marL="73152" marR="73152" marT="36576" marB="36576">
                    <a:solidFill>
                      <a:srgbClr val="8C5A2E"/>
                    </a:solidFill>
                  </a:tcPr>
                </a:tc>
                <a:tc>
                  <a:txBody>
                    <a:bodyPr/>
                    <a:lstStyle/>
                    <a:p>
                      <a:r>
                        <a:rPr sz="1300" b="1">
                          <a:solidFill>
                            <a:srgbClr val="FFFFFF"/>
                          </a:solidFill>
                          <a:latin typeface="Inter"/>
                        </a:rPr>
                        <a:t>Hours</a:t>
                      </a:r>
                    </a:p>
                  </a:txBody>
                  <a:tcPr marL="73152" marR="73152" marT="36576" marB="36576">
                    <a:solidFill>
                      <a:srgbClr val="8C5A2E"/>
                    </a:solidFill>
                  </a:tcPr>
                </a:tc>
                <a:tc>
                  <a:txBody>
                    <a:bodyPr/>
                    <a:lstStyle/>
                    <a:p>
                      <a:r>
                        <a:rPr sz="1300" b="1">
                          <a:solidFill>
                            <a:srgbClr val="FFFFFF"/>
                          </a:solidFill>
                          <a:latin typeface="Inter"/>
                        </a:rPr>
                        <a:t>Cost (VND)</a:t>
                      </a:r>
                    </a:p>
                  </a:txBody>
                  <a:tcPr marL="73152" marR="73152" marT="36576" marB="36576">
                    <a:solidFill>
                      <a:srgbClr val="8C5A2E"/>
                    </a:solidFill>
                  </a:tcPr>
                </a:tc>
                <a:extLst>
                  <a:ext uri="{0D108BD9-81ED-4DB2-BD59-A6C34878D82A}">
                    <a16:rowId xmlns:a16="http://schemas.microsoft.com/office/drawing/2014/main" val="10000"/>
                  </a:ext>
                </a:extLst>
              </a:tr>
              <a:tr h="365171">
                <a:tc>
                  <a:txBody>
                    <a:bodyPr/>
                    <a:lstStyle/>
                    <a:p>
                      <a:r>
                        <a:rPr sz="1300" b="0">
                          <a:solidFill>
                            <a:srgbClr val="2B2419"/>
                          </a:solidFill>
                          <a:latin typeface="Inter"/>
                        </a:rPr>
                        <a:t>1.1</a:t>
                      </a:r>
                    </a:p>
                  </a:txBody>
                  <a:tcPr marL="73152" marR="73152" marT="36576" marB="36576">
                    <a:solidFill>
                      <a:srgbClr val="F5EFE6"/>
                    </a:solidFill>
                  </a:tcPr>
                </a:tc>
                <a:tc>
                  <a:txBody>
                    <a:bodyPr/>
                    <a:lstStyle/>
                    <a:p>
                      <a:r>
                        <a:rPr sz="1300" b="0">
                          <a:solidFill>
                            <a:srgbClr val="2B2419"/>
                          </a:solidFill>
                          <a:latin typeface="Inter"/>
                        </a:rPr>
                        <a:t>Project Management</a:t>
                      </a:r>
                    </a:p>
                  </a:txBody>
                  <a:tcPr marL="73152" marR="73152" marT="36576" marB="36576">
                    <a:solidFill>
                      <a:srgbClr val="F5EFE6"/>
                    </a:solidFill>
                  </a:tcPr>
                </a:tc>
                <a:tc>
                  <a:txBody>
                    <a:bodyPr/>
                    <a:lstStyle/>
                    <a:p>
                      <a:r>
                        <a:rPr sz="1300" b="0">
                          <a:solidFill>
                            <a:srgbClr val="2B2419"/>
                          </a:solidFill>
                          <a:latin typeface="Inter"/>
                        </a:rPr>
                        <a:t>60</a:t>
                      </a:r>
                    </a:p>
                  </a:txBody>
                  <a:tcPr marL="73152" marR="73152" marT="36576" marB="36576">
                    <a:solidFill>
                      <a:srgbClr val="F5EFE6"/>
                    </a:solidFill>
                  </a:tcPr>
                </a:tc>
                <a:tc>
                  <a:txBody>
                    <a:bodyPr/>
                    <a:lstStyle/>
                    <a:p>
                      <a:r>
                        <a:rPr sz="1300" b="0">
                          <a:solidFill>
                            <a:srgbClr val="2B2419"/>
                          </a:solidFill>
                          <a:latin typeface="Inter"/>
                        </a:rPr>
                        <a:t>3,000,000</a:t>
                      </a:r>
                    </a:p>
                  </a:txBody>
                  <a:tcPr marL="73152" marR="73152" marT="36576" marB="36576">
                    <a:solidFill>
                      <a:srgbClr val="F5EFE6"/>
                    </a:solidFill>
                  </a:tcPr>
                </a:tc>
                <a:extLst>
                  <a:ext uri="{0D108BD9-81ED-4DB2-BD59-A6C34878D82A}">
                    <a16:rowId xmlns:a16="http://schemas.microsoft.com/office/drawing/2014/main" val="10001"/>
                  </a:ext>
                </a:extLst>
              </a:tr>
              <a:tr h="365171">
                <a:tc>
                  <a:txBody>
                    <a:bodyPr/>
                    <a:lstStyle/>
                    <a:p>
                      <a:r>
                        <a:rPr sz="1300" b="0">
                          <a:solidFill>
                            <a:srgbClr val="2B2419"/>
                          </a:solidFill>
                          <a:latin typeface="Inter"/>
                        </a:rPr>
                        <a:t>1.2</a:t>
                      </a:r>
                    </a:p>
                  </a:txBody>
                  <a:tcPr marL="73152" marR="73152" marT="36576" marB="36576">
                    <a:solidFill>
                      <a:srgbClr val="F5EFE6"/>
                    </a:solidFill>
                  </a:tcPr>
                </a:tc>
                <a:tc>
                  <a:txBody>
                    <a:bodyPr/>
                    <a:lstStyle/>
                    <a:p>
                      <a:r>
                        <a:rPr sz="1300" b="0">
                          <a:solidFill>
                            <a:srgbClr val="2B2419"/>
                          </a:solidFill>
                          <a:latin typeface="Inter"/>
                        </a:rPr>
                        <a:t>Requirements &amp; Analysis</a:t>
                      </a:r>
                    </a:p>
                  </a:txBody>
                  <a:tcPr marL="73152" marR="73152" marT="36576" marB="36576">
                    <a:solidFill>
                      <a:srgbClr val="F5EFE6"/>
                    </a:solidFill>
                  </a:tcPr>
                </a:tc>
                <a:tc>
                  <a:txBody>
                    <a:bodyPr/>
                    <a:lstStyle/>
                    <a:p>
                      <a:r>
                        <a:rPr sz="1300" b="0">
                          <a:solidFill>
                            <a:srgbClr val="2B2419"/>
                          </a:solidFill>
                          <a:latin typeface="Inter"/>
                        </a:rPr>
                        <a:t>50</a:t>
                      </a:r>
                    </a:p>
                  </a:txBody>
                  <a:tcPr marL="73152" marR="73152" marT="36576" marB="36576">
                    <a:solidFill>
                      <a:srgbClr val="F5EFE6"/>
                    </a:solidFill>
                  </a:tcPr>
                </a:tc>
                <a:tc>
                  <a:txBody>
                    <a:bodyPr/>
                    <a:lstStyle/>
                    <a:p>
                      <a:r>
                        <a:rPr sz="1300" b="0">
                          <a:solidFill>
                            <a:srgbClr val="2B2419"/>
                          </a:solidFill>
                          <a:latin typeface="Inter"/>
                        </a:rPr>
                        <a:t>2,500,000</a:t>
                      </a:r>
                    </a:p>
                  </a:txBody>
                  <a:tcPr marL="73152" marR="73152" marT="36576" marB="36576">
                    <a:solidFill>
                      <a:srgbClr val="F5EFE6"/>
                    </a:solidFill>
                  </a:tcPr>
                </a:tc>
                <a:extLst>
                  <a:ext uri="{0D108BD9-81ED-4DB2-BD59-A6C34878D82A}">
                    <a16:rowId xmlns:a16="http://schemas.microsoft.com/office/drawing/2014/main" val="10002"/>
                  </a:ext>
                </a:extLst>
              </a:tr>
              <a:tr h="365171">
                <a:tc>
                  <a:txBody>
                    <a:bodyPr/>
                    <a:lstStyle/>
                    <a:p>
                      <a:r>
                        <a:rPr sz="1300" b="0">
                          <a:solidFill>
                            <a:srgbClr val="2B2419"/>
                          </a:solidFill>
                          <a:latin typeface="Inter"/>
                        </a:rPr>
                        <a:t>1.3</a:t>
                      </a:r>
                    </a:p>
                  </a:txBody>
                  <a:tcPr marL="73152" marR="73152" marT="36576" marB="36576">
                    <a:solidFill>
                      <a:srgbClr val="F5EFE6"/>
                    </a:solidFill>
                  </a:tcPr>
                </a:tc>
                <a:tc>
                  <a:txBody>
                    <a:bodyPr/>
                    <a:lstStyle/>
                    <a:p>
                      <a:r>
                        <a:rPr sz="1300" b="0">
                          <a:solidFill>
                            <a:srgbClr val="2B2419"/>
                          </a:solidFill>
                          <a:latin typeface="Inter"/>
                        </a:rPr>
                        <a:t>System Design</a:t>
                      </a:r>
                    </a:p>
                  </a:txBody>
                  <a:tcPr marL="73152" marR="73152" marT="36576" marB="36576">
                    <a:solidFill>
                      <a:srgbClr val="F5EFE6"/>
                    </a:solidFill>
                  </a:tcPr>
                </a:tc>
                <a:tc>
                  <a:txBody>
                    <a:bodyPr/>
                    <a:lstStyle/>
                    <a:p>
                      <a:r>
                        <a:rPr sz="1300" b="0">
                          <a:solidFill>
                            <a:srgbClr val="2B2419"/>
                          </a:solidFill>
                          <a:latin typeface="Inter"/>
                        </a:rPr>
                        <a:t>80</a:t>
                      </a:r>
                    </a:p>
                  </a:txBody>
                  <a:tcPr marL="73152" marR="73152" marT="36576" marB="36576">
                    <a:solidFill>
                      <a:srgbClr val="F5EFE6"/>
                    </a:solidFill>
                  </a:tcPr>
                </a:tc>
                <a:tc>
                  <a:txBody>
                    <a:bodyPr/>
                    <a:lstStyle/>
                    <a:p>
                      <a:r>
                        <a:rPr sz="1300" b="0">
                          <a:solidFill>
                            <a:srgbClr val="2B2419"/>
                          </a:solidFill>
                          <a:latin typeface="Inter"/>
                        </a:rPr>
                        <a:t>4,000,000</a:t>
                      </a:r>
                    </a:p>
                  </a:txBody>
                  <a:tcPr marL="73152" marR="73152" marT="36576" marB="36576">
                    <a:solidFill>
                      <a:srgbClr val="F5EFE6"/>
                    </a:solidFill>
                  </a:tcPr>
                </a:tc>
                <a:extLst>
                  <a:ext uri="{0D108BD9-81ED-4DB2-BD59-A6C34878D82A}">
                    <a16:rowId xmlns:a16="http://schemas.microsoft.com/office/drawing/2014/main" val="10003"/>
                  </a:ext>
                </a:extLst>
              </a:tr>
              <a:tr h="365171">
                <a:tc>
                  <a:txBody>
                    <a:bodyPr/>
                    <a:lstStyle/>
                    <a:p>
                      <a:r>
                        <a:rPr sz="1300" b="0">
                          <a:solidFill>
                            <a:srgbClr val="2B2419"/>
                          </a:solidFill>
                          <a:latin typeface="Inter"/>
                        </a:rPr>
                        <a:t>1.4</a:t>
                      </a:r>
                    </a:p>
                  </a:txBody>
                  <a:tcPr marL="73152" marR="73152" marT="36576" marB="36576">
                    <a:solidFill>
                      <a:srgbClr val="F5EFE6"/>
                    </a:solidFill>
                  </a:tcPr>
                </a:tc>
                <a:tc>
                  <a:txBody>
                    <a:bodyPr/>
                    <a:lstStyle/>
                    <a:p>
                      <a:r>
                        <a:rPr sz="1300" b="0">
                          <a:solidFill>
                            <a:srgbClr val="2B2419"/>
                          </a:solidFill>
                          <a:latin typeface="Inter"/>
                        </a:rPr>
                        <a:t>Development</a:t>
                      </a:r>
                    </a:p>
                  </a:txBody>
                  <a:tcPr marL="73152" marR="73152" marT="36576" marB="36576">
                    <a:solidFill>
                      <a:srgbClr val="F5EFE6"/>
                    </a:solidFill>
                  </a:tcPr>
                </a:tc>
                <a:tc>
                  <a:txBody>
                    <a:bodyPr/>
                    <a:lstStyle/>
                    <a:p>
                      <a:r>
                        <a:rPr sz="1300" b="0">
                          <a:solidFill>
                            <a:srgbClr val="2B2419"/>
                          </a:solidFill>
                          <a:latin typeface="Inter"/>
                        </a:rPr>
                        <a:t>180</a:t>
                      </a:r>
                    </a:p>
                  </a:txBody>
                  <a:tcPr marL="73152" marR="73152" marT="36576" marB="36576">
                    <a:solidFill>
                      <a:srgbClr val="F5EFE6"/>
                    </a:solidFill>
                  </a:tcPr>
                </a:tc>
                <a:tc>
                  <a:txBody>
                    <a:bodyPr/>
                    <a:lstStyle/>
                    <a:p>
                      <a:r>
                        <a:rPr sz="1300" b="0">
                          <a:solidFill>
                            <a:srgbClr val="2B2419"/>
                          </a:solidFill>
                          <a:latin typeface="Inter"/>
                        </a:rPr>
                        <a:t>9,000,000</a:t>
                      </a:r>
                    </a:p>
                  </a:txBody>
                  <a:tcPr marL="73152" marR="73152" marT="36576" marB="36576">
                    <a:solidFill>
                      <a:srgbClr val="F5EFE6"/>
                    </a:solidFill>
                  </a:tcPr>
                </a:tc>
                <a:extLst>
                  <a:ext uri="{0D108BD9-81ED-4DB2-BD59-A6C34878D82A}">
                    <a16:rowId xmlns:a16="http://schemas.microsoft.com/office/drawing/2014/main" val="10004"/>
                  </a:ext>
                </a:extLst>
              </a:tr>
              <a:tr h="365171">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Testing &amp; QA</a:t>
                      </a:r>
                    </a:p>
                  </a:txBody>
                  <a:tcPr marL="73152" marR="73152" marT="36576" marB="36576">
                    <a:solidFill>
                      <a:srgbClr val="F5EFE6"/>
                    </a:solidFill>
                  </a:tcPr>
                </a:tc>
                <a:tc>
                  <a:txBody>
                    <a:bodyPr/>
                    <a:lstStyle/>
                    <a:p>
                      <a:r>
                        <a:rPr sz="1300" b="0">
                          <a:solidFill>
                            <a:srgbClr val="2B2419"/>
                          </a:solidFill>
                          <a:latin typeface="Inter"/>
                        </a:rPr>
                        <a:t>60</a:t>
                      </a:r>
                    </a:p>
                  </a:txBody>
                  <a:tcPr marL="73152" marR="73152" marT="36576" marB="36576">
                    <a:solidFill>
                      <a:srgbClr val="F5EFE6"/>
                    </a:solidFill>
                  </a:tcPr>
                </a:tc>
                <a:tc>
                  <a:txBody>
                    <a:bodyPr/>
                    <a:lstStyle/>
                    <a:p>
                      <a:r>
                        <a:rPr sz="1300" b="0">
                          <a:solidFill>
                            <a:srgbClr val="2B2419"/>
                          </a:solidFill>
                          <a:latin typeface="Inter"/>
                        </a:rPr>
                        <a:t>3,000,000</a:t>
                      </a:r>
                    </a:p>
                  </a:txBody>
                  <a:tcPr marL="73152" marR="73152" marT="36576" marB="36576">
                    <a:solidFill>
                      <a:srgbClr val="F5EFE6"/>
                    </a:solidFill>
                  </a:tcPr>
                </a:tc>
                <a:extLst>
                  <a:ext uri="{0D108BD9-81ED-4DB2-BD59-A6C34878D82A}">
                    <a16:rowId xmlns:a16="http://schemas.microsoft.com/office/drawing/2014/main" val="10005"/>
                  </a:ext>
                </a:extLst>
              </a:tr>
              <a:tr h="365171">
                <a:tc>
                  <a:txBody>
                    <a:bodyPr/>
                    <a:lstStyle/>
                    <a:p>
                      <a:r>
                        <a:rPr sz="1300" b="0">
                          <a:solidFill>
                            <a:srgbClr val="2B2419"/>
                          </a:solidFill>
                          <a:latin typeface="Inter"/>
                        </a:rPr>
                        <a:t>1.6</a:t>
                      </a:r>
                    </a:p>
                  </a:txBody>
                  <a:tcPr marL="73152" marR="73152" marT="36576" marB="36576">
                    <a:solidFill>
                      <a:srgbClr val="F5EFE6"/>
                    </a:solidFill>
                  </a:tcPr>
                </a:tc>
                <a:tc>
                  <a:txBody>
                    <a:bodyPr/>
                    <a:lstStyle/>
                    <a:p>
                      <a:r>
                        <a:rPr sz="1300" b="0">
                          <a:solidFill>
                            <a:srgbClr val="2B2419"/>
                          </a:solidFill>
                          <a:latin typeface="Inter"/>
                        </a:rPr>
                        <a:t>Documentation</a:t>
                      </a:r>
                    </a:p>
                  </a:txBody>
                  <a:tcPr marL="73152" marR="73152" marT="36576" marB="36576">
                    <a:solidFill>
                      <a:srgbClr val="F5EFE6"/>
                    </a:solidFill>
                  </a:tcPr>
                </a:tc>
                <a:tc>
                  <a:txBody>
                    <a:bodyPr/>
                    <a:lstStyle/>
                    <a:p>
                      <a:r>
                        <a:rPr sz="1300" b="0">
                          <a:solidFill>
                            <a:srgbClr val="2B2419"/>
                          </a:solidFill>
                          <a:latin typeface="Inter"/>
                        </a:rPr>
                        <a:t>30</a:t>
                      </a:r>
                    </a:p>
                  </a:txBody>
                  <a:tcPr marL="73152" marR="73152" marT="36576" marB="36576">
                    <a:solidFill>
                      <a:srgbClr val="F5EFE6"/>
                    </a:solidFill>
                  </a:tcPr>
                </a:tc>
                <a:tc>
                  <a:txBody>
                    <a:bodyPr/>
                    <a:lstStyle/>
                    <a:p>
                      <a:r>
                        <a:rPr sz="1300" b="0">
                          <a:solidFill>
                            <a:srgbClr val="2B2419"/>
                          </a:solidFill>
                          <a:latin typeface="Inter"/>
                        </a:rPr>
                        <a:t>1,500,000</a:t>
                      </a:r>
                    </a:p>
                  </a:txBody>
                  <a:tcPr marL="73152" marR="73152" marT="36576" marB="36576">
                    <a:solidFill>
                      <a:srgbClr val="F5EFE6"/>
                    </a:solidFill>
                  </a:tcPr>
                </a:tc>
                <a:extLst>
                  <a:ext uri="{0D108BD9-81ED-4DB2-BD59-A6C34878D82A}">
                    <a16:rowId xmlns:a16="http://schemas.microsoft.com/office/drawing/2014/main" val="10006"/>
                  </a:ext>
                </a:extLst>
              </a:tr>
              <a:tr h="365171">
                <a:tc>
                  <a:txBody>
                    <a:bodyPr/>
                    <a:lstStyle/>
                    <a:p>
                      <a:r>
                        <a:rPr sz="1300" b="0">
                          <a:solidFill>
                            <a:srgbClr val="2B2419"/>
                          </a:solidFill>
                          <a:latin typeface="Inter"/>
                        </a:rPr>
                        <a:t>1.7</a:t>
                      </a:r>
                    </a:p>
                  </a:txBody>
                  <a:tcPr marL="73152" marR="73152" marT="36576" marB="36576">
                    <a:solidFill>
                      <a:srgbClr val="F5EFE6"/>
                    </a:solidFill>
                  </a:tcPr>
                </a:tc>
                <a:tc>
                  <a:txBody>
                    <a:bodyPr/>
                    <a:lstStyle/>
                    <a:p>
                      <a:r>
                        <a:rPr sz="1300" b="0">
                          <a:solidFill>
                            <a:srgbClr val="2B2419"/>
                          </a:solidFill>
                          <a:latin typeface="Inter"/>
                        </a:rPr>
                        <a:t>Presentation &amp; Submission</a:t>
                      </a:r>
                    </a:p>
                  </a:txBody>
                  <a:tcPr marL="73152" marR="73152" marT="36576" marB="36576">
                    <a:solidFill>
                      <a:srgbClr val="F5EFE6"/>
                    </a:solidFill>
                  </a:tcPr>
                </a:tc>
                <a:tc>
                  <a:txBody>
                    <a:bodyPr/>
                    <a:lstStyle/>
                    <a:p>
                      <a:r>
                        <a:rPr sz="1300" b="0">
                          <a:solidFill>
                            <a:srgbClr val="2B2419"/>
                          </a:solidFill>
                          <a:latin typeface="Inter"/>
                        </a:rPr>
                        <a:t>20</a:t>
                      </a:r>
                    </a:p>
                  </a:txBody>
                  <a:tcPr marL="73152" marR="73152" marT="36576" marB="36576">
                    <a:solidFill>
                      <a:srgbClr val="F5EFE6"/>
                    </a:solidFill>
                  </a:tcPr>
                </a:tc>
                <a:tc>
                  <a:txBody>
                    <a:bodyPr/>
                    <a:lstStyle/>
                    <a:p>
                      <a:r>
                        <a:rPr sz="1300" b="0">
                          <a:solidFill>
                            <a:srgbClr val="2B2419"/>
                          </a:solidFill>
                          <a:latin typeface="Inter"/>
                        </a:rPr>
                        <a:t>1,000,000</a:t>
                      </a:r>
                    </a:p>
                  </a:txBody>
                  <a:tcPr marL="73152" marR="73152" marT="36576" marB="36576">
                    <a:solidFill>
                      <a:srgbClr val="F5EFE6"/>
                    </a:solidFill>
                  </a:tcPr>
                </a:tc>
                <a:extLst>
                  <a:ext uri="{0D108BD9-81ED-4DB2-BD59-A6C34878D82A}">
                    <a16:rowId xmlns:a16="http://schemas.microsoft.com/office/drawing/2014/main" val="10007"/>
                  </a:ext>
                </a:extLst>
              </a:tr>
              <a:tr h="495163">
                <a:tc>
                  <a:txBody>
                    <a:bodyPr/>
                    <a:lstStyle/>
                    <a:p>
                      <a:r>
                        <a:rPr sz="1300" b="0">
                          <a:solidFill>
                            <a:srgbClr val="2B2419"/>
                          </a:solidFill>
                          <a:latin typeface="Inter"/>
                        </a:rPr>
                        <a:t>LABOR</a:t>
                      </a:r>
                    </a:p>
                  </a:txBody>
                  <a:tcPr marL="73152" marR="73152" marT="36576" marB="36576">
                    <a:solidFill>
                      <a:srgbClr val="EDE4D3"/>
                    </a:solidFill>
                  </a:tcPr>
                </a:tc>
                <a:tc>
                  <a:txBody>
                    <a:bodyPr/>
                    <a:lstStyle/>
                    <a:p>
                      <a:r>
                        <a:rPr sz="1300" b="0">
                          <a:solidFill>
                            <a:srgbClr val="2B2419"/>
                          </a:solidFill>
                          <a:latin typeface="Inter"/>
                        </a:rPr>
                        <a:t>Subtotal (480 h × 50K)</a:t>
                      </a:r>
                    </a:p>
                  </a:txBody>
                  <a:tcPr marL="73152" marR="73152" marT="36576" marB="36576">
                    <a:solidFill>
                      <a:srgbClr val="EDE4D3"/>
                    </a:solidFill>
                  </a:tcPr>
                </a:tc>
                <a:tc>
                  <a:txBody>
                    <a:bodyPr/>
                    <a:lstStyle/>
                    <a:p>
                      <a:r>
                        <a:rPr sz="1300" b="0">
                          <a:solidFill>
                            <a:srgbClr val="2B2419"/>
                          </a:solidFill>
                          <a:latin typeface="Inter"/>
                        </a:rPr>
                        <a:t>480</a:t>
                      </a:r>
                    </a:p>
                  </a:txBody>
                  <a:tcPr marL="73152" marR="73152" marT="36576" marB="36576">
                    <a:solidFill>
                      <a:srgbClr val="EDE4D3"/>
                    </a:solidFill>
                  </a:tcPr>
                </a:tc>
                <a:tc>
                  <a:txBody>
                    <a:bodyPr/>
                    <a:lstStyle/>
                    <a:p>
                      <a:r>
                        <a:rPr sz="1300" b="0">
                          <a:solidFill>
                            <a:srgbClr val="2B2419"/>
                          </a:solidFill>
                          <a:latin typeface="Inter"/>
                        </a:rPr>
                        <a:t>24,000,000</a:t>
                      </a:r>
                    </a:p>
                  </a:txBody>
                  <a:tcPr marL="73152" marR="73152" marT="36576" marB="36576">
                    <a:solidFill>
                      <a:srgbClr val="EDE4D3"/>
                    </a:solidFill>
                  </a:tcPr>
                </a:tc>
                <a:extLst>
                  <a:ext uri="{0D108BD9-81ED-4DB2-BD59-A6C34878D82A}">
                    <a16:rowId xmlns:a16="http://schemas.microsoft.com/office/drawing/2014/main" val="10008"/>
                  </a:ext>
                </a:extLst>
              </a:tr>
              <a:tr h="365171">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 Overhead 20%</a:t>
                      </a:r>
                    </a:p>
                  </a:txBody>
                  <a:tcPr marL="73152" marR="73152" marT="36576" marB="36576">
                    <a:solidFill>
                      <a:srgbClr val="F5EFE6"/>
                    </a:solidFill>
                  </a:tcPr>
                </a:tc>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4,800,000</a:t>
                      </a:r>
                    </a:p>
                  </a:txBody>
                  <a:tcPr marL="73152" marR="73152" marT="36576" marB="36576">
                    <a:solidFill>
                      <a:srgbClr val="F5EFE6"/>
                    </a:solidFill>
                  </a:tcPr>
                </a:tc>
                <a:extLst>
                  <a:ext uri="{0D108BD9-81ED-4DB2-BD59-A6C34878D82A}">
                    <a16:rowId xmlns:a16="http://schemas.microsoft.com/office/drawing/2014/main" val="10009"/>
                  </a:ext>
                </a:extLst>
              </a:tr>
              <a:tr h="365171">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 G&amp;A 10% (reallocated)</a:t>
                      </a:r>
                    </a:p>
                  </a:txBody>
                  <a:tcPr marL="73152" marR="73152" marT="36576" marB="36576">
                    <a:solidFill>
                      <a:srgbClr val="F5EFE6"/>
                    </a:solidFill>
                  </a:tcPr>
                </a:tc>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1,720,000</a:t>
                      </a:r>
                    </a:p>
                  </a:txBody>
                  <a:tcPr marL="73152" marR="73152" marT="36576" marB="36576">
                    <a:solidFill>
                      <a:srgbClr val="F5EFE6"/>
                    </a:solidFill>
                  </a:tcPr>
                </a:tc>
                <a:extLst>
                  <a:ext uri="{0D108BD9-81ED-4DB2-BD59-A6C34878D82A}">
                    <a16:rowId xmlns:a16="http://schemas.microsoft.com/office/drawing/2014/main" val="10010"/>
                  </a:ext>
                </a:extLst>
              </a:tr>
              <a:tr h="365171">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 Contingency 10%</a:t>
                      </a:r>
                    </a:p>
                  </a:txBody>
                  <a:tcPr marL="73152" marR="73152" marT="36576" marB="36576">
                    <a:solidFill>
                      <a:srgbClr val="F5EFE6"/>
                    </a:solidFill>
                  </a:tcPr>
                </a:tc>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2,400,000</a:t>
                      </a:r>
                    </a:p>
                  </a:txBody>
                  <a:tcPr marL="73152" marR="73152" marT="36576" marB="36576">
                    <a:solidFill>
                      <a:srgbClr val="F5EFE6"/>
                    </a:solidFill>
                  </a:tcPr>
                </a:tc>
                <a:extLst>
                  <a:ext uri="{0D108BD9-81ED-4DB2-BD59-A6C34878D82A}">
                    <a16:rowId xmlns:a16="http://schemas.microsoft.com/office/drawing/2014/main" val="10011"/>
                  </a:ext>
                </a:extLst>
              </a:tr>
              <a:tr h="365171">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 Management Reserve</a:t>
                      </a:r>
                    </a:p>
                  </a:txBody>
                  <a:tcPr marL="73152" marR="73152" marT="36576" marB="36576">
                    <a:solidFill>
                      <a:srgbClr val="F5EFE6"/>
                    </a:solidFill>
                  </a:tcPr>
                </a:tc>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680,000</a:t>
                      </a:r>
                    </a:p>
                  </a:txBody>
                  <a:tcPr marL="73152" marR="73152" marT="36576" marB="36576">
                    <a:solidFill>
                      <a:srgbClr val="F5EFE6"/>
                    </a:solidFill>
                  </a:tcPr>
                </a:tc>
                <a:extLst>
                  <a:ext uri="{0D108BD9-81ED-4DB2-BD59-A6C34878D82A}">
                    <a16:rowId xmlns:a16="http://schemas.microsoft.com/office/drawing/2014/main" val="10012"/>
                  </a:ext>
                </a:extLst>
              </a:tr>
              <a:tr h="365171">
                <a:tc>
                  <a:txBody>
                    <a:bodyPr/>
                    <a:lstStyle/>
                    <a:p>
                      <a:r>
                        <a:rPr sz="1300" b="0">
                          <a:solidFill>
                            <a:srgbClr val="2B2419"/>
                          </a:solidFill>
                          <a:latin typeface="Inter"/>
                        </a:rPr>
                        <a:t>BAC</a:t>
                      </a:r>
                    </a:p>
                  </a:txBody>
                  <a:tcPr marL="73152" marR="73152" marT="36576" marB="36576">
                    <a:solidFill>
                      <a:srgbClr val="E8D5BC"/>
                    </a:solidFill>
                  </a:tcPr>
                </a:tc>
                <a:tc>
                  <a:txBody>
                    <a:bodyPr/>
                    <a:lstStyle/>
                    <a:p>
                      <a:r>
                        <a:rPr sz="1300" b="0">
                          <a:solidFill>
                            <a:srgbClr val="2B2419"/>
                          </a:solidFill>
                          <a:latin typeface="Inter"/>
                        </a:rPr>
                        <a:t>Budget at Completion</a:t>
                      </a:r>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r>
                        <a:rPr sz="1300" b="0" dirty="0">
                          <a:solidFill>
                            <a:srgbClr val="2B2419"/>
                          </a:solidFill>
                          <a:latin typeface="Inter"/>
                        </a:rPr>
                        <a:t>33,600,000 VND</a:t>
                      </a:r>
                    </a:p>
                  </a:txBody>
                  <a:tcPr marL="73152" marR="73152" marT="36576" marB="36576">
                    <a:solidFill>
                      <a:srgbClr val="E8D5BC"/>
                    </a:solidFill>
                  </a:tcPr>
                </a:tc>
                <a:extLst>
                  <a:ext uri="{0D108BD9-81ED-4DB2-BD59-A6C34878D82A}">
                    <a16:rowId xmlns:a16="http://schemas.microsoft.com/office/drawing/2014/main" val="10013"/>
                  </a:ext>
                </a:extLst>
              </a:tr>
            </a:tbl>
          </a:graphicData>
        </a:graphic>
      </p:graphicFrame>
      <p:grpSp>
        <p:nvGrpSpPr>
          <p:cNvPr id="14" name="Group 13">
            <a:extLst>
              <a:ext uri="{FF2B5EF4-FFF2-40B4-BE49-F238E27FC236}">
                <a16:creationId xmlns:a16="http://schemas.microsoft.com/office/drawing/2014/main" id="{A4719E56-0FC0-8B57-71D9-1CBC3CB4A773}"/>
              </a:ext>
            </a:extLst>
          </p:cNvPr>
          <p:cNvGrpSpPr/>
          <p:nvPr/>
        </p:nvGrpSpPr>
        <p:grpSpPr>
          <a:xfrm>
            <a:off x="7955280" y="2423160"/>
            <a:ext cx="3931920" cy="2011680"/>
            <a:chOff x="8686800" y="1417320"/>
            <a:chExt cx="3200400" cy="2011680"/>
          </a:xfrm>
        </p:grpSpPr>
        <p:sp>
          <p:nvSpPr>
            <p:cNvPr id="9" name="Rectangle 8"/>
            <p:cNvSpPr/>
            <p:nvPr/>
          </p:nvSpPr>
          <p:spPr>
            <a:xfrm>
              <a:off x="8686800" y="1417320"/>
              <a:ext cx="3200400" cy="2011680"/>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Iosevka NFM" panose="02000509030000000004" pitchFamily="49" charset="0"/>
                <a:ea typeface="Iosevka NFM" panose="02000509030000000004" pitchFamily="49" charset="0"/>
                <a:cs typeface="Iosevka NFM" panose="02000509030000000004" pitchFamily="49" charset="0"/>
              </a:endParaRPr>
            </a:p>
          </p:txBody>
        </p:sp>
        <p:sp>
          <p:nvSpPr>
            <p:cNvPr id="10" name="TextBox 9"/>
            <p:cNvSpPr txBox="1"/>
            <p:nvPr/>
          </p:nvSpPr>
          <p:spPr>
            <a:xfrm>
              <a:off x="8778240" y="1508760"/>
              <a:ext cx="3017520" cy="252377"/>
            </a:xfrm>
            <a:prstGeom prst="rect">
              <a:avLst/>
            </a:prstGeom>
            <a:noFill/>
          </p:spPr>
          <p:txBody>
            <a:bodyPr wrap="square" lIns="54864" tIns="18288" rIns="54864" bIns="18288" anchor="t">
              <a:spAutoFit/>
            </a:bodyPr>
            <a:lstStyle/>
            <a:p>
              <a:pPr algn="ctr">
                <a:lnSpc>
                  <a:spcPct val="100000"/>
                </a:lnSpc>
              </a:pPr>
              <a:r>
                <a:rPr sz="1400" b="1" i="0" dirty="0">
                  <a:solidFill>
                    <a:srgbClr val="FFFFFF"/>
                  </a:solidFill>
                  <a:latin typeface="Iosevka NFM" panose="02000509030000000004" pitchFamily="49" charset="0"/>
                  <a:ea typeface="Iosevka NFM" panose="02000509030000000004" pitchFamily="49" charset="0"/>
                  <a:cs typeface="Iosevka NFM" panose="02000509030000000004" pitchFamily="49" charset="0"/>
                </a:rPr>
                <a:t>BAC</a:t>
              </a:r>
            </a:p>
          </p:txBody>
        </p:sp>
        <p:sp>
          <p:nvSpPr>
            <p:cNvPr id="11" name="TextBox 10"/>
            <p:cNvSpPr txBox="1"/>
            <p:nvPr/>
          </p:nvSpPr>
          <p:spPr>
            <a:xfrm>
              <a:off x="8778240" y="1965960"/>
              <a:ext cx="3017520" cy="437043"/>
            </a:xfrm>
            <a:prstGeom prst="rect">
              <a:avLst/>
            </a:prstGeom>
            <a:noFill/>
          </p:spPr>
          <p:txBody>
            <a:bodyPr wrap="square" lIns="54864" tIns="18288" rIns="54864" bIns="18288" anchor="t">
              <a:spAutoFit/>
            </a:bodyPr>
            <a:lstStyle/>
            <a:p>
              <a:pPr algn="ctr">
                <a:lnSpc>
                  <a:spcPct val="100000"/>
                </a:lnSpc>
              </a:pPr>
              <a:r>
                <a:rPr sz="2600" b="1" i="0">
                  <a:solidFill>
                    <a:srgbClr val="FFFFFF"/>
                  </a:solidFill>
                  <a:latin typeface="Iosevka NFM" panose="02000509030000000004" pitchFamily="49" charset="0"/>
                  <a:ea typeface="Iosevka NFM" panose="02000509030000000004" pitchFamily="49" charset="0"/>
                  <a:cs typeface="Iosevka NFM" panose="02000509030000000004" pitchFamily="49" charset="0"/>
                </a:rPr>
                <a:t>33,600,000</a:t>
              </a:r>
            </a:p>
          </p:txBody>
        </p:sp>
        <p:sp>
          <p:nvSpPr>
            <p:cNvPr id="12" name="TextBox 11"/>
            <p:cNvSpPr txBox="1"/>
            <p:nvPr/>
          </p:nvSpPr>
          <p:spPr>
            <a:xfrm>
              <a:off x="8778240" y="2697480"/>
              <a:ext cx="3017520" cy="236988"/>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VND</a:t>
              </a:r>
            </a:p>
          </p:txBody>
        </p:sp>
        <p:sp>
          <p:nvSpPr>
            <p:cNvPr id="13" name="TextBox 12"/>
            <p:cNvSpPr txBox="1"/>
            <p:nvPr/>
          </p:nvSpPr>
          <p:spPr>
            <a:xfrm>
              <a:off x="8778240" y="3127248"/>
              <a:ext cx="3017520" cy="283154"/>
            </a:xfrm>
            <a:prstGeom prst="rect">
              <a:avLst/>
            </a:prstGeom>
            <a:noFill/>
          </p:spPr>
          <p:txBody>
            <a:bodyPr wrap="square" lIns="54864" tIns="18288" rIns="54864" bIns="18288" anchor="t">
              <a:spAutoFit/>
            </a:bodyPr>
            <a:lstStyle/>
            <a:p>
              <a:pPr algn="ctr">
                <a:lnSpc>
                  <a:spcPct val="100000"/>
                </a:lnSpc>
              </a:pPr>
              <a:r>
                <a:rPr sz="800" b="0" i="1">
                  <a:solidFill>
                    <a:srgbClr val="FFFFFF"/>
                  </a:solidFill>
                  <a:latin typeface="Iosevka NFM" panose="02000509030000000004" pitchFamily="49" charset="0"/>
                  <a:ea typeface="Iosevka NFM" panose="02000509030000000004" pitchFamily="49" charset="0"/>
                  <a:cs typeface="Iosevka NFM" panose="02000509030000000004" pitchFamily="49" charset="0"/>
                </a:rPr>
                <a:t>480 h × 50,000/h
+ overhead + contingency</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RESOURCE MANAGEMENT</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Time-Phased Budget — Planned Value Curve</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16 / 31</a:t>
            </a:r>
          </a:p>
        </p:txBody>
      </p:sp>
      <p:grpSp>
        <p:nvGrpSpPr>
          <p:cNvPr id="45" name="Group 44">
            <a:extLst>
              <a:ext uri="{FF2B5EF4-FFF2-40B4-BE49-F238E27FC236}">
                <a16:creationId xmlns:a16="http://schemas.microsoft.com/office/drawing/2014/main" id="{DE6F331A-58C9-12D4-FBB4-2723B5D339D0}"/>
              </a:ext>
            </a:extLst>
          </p:cNvPr>
          <p:cNvGrpSpPr/>
          <p:nvPr/>
        </p:nvGrpSpPr>
        <p:grpSpPr>
          <a:xfrm>
            <a:off x="676655" y="1307591"/>
            <a:ext cx="8615625" cy="4994339"/>
            <a:chOff x="676656" y="1307592"/>
            <a:chExt cx="8558784" cy="4279392"/>
          </a:xfrm>
        </p:grpSpPr>
        <p:cxnSp>
          <p:nvCxnSpPr>
            <p:cNvPr id="8" name="Connector 7"/>
            <p:cNvCxnSpPr/>
            <p:nvPr/>
          </p:nvCxnSpPr>
          <p:spPr>
            <a:xfrm>
              <a:off x="1097280" y="5349240"/>
              <a:ext cx="8138160" cy="0"/>
            </a:xfrm>
            <a:prstGeom prst="line">
              <a:avLst/>
            </a:prstGeom>
            <a:ln w="9525">
              <a:solidFill>
                <a:srgbClr val="2B241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97280" y="1600200"/>
              <a:ext cx="0" cy="3749040"/>
            </a:xfrm>
            <a:prstGeom prst="line">
              <a:avLst/>
            </a:prstGeom>
            <a:ln w="9525">
              <a:solidFill>
                <a:srgbClr val="2B241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6656" y="523036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0%</a:t>
              </a:r>
            </a:p>
          </p:txBody>
        </p:sp>
        <p:cxnSp>
          <p:nvCxnSpPr>
            <p:cNvPr id="11" name="Connector 10"/>
            <p:cNvCxnSpPr/>
            <p:nvPr/>
          </p:nvCxnSpPr>
          <p:spPr>
            <a:xfrm>
              <a:off x="1097280" y="534924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6656" y="429310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25%</a:t>
              </a:r>
            </a:p>
          </p:txBody>
        </p:sp>
        <p:cxnSp>
          <p:nvCxnSpPr>
            <p:cNvPr id="13" name="Connector 12"/>
            <p:cNvCxnSpPr/>
            <p:nvPr/>
          </p:nvCxnSpPr>
          <p:spPr>
            <a:xfrm>
              <a:off x="1097280" y="441198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76656" y="335584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50%</a:t>
              </a:r>
            </a:p>
          </p:txBody>
        </p:sp>
        <p:cxnSp>
          <p:nvCxnSpPr>
            <p:cNvPr id="15" name="Connector 14"/>
            <p:cNvCxnSpPr/>
            <p:nvPr/>
          </p:nvCxnSpPr>
          <p:spPr>
            <a:xfrm>
              <a:off x="1097280" y="347472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6656" y="241858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75%</a:t>
              </a:r>
            </a:p>
          </p:txBody>
        </p:sp>
        <p:cxnSp>
          <p:nvCxnSpPr>
            <p:cNvPr id="17" name="Connector 16"/>
            <p:cNvCxnSpPr/>
            <p:nvPr/>
          </p:nvCxnSpPr>
          <p:spPr>
            <a:xfrm>
              <a:off x="1097280" y="253746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76656" y="148132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100%</a:t>
              </a:r>
            </a:p>
          </p:txBody>
        </p:sp>
        <p:cxnSp>
          <p:nvCxnSpPr>
            <p:cNvPr id="19" name="Connector 18"/>
            <p:cNvCxnSpPr/>
            <p:nvPr/>
          </p:nvCxnSpPr>
          <p:spPr>
            <a:xfrm>
              <a:off x="1097280" y="160020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1097280" y="5049317"/>
              <a:ext cx="905256" cy="299923"/>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97280" y="4756709"/>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2,688K</a:t>
              </a:r>
            </a:p>
          </p:txBody>
        </p:sp>
        <p:sp>
          <p:nvSpPr>
            <p:cNvPr id="22" name="TextBox 21"/>
            <p:cNvSpPr txBox="1"/>
            <p:nvPr/>
          </p:nvSpPr>
          <p:spPr>
            <a:xfrm>
              <a:off x="1097280"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M1</a:t>
              </a:r>
            </a:p>
          </p:txBody>
        </p:sp>
        <p:sp>
          <p:nvSpPr>
            <p:cNvPr id="23" name="Rectangle 22"/>
            <p:cNvSpPr/>
            <p:nvPr/>
          </p:nvSpPr>
          <p:spPr>
            <a:xfrm>
              <a:off x="2130552" y="4786884"/>
              <a:ext cx="905256" cy="562356"/>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30552" y="4494276"/>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5,040K</a:t>
              </a:r>
            </a:p>
          </p:txBody>
        </p:sp>
        <p:sp>
          <p:nvSpPr>
            <p:cNvPr id="25" name="TextBox 24"/>
            <p:cNvSpPr txBox="1"/>
            <p:nvPr/>
          </p:nvSpPr>
          <p:spPr>
            <a:xfrm>
              <a:off x="2130552"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M2</a:t>
              </a:r>
            </a:p>
          </p:txBody>
        </p:sp>
        <p:sp>
          <p:nvSpPr>
            <p:cNvPr id="26" name="Rectangle 25"/>
            <p:cNvSpPr/>
            <p:nvPr/>
          </p:nvSpPr>
          <p:spPr>
            <a:xfrm>
              <a:off x="3163824" y="4411980"/>
              <a:ext cx="905256" cy="937260"/>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163824" y="4119372"/>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8,400K</a:t>
              </a:r>
            </a:p>
          </p:txBody>
        </p:sp>
        <p:sp>
          <p:nvSpPr>
            <p:cNvPr id="28" name="TextBox 27"/>
            <p:cNvSpPr txBox="1"/>
            <p:nvPr/>
          </p:nvSpPr>
          <p:spPr>
            <a:xfrm>
              <a:off x="3163824"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M3</a:t>
              </a:r>
            </a:p>
          </p:txBody>
        </p:sp>
        <p:sp>
          <p:nvSpPr>
            <p:cNvPr id="29" name="Rectangle 28"/>
            <p:cNvSpPr/>
            <p:nvPr/>
          </p:nvSpPr>
          <p:spPr>
            <a:xfrm>
              <a:off x="4197096" y="3849624"/>
              <a:ext cx="905256" cy="1499616"/>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97096" y="3557016"/>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13,440K</a:t>
              </a:r>
            </a:p>
          </p:txBody>
        </p:sp>
        <p:sp>
          <p:nvSpPr>
            <p:cNvPr id="31" name="TextBox 30"/>
            <p:cNvSpPr txBox="1"/>
            <p:nvPr/>
          </p:nvSpPr>
          <p:spPr>
            <a:xfrm>
              <a:off x="4197096"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M4</a:t>
              </a:r>
            </a:p>
          </p:txBody>
        </p:sp>
        <p:sp>
          <p:nvSpPr>
            <p:cNvPr id="32" name="Rectangle 31"/>
            <p:cNvSpPr/>
            <p:nvPr/>
          </p:nvSpPr>
          <p:spPr>
            <a:xfrm>
              <a:off x="5230368" y="3287268"/>
              <a:ext cx="905256" cy="2061972"/>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230368" y="2994660"/>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18,480K</a:t>
              </a:r>
            </a:p>
          </p:txBody>
        </p:sp>
        <p:sp>
          <p:nvSpPr>
            <p:cNvPr id="34" name="TextBox 33"/>
            <p:cNvSpPr txBox="1"/>
            <p:nvPr/>
          </p:nvSpPr>
          <p:spPr>
            <a:xfrm>
              <a:off x="5230368"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M5</a:t>
              </a:r>
            </a:p>
          </p:txBody>
        </p:sp>
        <p:sp>
          <p:nvSpPr>
            <p:cNvPr id="35" name="Rectangle 34"/>
            <p:cNvSpPr/>
            <p:nvPr/>
          </p:nvSpPr>
          <p:spPr>
            <a:xfrm>
              <a:off x="6263640" y="2724912"/>
              <a:ext cx="905256" cy="2624328"/>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263640" y="2432304"/>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23,520K</a:t>
              </a:r>
            </a:p>
          </p:txBody>
        </p:sp>
        <p:sp>
          <p:nvSpPr>
            <p:cNvPr id="37" name="TextBox 36"/>
            <p:cNvSpPr txBox="1"/>
            <p:nvPr/>
          </p:nvSpPr>
          <p:spPr>
            <a:xfrm>
              <a:off x="6263640"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M6</a:t>
              </a:r>
            </a:p>
          </p:txBody>
        </p:sp>
        <p:sp>
          <p:nvSpPr>
            <p:cNvPr id="38" name="Rectangle 37"/>
            <p:cNvSpPr/>
            <p:nvPr/>
          </p:nvSpPr>
          <p:spPr>
            <a:xfrm>
              <a:off x="7296912" y="2162556"/>
              <a:ext cx="905256" cy="3186684"/>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296912" y="1869948"/>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28,560K</a:t>
              </a:r>
            </a:p>
          </p:txBody>
        </p:sp>
        <p:sp>
          <p:nvSpPr>
            <p:cNvPr id="40" name="TextBox 39"/>
            <p:cNvSpPr txBox="1"/>
            <p:nvPr/>
          </p:nvSpPr>
          <p:spPr>
            <a:xfrm>
              <a:off x="7296912"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M7</a:t>
              </a:r>
            </a:p>
          </p:txBody>
        </p:sp>
        <p:sp>
          <p:nvSpPr>
            <p:cNvPr id="41" name="Rectangle 40"/>
            <p:cNvSpPr/>
            <p:nvPr/>
          </p:nvSpPr>
          <p:spPr>
            <a:xfrm>
              <a:off x="8330184" y="1600200"/>
              <a:ext cx="905256" cy="3749040"/>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330184" y="1307592"/>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33,600K</a:t>
              </a:r>
            </a:p>
          </p:txBody>
        </p:sp>
        <p:sp>
          <p:nvSpPr>
            <p:cNvPr id="43" name="TextBox 42"/>
            <p:cNvSpPr txBox="1"/>
            <p:nvPr/>
          </p:nvSpPr>
          <p:spPr>
            <a:xfrm>
              <a:off x="8330184"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M8</a:t>
              </a:r>
            </a:p>
          </p:txBody>
        </p:sp>
      </p:grpSp>
      <p:graphicFrame>
        <p:nvGraphicFramePr>
          <p:cNvPr id="44" name="Table 43"/>
          <p:cNvGraphicFramePr>
            <a:graphicFrameLocks noGrp="1"/>
          </p:cNvGraphicFramePr>
          <p:nvPr>
            <p:extLst>
              <p:ext uri="{D42A27DB-BD31-4B8C-83A1-F6EECF244321}">
                <p14:modId xmlns:p14="http://schemas.microsoft.com/office/powerpoint/2010/main" val="3221774306"/>
              </p:ext>
            </p:extLst>
          </p:nvPr>
        </p:nvGraphicFramePr>
        <p:xfrm>
          <a:off x="9509760" y="2057400"/>
          <a:ext cx="2538077" cy="2743200"/>
        </p:xfrm>
        <a:graphic>
          <a:graphicData uri="http://schemas.openxmlformats.org/drawingml/2006/table">
            <a:tbl>
              <a:tblPr firstRow="1" bandRow="1">
                <a:tableStyleId>{5C22544A-7EE6-4342-B048-85BDC9FD1C3A}</a:tableStyleId>
              </a:tblPr>
              <a:tblGrid>
                <a:gridCol w="585710">
                  <a:extLst>
                    <a:ext uri="{9D8B030D-6E8A-4147-A177-3AD203B41FA5}">
                      <a16:colId xmlns:a16="http://schemas.microsoft.com/office/drawing/2014/main" val="20000"/>
                    </a:ext>
                  </a:extLst>
                </a:gridCol>
                <a:gridCol w="1122611">
                  <a:extLst>
                    <a:ext uri="{9D8B030D-6E8A-4147-A177-3AD203B41FA5}">
                      <a16:colId xmlns:a16="http://schemas.microsoft.com/office/drawing/2014/main" val="20001"/>
                    </a:ext>
                  </a:extLst>
                </a:gridCol>
                <a:gridCol w="829756">
                  <a:extLst>
                    <a:ext uri="{9D8B030D-6E8A-4147-A177-3AD203B41FA5}">
                      <a16:colId xmlns:a16="http://schemas.microsoft.com/office/drawing/2014/main" val="20002"/>
                    </a:ext>
                  </a:extLst>
                </a:gridCol>
              </a:tblGrid>
              <a:tr h="304800">
                <a:tc>
                  <a:txBody>
                    <a:bodyPr/>
                    <a:lstStyle/>
                    <a:p>
                      <a:r>
                        <a:rPr sz="1300" b="1">
                          <a:solidFill>
                            <a:srgbClr val="FFFFFF"/>
                          </a:solidFill>
                          <a:latin typeface="Iosevka NFM" panose="02000509030000000004" pitchFamily="49" charset="0"/>
                          <a:ea typeface="Iosevka NFM" panose="02000509030000000004" pitchFamily="49" charset="0"/>
                          <a:cs typeface="Iosevka NFM" panose="02000509030000000004" pitchFamily="49" charset="0"/>
                        </a:rPr>
                        <a:t>Month</a:t>
                      </a:r>
                    </a:p>
                  </a:txBody>
                  <a:tcPr marL="73152" marR="73152" marT="36576" marB="36576">
                    <a:solidFill>
                      <a:srgbClr val="8C5A2E"/>
                    </a:solidFill>
                  </a:tcPr>
                </a:tc>
                <a:tc>
                  <a:txBody>
                    <a:bodyPr/>
                    <a:lstStyle/>
                    <a:p>
                      <a:r>
                        <a:rPr sz="1300" b="1">
                          <a:solidFill>
                            <a:srgbClr val="FFFFFF"/>
                          </a:solidFill>
                          <a:latin typeface="Iosevka NFM" panose="02000509030000000004" pitchFamily="49" charset="0"/>
                          <a:ea typeface="Iosevka NFM" panose="02000509030000000004" pitchFamily="49" charset="0"/>
                          <a:cs typeface="Iosevka NFM" panose="02000509030000000004" pitchFamily="49" charset="0"/>
                        </a:rPr>
                        <a:t>PV (VND)</a:t>
                      </a:r>
                    </a:p>
                  </a:txBody>
                  <a:tcPr marL="73152" marR="73152" marT="36576" marB="36576">
                    <a:solidFill>
                      <a:srgbClr val="8C5A2E"/>
                    </a:solidFill>
                  </a:tcPr>
                </a:tc>
                <a:tc>
                  <a:txBody>
                    <a:bodyPr/>
                    <a:lstStyle/>
                    <a:p>
                      <a:r>
                        <a:rPr sz="1300" b="1">
                          <a:solidFill>
                            <a:srgbClr val="FFFFFF"/>
                          </a:solidFill>
                          <a:latin typeface="Iosevka NFM" panose="02000509030000000004" pitchFamily="49" charset="0"/>
                          <a:ea typeface="Iosevka NFM" panose="02000509030000000004" pitchFamily="49" charset="0"/>
                          <a:cs typeface="Iosevka NFM" panose="02000509030000000004" pitchFamily="49" charset="0"/>
                        </a:rPr>
                        <a:t>%</a:t>
                      </a:r>
                    </a:p>
                  </a:txBody>
                  <a:tcPr marL="73152" marR="73152" marT="36576" marB="36576">
                    <a:solidFill>
                      <a:srgbClr val="8C5A2E"/>
                    </a:solidFill>
                  </a:tcPr>
                </a:tc>
                <a:extLst>
                  <a:ext uri="{0D108BD9-81ED-4DB2-BD59-A6C34878D82A}">
                    <a16:rowId xmlns:a16="http://schemas.microsoft.com/office/drawing/2014/main" val="10000"/>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M1</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2,688,000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8%</a:t>
                      </a:r>
                    </a:p>
                  </a:txBody>
                  <a:tcPr marL="73152" marR="73152" marT="36576" marB="36576">
                    <a:solidFill>
                      <a:srgbClr val="F5EFE6"/>
                    </a:solidFill>
                  </a:tcPr>
                </a:tc>
                <a:extLst>
                  <a:ext uri="{0D108BD9-81ED-4DB2-BD59-A6C34878D82A}">
                    <a16:rowId xmlns:a16="http://schemas.microsoft.com/office/drawing/2014/main" val="10001"/>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M2</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5,040,000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15%</a:t>
                      </a:r>
                    </a:p>
                  </a:txBody>
                  <a:tcPr marL="73152" marR="73152" marT="36576" marB="36576">
                    <a:solidFill>
                      <a:srgbClr val="F5EFE6"/>
                    </a:solidFill>
                  </a:tcPr>
                </a:tc>
                <a:extLst>
                  <a:ext uri="{0D108BD9-81ED-4DB2-BD59-A6C34878D82A}">
                    <a16:rowId xmlns:a16="http://schemas.microsoft.com/office/drawing/2014/main" val="10002"/>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M3</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8,400,000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25%</a:t>
                      </a:r>
                    </a:p>
                  </a:txBody>
                  <a:tcPr marL="73152" marR="73152" marT="36576" marB="36576">
                    <a:solidFill>
                      <a:srgbClr val="F5EFE6"/>
                    </a:solidFill>
                  </a:tcPr>
                </a:tc>
                <a:extLst>
                  <a:ext uri="{0D108BD9-81ED-4DB2-BD59-A6C34878D82A}">
                    <a16:rowId xmlns:a16="http://schemas.microsoft.com/office/drawing/2014/main" val="10003"/>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M4</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13,440,000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40%</a:t>
                      </a:r>
                    </a:p>
                  </a:txBody>
                  <a:tcPr marL="73152" marR="73152" marT="36576" marB="36576">
                    <a:solidFill>
                      <a:srgbClr val="F5EFE6"/>
                    </a:solidFill>
                  </a:tcPr>
                </a:tc>
                <a:extLst>
                  <a:ext uri="{0D108BD9-81ED-4DB2-BD59-A6C34878D82A}">
                    <a16:rowId xmlns:a16="http://schemas.microsoft.com/office/drawing/2014/main" val="10004"/>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M5</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18,480,000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55%</a:t>
                      </a:r>
                    </a:p>
                  </a:txBody>
                  <a:tcPr marL="73152" marR="73152" marT="36576" marB="36576">
                    <a:solidFill>
                      <a:srgbClr val="F5EFE6"/>
                    </a:solidFill>
                  </a:tcPr>
                </a:tc>
                <a:extLst>
                  <a:ext uri="{0D108BD9-81ED-4DB2-BD59-A6C34878D82A}">
                    <a16:rowId xmlns:a16="http://schemas.microsoft.com/office/drawing/2014/main" val="10005"/>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M6</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23,520,000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70%</a:t>
                      </a:r>
                    </a:p>
                  </a:txBody>
                  <a:tcPr marL="73152" marR="73152" marT="36576" marB="36576">
                    <a:solidFill>
                      <a:srgbClr val="F5EFE6"/>
                    </a:solidFill>
                  </a:tcPr>
                </a:tc>
                <a:extLst>
                  <a:ext uri="{0D108BD9-81ED-4DB2-BD59-A6C34878D82A}">
                    <a16:rowId xmlns:a16="http://schemas.microsoft.com/office/drawing/2014/main" val="10006"/>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M7</a:t>
                      </a:r>
                    </a:p>
                  </a:txBody>
                  <a:tcPr marL="73152" marR="73152" marT="36576" marB="36576">
                    <a:solidFill>
                      <a:srgbClr val="F5EFE6"/>
                    </a:solidFill>
                  </a:tcPr>
                </a:tc>
                <a:tc>
                  <a:txBody>
                    <a:bodyPr/>
                    <a:lstStyle/>
                    <a:p>
                      <a:r>
                        <a:rPr sz="1300" b="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28,560,000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85%</a:t>
                      </a:r>
                    </a:p>
                  </a:txBody>
                  <a:tcPr marL="73152" marR="73152" marT="36576" marB="36576">
                    <a:solidFill>
                      <a:srgbClr val="F5EFE6"/>
                    </a:solidFill>
                  </a:tcPr>
                </a:tc>
                <a:extLst>
                  <a:ext uri="{0D108BD9-81ED-4DB2-BD59-A6C34878D82A}">
                    <a16:rowId xmlns:a16="http://schemas.microsoft.com/office/drawing/2014/main" val="10007"/>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M8</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33,600,000</a:t>
                      </a:r>
                    </a:p>
                  </a:txBody>
                  <a:tcPr marL="73152" marR="73152" marT="36576" marB="36576">
                    <a:solidFill>
                      <a:srgbClr val="F5EFE6"/>
                    </a:solidFill>
                  </a:tcPr>
                </a:tc>
                <a:tc>
                  <a:txBody>
                    <a:bodyPr/>
                    <a:lstStyle/>
                    <a:p>
                      <a:r>
                        <a:rPr sz="1300" b="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100%</a:t>
                      </a:r>
                    </a:p>
                  </a:txBody>
                  <a:tcPr marL="73152" marR="73152" marT="36576" marB="36576">
                    <a:solidFill>
                      <a:srgbClr val="F5EFE6"/>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17 / 31</a:t>
            </a:r>
          </a:p>
        </p:txBody>
      </p:sp>
      <p:sp>
        <p:nvSpPr>
          <p:cNvPr id="11" name="TextBox 10">
            <a:extLst>
              <a:ext uri="{FF2B5EF4-FFF2-40B4-BE49-F238E27FC236}">
                <a16:creationId xmlns:a16="http://schemas.microsoft.com/office/drawing/2014/main" id="{ADD49885-266F-7F29-D731-8518E355FA7C}"/>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002841B7-4A9E-0131-7D06-1CE85DBA2E4E}"/>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lang="en-US" sz="9600" i="1" dirty="0">
                <a:solidFill>
                  <a:srgbClr val="C49A6C"/>
                </a:solidFill>
                <a:latin typeface="Playfair Display"/>
              </a:rPr>
              <a:t>V</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ED823407-84FD-B778-A554-A9773E461C94}"/>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Risk Management</a:t>
            </a:r>
          </a:p>
        </p:txBody>
      </p:sp>
      <p:sp>
        <p:nvSpPr>
          <p:cNvPr id="15" name="TextBox 14">
            <a:extLst>
              <a:ext uri="{FF2B5EF4-FFF2-40B4-BE49-F238E27FC236}">
                <a16:creationId xmlns:a16="http://schemas.microsoft.com/office/drawing/2014/main" id="{BBDA8AF4-BD83-2ADD-80ED-029B7C476790}"/>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3, 6 · Ch. 7</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RISK MANAGEMENT</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Risk Register — 6 Risks with EMV</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18 / 31</a:t>
            </a:r>
          </a:p>
        </p:txBody>
      </p:sp>
      <p:graphicFrame>
        <p:nvGraphicFramePr>
          <p:cNvPr id="8" name="Table 7"/>
          <p:cNvGraphicFramePr>
            <a:graphicFrameLocks noGrp="1"/>
          </p:cNvGraphicFramePr>
          <p:nvPr>
            <p:extLst>
              <p:ext uri="{D42A27DB-BD31-4B8C-83A1-F6EECF244321}">
                <p14:modId xmlns:p14="http://schemas.microsoft.com/office/powerpoint/2010/main" val="3926639761"/>
              </p:ext>
            </p:extLst>
          </p:nvPr>
        </p:nvGraphicFramePr>
        <p:xfrm>
          <a:off x="640080" y="1281393"/>
          <a:ext cx="10911534" cy="4748704"/>
        </p:xfrm>
        <a:graphic>
          <a:graphicData uri="http://schemas.openxmlformats.org/drawingml/2006/table">
            <a:tbl>
              <a:tblPr firstRow="1" bandRow="1">
                <a:tableStyleId>{5C22544A-7EE6-4342-B048-85BDC9FD1C3A}</a:tableStyleId>
              </a:tblPr>
              <a:tblGrid>
                <a:gridCol w="452552">
                  <a:extLst>
                    <a:ext uri="{9D8B030D-6E8A-4147-A177-3AD203B41FA5}">
                      <a16:colId xmlns:a16="http://schemas.microsoft.com/office/drawing/2014/main" val="20000"/>
                    </a:ext>
                  </a:extLst>
                </a:gridCol>
                <a:gridCol w="2866163">
                  <a:extLst>
                    <a:ext uri="{9D8B030D-6E8A-4147-A177-3AD203B41FA5}">
                      <a16:colId xmlns:a16="http://schemas.microsoft.com/office/drawing/2014/main" val="20001"/>
                    </a:ext>
                  </a:extLst>
                </a:gridCol>
                <a:gridCol w="779395">
                  <a:extLst>
                    <a:ext uri="{9D8B030D-6E8A-4147-A177-3AD203B41FA5}">
                      <a16:colId xmlns:a16="http://schemas.microsoft.com/office/drawing/2014/main" val="20002"/>
                    </a:ext>
                  </a:extLst>
                </a:gridCol>
                <a:gridCol w="527978">
                  <a:extLst>
                    <a:ext uri="{9D8B030D-6E8A-4147-A177-3AD203B41FA5}">
                      <a16:colId xmlns:a16="http://schemas.microsoft.com/office/drawing/2014/main" val="20003"/>
                    </a:ext>
                  </a:extLst>
                </a:gridCol>
                <a:gridCol w="1055955">
                  <a:extLst>
                    <a:ext uri="{9D8B030D-6E8A-4147-A177-3AD203B41FA5}">
                      <a16:colId xmlns:a16="http://schemas.microsoft.com/office/drawing/2014/main" val="20004"/>
                    </a:ext>
                  </a:extLst>
                </a:gridCol>
                <a:gridCol w="804537">
                  <a:extLst>
                    <a:ext uri="{9D8B030D-6E8A-4147-A177-3AD203B41FA5}">
                      <a16:colId xmlns:a16="http://schemas.microsoft.com/office/drawing/2014/main" val="20005"/>
                    </a:ext>
                  </a:extLst>
                </a:gridCol>
                <a:gridCol w="1055955">
                  <a:extLst>
                    <a:ext uri="{9D8B030D-6E8A-4147-A177-3AD203B41FA5}">
                      <a16:colId xmlns:a16="http://schemas.microsoft.com/office/drawing/2014/main" val="20006"/>
                    </a:ext>
                  </a:extLst>
                </a:gridCol>
                <a:gridCol w="804537">
                  <a:extLst>
                    <a:ext uri="{9D8B030D-6E8A-4147-A177-3AD203B41FA5}">
                      <a16:colId xmlns:a16="http://schemas.microsoft.com/office/drawing/2014/main" val="20007"/>
                    </a:ext>
                  </a:extLst>
                </a:gridCol>
                <a:gridCol w="1759925">
                  <a:extLst>
                    <a:ext uri="{9D8B030D-6E8A-4147-A177-3AD203B41FA5}">
                      <a16:colId xmlns:a16="http://schemas.microsoft.com/office/drawing/2014/main" val="20008"/>
                    </a:ext>
                  </a:extLst>
                </a:gridCol>
                <a:gridCol w="804537">
                  <a:extLst>
                    <a:ext uri="{9D8B030D-6E8A-4147-A177-3AD203B41FA5}">
                      <a16:colId xmlns:a16="http://schemas.microsoft.com/office/drawing/2014/main" val="20009"/>
                    </a:ext>
                  </a:extLst>
                </a:gridCol>
              </a:tblGrid>
              <a:tr h="593588">
                <a:tc>
                  <a:txBody>
                    <a:bodyPr/>
                    <a:lstStyle/>
                    <a:p>
                      <a:r>
                        <a:rPr sz="1300" b="1">
                          <a:solidFill>
                            <a:srgbClr val="FFFFFF"/>
                          </a:solidFill>
                          <a:latin typeface="Inter"/>
                        </a:rPr>
                        <a:t>ID</a:t>
                      </a:r>
                    </a:p>
                  </a:txBody>
                  <a:tcPr marL="73152" marR="73152" marT="36576" marB="36576">
                    <a:solidFill>
                      <a:srgbClr val="8C5A2E"/>
                    </a:solidFill>
                  </a:tcPr>
                </a:tc>
                <a:tc>
                  <a:txBody>
                    <a:bodyPr/>
                    <a:lstStyle/>
                    <a:p>
                      <a:r>
                        <a:rPr sz="1300" b="1">
                          <a:solidFill>
                            <a:srgbClr val="FFFFFF"/>
                          </a:solidFill>
                          <a:latin typeface="Inter"/>
                        </a:rPr>
                        <a:t>Risk Description</a:t>
                      </a:r>
                    </a:p>
                  </a:txBody>
                  <a:tcPr marL="73152" marR="73152" marT="36576" marB="36576">
                    <a:solidFill>
                      <a:srgbClr val="8C5A2E"/>
                    </a:solidFill>
                  </a:tcPr>
                </a:tc>
                <a:tc>
                  <a:txBody>
                    <a:bodyPr/>
                    <a:lstStyle/>
                    <a:p>
                      <a:r>
                        <a:rPr sz="1300" b="1">
                          <a:solidFill>
                            <a:srgbClr val="FFFFFF"/>
                          </a:solidFill>
                          <a:latin typeface="Inter"/>
                        </a:rPr>
                        <a:t>Cat.</a:t>
                      </a:r>
                    </a:p>
                  </a:txBody>
                  <a:tcPr marL="73152" marR="73152" marT="36576" marB="36576">
                    <a:solidFill>
                      <a:srgbClr val="8C5A2E"/>
                    </a:solidFill>
                  </a:tcPr>
                </a:tc>
                <a:tc>
                  <a:txBody>
                    <a:bodyPr/>
                    <a:lstStyle/>
                    <a:p>
                      <a:r>
                        <a:rPr sz="1300" b="1">
                          <a:solidFill>
                            <a:srgbClr val="FFFFFF"/>
                          </a:solidFill>
                          <a:latin typeface="Inter"/>
                        </a:rPr>
                        <a:t>L</a:t>
                      </a:r>
                    </a:p>
                  </a:txBody>
                  <a:tcPr marL="73152" marR="73152" marT="36576" marB="36576">
                    <a:solidFill>
                      <a:srgbClr val="8C5A2E"/>
                    </a:solidFill>
                  </a:tcPr>
                </a:tc>
                <a:tc>
                  <a:txBody>
                    <a:bodyPr/>
                    <a:lstStyle/>
                    <a:p>
                      <a:r>
                        <a:rPr sz="1300" b="1">
                          <a:solidFill>
                            <a:srgbClr val="FFFFFF"/>
                          </a:solidFill>
                          <a:latin typeface="Inter"/>
                        </a:rPr>
                        <a:t>Cost Impact</a:t>
                      </a:r>
                    </a:p>
                  </a:txBody>
                  <a:tcPr marL="73152" marR="73152" marT="36576" marB="36576">
                    <a:solidFill>
                      <a:srgbClr val="8C5A2E"/>
                    </a:solidFill>
                  </a:tcPr>
                </a:tc>
                <a:tc>
                  <a:txBody>
                    <a:bodyPr/>
                    <a:lstStyle/>
                    <a:p>
                      <a:r>
                        <a:rPr sz="1300" b="1">
                          <a:solidFill>
                            <a:srgbClr val="FFFFFF"/>
                          </a:solidFill>
                          <a:latin typeface="Inter"/>
                        </a:rPr>
                        <a:t>Time Impact</a:t>
                      </a:r>
                    </a:p>
                  </a:txBody>
                  <a:tcPr marL="73152" marR="73152" marT="36576" marB="36576">
                    <a:solidFill>
                      <a:srgbClr val="8C5A2E"/>
                    </a:solidFill>
                  </a:tcPr>
                </a:tc>
                <a:tc>
                  <a:txBody>
                    <a:bodyPr/>
                    <a:lstStyle/>
                    <a:p>
                      <a:r>
                        <a:rPr sz="1300" b="1">
                          <a:solidFill>
                            <a:srgbClr val="FFFFFF"/>
                          </a:solidFill>
                          <a:latin typeface="Inter"/>
                        </a:rPr>
                        <a:t>EMV Cost</a:t>
                      </a:r>
                    </a:p>
                  </a:txBody>
                  <a:tcPr marL="73152" marR="73152" marT="36576" marB="36576">
                    <a:solidFill>
                      <a:srgbClr val="8C5A2E"/>
                    </a:solidFill>
                  </a:tcPr>
                </a:tc>
                <a:tc>
                  <a:txBody>
                    <a:bodyPr/>
                    <a:lstStyle/>
                    <a:p>
                      <a:r>
                        <a:rPr sz="1300" b="1">
                          <a:solidFill>
                            <a:srgbClr val="FFFFFF"/>
                          </a:solidFill>
                          <a:latin typeface="Inter"/>
                        </a:rPr>
                        <a:t>EMV Time</a:t>
                      </a:r>
                    </a:p>
                  </a:txBody>
                  <a:tcPr marL="73152" marR="73152" marT="36576" marB="36576">
                    <a:solidFill>
                      <a:srgbClr val="8C5A2E"/>
                    </a:solidFill>
                  </a:tcPr>
                </a:tc>
                <a:tc>
                  <a:txBody>
                    <a:bodyPr/>
                    <a:lstStyle/>
                    <a:p>
                      <a:r>
                        <a:rPr sz="1300" b="1">
                          <a:solidFill>
                            <a:srgbClr val="FFFFFF"/>
                          </a:solidFill>
                          <a:latin typeface="Inter"/>
                        </a:rPr>
                        <a:t>Strategy</a:t>
                      </a:r>
                    </a:p>
                  </a:txBody>
                  <a:tcPr marL="73152" marR="73152" marT="36576" marB="36576">
                    <a:solidFill>
                      <a:srgbClr val="8C5A2E"/>
                    </a:solidFill>
                  </a:tcPr>
                </a:tc>
                <a:tc>
                  <a:txBody>
                    <a:bodyPr/>
                    <a:lstStyle/>
                    <a:p>
                      <a:r>
                        <a:rPr sz="1300" b="1">
                          <a:solidFill>
                            <a:srgbClr val="FFFFFF"/>
                          </a:solidFill>
                          <a:latin typeface="Inter"/>
                        </a:rPr>
                        <a:t>Owner</a:t>
                      </a:r>
                    </a:p>
                  </a:txBody>
                  <a:tcPr marL="73152" marR="73152" marT="36576" marB="36576">
                    <a:solidFill>
                      <a:srgbClr val="8C5A2E"/>
                    </a:solidFill>
                  </a:tcPr>
                </a:tc>
                <a:extLst>
                  <a:ext uri="{0D108BD9-81ED-4DB2-BD59-A6C34878D82A}">
                    <a16:rowId xmlns:a16="http://schemas.microsoft.com/office/drawing/2014/main" val="10000"/>
                  </a:ext>
                </a:extLst>
              </a:tr>
              <a:tr h="593588">
                <a:tc>
                  <a:txBody>
                    <a:bodyPr/>
                    <a:lstStyle/>
                    <a:p>
                      <a:r>
                        <a:rPr sz="1300" b="0">
                          <a:solidFill>
                            <a:srgbClr val="2B2419"/>
                          </a:solidFill>
                          <a:latin typeface="Inter"/>
                        </a:rPr>
                        <a:t>R1</a:t>
                      </a:r>
                    </a:p>
                  </a:txBody>
                  <a:tcPr marL="73152" marR="73152" marT="36576" marB="36576">
                    <a:solidFill>
                      <a:srgbClr val="F5EFE6"/>
                    </a:solidFill>
                  </a:tcPr>
                </a:tc>
                <a:tc>
                  <a:txBody>
                    <a:bodyPr/>
                    <a:lstStyle/>
                    <a:p>
                      <a:r>
                        <a:rPr sz="1300" b="0">
                          <a:solidFill>
                            <a:srgbClr val="2B2419"/>
                          </a:solidFill>
                          <a:latin typeface="Inter"/>
                        </a:rPr>
                        <a:t>Member unavailable (illness/conflict)</a:t>
                      </a:r>
                    </a:p>
                  </a:txBody>
                  <a:tcPr marL="73152" marR="73152" marT="36576" marB="36576">
                    <a:solidFill>
                      <a:srgbClr val="F5EFE6"/>
                    </a:solidFill>
                  </a:tcPr>
                </a:tc>
                <a:tc>
                  <a:txBody>
                    <a:bodyPr/>
                    <a:lstStyle/>
                    <a:p>
                      <a:r>
                        <a:rPr sz="1300" b="0">
                          <a:solidFill>
                            <a:srgbClr val="2B2419"/>
                          </a:solidFill>
                          <a:latin typeface="Inter"/>
                        </a:rPr>
                        <a:t>People</a:t>
                      </a:r>
                    </a:p>
                  </a:txBody>
                  <a:tcPr marL="73152" marR="73152" marT="36576" marB="36576">
                    <a:solidFill>
                      <a:srgbClr val="F5EFE6"/>
                    </a:solidFill>
                  </a:tcPr>
                </a:tc>
                <a:tc>
                  <a:txBody>
                    <a:bodyPr/>
                    <a:lstStyle/>
                    <a:p>
                      <a:r>
                        <a:rPr sz="1300" b="0">
                          <a:solidFill>
                            <a:srgbClr val="2B2419"/>
                          </a:solidFill>
                          <a:latin typeface="Inter"/>
                        </a:rPr>
                        <a:t>0.30</a:t>
                      </a:r>
                    </a:p>
                  </a:txBody>
                  <a:tcPr marL="73152" marR="73152" marT="36576" marB="36576">
                    <a:solidFill>
                      <a:srgbClr val="F5EFE6"/>
                    </a:solidFill>
                  </a:tcPr>
                </a:tc>
                <a:tc>
                  <a:txBody>
                    <a:bodyPr/>
                    <a:lstStyle/>
                    <a:p>
                      <a:r>
                        <a:rPr sz="1300" b="0">
                          <a:solidFill>
                            <a:srgbClr val="2B2419"/>
                          </a:solidFill>
                          <a:latin typeface="Inter"/>
                        </a:rPr>
                        <a:t>1,000,000</a:t>
                      </a:r>
                    </a:p>
                  </a:txBody>
                  <a:tcPr marL="73152" marR="73152" marT="36576" marB="36576">
                    <a:solidFill>
                      <a:srgbClr val="F5EFE6"/>
                    </a:solidFill>
                  </a:tcPr>
                </a:tc>
                <a:tc>
                  <a:txBody>
                    <a:bodyPr/>
                    <a:lstStyle/>
                    <a:p>
                      <a:r>
                        <a:rPr sz="1300" b="0">
                          <a:solidFill>
                            <a:srgbClr val="2B2419"/>
                          </a:solidFill>
                          <a:latin typeface="Inter"/>
                        </a:rPr>
                        <a:t>5 d</a:t>
                      </a:r>
                    </a:p>
                  </a:txBody>
                  <a:tcPr marL="73152" marR="73152" marT="36576" marB="36576">
                    <a:solidFill>
                      <a:srgbClr val="F5EFE6"/>
                    </a:solidFill>
                  </a:tcPr>
                </a:tc>
                <a:tc>
                  <a:txBody>
                    <a:bodyPr/>
                    <a:lstStyle/>
                    <a:p>
                      <a:r>
                        <a:rPr sz="1300" b="0">
                          <a:solidFill>
                            <a:srgbClr val="2B2419"/>
                          </a:solidFill>
                          <a:latin typeface="Inter"/>
                        </a:rPr>
                        <a:t>300,000</a:t>
                      </a:r>
                    </a:p>
                  </a:txBody>
                  <a:tcPr marL="73152" marR="73152" marT="36576" marB="36576">
                    <a:solidFill>
                      <a:srgbClr val="F5EFE6"/>
                    </a:solidFill>
                  </a:tcPr>
                </a:tc>
                <a:tc>
                  <a:txBody>
                    <a:bodyPr/>
                    <a:lstStyle/>
                    <a:p>
                      <a:r>
                        <a:rPr sz="1300" b="0">
                          <a:solidFill>
                            <a:srgbClr val="2B2419"/>
                          </a:solidFill>
                          <a:latin typeface="Inter"/>
                        </a:rPr>
                        <a:t>1.50 d</a:t>
                      </a:r>
                    </a:p>
                  </a:txBody>
                  <a:tcPr marL="73152" marR="73152" marT="36576" marB="36576">
                    <a:solidFill>
                      <a:srgbClr val="F5EFE6"/>
                    </a:solidFill>
                  </a:tcPr>
                </a:tc>
                <a:tc>
                  <a:txBody>
                    <a:bodyPr/>
                    <a:lstStyle/>
                    <a:p>
                      <a:r>
                        <a:rPr sz="1300" b="0">
                          <a:solidFill>
                            <a:srgbClr val="2B2419"/>
                          </a:solidFill>
                          <a:latin typeface="Inter"/>
                        </a:rPr>
                        <a:t>Contingency / Accept</a:t>
                      </a:r>
                    </a:p>
                  </a:txBody>
                  <a:tcPr marL="73152" marR="73152" marT="36576" marB="36576">
                    <a:solidFill>
                      <a:srgbClr val="F5EFE6"/>
                    </a:solidFill>
                  </a:tcPr>
                </a:tc>
                <a:tc>
                  <a:txBody>
                    <a:bodyPr/>
                    <a:lstStyle/>
                    <a:p>
                      <a:r>
                        <a:rPr sz="1300" b="0">
                          <a:solidFill>
                            <a:srgbClr val="2B2419"/>
                          </a:solidFill>
                          <a:latin typeface="Inter"/>
                        </a:rPr>
                        <a:t>Đức</a:t>
                      </a:r>
                    </a:p>
                  </a:txBody>
                  <a:tcPr marL="73152" marR="73152" marT="36576" marB="36576">
                    <a:solidFill>
                      <a:srgbClr val="F5EFE6"/>
                    </a:solidFill>
                  </a:tcPr>
                </a:tc>
                <a:extLst>
                  <a:ext uri="{0D108BD9-81ED-4DB2-BD59-A6C34878D82A}">
                    <a16:rowId xmlns:a16="http://schemas.microsoft.com/office/drawing/2014/main" val="10001"/>
                  </a:ext>
                </a:extLst>
              </a:tr>
              <a:tr h="593588">
                <a:tc>
                  <a:txBody>
                    <a:bodyPr/>
                    <a:lstStyle/>
                    <a:p>
                      <a:r>
                        <a:rPr sz="1300" b="0">
                          <a:solidFill>
                            <a:srgbClr val="2B2419"/>
                          </a:solidFill>
                          <a:latin typeface="Inter"/>
                        </a:rPr>
                        <a:t>R2</a:t>
                      </a:r>
                    </a:p>
                  </a:txBody>
                  <a:tcPr marL="73152" marR="73152" marT="36576" marB="36576">
                    <a:solidFill>
                      <a:srgbClr val="F5EFE6"/>
                    </a:solidFill>
                  </a:tcPr>
                </a:tc>
                <a:tc>
                  <a:txBody>
                    <a:bodyPr/>
                    <a:lstStyle/>
                    <a:p>
                      <a:r>
                        <a:rPr sz="1300" b="0">
                          <a:solidFill>
                            <a:srgbClr val="2B2419"/>
                          </a:solidFill>
                          <a:latin typeface="Inter"/>
                        </a:rPr>
                        <a:t>Scope creep — new requirements added</a:t>
                      </a:r>
                    </a:p>
                  </a:txBody>
                  <a:tcPr marL="73152" marR="73152" marT="36576" marB="36576">
                    <a:solidFill>
                      <a:srgbClr val="F5EFE6"/>
                    </a:solidFill>
                  </a:tcPr>
                </a:tc>
                <a:tc>
                  <a:txBody>
                    <a:bodyPr/>
                    <a:lstStyle/>
                    <a:p>
                      <a:r>
                        <a:rPr sz="1300" b="0">
                          <a:solidFill>
                            <a:srgbClr val="2B2419"/>
                          </a:solidFill>
                          <a:latin typeface="Inter"/>
                        </a:rPr>
                        <a:t>Scope</a:t>
                      </a:r>
                    </a:p>
                  </a:txBody>
                  <a:tcPr marL="73152" marR="73152" marT="36576" marB="36576">
                    <a:solidFill>
                      <a:srgbClr val="F5EFE6"/>
                    </a:solidFill>
                  </a:tcPr>
                </a:tc>
                <a:tc>
                  <a:txBody>
                    <a:bodyPr/>
                    <a:lstStyle/>
                    <a:p>
                      <a:r>
                        <a:rPr sz="1300" b="0">
                          <a:solidFill>
                            <a:srgbClr val="2B2419"/>
                          </a:solidFill>
                          <a:latin typeface="Inter"/>
                        </a:rPr>
                        <a:t>0.50</a:t>
                      </a:r>
                    </a:p>
                  </a:txBody>
                  <a:tcPr marL="73152" marR="73152" marT="36576" marB="36576">
                    <a:solidFill>
                      <a:srgbClr val="F5EFE6"/>
                    </a:solidFill>
                  </a:tcPr>
                </a:tc>
                <a:tc>
                  <a:txBody>
                    <a:bodyPr/>
                    <a:lstStyle/>
                    <a:p>
                      <a:r>
                        <a:rPr sz="1300" b="0">
                          <a:solidFill>
                            <a:srgbClr val="2B2419"/>
                          </a:solidFill>
                          <a:latin typeface="Inter"/>
                        </a:rPr>
                        <a:t>3,000,000</a:t>
                      </a:r>
                    </a:p>
                  </a:txBody>
                  <a:tcPr marL="73152" marR="73152" marT="36576" marB="36576">
                    <a:solidFill>
                      <a:srgbClr val="F5EFE6"/>
                    </a:solidFill>
                  </a:tcPr>
                </a:tc>
                <a:tc>
                  <a:txBody>
                    <a:bodyPr/>
                    <a:lstStyle/>
                    <a:p>
                      <a:r>
                        <a:rPr sz="1300" b="0">
                          <a:solidFill>
                            <a:srgbClr val="2B2419"/>
                          </a:solidFill>
                          <a:latin typeface="Inter"/>
                        </a:rPr>
                        <a:t>10 d</a:t>
                      </a:r>
                    </a:p>
                  </a:txBody>
                  <a:tcPr marL="73152" marR="73152" marT="36576" marB="36576">
                    <a:solidFill>
                      <a:srgbClr val="F5EFE6"/>
                    </a:solidFill>
                  </a:tcPr>
                </a:tc>
                <a:tc>
                  <a:txBody>
                    <a:bodyPr/>
                    <a:lstStyle/>
                    <a:p>
                      <a:r>
                        <a:rPr sz="1300" b="0">
                          <a:solidFill>
                            <a:srgbClr val="2B2419"/>
                          </a:solidFill>
                          <a:latin typeface="Inter"/>
                        </a:rPr>
                        <a:t>1,500,000</a:t>
                      </a:r>
                    </a:p>
                  </a:txBody>
                  <a:tcPr marL="73152" marR="73152" marT="36576" marB="36576">
                    <a:solidFill>
                      <a:srgbClr val="F5EFE6"/>
                    </a:solidFill>
                  </a:tcPr>
                </a:tc>
                <a:tc>
                  <a:txBody>
                    <a:bodyPr/>
                    <a:lstStyle/>
                    <a:p>
                      <a:r>
                        <a:rPr sz="1300" b="0">
                          <a:solidFill>
                            <a:srgbClr val="2B2419"/>
                          </a:solidFill>
                          <a:latin typeface="Inter"/>
                        </a:rPr>
                        <a:t>5.00 d</a:t>
                      </a:r>
                    </a:p>
                  </a:txBody>
                  <a:tcPr marL="73152" marR="73152" marT="36576" marB="36576">
                    <a:solidFill>
                      <a:srgbClr val="F5EFE6"/>
                    </a:solidFill>
                  </a:tcPr>
                </a:tc>
                <a:tc>
                  <a:txBody>
                    <a:bodyPr/>
                    <a:lstStyle/>
                    <a:p>
                      <a:r>
                        <a:rPr sz="1300" b="0">
                          <a:solidFill>
                            <a:srgbClr val="2B2419"/>
                          </a:solidFill>
                          <a:latin typeface="Inter"/>
                        </a:rPr>
                        <a:t>Avoid + Reduce</a:t>
                      </a:r>
                    </a:p>
                  </a:txBody>
                  <a:tcPr marL="73152" marR="73152" marT="36576" marB="36576">
                    <a:solidFill>
                      <a:srgbClr val="F5EFE6"/>
                    </a:solidFill>
                  </a:tcPr>
                </a:tc>
                <a:tc>
                  <a:txBody>
                    <a:bodyPr/>
                    <a:lstStyle/>
                    <a:p>
                      <a:r>
                        <a:rPr sz="1300" b="0">
                          <a:solidFill>
                            <a:srgbClr val="2B2419"/>
                          </a:solidFill>
                          <a:latin typeface="Inter"/>
                        </a:rPr>
                        <a:t>Đức</a:t>
                      </a:r>
                    </a:p>
                  </a:txBody>
                  <a:tcPr marL="73152" marR="73152" marT="36576" marB="36576">
                    <a:solidFill>
                      <a:srgbClr val="F5EFE6"/>
                    </a:solidFill>
                  </a:tcPr>
                </a:tc>
                <a:extLst>
                  <a:ext uri="{0D108BD9-81ED-4DB2-BD59-A6C34878D82A}">
                    <a16:rowId xmlns:a16="http://schemas.microsoft.com/office/drawing/2014/main" val="10002"/>
                  </a:ext>
                </a:extLst>
              </a:tr>
              <a:tr h="593588">
                <a:tc>
                  <a:txBody>
                    <a:bodyPr/>
                    <a:lstStyle/>
                    <a:p>
                      <a:r>
                        <a:rPr sz="1300" b="0">
                          <a:solidFill>
                            <a:srgbClr val="2B2419"/>
                          </a:solidFill>
                          <a:latin typeface="Inter"/>
                        </a:rPr>
                        <a:t>R3</a:t>
                      </a:r>
                    </a:p>
                  </a:txBody>
                  <a:tcPr marL="73152" marR="73152" marT="36576" marB="36576">
                    <a:solidFill>
                      <a:srgbClr val="F5EFE6"/>
                    </a:solidFill>
                  </a:tcPr>
                </a:tc>
                <a:tc>
                  <a:txBody>
                    <a:bodyPr/>
                    <a:lstStyle/>
                    <a:p>
                      <a:r>
                        <a:rPr sz="1300" b="0">
                          <a:solidFill>
                            <a:srgbClr val="2B2419"/>
                          </a:solidFill>
                          <a:latin typeface="Inter"/>
                        </a:rPr>
                        <a:t>Stack unfamiliarity (React 19, TS)</a:t>
                      </a:r>
                    </a:p>
                  </a:txBody>
                  <a:tcPr marL="73152" marR="73152" marT="36576" marB="36576">
                    <a:solidFill>
                      <a:srgbClr val="F5EFE6"/>
                    </a:solidFill>
                  </a:tcPr>
                </a:tc>
                <a:tc>
                  <a:txBody>
                    <a:bodyPr/>
                    <a:lstStyle/>
                    <a:p>
                      <a:r>
                        <a:rPr sz="1300" b="0">
                          <a:solidFill>
                            <a:srgbClr val="2B2419"/>
                          </a:solidFill>
                          <a:latin typeface="Inter"/>
                        </a:rPr>
                        <a:t>Tech</a:t>
                      </a:r>
                    </a:p>
                  </a:txBody>
                  <a:tcPr marL="73152" marR="73152" marT="36576" marB="36576">
                    <a:solidFill>
                      <a:srgbClr val="F5EFE6"/>
                    </a:solidFill>
                  </a:tcPr>
                </a:tc>
                <a:tc>
                  <a:txBody>
                    <a:bodyPr/>
                    <a:lstStyle/>
                    <a:p>
                      <a:r>
                        <a:rPr sz="1300" b="0">
                          <a:solidFill>
                            <a:srgbClr val="2B2419"/>
                          </a:solidFill>
                          <a:latin typeface="Inter"/>
                        </a:rPr>
                        <a:t>0.40</a:t>
                      </a:r>
                    </a:p>
                  </a:txBody>
                  <a:tcPr marL="73152" marR="73152" marT="36576" marB="36576">
                    <a:solidFill>
                      <a:srgbClr val="F5EFE6"/>
                    </a:solidFill>
                  </a:tcPr>
                </a:tc>
                <a:tc>
                  <a:txBody>
                    <a:bodyPr/>
                    <a:lstStyle/>
                    <a:p>
                      <a:r>
                        <a:rPr sz="1300" b="0">
                          <a:solidFill>
                            <a:srgbClr val="2B2419"/>
                          </a:solidFill>
                          <a:latin typeface="Inter"/>
                        </a:rPr>
                        <a:t>500,000</a:t>
                      </a:r>
                    </a:p>
                  </a:txBody>
                  <a:tcPr marL="73152" marR="73152" marT="36576" marB="36576">
                    <a:solidFill>
                      <a:srgbClr val="F5EFE6"/>
                    </a:solidFill>
                  </a:tcPr>
                </a:tc>
                <a:tc>
                  <a:txBody>
                    <a:bodyPr/>
                    <a:lstStyle/>
                    <a:p>
                      <a:r>
                        <a:rPr sz="1300" b="0">
                          <a:solidFill>
                            <a:srgbClr val="2B2419"/>
                          </a:solidFill>
                          <a:latin typeface="Inter"/>
                        </a:rPr>
                        <a:t>7 d</a:t>
                      </a:r>
                    </a:p>
                  </a:txBody>
                  <a:tcPr marL="73152" marR="73152" marT="36576" marB="36576">
                    <a:solidFill>
                      <a:srgbClr val="F5EFE6"/>
                    </a:solidFill>
                  </a:tcPr>
                </a:tc>
                <a:tc>
                  <a:txBody>
                    <a:bodyPr/>
                    <a:lstStyle/>
                    <a:p>
                      <a:r>
                        <a:rPr sz="1300" b="0">
                          <a:solidFill>
                            <a:srgbClr val="2B2419"/>
                          </a:solidFill>
                          <a:latin typeface="Inter"/>
                        </a:rPr>
                        <a:t>200,000</a:t>
                      </a:r>
                    </a:p>
                  </a:txBody>
                  <a:tcPr marL="73152" marR="73152" marT="36576" marB="36576">
                    <a:solidFill>
                      <a:srgbClr val="F5EFE6"/>
                    </a:solidFill>
                  </a:tcPr>
                </a:tc>
                <a:tc>
                  <a:txBody>
                    <a:bodyPr/>
                    <a:lstStyle/>
                    <a:p>
                      <a:r>
                        <a:rPr sz="1300" b="0">
                          <a:solidFill>
                            <a:srgbClr val="2B2419"/>
                          </a:solidFill>
                          <a:latin typeface="Inter"/>
                        </a:rPr>
                        <a:t>2.80 d</a:t>
                      </a:r>
                    </a:p>
                  </a:txBody>
                  <a:tcPr marL="73152" marR="73152" marT="36576" marB="36576">
                    <a:solidFill>
                      <a:srgbClr val="F5EFE6"/>
                    </a:solidFill>
                  </a:tcPr>
                </a:tc>
                <a:tc>
                  <a:txBody>
                    <a:bodyPr/>
                    <a:lstStyle/>
                    <a:p>
                      <a:r>
                        <a:rPr sz="1300" b="0">
                          <a:solidFill>
                            <a:srgbClr val="2B2419"/>
                          </a:solidFill>
                          <a:latin typeface="Inter"/>
                        </a:rPr>
                        <a:t>Reduce</a:t>
                      </a:r>
                    </a:p>
                  </a:txBody>
                  <a:tcPr marL="73152" marR="73152" marT="36576" marB="36576">
                    <a:solidFill>
                      <a:srgbClr val="F5EFE6"/>
                    </a:solidFill>
                  </a:tcPr>
                </a:tc>
                <a:tc>
                  <a:txBody>
                    <a:bodyPr/>
                    <a:lstStyle/>
                    <a:p>
                      <a:r>
                        <a:rPr sz="1300" b="0">
                          <a:solidFill>
                            <a:srgbClr val="2B2419"/>
                          </a:solidFill>
                          <a:latin typeface="Inter"/>
                        </a:rPr>
                        <a:t>Bảo</a:t>
                      </a:r>
                    </a:p>
                  </a:txBody>
                  <a:tcPr marL="73152" marR="73152" marT="36576" marB="36576">
                    <a:solidFill>
                      <a:srgbClr val="F5EFE6"/>
                    </a:solidFill>
                  </a:tcPr>
                </a:tc>
                <a:extLst>
                  <a:ext uri="{0D108BD9-81ED-4DB2-BD59-A6C34878D82A}">
                    <a16:rowId xmlns:a16="http://schemas.microsoft.com/office/drawing/2014/main" val="10003"/>
                  </a:ext>
                </a:extLst>
              </a:tr>
              <a:tr h="593588">
                <a:tc>
                  <a:txBody>
                    <a:bodyPr/>
                    <a:lstStyle/>
                    <a:p>
                      <a:r>
                        <a:rPr sz="1300" b="0">
                          <a:solidFill>
                            <a:srgbClr val="2B2419"/>
                          </a:solidFill>
                          <a:latin typeface="Inter"/>
                        </a:rPr>
                        <a:t>R4</a:t>
                      </a:r>
                    </a:p>
                  </a:txBody>
                  <a:tcPr marL="73152" marR="73152" marT="36576" marB="36576">
                    <a:solidFill>
                      <a:srgbClr val="F5EFE6"/>
                    </a:solidFill>
                  </a:tcPr>
                </a:tc>
                <a:tc>
                  <a:txBody>
                    <a:bodyPr/>
                    <a:lstStyle/>
                    <a:p>
                      <a:r>
                        <a:rPr sz="1300" b="0">
                          <a:solidFill>
                            <a:srgbClr val="2B2419"/>
                          </a:solidFill>
                          <a:latin typeface="Inter"/>
                        </a:rPr>
                        <a:t>Data loss / version control failure</a:t>
                      </a:r>
                    </a:p>
                  </a:txBody>
                  <a:tcPr marL="73152" marR="73152" marT="36576" marB="36576">
                    <a:solidFill>
                      <a:srgbClr val="F5EFE6"/>
                    </a:solidFill>
                  </a:tcPr>
                </a:tc>
                <a:tc>
                  <a:txBody>
                    <a:bodyPr/>
                    <a:lstStyle/>
                    <a:p>
                      <a:r>
                        <a:rPr sz="1300" b="0">
                          <a:solidFill>
                            <a:srgbClr val="2B2419"/>
                          </a:solidFill>
                          <a:latin typeface="Inter"/>
                        </a:rPr>
                        <a:t>Tech</a:t>
                      </a:r>
                    </a:p>
                  </a:txBody>
                  <a:tcPr marL="73152" marR="73152" marT="36576" marB="36576">
                    <a:solidFill>
                      <a:srgbClr val="F5EFE6"/>
                    </a:solidFill>
                  </a:tcPr>
                </a:tc>
                <a:tc>
                  <a:txBody>
                    <a:bodyPr/>
                    <a:lstStyle/>
                    <a:p>
                      <a:r>
                        <a:rPr sz="1300" b="0">
                          <a:solidFill>
                            <a:srgbClr val="2B2419"/>
                          </a:solidFill>
                          <a:latin typeface="Inter"/>
                        </a:rPr>
                        <a:t>0.15</a:t>
                      </a:r>
                    </a:p>
                  </a:txBody>
                  <a:tcPr marL="73152" marR="73152" marT="36576" marB="36576">
                    <a:solidFill>
                      <a:srgbClr val="F5EFE6"/>
                    </a:solidFill>
                  </a:tcPr>
                </a:tc>
                <a:tc>
                  <a:txBody>
                    <a:bodyPr/>
                    <a:lstStyle/>
                    <a:p>
                      <a:r>
                        <a:rPr sz="1300" b="0">
                          <a:solidFill>
                            <a:srgbClr val="2B2419"/>
                          </a:solidFill>
                          <a:latin typeface="Inter"/>
                        </a:rPr>
                        <a:t>2,000,000</a:t>
                      </a:r>
                    </a:p>
                  </a:txBody>
                  <a:tcPr marL="73152" marR="73152" marT="36576" marB="36576">
                    <a:solidFill>
                      <a:srgbClr val="F5EFE6"/>
                    </a:solidFill>
                  </a:tcPr>
                </a:tc>
                <a:tc>
                  <a:txBody>
                    <a:bodyPr/>
                    <a:lstStyle/>
                    <a:p>
                      <a:r>
                        <a:rPr sz="1300" b="0">
                          <a:solidFill>
                            <a:srgbClr val="2B2419"/>
                          </a:solidFill>
                          <a:latin typeface="Inter"/>
                        </a:rPr>
                        <a:t>3 d</a:t>
                      </a:r>
                    </a:p>
                  </a:txBody>
                  <a:tcPr marL="73152" marR="73152" marT="36576" marB="36576">
                    <a:solidFill>
                      <a:srgbClr val="F5EFE6"/>
                    </a:solidFill>
                  </a:tcPr>
                </a:tc>
                <a:tc>
                  <a:txBody>
                    <a:bodyPr/>
                    <a:lstStyle/>
                    <a:p>
                      <a:r>
                        <a:rPr sz="1300" b="0">
                          <a:solidFill>
                            <a:srgbClr val="2B2419"/>
                          </a:solidFill>
                          <a:latin typeface="Inter"/>
                        </a:rPr>
                        <a:t>300,000</a:t>
                      </a:r>
                    </a:p>
                  </a:txBody>
                  <a:tcPr marL="73152" marR="73152" marT="36576" marB="36576">
                    <a:solidFill>
                      <a:srgbClr val="F5EFE6"/>
                    </a:solidFill>
                  </a:tcPr>
                </a:tc>
                <a:tc>
                  <a:txBody>
                    <a:bodyPr/>
                    <a:lstStyle/>
                    <a:p>
                      <a:r>
                        <a:rPr sz="1300" b="0">
                          <a:solidFill>
                            <a:srgbClr val="2B2419"/>
                          </a:solidFill>
                          <a:latin typeface="Inter"/>
                        </a:rPr>
                        <a:t>0.45 d</a:t>
                      </a:r>
                    </a:p>
                  </a:txBody>
                  <a:tcPr marL="73152" marR="73152" marT="36576" marB="36576">
                    <a:solidFill>
                      <a:srgbClr val="F5EFE6"/>
                    </a:solidFill>
                  </a:tcPr>
                </a:tc>
                <a:tc>
                  <a:txBody>
                    <a:bodyPr/>
                    <a:lstStyle/>
                    <a:p>
                      <a:r>
                        <a:rPr sz="1300" b="0">
                          <a:solidFill>
                            <a:srgbClr val="2B2419"/>
                          </a:solidFill>
                          <a:latin typeface="Inter"/>
                        </a:rPr>
                        <a:t>Reduce</a:t>
                      </a:r>
                    </a:p>
                  </a:txBody>
                  <a:tcPr marL="73152" marR="73152" marT="36576" marB="36576">
                    <a:solidFill>
                      <a:srgbClr val="F5EFE6"/>
                    </a:solidFill>
                  </a:tcPr>
                </a:tc>
                <a:tc>
                  <a:txBody>
                    <a:bodyPr/>
                    <a:lstStyle/>
                    <a:p>
                      <a:r>
                        <a:rPr sz="1300" b="0">
                          <a:solidFill>
                            <a:srgbClr val="2B2419"/>
                          </a:solidFill>
                          <a:latin typeface="Inter"/>
                        </a:rPr>
                        <a:t>Thịnh</a:t>
                      </a:r>
                    </a:p>
                  </a:txBody>
                  <a:tcPr marL="73152" marR="73152" marT="36576" marB="36576">
                    <a:solidFill>
                      <a:srgbClr val="F5EFE6"/>
                    </a:solidFill>
                  </a:tcPr>
                </a:tc>
                <a:extLst>
                  <a:ext uri="{0D108BD9-81ED-4DB2-BD59-A6C34878D82A}">
                    <a16:rowId xmlns:a16="http://schemas.microsoft.com/office/drawing/2014/main" val="10004"/>
                  </a:ext>
                </a:extLst>
              </a:tr>
              <a:tr h="593588">
                <a:tc>
                  <a:txBody>
                    <a:bodyPr/>
                    <a:lstStyle/>
                    <a:p>
                      <a:r>
                        <a:rPr sz="1300" b="0">
                          <a:solidFill>
                            <a:srgbClr val="2B2419"/>
                          </a:solidFill>
                          <a:latin typeface="Inter"/>
                        </a:rPr>
                        <a:t>R5</a:t>
                      </a:r>
                    </a:p>
                  </a:txBody>
                  <a:tcPr marL="73152" marR="73152" marT="36576" marB="36576">
                    <a:solidFill>
                      <a:srgbClr val="F5EFE6"/>
                    </a:solidFill>
                  </a:tcPr>
                </a:tc>
                <a:tc>
                  <a:txBody>
                    <a:bodyPr/>
                    <a:lstStyle/>
                    <a:p>
                      <a:r>
                        <a:rPr sz="1300" b="0">
                          <a:solidFill>
                            <a:srgbClr val="2B2419"/>
                          </a:solidFill>
                          <a:latin typeface="Inter"/>
                        </a:rPr>
                        <a:t>FE/BE integration failure at W7</a:t>
                      </a:r>
                    </a:p>
                  </a:txBody>
                  <a:tcPr marL="73152" marR="73152" marT="36576" marB="36576">
                    <a:solidFill>
                      <a:srgbClr val="F5EFE6"/>
                    </a:solidFill>
                  </a:tcPr>
                </a:tc>
                <a:tc>
                  <a:txBody>
                    <a:bodyPr/>
                    <a:lstStyle/>
                    <a:p>
                      <a:r>
                        <a:rPr sz="1300" b="0">
                          <a:solidFill>
                            <a:srgbClr val="2B2419"/>
                          </a:solidFill>
                          <a:latin typeface="Inter"/>
                        </a:rPr>
                        <a:t>Tech</a:t>
                      </a:r>
                    </a:p>
                  </a:txBody>
                  <a:tcPr marL="73152" marR="73152" marT="36576" marB="36576">
                    <a:solidFill>
                      <a:srgbClr val="F5EFE6"/>
                    </a:solidFill>
                  </a:tcPr>
                </a:tc>
                <a:tc>
                  <a:txBody>
                    <a:bodyPr/>
                    <a:lstStyle/>
                    <a:p>
                      <a:r>
                        <a:rPr sz="1300" b="0">
                          <a:solidFill>
                            <a:srgbClr val="2B2419"/>
                          </a:solidFill>
                          <a:latin typeface="Inter"/>
                        </a:rPr>
                        <a:t>0.35</a:t>
                      </a:r>
                    </a:p>
                  </a:txBody>
                  <a:tcPr marL="73152" marR="73152" marT="36576" marB="36576">
                    <a:solidFill>
                      <a:srgbClr val="F5EFE6"/>
                    </a:solidFill>
                  </a:tcPr>
                </a:tc>
                <a:tc>
                  <a:txBody>
                    <a:bodyPr/>
                    <a:lstStyle/>
                    <a:p>
                      <a:r>
                        <a:rPr sz="1300" b="0">
                          <a:solidFill>
                            <a:srgbClr val="2B2419"/>
                          </a:solidFill>
                          <a:latin typeface="Inter"/>
                        </a:rPr>
                        <a:t>2,000,000</a:t>
                      </a:r>
                    </a:p>
                  </a:txBody>
                  <a:tcPr marL="73152" marR="73152" marT="36576" marB="36576">
                    <a:solidFill>
                      <a:srgbClr val="F5EFE6"/>
                    </a:solidFill>
                  </a:tcPr>
                </a:tc>
                <a:tc>
                  <a:txBody>
                    <a:bodyPr/>
                    <a:lstStyle/>
                    <a:p>
                      <a:r>
                        <a:rPr sz="1300" b="0">
                          <a:solidFill>
                            <a:srgbClr val="2B2419"/>
                          </a:solidFill>
                          <a:latin typeface="Inter"/>
                        </a:rPr>
                        <a:t>8 d</a:t>
                      </a:r>
                    </a:p>
                  </a:txBody>
                  <a:tcPr marL="73152" marR="73152" marT="36576" marB="36576">
                    <a:solidFill>
                      <a:srgbClr val="F5EFE6"/>
                    </a:solidFill>
                  </a:tcPr>
                </a:tc>
                <a:tc>
                  <a:txBody>
                    <a:bodyPr/>
                    <a:lstStyle/>
                    <a:p>
                      <a:r>
                        <a:rPr sz="1300" b="0">
                          <a:solidFill>
                            <a:srgbClr val="2B2419"/>
                          </a:solidFill>
                          <a:latin typeface="Inter"/>
                        </a:rPr>
                        <a:t>700,000</a:t>
                      </a:r>
                    </a:p>
                  </a:txBody>
                  <a:tcPr marL="73152" marR="73152" marT="36576" marB="36576">
                    <a:solidFill>
                      <a:srgbClr val="F5EFE6"/>
                    </a:solidFill>
                  </a:tcPr>
                </a:tc>
                <a:tc>
                  <a:txBody>
                    <a:bodyPr/>
                    <a:lstStyle/>
                    <a:p>
                      <a:r>
                        <a:rPr sz="1300" b="0">
                          <a:solidFill>
                            <a:srgbClr val="2B2419"/>
                          </a:solidFill>
                          <a:latin typeface="Inter"/>
                        </a:rPr>
                        <a:t>2.80 d</a:t>
                      </a:r>
                    </a:p>
                  </a:txBody>
                  <a:tcPr marL="73152" marR="73152" marT="36576" marB="36576">
                    <a:solidFill>
                      <a:srgbClr val="F5EFE6"/>
                    </a:solidFill>
                  </a:tcPr>
                </a:tc>
                <a:tc>
                  <a:txBody>
                    <a:bodyPr/>
                    <a:lstStyle/>
                    <a:p>
                      <a:r>
                        <a:rPr sz="1300" b="0">
                          <a:solidFill>
                            <a:srgbClr val="2B2419"/>
                          </a:solidFill>
                          <a:latin typeface="Inter"/>
                        </a:rPr>
                        <a:t>Reduce</a:t>
                      </a:r>
                    </a:p>
                  </a:txBody>
                  <a:tcPr marL="73152" marR="73152" marT="36576" marB="36576">
                    <a:solidFill>
                      <a:srgbClr val="F5EFE6"/>
                    </a:solidFill>
                  </a:tcPr>
                </a:tc>
                <a:tc>
                  <a:txBody>
                    <a:bodyPr/>
                    <a:lstStyle/>
                    <a:p>
                      <a:r>
                        <a:rPr sz="1300" b="0">
                          <a:solidFill>
                            <a:srgbClr val="2B2419"/>
                          </a:solidFill>
                          <a:latin typeface="Inter"/>
                        </a:rPr>
                        <a:t>Hiếu</a:t>
                      </a:r>
                    </a:p>
                  </a:txBody>
                  <a:tcPr marL="73152" marR="73152" marT="36576" marB="36576">
                    <a:solidFill>
                      <a:srgbClr val="F5EFE6"/>
                    </a:solidFill>
                  </a:tcPr>
                </a:tc>
                <a:extLst>
                  <a:ext uri="{0D108BD9-81ED-4DB2-BD59-A6C34878D82A}">
                    <a16:rowId xmlns:a16="http://schemas.microsoft.com/office/drawing/2014/main" val="10005"/>
                  </a:ext>
                </a:extLst>
              </a:tr>
              <a:tr h="593588">
                <a:tc>
                  <a:txBody>
                    <a:bodyPr/>
                    <a:lstStyle/>
                    <a:p>
                      <a:r>
                        <a:rPr sz="1300" b="0">
                          <a:solidFill>
                            <a:srgbClr val="2B2419"/>
                          </a:solidFill>
                          <a:latin typeface="Inter"/>
                        </a:rPr>
                        <a:t>R6</a:t>
                      </a:r>
                    </a:p>
                  </a:txBody>
                  <a:tcPr marL="73152" marR="73152" marT="36576" marB="36576">
                    <a:solidFill>
                      <a:srgbClr val="EDE4D3"/>
                    </a:solidFill>
                  </a:tcPr>
                </a:tc>
                <a:tc>
                  <a:txBody>
                    <a:bodyPr/>
                    <a:lstStyle/>
                    <a:p>
                      <a:r>
                        <a:rPr sz="1300" b="0">
                          <a:solidFill>
                            <a:srgbClr val="2B2419"/>
                          </a:solidFill>
                          <a:latin typeface="Inter"/>
                        </a:rPr>
                        <a:t>Meeting coordination issues</a:t>
                      </a:r>
                    </a:p>
                  </a:txBody>
                  <a:tcPr marL="73152" marR="73152" marT="36576" marB="36576">
                    <a:solidFill>
                      <a:srgbClr val="EDE4D3"/>
                    </a:solidFill>
                  </a:tcPr>
                </a:tc>
                <a:tc>
                  <a:txBody>
                    <a:bodyPr/>
                    <a:lstStyle/>
                    <a:p>
                      <a:r>
                        <a:rPr sz="1300" b="0">
                          <a:solidFill>
                            <a:srgbClr val="2B2419"/>
                          </a:solidFill>
                          <a:latin typeface="Inter"/>
                        </a:rPr>
                        <a:t>People</a:t>
                      </a:r>
                    </a:p>
                  </a:txBody>
                  <a:tcPr marL="73152" marR="73152" marT="36576" marB="36576">
                    <a:solidFill>
                      <a:srgbClr val="EDE4D3"/>
                    </a:solidFill>
                  </a:tcPr>
                </a:tc>
                <a:tc>
                  <a:txBody>
                    <a:bodyPr/>
                    <a:lstStyle/>
                    <a:p>
                      <a:r>
                        <a:rPr sz="1300" b="0">
                          <a:solidFill>
                            <a:srgbClr val="2B2419"/>
                          </a:solidFill>
                          <a:latin typeface="Inter"/>
                        </a:rPr>
                        <a:t>0.40</a:t>
                      </a:r>
                    </a:p>
                  </a:txBody>
                  <a:tcPr marL="73152" marR="73152" marT="36576" marB="36576">
                    <a:solidFill>
                      <a:srgbClr val="EDE4D3"/>
                    </a:solidFill>
                  </a:tcPr>
                </a:tc>
                <a:tc>
                  <a:txBody>
                    <a:bodyPr/>
                    <a:lstStyle/>
                    <a:p>
                      <a:r>
                        <a:rPr sz="1300" b="0">
                          <a:solidFill>
                            <a:srgbClr val="2B2419"/>
                          </a:solidFill>
                          <a:latin typeface="Inter"/>
                        </a:rPr>
                        <a:t>200,000</a:t>
                      </a:r>
                    </a:p>
                  </a:txBody>
                  <a:tcPr marL="73152" marR="73152" marT="36576" marB="36576">
                    <a:solidFill>
                      <a:srgbClr val="EDE4D3"/>
                    </a:solidFill>
                  </a:tcPr>
                </a:tc>
                <a:tc>
                  <a:txBody>
                    <a:bodyPr/>
                    <a:lstStyle/>
                    <a:p>
                      <a:r>
                        <a:rPr sz="1300" b="0">
                          <a:solidFill>
                            <a:srgbClr val="2B2419"/>
                          </a:solidFill>
                          <a:latin typeface="Inter"/>
                        </a:rPr>
                        <a:t>2 d</a:t>
                      </a:r>
                    </a:p>
                  </a:txBody>
                  <a:tcPr marL="73152" marR="73152" marT="36576" marB="36576">
                    <a:solidFill>
                      <a:srgbClr val="EDE4D3"/>
                    </a:solidFill>
                  </a:tcPr>
                </a:tc>
                <a:tc>
                  <a:txBody>
                    <a:bodyPr/>
                    <a:lstStyle/>
                    <a:p>
                      <a:r>
                        <a:rPr sz="1300" b="0" dirty="0">
                          <a:solidFill>
                            <a:srgbClr val="2B2419"/>
                          </a:solidFill>
                          <a:latin typeface="Inter"/>
                        </a:rPr>
                        <a:t>80,000</a:t>
                      </a:r>
                    </a:p>
                  </a:txBody>
                  <a:tcPr marL="73152" marR="73152" marT="36576" marB="36576">
                    <a:solidFill>
                      <a:srgbClr val="EDE4D3"/>
                    </a:solidFill>
                  </a:tcPr>
                </a:tc>
                <a:tc>
                  <a:txBody>
                    <a:bodyPr/>
                    <a:lstStyle/>
                    <a:p>
                      <a:r>
                        <a:rPr sz="1300" b="0">
                          <a:solidFill>
                            <a:srgbClr val="2B2419"/>
                          </a:solidFill>
                          <a:latin typeface="Inter"/>
                        </a:rPr>
                        <a:t>0.80 d</a:t>
                      </a:r>
                    </a:p>
                  </a:txBody>
                  <a:tcPr marL="73152" marR="73152" marT="36576" marB="36576">
                    <a:solidFill>
                      <a:srgbClr val="EDE4D3"/>
                    </a:solidFill>
                  </a:tcPr>
                </a:tc>
                <a:tc>
                  <a:txBody>
                    <a:bodyPr/>
                    <a:lstStyle/>
                    <a:p>
                      <a:r>
                        <a:rPr sz="1300" b="0">
                          <a:solidFill>
                            <a:srgbClr val="2B2419"/>
                          </a:solidFill>
                          <a:latin typeface="Inter"/>
                        </a:rPr>
                        <a:t>Accept</a:t>
                      </a:r>
                    </a:p>
                  </a:txBody>
                  <a:tcPr marL="73152" marR="73152" marT="36576" marB="36576">
                    <a:solidFill>
                      <a:srgbClr val="EDE4D3"/>
                    </a:solidFill>
                  </a:tcPr>
                </a:tc>
                <a:tc>
                  <a:txBody>
                    <a:bodyPr/>
                    <a:lstStyle/>
                    <a:p>
                      <a:r>
                        <a:rPr sz="1300" b="0">
                          <a:solidFill>
                            <a:srgbClr val="2B2419"/>
                          </a:solidFill>
                          <a:latin typeface="Inter"/>
                        </a:rPr>
                        <a:t>Đức</a:t>
                      </a:r>
                    </a:p>
                  </a:txBody>
                  <a:tcPr marL="73152" marR="73152" marT="36576" marB="36576">
                    <a:solidFill>
                      <a:srgbClr val="EDE4D3"/>
                    </a:solidFill>
                  </a:tcPr>
                </a:tc>
                <a:extLst>
                  <a:ext uri="{0D108BD9-81ED-4DB2-BD59-A6C34878D82A}">
                    <a16:rowId xmlns:a16="http://schemas.microsoft.com/office/drawing/2014/main" val="10006"/>
                  </a:ext>
                </a:extLst>
              </a:tr>
              <a:tr h="593588">
                <a:tc>
                  <a:txBody>
                    <a:bodyPr/>
                    <a:lstStyle/>
                    <a:p>
                      <a:endParaRPr sz="1300"/>
                    </a:p>
                  </a:txBody>
                  <a:tcPr marL="73152" marR="73152" marT="36576" marB="36576">
                    <a:solidFill>
                      <a:srgbClr val="E8D5BC"/>
                    </a:solidFill>
                  </a:tcPr>
                </a:tc>
                <a:tc>
                  <a:txBody>
                    <a:bodyPr/>
                    <a:lstStyle/>
                    <a:p>
                      <a:r>
                        <a:rPr sz="1300" b="0">
                          <a:solidFill>
                            <a:srgbClr val="2B2419"/>
                          </a:solidFill>
                          <a:latin typeface="Inter"/>
                        </a:rPr>
                        <a:t>TOTAL EMV</a:t>
                      </a:r>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r>
                        <a:rPr sz="1300" b="0">
                          <a:solidFill>
                            <a:srgbClr val="2B2419"/>
                          </a:solidFill>
                          <a:latin typeface="Inter"/>
                        </a:rPr>
                        <a:t>3,080,000 VND</a:t>
                      </a:r>
                    </a:p>
                  </a:txBody>
                  <a:tcPr marL="73152" marR="73152" marT="36576" marB="36576">
                    <a:solidFill>
                      <a:srgbClr val="E8D5BC"/>
                    </a:solidFill>
                  </a:tcPr>
                </a:tc>
                <a:tc>
                  <a:txBody>
                    <a:bodyPr/>
                    <a:lstStyle/>
                    <a:p>
                      <a:r>
                        <a:rPr sz="1300" b="0">
                          <a:solidFill>
                            <a:srgbClr val="2B2419"/>
                          </a:solidFill>
                          <a:latin typeface="Inter"/>
                        </a:rPr>
                        <a:t>13.35 d</a:t>
                      </a:r>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endParaRPr sz="1300" dirty="0"/>
                    </a:p>
                  </a:txBody>
                  <a:tcPr marL="73152" marR="73152" marT="36576" marB="36576">
                    <a:solidFill>
                      <a:srgbClr val="E8D5BC"/>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RISK MANAGEMENT</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Risk Heatmap — Likelihood × Impact</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19 / 31</a:t>
            </a:r>
          </a:p>
        </p:txBody>
      </p:sp>
      <p:sp>
        <p:nvSpPr>
          <p:cNvPr id="8" name="TextBox 7"/>
          <p:cNvSpPr txBox="1"/>
          <p:nvPr/>
        </p:nvSpPr>
        <p:spPr>
          <a:xfrm>
            <a:off x="3161750" y="1861918"/>
            <a:ext cx="233910" cy="1048874"/>
          </a:xfrm>
          <a:prstGeom prst="rect">
            <a:avLst/>
          </a:prstGeom>
          <a:noFill/>
        </p:spPr>
        <p:txBody>
          <a:bodyPr vert="vert270" wrap="square" lIns="54864" tIns="18288" rIns="54864" bIns="18288" anchor="t">
            <a:spAutoFit/>
          </a:bodyPr>
          <a:lstStyle/>
          <a:p>
            <a:pPr algn="ctr">
              <a:lnSpc>
                <a:spcPct val="100000"/>
              </a:lnSpc>
            </a:pPr>
            <a:r>
              <a:rPr sz="800" b="1" i="0" dirty="0">
                <a:solidFill>
                  <a:srgbClr val="8A7A66"/>
                </a:solidFill>
                <a:latin typeface="Inter"/>
              </a:rPr>
              <a:t>LIKELIHOOD →</a:t>
            </a:r>
          </a:p>
        </p:txBody>
      </p:sp>
      <p:sp>
        <p:nvSpPr>
          <p:cNvPr id="9" name="TextBox 8"/>
          <p:cNvSpPr txBox="1"/>
          <p:nvPr/>
        </p:nvSpPr>
        <p:spPr>
          <a:xfrm>
            <a:off x="5185307" y="3939501"/>
            <a:ext cx="1828800" cy="274320"/>
          </a:xfrm>
          <a:prstGeom prst="rect">
            <a:avLst/>
          </a:prstGeom>
          <a:noFill/>
        </p:spPr>
        <p:txBody>
          <a:bodyPr wrap="square" lIns="54864" tIns="18288" rIns="54864" bIns="18288" anchor="t">
            <a:spAutoFit/>
          </a:bodyPr>
          <a:lstStyle/>
          <a:p>
            <a:pPr algn="ctr">
              <a:lnSpc>
                <a:spcPct val="100000"/>
              </a:lnSpc>
            </a:pPr>
            <a:r>
              <a:rPr sz="800" b="1" i="0">
                <a:solidFill>
                  <a:srgbClr val="8A7A66"/>
                </a:solidFill>
                <a:latin typeface="Inter"/>
              </a:rPr>
              <a:t>IMPACT →</a:t>
            </a:r>
          </a:p>
        </p:txBody>
      </p:sp>
      <p:grpSp>
        <p:nvGrpSpPr>
          <p:cNvPr id="35" name="Group 34">
            <a:extLst>
              <a:ext uri="{FF2B5EF4-FFF2-40B4-BE49-F238E27FC236}">
                <a16:creationId xmlns:a16="http://schemas.microsoft.com/office/drawing/2014/main" id="{D2A9346A-28CF-843E-A5E2-AEB7FE29E25A}"/>
              </a:ext>
            </a:extLst>
          </p:cNvPr>
          <p:cNvGrpSpPr/>
          <p:nvPr/>
        </p:nvGrpSpPr>
        <p:grpSpPr>
          <a:xfrm>
            <a:off x="3487901" y="978926"/>
            <a:ext cx="5223613" cy="2876890"/>
            <a:chOff x="1371600" y="1417320"/>
            <a:chExt cx="6272784" cy="3255264"/>
          </a:xfrm>
        </p:grpSpPr>
        <p:sp>
          <p:nvSpPr>
            <p:cNvPr id="10" name="Rectangle 9"/>
            <p:cNvSpPr/>
            <p:nvPr/>
          </p:nvSpPr>
          <p:spPr>
            <a:xfrm>
              <a:off x="1371600" y="3611880"/>
              <a:ext cx="2066544" cy="1060704"/>
            </a:xfrm>
            <a:prstGeom prst="rect">
              <a:avLst/>
            </a:prstGeom>
            <a:solidFill>
              <a:srgbClr val="F5EFE6"/>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74720" y="3611880"/>
              <a:ext cx="2066544" cy="1060704"/>
            </a:xfrm>
            <a:prstGeom prst="rect">
              <a:avLst/>
            </a:prstGeom>
            <a:solidFill>
              <a:srgbClr val="F5EFE6"/>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577840" y="3611880"/>
              <a:ext cx="2066544" cy="1060704"/>
            </a:xfrm>
            <a:prstGeom prst="rect">
              <a:avLst/>
            </a:prstGeom>
            <a:solidFill>
              <a:srgbClr val="E8D5BC"/>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371600" y="2514600"/>
              <a:ext cx="2066544" cy="1060704"/>
            </a:xfrm>
            <a:prstGeom prst="rect">
              <a:avLst/>
            </a:prstGeom>
            <a:solidFill>
              <a:srgbClr val="F5EFE6"/>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474720" y="2514600"/>
              <a:ext cx="2066544" cy="1060704"/>
            </a:xfrm>
            <a:prstGeom prst="rect">
              <a:avLst/>
            </a:prstGeom>
            <a:solidFill>
              <a:srgbClr val="D9CDB8"/>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577840" y="2514600"/>
              <a:ext cx="2066544" cy="1060704"/>
            </a:xfrm>
            <a:prstGeom prst="rect">
              <a:avLst/>
            </a:prstGeom>
            <a:solidFill>
              <a:srgbClr val="C49A7A"/>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371600" y="1417320"/>
              <a:ext cx="2066544" cy="1060704"/>
            </a:xfrm>
            <a:prstGeom prst="rect">
              <a:avLst/>
            </a:prstGeom>
            <a:solidFill>
              <a:srgbClr val="E8D5BC"/>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474720" y="1417320"/>
              <a:ext cx="2066544" cy="1060704"/>
            </a:xfrm>
            <a:prstGeom prst="rect">
              <a:avLst/>
            </a:prstGeom>
            <a:solidFill>
              <a:srgbClr val="C49A7A"/>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577840" y="1417320"/>
              <a:ext cx="2066544" cy="1060704"/>
            </a:xfrm>
            <a:prstGeom prst="rect">
              <a:avLst/>
            </a:prstGeom>
            <a:solidFill>
              <a:srgbClr val="A65D3F"/>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46520" y="1783080"/>
              <a:ext cx="347472" cy="347472"/>
            </a:xfrm>
            <a:prstGeom prst="ellipse">
              <a:avLst/>
            </a:prstGeom>
            <a:solidFill>
              <a:srgbClr val="8C5A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a:spLocks/>
            </p:cNvSpPr>
            <p:nvPr/>
          </p:nvSpPr>
          <p:spPr>
            <a:xfrm>
              <a:off x="6446520" y="1783080"/>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R2</a:t>
              </a:r>
            </a:p>
          </p:txBody>
        </p:sp>
        <p:sp>
          <p:nvSpPr>
            <p:cNvPr id="21" name="Oval 20"/>
            <p:cNvSpPr/>
            <p:nvPr/>
          </p:nvSpPr>
          <p:spPr>
            <a:xfrm>
              <a:off x="4343400" y="1783080"/>
              <a:ext cx="347472" cy="347472"/>
            </a:xfrm>
            <a:prstGeom prst="ellipse">
              <a:avLst/>
            </a:prstGeom>
            <a:solidFill>
              <a:srgbClr val="8C5A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a:spLocks/>
            </p:cNvSpPr>
            <p:nvPr/>
          </p:nvSpPr>
          <p:spPr>
            <a:xfrm>
              <a:off x="4343400" y="1783080"/>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R3</a:t>
              </a:r>
            </a:p>
          </p:txBody>
        </p:sp>
        <p:sp>
          <p:nvSpPr>
            <p:cNvPr id="23" name="Oval 22"/>
            <p:cNvSpPr/>
            <p:nvPr/>
          </p:nvSpPr>
          <p:spPr>
            <a:xfrm>
              <a:off x="6446520" y="2880360"/>
              <a:ext cx="347472" cy="347472"/>
            </a:xfrm>
            <a:prstGeom prst="ellipse">
              <a:avLst/>
            </a:prstGeom>
            <a:solidFill>
              <a:srgbClr val="8C5A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a:spLocks/>
            </p:cNvSpPr>
            <p:nvPr/>
          </p:nvSpPr>
          <p:spPr>
            <a:xfrm>
              <a:off x="6446519" y="2880360"/>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R5</a:t>
              </a:r>
            </a:p>
          </p:txBody>
        </p:sp>
        <p:sp>
          <p:nvSpPr>
            <p:cNvPr id="25" name="Oval 24"/>
            <p:cNvSpPr/>
            <p:nvPr/>
          </p:nvSpPr>
          <p:spPr>
            <a:xfrm>
              <a:off x="4343400" y="2880360"/>
              <a:ext cx="347472" cy="347472"/>
            </a:xfrm>
            <a:prstGeom prst="ellipse">
              <a:avLst/>
            </a:prstGeom>
            <a:solidFill>
              <a:srgbClr val="5C4F3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343400" y="2880360"/>
              <a:ext cx="347472" cy="347472"/>
            </a:xfrm>
            <a:prstGeom prst="rect">
              <a:avLst/>
            </a:prstGeom>
            <a:noFill/>
          </p:spPr>
          <p:txBody>
            <a:bodyPr wrap="square" lIns="54864" tIns="18288" rIns="54864" bIns="18288" anchor="t">
              <a:spAutoFit/>
            </a:bodyPr>
            <a:lstStyle/>
            <a:p>
              <a:pPr algn="ctr">
                <a:lnSpc>
                  <a:spcPct val="100000"/>
                </a:lnSpc>
              </a:pPr>
              <a:r>
                <a:rPr sz="1000" b="1" i="0">
                  <a:solidFill>
                    <a:srgbClr val="FFFFFF"/>
                  </a:solidFill>
                  <a:latin typeface="Inter"/>
                </a:rPr>
                <a:t>R1</a:t>
              </a:r>
            </a:p>
          </p:txBody>
        </p:sp>
        <p:sp>
          <p:nvSpPr>
            <p:cNvPr id="27" name="Oval 26"/>
            <p:cNvSpPr/>
            <p:nvPr/>
          </p:nvSpPr>
          <p:spPr>
            <a:xfrm>
              <a:off x="4343400" y="2880360"/>
              <a:ext cx="347472" cy="347472"/>
            </a:xfrm>
            <a:prstGeom prst="ellipse">
              <a:avLst/>
            </a:prstGeom>
            <a:solidFill>
              <a:srgbClr val="5C4F3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a:spLocks/>
            </p:cNvSpPr>
            <p:nvPr/>
          </p:nvSpPr>
          <p:spPr>
            <a:xfrm>
              <a:off x="4343399" y="2880360"/>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R6</a:t>
              </a:r>
            </a:p>
          </p:txBody>
        </p:sp>
        <p:sp>
          <p:nvSpPr>
            <p:cNvPr id="29" name="Oval 28"/>
            <p:cNvSpPr/>
            <p:nvPr/>
          </p:nvSpPr>
          <p:spPr>
            <a:xfrm>
              <a:off x="2240280" y="3977640"/>
              <a:ext cx="347472" cy="347472"/>
            </a:xfrm>
            <a:prstGeom prst="ellipse">
              <a:avLst/>
            </a:prstGeom>
            <a:solidFill>
              <a:srgbClr val="8A7A6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a:spLocks/>
            </p:cNvSpPr>
            <p:nvPr/>
          </p:nvSpPr>
          <p:spPr>
            <a:xfrm>
              <a:off x="2240280" y="3977639"/>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R4</a:t>
              </a:r>
            </a:p>
          </p:txBody>
        </p:sp>
        <p:sp>
          <p:nvSpPr>
            <p:cNvPr id="31" name="TextBox 30"/>
            <p:cNvSpPr txBox="1"/>
            <p:nvPr/>
          </p:nvSpPr>
          <p:spPr>
            <a:xfrm>
              <a:off x="2743200" y="3685032"/>
              <a:ext cx="2286000" cy="256032"/>
            </a:xfrm>
            <a:prstGeom prst="rect">
              <a:avLst/>
            </a:prstGeom>
            <a:noFill/>
          </p:spPr>
          <p:txBody>
            <a:bodyPr wrap="square" lIns="54864" tIns="18288" rIns="54864" bIns="18288" anchor="t">
              <a:spAutoFit/>
            </a:bodyPr>
            <a:lstStyle/>
            <a:p>
              <a:pPr algn="ctr">
                <a:lnSpc>
                  <a:spcPct val="100000"/>
                </a:lnSpc>
              </a:pPr>
              <a:r>
                <a:rPr sz="800" b="1" i="0">
                  <a:solidFill>
                    <a:srgbClr val="A65D3F"/>
                  </a:solidFill>
                  <a:latin typeface="Inter"/>
                </a:rPr>
                <a:t>HIGH RISK</a:t>
              </a:r>
            </a:p>
          </p:txBody>
        </p:sp>
        <p:sp>
          <p:nvSpPr>
            <p:cNvPr id="32" name="TextBox 31"/>
            <p:cNvSpPr txBox="1"/>
            <p:nvPr/>
          </p:nvSpPr>
          <p:spPr>
            <a:xfrm>
              <a:off x="2743200" y="2587752"/>
              <a:ext cx="2286000" cy="256032"/>
            </a:xfrm>
            <a:prstGeom prst="rect">
              <a:avLst/>
            </a:prstGeom>
            <a:noFill/>
          </p:spPr>
          <p:txBody>
            <a:bodyPr wrap="square" lIns="54864" tIns="18288" rIns="54864" bIns="18288" anchor="t">
              <a:spAutoFit/>
            </a:bodyPr>
            <a:lstStyle/>
            <a:p>
              <a:pPr algn="ctr">
                <a:lnSpc>
                  <a:spcPct val="100000"/>
                </a:lnSpc>
              </a:pPr>
              <a:r>
                <a:rPr sz="800" b="0" i="0">
                  <a:solidFill>
                    <a:srgbClr val="8A7A66"/>
                  </a:solidFill>
                  <a:latin typeface="Inter"/>
                </a:rPr>
                <a:t>MEDIUM</a:t>
              </a:r>
            </a:p>
          </p:txBody>
        </p:sp>
        <p:sp>
          <p:nvSpPr>
            <p:cNvPr id="33" name="TextBox 32"/>
            <p:cNvSpPr txBox="1"/>
            <p:nvPr/>
          </p:nvSpPr>
          <p:spPr>
            <a:xfrm>
              <a:off x="2743200" y="1490472"/>
              <a:ext cx="2286000" cy="256032"/>
            </a:xfrm>
            <a:prstGeom prst="rect">
              <a:avLst/>
            </a:prstGeom>
            <a:noFill/>
          </p:spPr>
          <p:txBody>
            <a:bodyPr wrap="square" lIns="54864" tIns="18288" rIns="54864" bIns="18288" anchor="t">
              <a:spAutoFit/>
            </a:bodyPr>
            <a:lstStyle/>
            <a:p>
              <a:pPr algn="ctr">
                <a:lnSpc>
                  <a:spcPct val="100000"/>
                </a:lnSpc>
              </a:pPr>
              <a:r>
                <a:rPr sz="800" b="0" i="0">
                  <a:solidFill>
                    <a:srgbClr val="5B6B47"/>
                  </a:solidFill>
                  <a:latin typeface="Inter"/>
                </a:rPr>
                <a:t>LOW RISK</a:t>
              </a:r>
            </a:p>
          </p:txBody>
        </p:sp>
      </p:grpSp>
      <p:graphicFrame>
        <p:nvGraphicFramePr>
          <p:cNvPr id="34" name="Table 33"/>
          <p:cNvGraphicFramePr>
            <a:graphicFrameLocks noGrp="1"/>
          </p:cNvGraphicFramePr>
          <p:nvPr>
            <p:extLst>
              <p:ext uri="{D42A27DB-BD31-4B8C-83A1-F6EECF244321}">
                <p14:modId xmlns:p14="http://schemas.microsoft.com/office/powerpoint/2010/main" val="2687327760"/>
              </p:ext>
            </p:extLst>
          </p:nvPr>
        </p:nvGraphicFramePr>
        <p:xfrm>
          <a:off x="640080" y="4184722"/>
          <a:ext cx="10911535" cy="2294106"/>
        </p:xfrm>
        <a:graphic>
          <a:graphicData uri="http://schemas.openxmlformats.org/drawingml/2006/table">
            <a:tbl>
              <a:tblPr firstRow="1" bandRow="1">
                <a:tableStyleId>{5C22544A-7EE6-4342-B048-85BDC9FD1C3A}</a:tableStyleId>
              </a:tblPr>
              <a:tblGrid>
                <a:gridCol w="4849571">
                  <a:extLst>
                    <a:ext uri="{9D8B030D-6E8A-4147-A177-3AD203B41FA5}">
                      <a16:colId xmlns:a16="http://schemas.microsoft.com/office/drawing/2014/main" val="20000"/>
                    </a:ext>
                  </a:extLst>
                </a:gridCol>
                <a:gridCol w="1212393">
                  <a:extLst>
                    <a:ext uri="{9D8B030D-6E8A-4147-A177-3AD203B41FA5}">
                      <a16:colId xmlns:a16="http://schemas.microsoft.com/office/drawing/2014/main" val="20001"/>
                    </a:ext>
                  </a:extLst>
                </a:gridCol>
                <a:gridCol w="1454872">
                  <a:extLst>
                    <a:ext uri="{9D8B030D-6E8A-4147-A177-3AD203B41FA5}">
                      <a16:colId xmlns:a16="http://schemas.microsoft.com/office/drawing/2014/main" val="20002"/>
                    </a:ext>
                  </a:extLst>
                </a:gridCol>
                <a:gridCol w="3394699">
                  <a:extLst>
                    <a:ext uri="{9D8B030D-6E8A-4147-A177-3AD203B41FA5}">
                      <a16:colId xmlns:a16="http://schemas.microsoft.com/office/drawing/2014/main" val="20003"/>
                    </a:ext>
                  </a:extLst>
                </a:gridCol>
              </a:tblGrid>
              <a:tr h="365832">
                <a:tc>
                  <a:txBody>
                    <a:bodyPr/>
                    <a:lstStyle/>
                    <a:p>
                      <a:r>
                        <a:rPr sz="1300" b="1" dirty="0">
                          <a:solidFill>
                            <a:srgbClr val="FFFFFF"/>
                          </a:solidFill>
                          <a:latin typeface="Inter"/>
                        </a:rPr>
                        <a:t>Risk</a:t>
                      </a:r>
                    </a:p>
                  </a:txBody>
                  <a:tcPr marL="73152" marR="73152" marT="36576" marB="36576">
                    <a:solidFill>
                      <a:srgbClr val="8C5A2E"/>
                    </a:solidFill>
                  </a:tcPr>
                </a:tc>
                <a:tc>
                  <a:txBody>
                    <a:bodyPr/>
                    <a:lstStyle/>
                    <a:p>
                      <a:r>
                        <a:rPr sz="1300" b="1">
                          <a:solidFill>
                            <a:srgbClr val="FFFFFF"/>
                          </a:solidFill>
                          <a:latin typeface="Inter"/>
                        </a:rPr>
                        <a:t>L</a:t>
                      </a:r>
                    </a:p>
                  </a:txBody>
                  <a:tcPr marL="73152" marR="73152" marT="36576" marB="36576">
                    <a:solidFill>
                      <a:srgbClr val="8C5A2E"/>
                    </a:solidFill>
                  </a:tcPr>
                </a:tc>
                <a:tc>
                  <a:txBody>
                    <a:bodyPr/>
                    <a:lstStyle/>
                    <a:p>
                      <a:r>
                        <a:rPr sz="1300" b="1">
                          <a:solidFill>
                            <a:srgbClr val="FFFFFF"/>
                          </a:solidFill>
                          <a:latin typeface="Inter"/>
                        </a:rPr>
                        <a:t>Impact</a:t>
                      </a:r>
                    </a:p>
                  </a:txBody>
                  <a:tcPr marL="73152" marR="73152" marT="36576" marB="36576">
                    <a:solidFill>
                      <a:srgbClr val="8C5A2E"/>
                    </a:solidFill>
                  </a:tcPr>
                </a:tc>
                <a:tc>
                  <a:txBody>
                    <a:bodyPr/>
                    <a:lstStyle/>
                    <a:p>
                      <a:r>
                        <a:rPr sz="1300" b="1">
                          <a:solidFill>
                            <a:srgbClr val="FFFFFF"/>
                          </a:solidFill>
                          <a:latin typeface="Inter"/>
                        </a:rPr>
                        <a:t>Zone</a:t>
                      </a:r>
                    </a:p>
                  </a:txBody>
                  <a:tcPr marL="73152" marR="73152" marT="36576" marB="36576">
                    <a:solidFill>
                      <a:srgbClr val="8C5A2E"/>
                    </a:solidFill>
                  </a:tcPr>
                </a:tc>
                <a:extLst>
                  <a:ext uri="{0D108BD9-81ED-4DB2-BD59-A6C34878D82A}">
                    <a16:rowId xmlns:a16="http://schemas.microsoft.com/office/drawing/2014/main" val="10000"/>
                  </a:ext>
                </a:extLst>
              </a:tr>
              <a:tr h="321379">
                <a:tc>
                  <a:txBody>
                    <a:bodyPr/>
                    <a:lstStyle/>
                    <a:p>
                      <a:r>
                        <a:rPr sz="1300" b="0">
                          <a:solidFill>
                            <a:srgbClr val="2B2419"/>
                          </a:solidFill>
                          <a:latin typeface="Inter"/>
                        </a:rPr>
                        <a:t>R1 — Member unavailable</a:t>
                      </a:r>
                    </a:p>
                  </a:txBody>
                  <a:tcPr marL="73152" marR="73152" marT="36576" marB="36576">
                    <a:solidFill>
                      <a:srgbClr val="F5EFE6"/>
                    </a:solidFill>
                  </a:tcPr>
                </a:tc>
                <a:tc>
                  <a:txBody>
                    <a:bodyPr/>
                    <a:lstStyle/>
                    <a:p>
                      <a:r>
                        <a:rPr sz="1300" b="0">
                          <a:solidFill>
                            <a:srgbClr val="2B2419"/>
                          </a:solidFill>
                          <a:latin typeface="Inter"/>
                        </a:rPr>
                        <a:t>0.30</a:t>
                      </a:r>
                    </a:p>
                  </a:txBody>
                  <a:tcPr marL="73152" marR="73152" marT="36576" marB="36576">
                    <a:solidFill>
                      <a:srgbClr val="F5EFE6"/>
                    </a:solidFill>
                  </a:tcPr>
                </a:tc>
                <a:tc>
                  <a:txBody>
                    <a:bodyPr/>
                    <a:lstStyle/>
                    <a:p>
                      <a:r>
                        <a:rPr sz="1300" b="0">
                          <a:solidFill>
                            <a:srgbClr val="2B2419"/>
                          </a:solidFill>
                          <a:latin typeface="Inter"/>
                        </a:rPr>
                        <a:t>5 d</a:t>
                      </a:r>
                    </a:p>
                  </a:txBody>
                  <a:tcPr marL="73152" marR="73152" marT="36576" marB="36576">
                    <a:solidFill>
                      <a:srgbClr val="F5EFE6"/>
                    </a:solidFill>
                  </a:tcPr>
                </a:tc>
                <a:tc>
                  <a:txBody>
                    <a:bodyPr/>
                    <a:lstStyle/>
                    <a:p>
                      <a:r>
                        <a:rPr sz="1300" b="0">
                          <a:solidFill>
                            <a:srgbClr val="2B2419"/>
                          </a:solidFill>
                          <a:latin typeface="Inter"/>
                        </a:rPr>
                        <a:t>Medium</a:t>
                      </a:r>
                    </a:p>
                  </a:txBody>
                  <a:tcPr marL="73152" marR="73152" marT="36576" marB="36576">
                    <a:solidFill>
                      <a:srgbClr val="F5EFE6"/>
                    </a:solidFill>
                  </a:tcPr>
                </a:tc>
                <a:extLst>
                  <a:ext uri="{0D108BD9-81ED-4DB2-BD59-A6C34878D82A}">
                    <a16:rowId xmlns:a16="http://schemas.microsoft.com/office/drawing/2014/main" val="10001"/>
                  </a:ext>
                </a:extLst>
              </a:tr>
              <a:tr h="321379">
                <a:tc>
                  <a:txBody>
                    <a:bodyPr/>
                    <a:lstStyle/>
                    <a:p>
                      <a:r>
                        <a:rPr sz="1300" b="0">
                          <a:solidFill>
                            <a:srgbClr val="2B2419"/>
                          </a:solidFill>
                          <a:latin typeface="Inter"/>
                        </a:rPr>
                        <a:t>R2 — Scope creep</a:t>
                      </a:r>
                    </a:p>
                  </a:txBody>
                  <a:tcPr marL="73152" marR="73152" marT="36576" marB="36576">
                    <a:solidFill>
                      <a:srgbClr val="F5EFE6"/>
                    </a:solidFill>
                  </a:tcPr>
                </a:tc>
                <a:tc>
                  <a:txBody>
                    <a:bodyPr/>
                    <a:lstStyle/>
                    <a:p>
                      <a:r>
                        <a:rPr sz="1300" b="0">
                          <a:solidFill>
                            <a:srgbClr val="2B2419"/>
                          </a:solidFill>
                          <a:latin typeface="Inter"/>
                        </a:rPr>
                        <a:t>0.50</a:t>
                      </a:r>
                    </a:p>
                  </a:txBody>
                  <a:tcPr marL="73152" marR="73152" marT="36576" marB="36576">
                    <a:solidFill>
                      <a:srgbClr val="F5EFE6"/>
                    </a:solidFill>
                  </a:tcPr>
                </a:tc>
                <a:tc>
                  <a:txBody>
                    <a:bodyPr/>
                    <a:lstStyle/>
                    <a:p>
                      <a:r>
                        <a:rPr sz="1300" b="0">
                          <a:solidFill>
                            <a:srgbClr val="2B2419"/>
                          </a:solidFill>
                          <a:latin typeface="Inter"/>
                        </a:rPr>
                        <a:t>10 d</a:t>
                      </a:r>
                    </a:p>
                  </a:txBody>
                  <a:tcPr marL="73152" marR="73152" marT="36576" marB="36576">
                    <a:solidFill>
                      <a:srgbClr val="F5EFE6"/>
                    </a:solidFill>
                  </a:tcPr>
                </a:tc>
                <a:tc>
                  <a:txBody>
                    <a:bodyPr/>
                    <a:lstStyle/>
                    <a:p>
                      <a:r>
                        <a:rPr sz="1300" b="0">
                          <a:solidFill>
                            <a:srgbClr val="2B2419"/>
                          </a:solidFill>
                          <a:latin typeface="Inter"/>
                        </a:rPr>
                        <a:t>High</a:t>
                      </a:r>
                    </a:p>
                  </a:txBody>
                  <a:tcPr marL="73152" marR="73152" marT="36576" marB="36576">
                    <a:solidFill>
                      <a:srgbClr val="F5EFE6"/>
                    </a:solidFill>
                  </a:tcPr>
                </a:tc>
                <a:extLst>
                  <a:ext uri="{0D108BD9-81ED-4DB2-BD59-A6C34878D82A}">
                    <a16:rowId xmlns:a16="http://schemas.microsoft.com/office/drawing/2014/main" val="10002"/>
                  </a:ext>
                </a:extLst>
              </a:tr>
              <a:tr h="321379">
                <a:tc>
                  <a:txBody>
                    <a:bodyPr/>
                    <a:lstStyle/>
                    <a:p>
                      <a:r>
                        <a:rPr sz="1300" b="0">
                          <a:solidFill>
                            <a:srgbClr val="2B2419"/>
                          </a:solidFill>
                          <a:latin typeface="Inter"/>
                        </a:rPr>
                        <a:t>R3 — Stack unfamiliarity</a:t>
                      </a:r>
                    </a:p>
                  </a:txBody>
                  <a:tcPr marL="73152" marR="73152" marT="36576" marB="36576">
                    <a:solidFill>
                      <a:srgbClr val="F5EFE6"/>
                    </a:solidFill>
                  </a:tcPr>
                </a:tc>
                <a:tc>
                  <a:txBody>
                    <a:bodyPr/>
                    <a:lstStyle/>
                    <a:p>
                      <a:r>
                        <a:rPr sz="1300" b="0">
                          <a:solidFill>
                            <a:srgbClr val="2B2419"/>
                          </a:solidFill>
                          <a:latin typeface="Inter"/>
                        </a:rPr>
                        <a:t>0.40</a:t>
                      </a:r>
                    </a:p>
                  </a:txBody>
                  <a:tcPr marL="73152" marR="73152" marT="36576" marB="36576">
                    <a:solidFill>
                      <a:srgbClr val="F5EFE6"/>
                    </a:solidFill>
                  </a:tcPr>
                </a:tc>
                <a:tc>
                  <a:txBody>
                    <a:bodyPr/>
                    <a:lstStyle/>
                    <a:p>
                      <a:r>
                        <a:rPr sz="1300" b="0">
                          <a:solidFill>
                            <a:srgbClr val="2B2419"/>
                          </a:solidFill>
                          <a:latin typeface="Inter"/>
                        </a:rPr>
                        <a:t>7 d</a:t>
                      </a:r>
                    </a:p>
                  </a:txBody>
                  <a:tcPr marL="73152" marR="73152" marT="36576" marB="36576">
                    <a:solidFill>
                      <a:srgbClr val="F5EFE6"/>
                    </a:solidFill>
                  </a:tcPr>
                </a:tc>
                <a:tc>
                  <a:txBody>
                    <a:bodyPr/>
                    <a:lstStyle/>
                    <a:p>
                      <a:r>
                        <a:rPr sz="1300" b="0">
                          <a:solidFill>
                            <a:srgbClr val="2B2419"/>
                          </a:solidFill>
                          <a:latin typeface="Inter"/>
                        </a:rPr>
                        <a:t>High</a:t>
                      </a:r>
                    </a:p>
                  </a:txBody>
                  <a:tcPr marL="73152" marR="73152" marT="36576" marB="36576">
                    <a:solidFill>
                      <a:srgbClr val="F5EFE6"/>
                    </a:solidFill>
                  </a:tcPr>
                </a:tc>
                <a:extLst>
                  <a:ext uri="{0D108BD9-81ED-4DB2-BD59-A6C34878D82A}">
                    <a16:rowId xmlns:a16="http://schemas.microsoft.com/office/drawing/2014/main" val="10003"/>
                  </a:ext>
                </a:extLst>
              </a:tr>
              <a:tr h="321379">
                <a:tc>
                  <a:txBody>
                    <a:bodyPr/>
                    <a:lstStyle/>
                    <a:p>
                      <a:r>
                        <a:rPr sz="1300" b="0">
                          <a:solidFill>
                            <a:srgbClr val="2B2419"/>
                          </a:solidFill>
                          <a:latin typeface="Inter"/>
                        </a:rPr>
                        <a:t>R4 — Data loss</a:t>
                      </a:r>
                    </a:p>
                  </a:txBody>
                  <a:tcPr marL="73152" marR="73152" marT="36576" marB="36576">
                    <a:solidFill>
                      <a:srgbClr val="F5EFE6"/>
                    </a:solidFill>
                  </a:tcPr>
                </a:tc>
                <a:tc>
                  <a:txBody>
                    <a:bodyPr/>
                    <a:lstStyle/>
                    <a:p>
                      <a:r>
                        <a:rPr sz="1300" b="0">
                          <a:solidFill>
                            <a:srgbClr val="2B2419"/>
                          </a:solidFill>
                          <a:latin typeface="Inter"/>
                        </a:rPr>
                        <a:t>0.15</a:t>
                      </a:r>
                    </a:p>
                  </a:txBody>
                  <a:tcPr marL="73152" marR="73152" marT="36576" marB="36576">
                    <a:solidFill>
                      <a:srgbClr val="F5EFE6"/>
                    </a:solidFill>
                  </a:tcPr>
                </a:tc>
                <a:tc>
                  <a:txBody>
                    <a:bodyPr/>
                    <a:lstStyle/>
                    <a:p>
                      <a:r>
                        <a:rPr sz="1300" b="0">
                          <a:solidFill>
                            <a:srgbClr val="2B2419"/>
                          </a:solidFill>
                          <a:latin typeface="Inter"/>
                        </a:rPr>
                        <a:t>3 d</a:t>
                      </a:r>
                    </a:p>
                  </a:txBody>
                  <a:tcPr marL="73152" marR="73152" marT="36576" marB="36576">
                    <a:solidFill>
                      <a:srgbClr val="F5EFE6"/>
                    </a:solidFill>
                  </a:tcPr>
                </a:tc>
                <a:tc>
                  <a:txBody>
                    <a:bodyPr/>
                    <a:lstStyle/>
                    <a:p>
                      <a:r>
                        <a:rPr sz="1300" b="0">
                          <a:solidFill>
                            <a:srgbClr val="2B2419"/>
                          </a:solidFill>
                          <a:latin typeface="Inter"/>
                        </a:rPr>
                        <a:t>Low</a:t>
                      </a:r>
                    </a:p>
                  </a:txBody>
                  <a:tcPr marL="73152" marR="73152" marT="36576" marB="36576">
                    <a:solidFill>
                      <a:srgbClr val="F5EFE6"/>
                    </a:solidFill>
                  </a:tcPr>
                </a:tc>
                <a:extLst>
                  <a:ext uri="{0D108BD9-81ED-4DB2-BD59-A6C34878D82A}">
                    <a16:rowId xmlns:a16="http://schemas.microsoft.com/office/drawing/2014/main" val="10004"/>
                  </a:ext>
                </a:extLst>
              </a:tr>
              <a:tr h="321379">
                <a:tc>
                  <a:txBody>
                    <a:bodyPr/>
                    <a:lstStyle/>
                    <a:p>
                      <a:r>
                        <a:rPr sz="1300" b="0">
                          <a:solidFill>
                            <a:srgbClr val="2B2419"/>
                          </a:solidFill>
                          <a:latin typeface="Inter"/>
                        </a:rPr>
                        <a:t>R5 — Integration fail</a:t>
                      </a:r>
                    </a:p>
                  </a:txBody>
                  <a:tcPr marL="73152" marR="73152" marT="36576" marB="36576">
                    <a:solidFill>
                      <a:srgbClr val="F5EFE6"/>
                    </a:solidFill>
                  </a:tcPr>
                </a:tc>
                <a:tc>
                  <a:txBody>
                    <a:bodyPr/>
                    <a:lstStyle/>
                    <a:p>
                      <a:r>
                        <a:rPr sz="1300" b="0">
                          <a:solidFill>
                            <a:srgbClr val="2B2419"/>
                          </a:solidFill>
                          <a:latin typeface="Inter"/>
                        </a:rPr>
                        <a:t>0.35</a:t>
                      </a:r>
                    </a:p>
                  </a:txBody>
                  <a:tcPr marL="73152" marR="73152" marT="36576" marB="36576">
                    <a:solidFill>
                      <a:srgbClr val="F5EFE6"/>
                    </a:solidFill>
                  </a:tcPr>
                </a:tc>
                <a:tc>
                  <a:txBody>
                    <a:bodyPr/>
                    <a:lstStyle/>
                    <a:p>
                      <a:r>
                        <a:rPr sz="1300" b="0">
                          <a:solidFill>
                            <a:srgbClr val="2B2419"/>
                          </a:solidFill>
                          <a:latin typeface="Inter"/>
                        </a:rPr>
                        <a:t>8 d</a:t>
                      </a:r>
                    </a:p>
                  </a:txBody>
                  <a:tcPr marL="73152" marR="73152" marT="36576" marB="36576">
                    <a:solidFill>
                      <a:srgbClr val="F5EFE6"/>
                    </a:solidFill>
                  </a:tcPr>
                </a:tc>
                <a:tc>
                  <a:txBody>
                    <a:bodyPr/>
                    <a:lstStyle/>
                    <a:p>
                      <a:r>
                        <a:rPr sz="1300" b="0">
                          <a:solidFill>
                            <a:srgbClr val="2B2419"/>
                          </a:solidFill>
                          <a:latin typeface="Inter"/>
                        </a:rPr>
                        <a:t>High</a:t>
                      </a:r>
                    </a:p>
                  </a:txBody>
                  <a:tcPr marL="73152" marR="73152" marT="36576" marB="36576">
                    <a:solidFill>
                      <a:srgbClr val="F5EFE6"/>
                    </a:solidFill>
                  </a:tcPr>
                </a:tc>
                <a:extLst>
                  <a:ext uri="{0D108BD9-81ED-4DB2-BD59-A6C34878D82A}">
                    <a16:rowId xmlns:a16="http://schemas.microsoft.com/office/drawing/2014/main" val="10005"/>
                  </a:ext>
                </a:extLst>
              </a:tr>
              <a:tr h="321379">
                <a:tc>
                  <a:txBody>
                    <a:bodyPr/>
                    <a:lstStyle/>
                    <a:p>
                      <a:r>
                        <a:rPr sz="1300" b="0">
                          <a:solidFill>
                            <a:srgbClr val="2B2419"/>
                          </a:solidFill>
                          <a:latin typeface="Inter"/>
                        </a:rPr>
                        <a:t>R6 — Meeting issues</a:t>
                      </a:r>
                    </a:p>
                  </a:txBody>
                  <a:tcPr marL="73152" marR="73152" marT="36576" marB="36576">
                    <a:solidFill>
                      <a:srgbClr val="F5EFE6"/>
                    </a:solidFill>
                  </a:tcPr>
                </a:tc>
                <a:tc>
                  <a:txBody>
                    <a:bodyPr/>
                    <a:lstStyle/>
                    <a:p>
                      <a:r>
                        <a:rPr sz="1300" b="0">
                          <a:solidFill>
                            <a:srgbClr val="2B2419"/>
                          </a:solidFill>
                          <a:latin typeface="Inter"/>
                        </a:rPr>
                        <a:t>0.40</a:t>
                      </a:r>
                    </a:p>
                  </a:txBody>
                  <a:tcPr marL="73152" marR="73152" marT="36576" marB="36576">
                    <a:solidFill>
                      <a:srgbClr val="F5EFE6"/>
                    </a:solidFill>
                  </a:tcPr>
                </a:tc>
                <a:tc>
                  <a:txBody>
                    <a:bodyPr/>
                    <a:lstStyle/>
                    <a:p>
                      <a:r>
                        <a:rPr sz="1300" b="0">
                          <a:solidFill>
                            <a:srgbClr val="2B2419"/>
                          </a:solidFill>
                          <a:latin typeface="Inter"/>
                        </a:rPr>
                        <a:t>2 d</a:t>
                      </a:r>
                    </a:p>
                  </a:txBody>
                  <a:tcPr marL="73152" marR="73152" marT="36576" marB="36576">
                    <a:solidFill>
                      <a:srgbClr val="F5EFE6"/>
                    </a:solidFill>
                  </a:tcPr>
                </a:tc>
                <a:tc>
                  <a:txBody>
                    <a:bodyPr/>
                    <a:lstStyle/>
                    <a:p>
                      <a:r>
                        <a:rPr sz="1300" b="0" dirty="0">
                          <a:solidFill>
                            <a:srgbClr val="2B2419"/>
                          </a:solidFill>
                          <a:latin typeface="Inter"/>
                        </a:rPr>
                        <a:t>Medium</a:t>
                      </a:r>
                    </a:p>
                  </a:txBody>
                  <a:tcPr marL="73152" marR="73152" marT="36576" marB="36576">
                    <a:solidFill>
                      <a:srgbClr val="F5EFE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RISK MANAGEMENT</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a:solidFill>
                  <a:srgbClr val="2B2418"/>
                </a:solidFill>
                <a:latin typeface="Playfair Display"/>
              </a:rPr>
              <a:t>EMV Reconciliation</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20 / 31</a:t>
            </a:r>
          </a:p>
        </p:txBody>
      </p:sp>
      <p:graphicFrame>
        <p:nvGraphicFramePr>
          <p:cNvPr id="8" name="Table 7"/>
          <p:cNvGraphicFramePr>
            <a:graphicFrameLocks noGrp="1"/>
          </p:cNvGraphicFramePr>
          <p:nvPr>
            <p:extLst>
              <p:ext uri="{D42A27DB-BD31-4B8C-83A1-F6EECF244321}">
                <p14:modId xmlns:p14="http://schemas.microsoft.com/office/powerpoint/2010/main" val="2353353540"/>
              </p:ext>
            </p:extLst>
          </p:nvPr>
        </p:nvGraphicFramePr>
        <p:xfrm>
          <a:off x="640080" y="1417319"/>
          <a:ext cx="7315200" cy="4735096"/>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591887">
                <a:tc>
                  <a:txBody>
                    <a:bodyPr/>
                    <a:lstStyle/>
                    <a:p>
                      <a:r>
                        <a:rPr sz="1300" b="1">
                          <a:solidFill>
                            <a:srgbClr val="FFFFFF"/>
                          </a:solidFill>
                          <a:latin typeface="Inter"/>
                        </a:rPr>
                        <a:t>Item</a:t>
                      </a:r>
                    </a:p>
                  </a:txBody>
                  <a:tcPr marL="73152" marR="73152" marT="36576" marB="36576">
                    <a:solidFill>
                      <a:srgbClr val="8C5A2E"/>
                    </a:solidFill>
                  </a:tcPr>
                </a:tc>
                <a:tc>
                  <a:txBody>
                    <a:bodyPr/>
                    <a:lstStyle/>
                    <a:p>
                      <a:r>
                        <a:rPr sz="1300" b="1">
                          <a:solidFill>
                            <a:srgbClr val="FFFFFF"/>
                          </a:solidFill>
                          <a:latin typeface="Inter"/>
                        </a:rPr>
                        <a:t>Amount (VND)</a:t>
                      </a:r>
                    </a:p>
                  </a:txBody>
                  <a:tcPr marL="73152" marR="73152" marT="36576" marB="36576">
                    <a:solidFill>
                      <a:srgbClr val="8C5A2E"/>
                    </a:solidFill>
                  </a:tcPr>
                </a:tc>
                <a:tc>
                  <a:txBody>
                    <a:bodyPr/>
                    <a:lstStyle/>
                    <a:p>
                      <a:r>
                        <a:rPr sz="1300" b="1">
                          <a:solidFill>
                            <a:srgbClr val="FFFFFF"/>
                          </a:solidFill>
                          <a:latin typeface="Inter"/>
                        </a:rPr>
                        <a:t>Notes</a:t>
                      </a:r>
                    </a:p>
                  </a:txBody>
                  <a:tcPr marL="73152" marR="73152" marT="36576" marB="36576">
                    <a:solidFill>
                      <a:srgbClr val="8C5A2E"/>
                    </a:solidFill>
                  </a:tcPr>
                </a:tc>
                <a:extLst>
                  <a:ext uri="{0D108BD9-81ED-4DB2-BD59-A6C34878D82A}">
                    <a16:rowId xmlns:a16="http://schemas.microsoft.com/office/drawing/2014/main" val="10000"/>
                  </a:ext>
                </a:extLst>
              </a:tr>
              <a:tr h="591887">
                <a:tc>
                  <a:txBody>
                    <a:bodyPr/>
                    <a:lstStyle/>
                    <a:p>
                      <a:r>
                        <a:rPr sz="1300" b="0">
                          <a:solidFill>
                            <a:srgbClr val="2B2419"/>
                          </a:solidFill>
                          <a:latin typeface="Inter"/>
                        </a:rPr>
                        <a:t>Total Risk EMV (cost)</a:t>
                      </a:r>
                    </a:p>
                  </a:txBody>
                  <a:tcPr marL="73152" marR="73152" marT="36576" marB="36576">
                    <a:solidFill>
                      <a:srgbClr val="F5EFE6"/>
                    </a:solidFill>
                  </a:tcPr>
                </a:tc>
                <a:tc>
                  <a:txBody>
                    <a:bodyPr/>
                    <a:lstStyle/>
                    <a:p>
                      <a:r>
                        <a:rPr sz="1300" b="0">
                          <a:solidFill>
                            <a:srgbClr val="2B2419"/>
                          </a:solidFill>
                          <a:latin typeface="Inter"/>
                        </a:rPr>
                        <a:t>3,080,000</a:t>
                      </a:r>
                    </a:p>
                  </a:txBody>
                  <a:tcPr marL="73152" marR="73152" marT="36576" marB="36576">
                    <a:solidFill>
                      <a:srgbClr val="F5EFE6"/>
                    </a:solidFill>
                  </a:tcPr>
                </a:tc>
                <a:tc>
                  <a:txBody>
                    <a:bodyPr/>
                    <a:lstStyle/>
                    <a:p>
                      <a:r>
                        <a:rPr sz="1300" b="0">
                          <a:solidFill>
                            <a:srgbClr val="2B2419"/>
                          </a:solidFill>
                          <a:latin typeface="Inter"/>
                        </a:rPr>
                        <a:t>From risk register Table 14</a:t>
                      </a:r>
                    </a:p>
                  </a:txBody>
                  <a:tcPr marL="73152" marR="73152" marT="36576" marB="36576">
                    <a:solidFill>
                      <a:srgbClr val="F5EFE6"/>
                    </a:solidFill>
                  </a:tcPr>
                </a:tc>
                <a:extLst>
                  <a:ext uri="{0D108BD9-81ED-4DB2-BD59-A6C34878D82A}">
                    <a16:rowId xmlns:a16="http://schemas.microsoft.com/office/drawing/2014/main" val="10001"/>
                  </a:ext>
                </a:extLst>
              </a:tr>
              <a:tr h="591887">
                <a:tc>
                  <a:txBody>
                    <a:bodyPr/>
                    <a:lstStyle/>
                    <a:p>
                      <a:r>
                        <a:rPr sz="1300" b="0">
                          <a:solidFill>
                            <a:srgbClr val="2B2419"/>
                          </a:solidFill>
                          <a:latin typeface="Inter"/>
                        </a:rPr>
                        <a:t>Contingency reserve (10% of labor)</a:t>
                      </a:r>
                    </a:p>
                  </a:txBody>
                  <a:tcPr marL="73152" marR="73152" marT="36576" marB="36576">
                    <a:solidFill>
                      <a:srgbClr val="F5EFE6"/>
                    </a:solidFill>
                  </a:tcPr>
                </a:tc>
                <a:tc>
                  <a:txBody>
                    <a:bodyPr/>
                    <a:lstStyle/>
                    <a:p>
                      <a:r>
                        <a:rPr sz="1300" b="0">
                          <a:solidFill>
                            <a:srgbClr val="2B2419"/>
                          </a:solidFill>
                          <a:latin typeface="Inter"/>
                        </a:rPr>
                        <a:t>2,400,000</a:t>
                      </a:r>
                    </a:p>
                  </a:txBody>
                  <a:tcPr marL="73152" marR="73152" marT="36576" marB="36576">
                    <a:solidFill>
                      <a:srgbClr val="F5EFE6"/>
                    </a:solidFill>
                  </a:tcPr>
                </a:tc>
                <a:tc>
                  <a:txBody>
                    <a:bodyPr/>
                    <a:lstStyle/>
                    <a:p>
                      <a:r>
                        <a:rPr sz="1300" b="0">
                          <a:solidFill>
                            <a:srgbClr val="2B2419"/>
                          </a:solidFill>
                          <a:latin typeface="Inter"/>
                        </a:rPr>
                        <a:t>From budget baseline</a:t>
                      </a:r>
                    </a:p>
                  </a:txBody>
                  <a:tcPr marL="73152" marR="73152" marT="36576" marB="36576">
                    <a:solidFill>
                      <a:srgbClr val="F5EFE6"/>
                    </a:solidFill>
                  </a:tcPr>
                </a:tc>
                <a:extLst>
                  <a:ext uri="{0D108BD9-81ED-4DB2-BD59-A6C34878D82A}">
                    <a16:rowId xmlns:a16="http://schemas.microsoft.com/office/drawing/2014/main" val="10002"/>
                  </a:ext>
                </a:extLst>
              </a:tr>
              <a:tr h="591887">
                <a:tc>
                  <a:txBody>
                    <a:bodyPr/>
                    <a:lstStyle/>
                    <a:p>
                      <a:r>
                        <a:rPr sz="1300" b="0">
                          <a:solidFill>
                            <a:srgbClr val="2B2419"/>
                          </a:solidFill>
                          <a:latin typeface="Inter"/>
                        </a:rPr>
                        <a:t>Gap (EMV − Contingency)</a:t>
                      </a:r>
                    </a:p>
                  </a:txBody>
                  <a:tcPr marL="73152" marR="73152" marT="36576" marB="36576">
                    <a:solidFill>
                      <a:srgbClr val="F5EFE6"/>
                    </a:solidFill>
                  </a:tcPr>
                </a:tc>
                <a:tc>
                  <a:txBody>
                    <a:bodyPr/>
                    <a:lstStyle/>
                    <a:p>
                      <a:r>
                        <a:rPr sz="1300" b="0">
                          <a:solidFill>
                            <a:srgbClr val="2B2419"/>
                          </a:solidFill>
                          <a:latin typeface="Inter"/>
                        </a:rPr>
                        <a:t>680,000</a:t>
                      </a:r>
                    </a:p>
                  </a:txBody>
                  <a:tcPr marL="73152" marR="73152" marT="36576" marB="36576">
                    <a:solidFill>
                      <a:srgbClr val="F5EFE6"/>
                    </a:solidFill>
                  </a:tcPr>
                </a:tc>
                <a:tc>
                  <a:txBody>
                    <a:bodyPr/>
                    <a:lstStyle/>
                    <a:p>
                      <a:r>
                        <a:rPr sz="1300" b="0">
                          <a:solidFill>
                            <a:srgbClr val="2B2419"/>
                          </a:solidFill>
                          <a:latin typeface="Inter"/>
                        </a:rPr>
                        <a:t>EMV exceeds contingency</a:t>
                      </a:r>
                    </a:p>
                  </a:txBody>
                  <a:tcPr marL="73152" marR="73152" marT="36576" marB="36576">
                    <a:solidFill>
                      <a:srgbClr val="F5EFE6"/>
                    </a:solidFill>
                  </a:tcPr>
                </a:tc>
                <a:extLst>
                  <a:ext uri="{0D108BD9-81ED-4DB2-BD59-A6C34878D82A}">
                    <a16:rowId xmlns:a16="http://schemas.microsoft.com/office/drawing/2014/main" val="10003"/>
                  </a:ext>
                </a:extLst>
              </a:tr>
              <a:tr h="591887">
                <a:tc>
                  <a:txBody>
                    <a:bodyPr/>
                    <a:lstStyle/>
                    <a:p>
                      <a:r>
                        <a:rPr sz="1300" b="0">
                          <a:solidFill>
                            <a:srgbClr val="2B2419"/>
                          </a:solidFill>
                          <a:latin typeface="Inter"/>
                        </a:rPr>
                        <a:t>Management reserve (from G&amp;A buffer)</a:t>
                      </a:r>
                    </a:p>
                  </a:txBody>
                  <a:tcPr marL="73152" marR="73152" marT="36576" marB="36576">
                    <a:solidFill>
                      <a:srgbClr val="F0E9DD"/>
                    </a:solidFill>
                  </a:tcPr>
                </a:tc>
                <a:tc>
                  <a:txBody>
                    <a:bodyPr/>
                    <a:lstStyle/>
                    <a:p>
                      <a:r>
                        <a:rPr sz="1300" b="0">
                          <a:solidFill>
                            <a:srgbClr val="2B2419"/>
                          </a:solidFill>
                          <a:latin typeface="Inter"/>
                        </a:rPr>
                        <a:t>+ 680,000</a:t>
                      </a:r>
                    </a:p>
                  </a:txBody>
                  <a:tcPr marL="73152" marR="73152" marT="36576" marB="36576">
                    <a:solidFill>
                      <a:srgbClr val="F0E9DD"/>
                    </a:solidFill>
                  </a:tcPr>
                </a:tc>
                <a:tc>
                  <a:txBody>
                    <a:bodyPr/>
                    <a:lstStyle/>
                    <a:p>
                      <a:r>
                        <a:rPr sz="1300" b="0">
                          <a:solidFill>
                            <a:srgbClr val="2B2419"/>
                          </a:solidFill>
                          <a:latin typeface="Inter"/>
                        </a:rPr>
                        <a:t>Drawn from G&amp;A; approved by PM</a:t>
                      </a:r>
                    </a:p>
                  </a:txBody>
                  <a:tcPr marL="73152" marR="73152" marT="36576" marB="36576">
                    <a:solidFill>
                      <a:srgbClr val="F0E9DD"/>
                    </a:solidFill>
                  </a:tcPr>
                </a:tc>
                <a:extLst>
                  <a:ext uri="{0D108BD9-81ED-4DB2-BD59-A6C34878D82A}">
                    <a16:rowId xmlns:a16="http://schemas.microsoft.com/office/drawing/2014/main" val="10004"/>
                  </a:ext>
                </a:extLst>
              </a:tr>
              <a:tr h="591887">
                <a:tc>
                  <a:txBody>
                    <a:bodyPr/>
                    <a:lstStyle/>
                    <a:p>
                      <a:r>
                        <a:rPr sz="1300" b="0">
                          <a:solidFill>
                            <a:srgbClr val="2B2419"/>
                          </a:solidFill>
                          <a:latin typeface="Inter"/>
                        </a:rPr>
                        <a:t>Adjusted G&amp;A (reduced from 2,400,000)</a:t>
                      </a:r>
                    </a:p>
                  </a:txBody>
                  <a:tcPr marL="73152" marR="73152" marT="36576" marB="36576">
                    <a:solidFill>
                      <a:srgbClr val="F5EFE6"/>
                    </a:solidFill>
                  </a:tcPr>
                </a:tc>
                <a:tc>
                  <a:txBody>
                    <a:bodyPr/>
                    <a:lstStyle/>
                    <a:p>
                      <a:r>
                        <a:rPr sz="1300" b="0">
                          <a:solidFill>
                            <a:srgbClr val="2B2419"/>
                          </a:solidFill>
                          <a:latin typeface="Inter"/>
                        </a:rPr>
                        <a:t>1,720,000</a:t>
                      </a:r>
                    </a:p>
                  </a:txBody>
                  <a:tcPr marL="73152" marR="73152" marT="36576" marB="36576">
                    <a:solidFill>
                      <a:srgbClr val="F5EFE6"/>
                    </a:solidFill>
                  </a:tcPr>
                </a:tc>
                <a:tc>
                  <a:txBody>
                    <a:bodyPr/>
                    <a:lstStyle/>
                    <a:p>
                      <a:r>
                        <a:rPr sz="1300" b="0">
                          <a:solidFill>
                            <a:srgbClr val="2B2419"/>
                          </a:solidFill>
                          <a:latin typeface="Inter"/>
                        </a:rPr>
                        <a:t>G&amp;A reduced by 680,000</a:t>
                      </a:r>
                    </a:p>
                  </a:txBody>
                  <a:tcPr marL="73152" marR="73152" marT="36576" marB="36576">
                    <a:solidFill>
                      <a:srgbClr val="F5EFE6"/>
                    </a:solidFill>
                  </a:tcPr>
                </a:tc>
                <a:extLst>
                  <a:ext uri="{0D108BD9-81ED-4DB2-BD59-A6C34878D82A}">
                    <a16:rowId xmlns:a16="http://schemas.microsoft.com/office/drawing/2014/main" val="10005"/>
                  </a:ext>
                </a:extLst>
              </a:tr>
              <a:tr h="591887">
                <a:tc>
                  <a:txBody>
                    <a:bodyPr/>
                    <a:lstStyle/>
                    <a:p>
                      <a:r>
                        <a:rPr sz="1300" b="0">
                          <a:solidFill>
                            <a:srgbClr val="2B2419"/>
                          </a:solidFill>
                          <a:latin typeface="Inter"/>
                        </a:rPr>
                        <a:t>TOTAL RISK COVERAGE</a:t>
                      </a:r>
                    </a:p>
                  </a:txBody>
                  <a:tcPr marL="73152" marR="73152" marT="36576" marB="36576">
                    <a:solidFill>
                      <a:srgbClr val="F5EFE6"/>
                    </a:solidFill>
                  </a:tcPr>
                </a:tc>
                <a:tc>
                  <a:txBody>
                    <a:bodyPr/>
                    <a:lstStyle/>
                    <a:p>
                      <a:r>
                        <a:rPr sz="1300" b="0">
                          <a:solidFill>
                            <a:srgbClr val="2B2419"/>
                          </a:solidFill>
                          <a:latin typeface="Inter"/>
                        </a:rPr>
                        <a:t>3,080,000 VND</a:t>
                      </a:r>
                    </a:p>
                  </a:txBody>
                  <a:tcPr marL="73152" marR="73152" marT="36576" marB="36576">
                    <a:solidFill>
                      <a:srgbClr val="F5EFE6"/>
                    </a:solidFill>
                  </a:tcPr>
                </a:tc>
                <a:tc>
                  <a:txBody>
                    <a:bodyPr/>
                    <a:lstStyle/>
                    <a:p>
                      <a:r>
                        <a:rPr sz="1300" b="0">
                          <a:solidFill>
                            <a:srgbClr val="2B2419"/>
                          </a:solidFill>
                          <a:latin typeface="Inter"/>
                        </a:rPr>
                        <a:t>Full EMV covered ✓</a:t>
                      </a:r>
                    </a:p>
                  </a:txBody>
                  <a:tcPr marL="73152" marR="73152" marT="36576" marB="36576">
                    <a:solidFill>
                      <a:srgbClr val="F5EFE6"/>
                    </a:solidFill>
                  </a:tcPr>
                </a:tc>
                <a:extLst>
                  <a:ext uri="{0D108BD9-81ED-4DB2-BD59-A6C34878D82A}">
                    <a16:rowId xmlns:a16="http://schemas.microsoft.com/office/drawing/2014/main" val="10006"/>
                  </a:ext>
                </a:extLst>
              </a:tr>
              <a:tr h="591887">
                <a:tc>
                  <a:txBody>
                    <a:bodyPr/>
                    <a:lstStyle/>
                    <a:p>
                      <a:r>
                        <a:rPr sz="1300" b="0">
                          <a:solidFill>
                            <a:srgbClr val="2B2419"/>
                          </a:solidFill>
                          <a:latin typeface="Inter"/>
                        </a:rPr>
                        <a:t>Budget at Completion (unchanged)</a:t>
                      </a:r>
                    </a:p>
                  </a:txBody>
                  <a:tcPr marL="73152" marR="73152" marT="36576" marB="36576">
                    <a:solidFill>
                      <a:srgbClr val="E8D5BC"/>
                    </a:solidFill>
                  </a:tcPr>
                </a:tc>
                <a:tc>
                  <a:txBody>
                    <a:bodyPr/>
                    <a:lstStyle/>
                    <a:p>
                      <a:r>
                        <a:rPr sz="1300" b="0">
                          <a:solidFill>
                            <a:srgbClr val="2B2419"/>
                          </a:solidFill>
                          <a:latin typeface="Inter"/>
                        </a:rPr>
                        <a:t>33,600,000</a:t>
                      </a:r>
                    </a:p>
                  </a:txBody>
                  <a:tcPr marL="73152" marR="73152" marT="36576" marB="36576">
                    <a:solidFill>
                      <a:srgbClr val="E8D5BC"/>
                    </a:solidFill>
                  </a:tcPr>
                </a:tc>
                <a:tc>
                  <a:txBody>
                    <a:bodyPr/>
                    <a:lstStyle/>
                    <a:p>
                      <a:r>
                        <a:rPr sz="1300" b="0" dirty="0">
                          <a:solidFill>
                            <a:srgbClr val="2B2419"/>
                          </a:solidFill>
                          <a:latin typeface="Inter"/>
                        </a:rPr>
                        <a:t>Total budget unchanged</a:t>
                      </a:r>
                    </a:p>
                  </a:txBody>
                  <a:tcPr marL="73152" marR="73152" marT="36576" marB="36576">
                    <a:solidFill>
                      <a:srgbClr val="E8D5BC"/>
                    </a:solidFill>
                  </a:tcPr>
                </a:tc>
                <a:extLst>
                  <a:ext uri="{0D108BD9-81ED-4DB2-BD59-A6C34878D82A}">
                    <a16:rowId xmlns:a16="http://schemas.microsoft.com/office/drawing/2014/main" val="10007"/>
                  </a:ext>
                </a:extLst>
              </a:tr>
            </a:tbl>
          </a:graphicData>
        </a:graphic>
      </p:graphicFrame>
      <p:grpSp>
        <p:nvGrpSpPr>
          <p:cNvPr id="14" name="Group 13">
            <a:extLst>
              <a:ext uri="{FF2B5EF4-FFF2-40B4-BE49-F238E27FC236}">
                <a16:creationId xmlns:a16="http://schemas.microsoft.com/office/drawing/2014/main" id="{6D5328A2-B933-574F-E004-DF29AAA3BEB5}"/>
              </a:ext>
            </a:extLst>
          </p:cNvPr>
          <p:cNvGrpSpPr/>
          <p:nvPr/>
        </p:nvGrpSpPr>
        <p:grpSpPr>
          <a:xfrm>
            <a:off x="8229600" y="2514600"/>
            <a:ext cx="3657600" cy="1828800"/>
            <a:chOff x="8229600" y="1417320"/>
            <a:chExt cx="3657600" cy="1828800"/>
          </a:xfrm>
        </p:grpSpPr>
        <p:sp>
          <p:nvSpPr>
            <p:cNvPr id="9" name="Rectangle 8"/>
            <p:cNvSpPr/>
            <p:nvPr/>
          </p:nvSpPr>
          <p:spPr>
            <a:xfrm>
              <a:off x="8229600" y="1417320"/>
              <a:ext cx="3657600" cy="1828800"/>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Iosevka NFM" panose="02000509030000000004" pitchFamily="49" charset="0"/>
                <a:ea typeface="Iosevka NFM" panose="02000509030000000004" pitchFamily="49" charset="0"/>
                <a:cs typeface="Iosevka NFM" panose="02000509030000000004" pitchFamily="49" charset="0"/>
              </a:endParaRPr>
            </a:p>
          </p:txBody>
        </p:sp>
        <p:sp>
          <p:nvSpPr>
            <p:cNvPr id="10" name="TextBox 9"/>
            <p:cNvSpPr txBox="1"/>
            <p:nvPr/>
          </p:nvSpPr>
          <p:spPr>
            <a:xfrm>
              <a:off x="8321040" y="1508760"/>
              <a:ext cx="3474720" cy="190821"/>
            </a:xfrm>
            <a:prstGeom prst="rect">
              <a:avLst/>
            </a:prstGeom>
            <a:noFill/>
          </p:spPr>
          <p:txBody>
            <a:bodyPr wrap="square" lIns="54864" tIns="18288" rIns="54864" bIns="18288" anchor="t">
              <a:spAutoFit/>
            </a:bodyPr>
            <a:lstStyle/>
            <a:p>
              <a:pPr algn="ctr">
                <a:lnSpc>
                  <a:spcPct val="100000"/>
                </a:lnSpc>
              </a:pPr>
              <a:r>
                <a:rPr sz="10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EMV = Contingency + Mgmt Reserve</a:t>
              </a:r>
            </a:p>
          </p:txBody>
        </p:sp>
        <p:sp>
          <p:nvSpPr>
            <p:cNvPr id="11" name="TextBox 10"/>
            <p:cNvSpPr txBox="1"/>
            <p:nvPr/>
          </p:nvSpPr>
          <p:spPr>
            <a:xfrm>
              <a:off x="8321040" y="1920240"/>
              <a:ext cx="3474720" cy="467820"/>
            </a:xfrm>
            <a:prstGeom prst="rect">
              <a:avLst/>
            </a:prstGeom>
            <a:noFill/>
          </p:spPr>
          <p:txBody>
            <a:bodyPr wrap="square" lIns="54864" tIns="18288" rIns="54864" bIns="18288" anchor="t">
              <a:spAutoFit/>
            </a:bodyPr>
            <a:lstStyle/>
            <a:p>
              <a:pPr algn="ctr">
                <a:lnSpc>
                  <a:spcPct val="100000"/>
                </a:lnSpc>
              </a:pPr>
              <a:r>
                <a:rPr sz="2800" b="1" i="0">
                  <a:solidFill>
                    <a:srgbClr val="FFFFFF"/>
                  </a:solidFill>
                  <a:latin typeface="Iosevka NFM" panose="02000509030000000004" pitchFamily="49" charset="0"/>
                  <a:ea typeface="Iosevka NFM" panose="02000509030000000004" pitchFamily="49" charset="0"/>
                  <a:cs typeface="Iosevka NFM" panose="02000509030000000004" pitchFamily="49" charset="0"/>
                </a:rPr>
                <a:t>3,080,000</a:t>
              </a:r>
            </a:p>
          </p:txBody>
        </p:sp>
        <p:sp>
          <p:nvSpPr>
            <p:cNvPr id="12" name="TextBox 11"/>
            <p:cNvSpPr txBox="1"/>
            <p:nvPr/>
          </p:nvSpPr>
          <p:spPr>
            <a:xfrm>
              <a:off x="8321040" y="2560320"/>
              <a:ext cx="3474720" cy="221599"/>
            </a:xfrm>
            <a:prstGeom prst="rect">
              <a:avLst/>
            </a:prstGeom>
            <a:noFill/>
          </p:spPr>
          <p:txBody>
            <a:bodyPr wrap="square" lIns="54864" tIns="18288" rIns="54864" bIns="18288" anchor="t">
              <a:spAutoFit/>
            </a:bodyPr>
            <a:lstStyle/>
            <a:p>
              <a:pPr algn="ctr">
                <a:lnSpc>
                  <a:spcPct val="100000"/>
                </a:lnSpc>
              </a:pPr>
              <a:r>
                <a:rPr sz="12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VND</a:t>
              </a:r>
            </a:p>
          </p:txBody>
        </p:sp>
        <p:sp>
          <p:nvSpPr>
            <p:cNvPr id="13" name="TextBox 12"/>
            <p:cNvSpPr txBox="1"/>
            <p:nvPr/>
          </p:nvSpPr>
          <p:spPr>
            <a:xfrm>
              <a:off x="8321040" y="2852928"/>
              <a:ext cx="3474720" cy="190821"/>
            </a:xfrm>
            <a:prstGeom prst="rect">
              <a:avLst/>
            </a:prstGeom>
            <a:noFill/>
          </p:spPr>
          <p:txBody>
            <a:bodyPr wrap="square" lIns="54864" tIns="18288" rIns="54864" bIns="18288" anchor="t">
              <a:spAutoFit/>
            </a:bodyPr>
            <a:lstStyle/>
            <a:p>
              <a:pPr algn="ctr">
                <a:lnSpc>
                  <a:spcPct val="100000"/>
                </a:lnSpc>
              </a:pPr>
              <a:r>
                <a:rPr sz="1000" b="0" i="1">
                  <a:solidFill>
                    <a:srgbClr val="FFFFFF"/>
                  </a:solidFill>
                  <a:latin typeface="Iosevka NFM" panose="02000509030000000004" pitchFamily="49" charset="0"/>
                  <a:ea typeface="Iosevka NFM" panose="02000509030000000004" pitchFamily="49" charset="0"/>
                  <a:cs typeface="Iosevka NFM" panose="02000509030000000004" pitchFamily="49" charset="0"/>
                </a:rPr>
                <a:t>= 2,400,000 + 680,000</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21 / 31</a:t>
            </a:r>
          </a:p>
        </p:txBody>
      </p:sp>
      <p:sp>
        <p:nvSpPr>
          <p:cNvPr id="11" name="TextBox 10">
            <a:extLst>
              <a:ext uri="{FF2B5EF4-FFF2-40B4-BE49-F238E27FC236}">
                <a16:creationId xmlns:a16="http://schemas.microsoft.com/office/drawing/2014/main" id="{B656A610-7F30-1DFC-2660-A9AF97232184}"/>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9A41B37E-B6DA-696C-345D-531648C3D44B}"/>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lang="en-US" sz="9600" i="1" dirty="0">
                <a:solidFill>
                  <a:srgbClr val="C49A6C"/>
                </a:solidFill>
                <a:latin typeface="Playfair Display"/>
              </a:rPr>
              <a:t>VI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6B61A1A1-9BA9-A113-D41A-EA0BADFB9520}"/>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Communication &amp; Collaboration</a:t>
            </a:r>
          </a:p>
        </p:txBody>
      </p:sp>
      <p:sp>
        <p:nvSpPr>
          <p:cNvPr id="14" name="TextBox 13">
            <a:extLst>
              <a:ext uri="{FF2B5EF4-FFF2-40B4-BE49-F238E27FC236}">
                <a16:creationId xmlns:a16="http://schemas.microsoft.com/office/drawing/2014/main" id="{0C7DE1E7-C3E8-942F-95F2-F4F4DA2C27CE}"/>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r>
              <a:rPr lang="en-US" sz="1300" i="1" dirty="0">
                <a:solidFill>
                  <a:srgbClr val="8A7A66"/>
                </a:solidFill>
                <a:latin typeface="Inter"/>
              </a:rPr>
              <a:t>CLO 4, 5, 8, 9, 12 · Ch. 9, 11, 12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COMMUNICATION</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Conflict Resolution &amp; Stakeholder Strategy</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22 / 31</a:t>
            </a:r>
          </a:p>
        </p:txBody>
      </p:sp>
      <p:sp>
        <p:nvSpPr>
          <p:cNvPr id="8" name="TextBox 7"/>
          <p:cNvSpPr txBox="1"/>
          <p:nvPr/>
        </p:nvSpPr>
        <p:spPr>
          <a:xfrm>
            <a:off x="640080" y="1281393"/>
            <a:ext cx="548640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6-Step Conflict Resolution</a:t>
            </a:r>
          </a:p>
        </p:txBody>
      </p:sp>
      <p:sp>
        <p:nvSpPr>
          <p:cNvPr id="9" name="Rectangle 8"/>
          <p:cNvSpPr/>
          <p:nvPr/>
        </p:nvSpPr>
        <p:spPr>
          <a:xfrm>
            <a:off x="640080" y="171116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171116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1</a:t>
            </a:r>
          </a:p>
        </p:txBody>
      </p:sp>
      <p:sp>
        <p:nvSpPr>
          <p:cNvPr id="11" name="TextBox 10"/>
          <p:cNvSpPr txBox="1"/>
          <p:nvPr/>
        </p:nvSpPr>
        <p:spPr>
          <a:xfrm>
            <a:off x="1097280" y="171116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Identify root causes</a:t>
            </a:r>
          </a:p>
        </p:txBody>
      </p:sp>
      <p:sp>
        <p:nvSpPr>
          <p:cNvPr id="12" name="TextBox 11"/>
          <p:cNvSpPr txBox="1"/>
          <p:nvPr/>
        </p:nvSpPr>
        <p:spPr>
          <a:xfrm>
            <a:off x="1097280" y="196719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PM calls private session; each party states position in one sentence</a:t>
            </a:r>
          </a:p>
        </p:txBody>
      </p:sp>
      <p:sp>
        <p:nvSpPr>
          <p:cNvPr id="13" name="Rectangle 12"/>
          <p:cNvSpPr/>
          <p:nvPr/>
        </p:nvSpPr>
        <p:spPr>
          <a:xfrm>
            <a:off x="640080" y="244268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44268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2</a:t>
            </a:r>
          </a:p>
        </p:txBody>
      </p:sp>
      <p:sp>
        <p:nvSpPr>
          <p:cNvPr id="15" name="TextBox 14"/>
          <p:cNvSpPr txBox="1"/>
          <p:nvPr/>
        </p:nvSpPr>
        <p:spPr>
          <a:xfrm>
            <a:off x="1097280" y="244268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Gather facts</a:t>
            </a:r>
          </a:p>
        </p:txBody>
      </p:sp>
      <p:sp>
        <p:nvSpPr>
          <p:cNvPr id="16" name="TextBox 15"/>
          <p:cNvSpPr txBox="1"/>
          <p:nvPr/>
        </p:nvSpPr>
        <p:spPr>
          <a:xfrm>
            <a:off x="1097280" y="269871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Review task logs, commit history, WBS — no hearsay</a:t>
            </a:r>
          </a:p>
        </p:txBody>
      </p:sp>
      <p:sp>
        <p:nvSpPr>
          <p:cNvPr id="17" name="Rectangle 16"/>
          <p:cNvSpPr/>
          <p:nvPr/>
        </p:nvSpPr>
        <p:spPr>
          <a:xfrm>
            <a:off x="640080" y="317420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317420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3</a:t>
            </a:r>
          </a:p>
        </p:txBody>
      </p:sp>
      <p:sp>
        <p:nvSpPr>
          <p:cNvPr id="19" name="TextBox 18"/>
          <p:cNvSpPr txBox="1"/>
          <p:nvPr/>
        </p:nvSpPr>
        <p:spPr>
          <a:xfrm>
            <a:off x="1097280" y="317420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Facilitate open discussion</a:t>
            </a:r>
          </a:p>
        </p:txBody>
      </p:sp>
      <p:sp>
        <p:nvSpPr>
          <p:cNvPr id="20" name="TextBox 19"/>
          <p:cNvSpPr txBox="1"/>
          <p:nvPr/>
        </p:nvSpPr>
        <p:spPr>
          <a:xfrm>
            <a:off x="1097280" y="343023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Moderated by PM; time-boxed to 15 min per issue</a:t>
            </a:r>
          </a:p>
        </p:txBody>
      </p:sp>
      <p:sp>
        <p:nvSpPr>
          <p:cNvPr id="21" name="Rectangle 20"/>
          <p:cNvSpPr/>
          <p:nvPr/>
        </p:nvSpPr>
        <p:spPr>
          <a:xfrm>
            <a:off x="640080" y="390572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 y="390572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4</a:t>
            </a:r>
          </a:p>
        </p:txBody>
      </p:sp>
      <p:sp>
        <p:nvSpPr>
          <p:cNvPr id="23" name="TextBox 22"/>
          <p:cNvSpPr txBox="1"/>
          <p:nvPr/>
        </p:nvSpPr>
        <p:spPr>
          <a:xfrm>
            <a:off x="1097280" y="390572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Focus on issues, not personalities</a:t>
            </a:r>
          </a:p>
        </p:txBody>
      </p:sp>
      <p:sp>
        <p:nvSpPr>
          <p:cNvPr id="24" name="TextBox 23"/>
          <p:cNvSpPr txBox="1"/>
          <p:nvPr/>
        </p:nvSpPr>
        <p:spPr>
          <a:xfrm>
            <a:off x="1097280" y="416175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PM enforces ground rules; redirect from 'you' to 'the decision'</a:t>
            </a:r>
          </a:p>
        </p:txBody>
      </p:sp>
      <p:sp>
        <p:nvSpPr>
          <p:cNvPr id="25" name="Rectangle 24"/>
          <p:cNvSpPr/>
          <p:nvPr/>
        </p:nvSpPr>
        <p:spPr>
          <a:xfrm>
            <a:off x="640080" y="463724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463724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5</a:t>
            </a:r>
          </a:p>
        </p:txBody>
      </p:sp>
      <p:sp>
        <p:nvSpPr>
          <p:cNvPr id="27" name="TextBox 26"/>
          <p:cNvSpPr txBox="1"/>
          <p:nvPr/>
        </p:nvSpPr>
        <p:spPr>
          <a:xfrm>
            <a:off x="1097280" y="463724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Seek win-win resolutions</a:t>
            </a:r>
          </a:p>
        </p:txBody>
      </p:sp>
      <p:sp>
        <p:nvSpPr>
          <p:cNvPr id="28" name="TextBox 27"/>
          <p:cNvSpPr txBox="1"/>
          <p:nvPr/>
        </p:nvSpPr>
        <p:spPr>
          <a:xfrm>
            <a:off x="1097280" y="489327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Explore trade-offs; document rationale</a:t>
            </a:r>
          </a:p>
        </p:txBody>
      </p:sp>
      <p:sp>
        <p:nvSpPr>
          <p:cNvPr id="29" name="Rectangle 28"/>
          <p:cNvSpPr/>
          <p:nvPr/>
        </p:nvSpPr>
        <p:spPr>
          <a:xfrm>
            <a:off x="640080" y="536876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536876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6</a:t>
            </a:r>
          </a:p>
        </p:txBody>
      </p:sp>
      <p:sp>
        <p:nvSpPr>
          <p:cNvPr id="31" name="TextBox 30"/>
          <p:cNvSpPr txBox="1"/>
          <p:nvPr/>
        </p:nvSpPr>
        <p:spPr>
          <a:xfrm>
            <a:off x="1097280" y="536876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Document agreements</a:t>
            </a:r>
          </a:p>
        </p:txBody>
      </p:sp>
      <p:sp>
        <p:nvSpPr>
          <p:cNvPr id="32" name="TextBox 31"/>
          <p:cNvSpPr txBox="1"/>
          <p:nvPr/>
        </p:nvSpPr>
        <p:spPr>
          <a:xfrm>
            <a:off x="1097280" y="562479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Added to meeting minutes within 24 h; all parties confirm via Teams</a:t>
            </a:r>
          </a:p>
        </p:txBody>
      </p:sp>
      <p:sp>
        <p:nvSpPr>
          <p:cNvPr id="33" name="TextBox 32"/>
          <p:cNvSpPr txBox="1"/>
          <p:nvPr/>
        </p:nvSpPr>
        <p:spPr>
          <a:xfrm>
            <a:off x="6106452" y="1682990"/>
            <a:ext cx="5333949" cy="267766"/>
          </a:xfrm>
          <a:prstGeom prst="rect">
            <a:avLst/>
          </a:prstGeom>
          <a:noFill/>
        </p:spPr>
        <p:txBody>
          <a:bodyPr wrap="square" lIns="54864" tIns="18288" rIns="54864" bIns="18288" anchor="t">
            <a:spAutoFit/>
          </a:bodyPr>
          <a:lstStyle/>
          <a:p>
            <a:pPr algn="ctr">
              <a:lnSpc>
                <a:spcPct val="100000"/>
              </a:lnSpc>
            </a:pPr>
            <a:r>
              <a:rPr sz="1500" b="1" i="0">
                <a:solidFill>
                  <a:srgbClr val="2B2419"/>
                </a:solidFill>
                <a:latin typeface="Playfair Display"/>
              </a:rPr>
              <a:t>Stakeholder Power / Interest Grid</a:t>
            </a:r>
          </a:p>
        </p:txBody>
      </p:sp>
      <p:graphicFrame>
        <p:nvGraphicFramePr>
          <p:cNvPr id="34" name="Table 33"/>
          <p:cNvGraphicFramePr>
            <a:graphicFrameLocks noGrp="1"/>
          </p:cNvGraphicFramePr>
          <p:nvPr>
            <p:extLst>
              <p:ext uri="{D42A27DB-BD31-4B8C-83A1-F6EECF244321}">
                <p14:modId xmlns:p14="http://schemas.microsoft.com/office/powerpoint/2010/main" val="4244846812"/>
              </p:ext>
            </p:extLst>
          </p:nvPr>
        </p:nvGraphicFramePr>
        <p:xfrm>
          <a:off x="6096001" y="2094469"/>
          <a:ext cx="5516880" cy="3263160"/>
        </p:xfrm>
        <a:graphic>
          <a:graphicData uri="http://schemas.openxmlformats.org/drawingml/2006/table">
            <a:tbl>
              <a:tblPr firstRow="1" bandRow="1">
                <a:tableStyleId>{5C22544A-7EE6-4342-B048-85BDC9FD1C3A}</a:tableStyleId>
              </a:tblPr>
              <a:tblGrid>
                <a:gridCol w="1838960">
                  <a:extLst>
                    <a:ext uri="{9D8B030D-6E8A-4147-A177-3AD203B41FA5}">
                      <a16:colId xmlns:a16="http://schemas.microsoft.com/office/drawing/2014/main" val="20000"/>
                    </a:ext>
                  </a:extLst>
                </a:gridCol>
                <a:gridCol w="1838960">
                  <a:extLst>
                    <a:ext uri="{9D8B030D-6E8A-4147-A177-3AD203B41FA5}">
                      <a16:colId xmlns:a16="http://schemas.microsoft.com/office/drawing/2014/main" val="20001"/>
                    </a:ext>
                  </a:extLst>
                </a:gridCol>
                <a:gridCol w="1838960">
                  <a:extLst>
                    <a:ext uri="{9D8B030D-6E8A-4147-A177-3AD203B41FA5}">
                      <a16:colId xmlns:a16="http://schemas.microsoft.com/office/drawing/2014/main" val="20002"/>
                    </a:ext>
                  </a:extLst>
                </a:gridCol>
              </a:tblGrid>
              <a:tr h="1087720">
                <a:tc>
                  <a:txBody>
                    <a:bodyPr/>
                    <a:lstStyle/>
                    <a:p>
                      <a:pPr algn="ctr"/>
                      <a:endParaRPr sz="1300">
                        <a:latin typeface="Iosevka NFM" panose="02000509030000000004" pitchFamily="49" charset="0"/>
                        <a:ea typeface="Iosevka NFM" panose="02000509030000000004" pitchFamily="49" charset="0"/>
                        <a:cs typeface="Iosevka NFM" panose="02000509030000000004" pitchFamily="49" charset="0"/>
                      </a:endParaRPr>
                    </a:p>
                  </a:txBody>
                  <a:tcPr>
                    <a:solidFill>
                      <a:srgbClr val="8C5A2E"/>
                    </a:solidFill>
                  </a:tcPr>
                </a:tc>
                <a:tc>
                  <a:txBody>
                    <a:bodyPr/>
                    <a:lstStyle/>
                    <a:p>
                      <a:pPr algn="ctr"/>
                      <a:r>
                        <a:rPr sz="1300">
                          <a:solidFill>
                            <a:srgbClr val="FFFFFF"/>
                          </a:solidFill>
                          <a:latin typeface="Iosevka NFM" panose="02000509030000000004" pitchFamily="49" charset="0"/>
                          <a:ea typeface="Iosevka NFM" panose="02000509030000000004" pitchFamily="49" charset="0"/>
                          <a:cs typeface="Iosevka NFM" panose="02000509030000000004" pitchFamily="49" charset="0"/>
                        </a:rPr>
                        <a:t>Low Interest</a:t>
                      </a:r>
                    </a:p>
                  </a:txBody>
                  <a:tcPr>
                    <a:solidFill>
                      <a:srgbClr val="8C5A2E"/>
                    </a:solidFill>
                  </a:tcPr>
                </a:tc>
                <a:tc>
                  <a:txBody>
                    <a:bodyPr/>
                    <a:lstStyle/>
                    <a:p>
                      <a:pPr algn="ctr"/>
                      <a:r>
                        <a:rPr sz="1300" dirty="0">
                          <a:solidFill>
                            <a:srgbClr val="FFFFFF"/>
                          </a:solidFill>
                          <a:latin typeface="Iosevka NFM" panose="02000509030000000004" pitchFamily="49" charset="0"/>
                          <a:ea typeface="Iosevka NFM" panose="02000509030000000004" pitchFamily="49" charset="0"/>
                          <a:cs typeface="Iosevka NFM" panose="02000509030000000004" pitchFamily="49" charset="0"/>
                        </a:rPr>
                        <a:t>High Interest</a:t>
                      </a:r>
                    </a:p>
                  </a:txBody>
                  <a:tcPr>
                    <a:solidFill>
                      <a:srgbClr val="8C5A2E"/>
                    </a:solidFill>
                  </a:tcPr>
                </a:tc>
                <a:extLst>
                  <a:ext uri="{0D108BD9-81ED-4DB2-BD59-A6C34878D82A}">
                    <a16:rowId xmlns:a16="http://schemas.microsoft.com/office/drawing/2014/main" val="10000"/>
                  </a:ext>
                </a:extLst>
              </a:tr>
              <a:tr h="1087720">
                <a:tc>
                  <a:txBody>
                    <a:bodyPr/>
                    <a:lstStyle/>
                    <a:p>
                      <a:pPr algn="ctr"/>
                      <a:r>
                        <a:rPr sz="1300">
                          <a:solidFill>
                            <a:srgbClr val="2B2419"/>
                          </a:solidFill>
                          <a:latin typeface="Iosevka NFM" panose="02000509030000000004" pitchFamily="49" charset="0"/>
                          <a:ea typeface="Iosevka NFM" panose="02000509030000000004" pitchFamily="49" charset="0"/>
                          <a:cs typeface="Iosevka NFM" panose="02000509030000000004" pitchFamily="49" charset="0"/>
                        </a:rPr>
                        <a:t>High
Power</a:t>
                      </a:r>
                    </a:p>
                  </a:txBody>
                  <a:tcPr>
                    <a:solidFill>
                      <a:srgbClr val="F0E9DD"/>
                    </a:solidFill>
                  </a:tcPr>
                </a:tc>
                <a:tc>
                  <a:txBody>
                    <a:bodyPr/>
                    <a:lstStyle/>
                    <a:p>
                      <a:pPr algn="ctr"/>
                      <a:r>
                        <a:rPr sz="1300">
                          <a:solidFill>
                            <a:srgbClr val="2B2419"/>
                          </a:solidFill>
                          <a:latin typeface="Iosevka NFM" panose="02000509030000000004" pitchFamily="49" charset="0"/>
                          <a:ea typeface="Iosevka NFM" panose="02000509030000000004" pitchFamily="49" charset="0"/>
                          <a:cs typeface="Iosevka NFM" panose="02000509030000000004" pitchFamily="49" charset="0"/>
                        </a:rPr>
                        <a:t>Monitor
(Peer Groups)</a:t>
                      </a:r>
                    </a:p>
                  </a:txBody>
                  <a:tcPr>
                    <a:solidFill>
                      <a:srgbClr val="5B6B47"/>
                    </a:solidFill>
                  </a:tcPr>
                </a:tc>
                <a:tc>
                  <a:txBody>
                    <a:bodyPr/>
                    <a:lstStyle/>
                    <a:p>
                      <a:pPr algn="ctr"/>
                      <a:r>
                        <a:rPr sz="1300">
                          <a:solidFill>
                            <a:srgbClr val="2B2419"/>
                          </a:solidFill>
                          <a:latin typeface="Iosevka NFM" panose="02000509030000000004" pitchFamily="49" charset="0"/>
                          <a:ea typeface="Iosevka NFM" panose="02000509030000000004" pitchFamily="49" charset="0"/>
                          <a:cs typeface="Iosevka NFM" panose="02000509030000000004" pitchFamily="49" charset="0"/>
                        </a:rPr>
                        <a:t>Keep Satisfied
(Instructor, Univ.)</a:t>
                      </a:r>
                    </a:p>
                  </a:txBody>
                  <a:tcPr>
                    <a:solidFill>
                      <a:srgbClr val="E8D5BC"/>
                    </a:solidFill>
                  </a:tcPr>
                </a:tc>
                <a:extLst>
                  <a:ext uri="{0D108BD9-81ED-4DB2-BD59-A6C34878D82A}">
                    <a16:rowId xmlns:a16="http://schemas.microsoft.com/office/drawing/2014/main" val="10001"/>
                  </a:ext>
                </a:extLst>
              </a:tr>
              <a:tr h="1087720">
                <a:tc>
                  <a:txBody>
                    <a:bodyPr/>
                    <a:lstStyle/>
                    <a:p>
                      <a:pPr algn="ctr"/>
                      <a:r>
                        <a:rPr sz="1300">
                          <a:solidFill>
                            <a:srgbClr val="2B2419"/>
                          </a:solidFill>
                          <a:latin typeface="Iosevka NFM" panose="02000509030000000004" pitchFamily="49" charset="0"/>
                          <a:ea typeface="Iosevka NFM" panose="02000509030000000004" pitchFamily="49" charset="0"/>
                          <a:cs typeface="Iosevka NFM" panose="02000509030000000004" pitchFamily="49" charset="0"/>
                        </a:rPr>
                        <a:t>Low
Power</a:t>
                      </a:r>
                    </a:p>
                  </a:txBody>
                  <a:tcPr>
                    <a:solidFill>
                      <a:srgbClr val="F0E9DD"/>
                    </a:solidFill>
                  </a:tcPr>
                </a:tc>
                <a:tc>
                  <a:txBody>
                    <a:bodyPr/>
                    <a:lstStyle/>
                    <a:p>
                      <a:pPr algn="ctr"/>
                      <a:r>
                        <a:rPr sz="130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Keep Informed
(Bystanders)</a:t>
                      </a:r>
                    </a:p>
                  </a:txBody>
                  <a:tcPr>
                    <a:solidFill>
                      <a:srgbClr val="F5EFE6"/>
                    </a:solidFill>
                  </a:tcPr>
                </a:tc>
                <a:tc>
                  <a:txBody>
                    <a:bodyPr/>
                    <a:lstStyle/>
                    <a:p>
                      <a:pPr algn="ctr"/>
                      <a:r>
                        <a:rPr sz="130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Keep Informed
(End Users)</a:t>
                      </a:r>
                    </a:p>
                  </a:txBody>
                  <a:tcPr>
                    <a:solidFill>
                      <a:srgbClr val="E8D5BC"/>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23 / 31</a:t>
            </a:r>
          </a:p>
        </p:txBody>
      </p:sp>
      <p:sp>
        <p:nvSpPr>
          <p:cNvPr id="11" name="TextBox 10">
            <a:extLst>
              <a:ext uri="{FF2B5EF4-FFF2-40B4-BE49-F238E27FC236}">
                <a16:creationId xmlns:a16="http://schemas.microsoft.com/office/drawing/2014/main" id="{5CC73712-8858-1983-67C0-CC6B48CB3ADA}"/>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86CC8AC7-1B31-590F-AF3E-2932A024DECD}"/>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lang="en-US" sz="9600" i="1" dirty="0">
                <a:solidFill>
                  <a:srgbClr val="C49A6C"/>
                </a:solidFill>
                <a:latin typeface="Playfair Display"/>
              </a:rPr>
              <a:t>VII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51D2FF5B-5884-19A4-18A3-1AF2BCED1093}"/>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Monitoring &amp; EVM</a:t>
            </a:r>
          </a:p>
        </p:txBody>
      </p:sp>
      <p:sp>
        <p:nvSpPr>
          <p:cNvPr id="14" name="TextBox 13">
            <a:extLst>
              <a:ext uri="{FF2B5EF4-FFF2-40B4-BE49-F238E27FC236}">
                <a16:creationId xmlns:a16="http://schemas.microsoft.com/office/drawing/2014/main" id="{DCAE2FBC-66F6-A440-659E-E17104DCE236}"/>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r>
              <a:rPr lang="en-US" sz="1300" i="1" dirty="0">
                <a:solidFill>
                  <a:srgbClr val="8A7A66"/>
                </a:solidFill>
                <a:latin typeface="Inter"/>
              </a:rPr>
              <a:t>CLO 7 · Ch. 10</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MONITORING &amp; EVM</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a:solidFill>
                  <a:srgbClr val="2B2418"/>
                </a:solidFill>
                <a:latin typeface="Playfair Display"/>
              </a:rPr>
              <a:t>EVM Status — Week 6 Snapshot</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24 / 31</a:t>
            </a:r>
          </a:p>
        </p:txBody>
      </p:sp>
      <p:sp>
        <p:nvSpPr>
          <p:cNvPr id="8" name="Rectangle 7"/>
          <p:cNvSpPr/>
          <p:nvPr/>
        </p:nvSpPr>
        <p:spPr>
          <a:xfrm>
            <a:off x="640080" y="1083683"/>
            <a:ext cx="2157984" cy="1572768"/>
          </a:xfrm>
          <a:prstGeom prst="rect">
            <a:avLst/>
          </a:prstGeom>
          <a:solidFill>
            <a:srgbClr val="C49A6C"/>
          </a:solidFill>
          <a:ln>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8C5A2E"/>
                </a:solidFill>
                <a:latin typeface="Playfair Display"/>
              </a:rPr>
              <a:t>0.75</a:t>
            </a:r>
          </a:p>
        </p:txBody>
      </p:sp>
      <p:sp>
        <p:nvSpPr>
          <p:cNvPr id="10" name="TextBox 9"/>
          <p:cNvSpPr txBox="1"/>
          <p:nvPr/>
        </p:nvSpPr>
        <p:spPr>
          <a:xfrm>
            <a:off x="694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Cost Performance
Index (CPI)</a:t>
            </a:r>
          </a:p>
        </p:txBody>
      </p:sp>
      <p:sp>
        <p:nvSpPr>
          <p:cNvPr id="11" name="TextBox 10"/>
          <p:cNvSpPr txBox="1"/>
          <p:nvPr/>
        </p:nvSpPr>
        <p:spPr>
          <a:xfrm>
            <a:off x="694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Over budget</a:t>
            </a:r>
          </a:p>
        </p:txBody>
      </p:sp>
      <p:sp>
        <p:nvSpPr>
          <p:cNvPr id="12" name="Rectangle 11"/>
          <p:cNvSpPr/>
          <p:nvPr/>
        </p:nvSpPr>
        <p:spPr>
          <a:xfrm>
            <a:off x="2926080" y="1083683"/>
            <a:ext cx="2157984" cy="1572768"/>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99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0.45</a:t>
            </a:r>
          </a:p>
        </p:txBody>
      </p:sp>
      <p:sp>
        <p:nvSpPr>
          <p:cNvPr id="14" name="TextBox 13"/>
          <p:cNvSpPr txBox="1"/>
          <p:nvPr/>
        </p:nvSpPr>
        <p:spPr>
          <a:xfrm>
            <a:off x="2980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Schedule Perf.
Index (SPI)</a:t>
            </a:r>
          </a:p>
        </p:txBody>
      </p:sp>
      <p:sp>
        <p:nvSpPr>
          <p:cNvPr id="15" name="TextBox 14"/>
          <p:cNvSpPr txBox="1"/>
          <p:nvPr/>
        </p:nvSpPr>
        <p:spPr>
          <a:xfrm>
            <a:off x="2980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Behind schedule</a:t>
            </a:r>
          </a:p>
        </p:txBody>
      </p:sp>
      <p:sp>
        <p:nvSpPr>
          <p:cNvPr id="16" name="Rectangle 15"/>
          <p:cNvSpPr/>
          <p:nvPr/>
        </p:nvSpPr>
        <p:spPr>
          <a:xfrm>
            <a:off x="5212080" y="1083683"/>
            <a:ext cx="2157984" cy="1572768"/>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85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44.8M</a:t>
            </a:r>
          </a:p>
        </p:txBody>
      </p:sp>
      <p:sp>
        <p:nvSpPr>
          <p:cNvPr id="18" name="TextBox 17"/>
          <p:cNvSpPr txBox="1"/>
          <p:nvPr/>
        </p:nvSpPr>
        <p:spPr>
          <a:xfrm>
            <a:off x="5266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Est. at Completion
(EAC)</a:t>
            </a:r>
          </a:p>
        </p:txBody>
      </p:sp>
      <p:sp>
        <p:nvSpPr>
          <p:cNvPr id="19" name="TextBox 18"/>
          <p:cNvSpPr txBox="1"/>
          <p:nvPr/>
        </p:nvSpPr>
        <p:spPr>
          <a:xfrm>
            <a:off x="5266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Forecast: +11.2M</a:t>
            </a:r>
          </a:p>
        </p:txBody>
      </p:sp>
      <p:sp>
        <p:nvSpPr>
          <p:cNvPr id="20" name="Rectangle 19"/>
          <p:cNvSpPr/>
          <p:nvPr/>
        </p:nvSpPr>
        <p:spPr>
          <a:xfrm>
            <a:off x="7498080" y="1083683"/>
            <a:ext cx="2157984" cy="1572768"/>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571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−2.5M</a:t>
            </a:r>
          </a:p>
        </p:txBody>
      </p:sp>
      <p:sp>
        <p:nvSpPr>
          <p:cNvPr id="22" name="TextBox 21"/>
          <p:cNvSpPr txBox="1"/>
          <p:nvPr/>
        </p:nvSpPr>
        <p:spPr>
          <a:xfrm>
            <a:off x="7552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Cost Variance
(CV)</a:t>
            </a:r>
          </a:p>
        </p:txBody>
      </p:sp>
      <p:sp>
        <p:nvSpPr>
          <p:cNvPr id="23" name="TextBox 22"/>
          <p:cNvSpPr txBox="1"/>
          <p:nvPr/>
        </p:nvSpPr>
        <p:spPr>
          <a:xfrm>
            <a:off x="7552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Over budget by 2.5M</a:t>
            </a:r>
          </a:p>
        </p:txBody>
      </p:sp>
      <p:sp>
        <p:nvSpPr>
          <p:cNvPr id="24" name="Rectangle 23"/>
          <p:cNvSpPr/>
          <p:nvPr/>
        </p:nvSpPr>
        <p:spPr>
          <a:xfrm>
            <a:off x="9784080" y="1083683"/>
            <a:ext cx="2157984" cy="1572768"/>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857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−11.2M</a:t>
            </a:r>
          </a:p>
        </p:txBody>
      </p:sp>
      <p:sp>
        <p:nvSpPr>
          <p:cNvPr id="26" name="TextBox 25"/>
          <p:cNvSpPr txBox="1"/>
          <p:nvPr/>
        </p:nvSpPr>
        <p:spPr>
          <a:xfrm>
            <a:off x="9838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Variance at
Completion (VAC)</a:t>
            </a:r>
          </a:p>
        </p:txBody>
      </p:sp>
      <p:sp>
        <p:nvSpPr>
          <p:cNvPr id="27" name="TextBox 26"/>
          <p:cNvSpPr txBox="1"/>
          <p:nvPr/>
        </p:nvSpPr>
        <p:spPr>
          <a:xfrm>
            <a:off x="9838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Forecast overrun</a:t>
            </a:r>
          </a:p>
        </p:txBody>
      </p:sp>
      <p:graphicFrame>
        <p:nvGraphicFramePr>
          <p:cNvPr id="28" name="Table 27"/>
          <p:cNvGraphicFramePr>
            <a:graphicFrameLocks noGrp="1"/>
          </p:cNvGraphicFramePr>
          <p:nvPr>
            <p:extLst>
              <p:ext uri="{D42A27DB-BD31-4B8C-83A1-F6EECF244321}">
                <p14:modId xmlns:p14="http://schemas.microsoft.com/office/powerpoint/2010/main" val="231452937"/>
              </p:ext>
            </p:extLst>
          </p:nvPr>
        </p:nvGraphicFramePr>
        <p:xfrm>
          <a:off x="640080" y="2928318"/>
          <a:ext cx="11301984" cy="3416628"/>
        </p:xfrm>
        <a:graphic>
          <a:graphicData uri="http://schemas.openxmlformats.org/drawingml/2006/table">
            <a:tbl>
              <a:tblPr firstRow="1" bandRow="1">
                <a:tableStyleId>{5C22544A-7EE6-4342-B048-85BDC9FD1C3A}</a:tableStyleId>
              </a:tblPr>
              <a:tblGrid>
                <a:gridCol w="899022">
                  <a:extLst>
                    <a:ext uri="{9D8B030D-6E8A-4147-A177-3AD203B41FA5}">
                      <a16:colId xmlns:a16="http://schemas.microsoft.com/office/drawing/2014/main" val="20000"/>
                    </a:ext>
                  </a:extLst>
                </a:gridCol>
                <a:gridCol w="2568633">
                  <a:extLst>
                    <a:ext uri="{9D8B030D-6E8A-4147-A177-3AD203B41FA5}">
                      <a16:colId xmlns:a16="http://schemas.microsoft.com/office/drawing/2014/main" val="20001"/>
                    </a:ext>
                  </a:extLst>
                </a:gridCol>
                <a:gridCol w="5265696">
                  <a:extLst>
                    <a:ext uri="{9D8B030D-6E8A-4147-A177-3AD203B41FA5}">
                      <a16:colId xmlns:a16="http://schemas.microsoft.com/office/drawing/2014/main" val="20002"/>
                    </a:ext>
                  </a:extLst>
                </a:gridCol>
                <a:gridCol w="2568633">
                  <a:extLst>
                    <a:ext uri="{9D8B030D-6E8A-4147-A177-3AD203B41FA5}">
                      <a16:colId xmlns:a16="http://schemas.microsoft.com/office/drawing/2014/main" val="20003"/>
                    </a:ext>
                  </a:extLst>
                </a:gridCol>
              </a:tblGrid>
              <a:tr h="284719">
                <a:tc>
                  <a:txBody>
                    <a:bodyPr/>
                    <a:lstStyle/>
                    <a:p>
                      <a:r>
                        <a:rPr sz="1300" b="1">
                          <a:solidFill>
                            <a:srgbClr val="FFFFFF"/>
                          </a:solidFill>
                          <a:latin typeface="Inter"/>
                        </a:rPr>
                        <a:t>Metric</a:t>
                      </a:r>
                    </a:p>
                  </a:txBody>
                  <a:tcPr marL="73152" marR="73152" marT="36576" marB="36576">
                    <a:solidFill>
                      <a:srgbClr val="8C5A2E"/>
                    </a:solidFill>
                  </a:tcPr>
                </a:tc>
                <a:tc>
                  <a:txBody>
                    <a:bodyPr/>
                    <a:lstStyle/>
                    <a:p>
                      <a:r>
                        <a:rPr sz="1300" b="1">
                          <a:solidFill>
                            <a:srgbClr val="FFFFFF"/>
                          </a:solidFill>
                          <a:latin typeface="Inter"/>
                        </a:rPr>
                        <a:t>Formula</a:t>
                      </a:r>
                    </a:p>
                  </a:txBody>
                  <a:tcPr marL="73152" marR="73152" marT="36576" marB="36576">
                    <a:solidFill>
                      <a:srgbClr val="8C5A2E"/>
                    </a:solidFill>
                  </a:tcPr>
                </a:tc>
                <a:tc>
                  <a:txBody>
                    <a:bodyPr/>
                    <a:lstStyle/>
                    <a:p>
                      <a:r>
                        <a:rPr sz="1300" b="1">
                          <a:solidFill>
                            <a:srgbClr val="FFFFFF"/>
                          </a:solidFill>
                          <a:latin typeface="Inter"/>
                        </a:rPr>
                        <a:t>Workings</a:t>
                      </a:r>
                    </a:p>
                  </a:txBody>
                  <a:tcPr marL="73152" marR="73152" marT="36576" marB="36576">
                    <a:solidFill>
                      <a:srgbClr val="8C5A2E"/>
                    </a:solidFill>
                  </a:tcPr>
                </a:tc>
                <a:tc>
                  <a:txBody>
                    <a:bodyPr/>
                    <a:lstStyle/>
                    <a:p>
                      <a:r>
                        <a:rPr sz="1300" b="1">
                          <a:solidFill>
                            <a:srgbClr val="FFFFFF"/>
                          </a:solidFill>
                          <a:latin typeface="Inter"/>
                        </a:rPr>
                        <a:t>Value</a:t>
                      </a:r>
                    </a:p>
                  </a:txBody>
                  <a:tcPr marL="73152" marR="73152" marT="36576" marB="36576">
                    <a:solidFill>
                      <a:srgbClr val="8C5A2E"/>
                    </a:solidFill>
                  </a:tcPr>
                </a:tc>
                <a:extLst>
                  <a:ext uri="{0D108BD9-81ED-4DB2-BD59-A6C34878D82A}">
                    <a16:rowId xmlns:a16="http://schemas.microsoft.com/office/drawing/2014/main" val="10000"/>
                  </a:ext>
                </a:extLst>
              </a:tr>
              <a:tr h="284719">
                <a:tc>
                  <a:txBody>
                    <a:bodyPr/>
                    <a:lstStyle/>
                    <a:p>
                      <a:r>
                        <a:rPr sz="1300" b="0">
                          <a:solidFill>
                            <a:srgbClr val="2B2419"/>
                          </a:solidFill>
                          <a:latin typeface="Inter"/>
                        </a:rPr>
                        <a:t>BAC</a:t>
                      </a:r>
                    </a:p>
                  </a:txBody>
                  <a:tcPr marL="73152" marR="73152" marT="36576" marB="36576">
                    <a:solidFill>
                      <a:srgbClr val="F5EFE6"/>
                    </a:solidFill>
                  </a:tcPr>
                </a:tc>
                <a:tc>
                  <a:txBody>
                    <a:bodyPr/>
                    <a:lstStyle/>
                    <a:p>
                      <a:r>
                        <a:rPr sz="1300" b="0">
                          <a:solidFill>
                            <a:srgbClr val="2B2419"/>
                          </a:solidFill>
                          <a:latin typeface="Inter"/>
                        </a:rPr>
                        <a:t>Budget at Completion</a:t>
                      </a:r>
                    </a:p>
                  </a:txBody>
                  <a:tcPr marL="73152" marR="73152" marT="36576" marB="36576">
                    <a:solidFill>
                      <a:srgbClr val="F5EFE6"/>
                    </a:solidFill>
                  </a:tcPr>
                </a:tc>
                <a:tc>
                  <a:txBody>
                    <a:bodyPr/>
                    <a:lstStyle/>
                    <a:p>
                      <a:r>
                        <a:rPr sz="1300" b="0">
                          <a:solidFill>
                            <a:srgbClr val="2B2419"/>
                          </a:solidFill>
                          <a:latin typeface="Inter"/>
                        </a:rPr>
                        <a:t>From budget baseline</a:t>
                      </a:r>
                    </a:p>
                  </a:txBody>
                  <a:tcPr marL="73152" marR="73152" marT="36576" marB="36576">
                    <a:solidFill>
                      <a:srgbClr val="F5EFE6"/>
                    </a:solidFill>
                  </a:tcPr>
                </a:tc>
                <a:tc>
                  <a:txBody>
                    <a:bodyPr/>
                    <a:lstStyle/>
                    <a:p>
                      <a:r>
                        <a:rPr sz="1300" b="0">
                          <a:solidFill>
                            <a:srgbClr val="2B2419"/>
                          </a:solidFill>
                          <a:latin typeface="Inter"/>
                        </a:rPr>
                        <a:t>33,600,000 VND</a:t>
                      </a:r>
                    </a:p>
                  </a:txBody>
                  <a:tcPr marL="73152" marR="73152" marT="36576" marB="36576">
                    <a:solidFill>
                      <a:srgbClr val="F5EFE6"/>
                    </a:solidFill>
                  </a:tcPr>
                </a:tc>
                <a:extLst>
                  <a:ext uri="{0D108BD9-81ED-4DB2-BD59-A6C34878D82A}">
                    <a16:rowId xmlns:a16="http://schemas.microsoft.com/office/drawing/2014/main" val="10001"/>
                  </a:ext>
                </a:extLst>
              </a:tr>
              <a:tr h="284719">
                <a:tc>
                  <a:txBody>
                    <a:bodyPr/>
                    <a:lstStyle/>
                    <a:p>
                      <a:r>
                        <a:rPr sz="1300" b="0">
                          <a:solidFill>
                            <a:srgbClr val="2B2419"/>
                          </a:solidFill>
                          <a:latin typeface="Inter"/>
                        </a:rPr>
                        <a:t>PV</a:t>
                      </a:r>
                    </a:p>
                  </a:txBody>
                  <a:tcPr marL="73152" marR="73152" marT="36576" marB="36576">
                    <a:solidFill>
                      <a:srgbClr val="F5EFE6"/>
                    </a:solidFill>
                  </a:tcPr>
                </a:tc>
                <a:tc>
                  <a:txBody>
                    <a:bodyPr/>
                    <a:lstStyle/>
                    <a:p>
                      <a:r>
                        <a:rPr sz="1300" b="0">
                          <a:solidFill>
                            <a:srgbClr val="2B2419"/>
                          </a:solidFill>
                          <a:latin typeface="Inter"/>
                        </a:rPr>
                        <a:t>Planned Value at W6</a:t>
                      </a:r>
                    </a:p>
                  </a:txBody>
                  <a:tcPr marL="73152" marR="73152" marT="36576" marB="36576">
                    <a:solidFill>
                      <a:srgbClr val="F5EFE6"/>
                    </a:solidFill>
                  </a:tcPr>
                </a:tc>
                <a:tc>
                  <a:txBody>
                    <a:bodyPr/>
                    <a:lstStyle/>
                    <a:p>
                      <a:r>
                        <a:rPr sz="1300" b="0">
                          <a:solidFill>
                            <a:srgbClr val="2B2419"/>
                          </a:solidFill>
                          <a:latin typeface="Inter"/>
                        </a:rPr>
                        <a:t>50% of BAC</a:t>
                      </a:r>
                    </a:p>
                  </a:txBody>
                  <a:tcPr marL="73152" marR="73152" marT="36576" marB="36576">
                    <a:solidFill>
                      <a:srgbClr val="F5EFE6"/>
                    </a:solidFill>
                  </a:tcPr>
                </a:tc>
                <a:tc>
                  <a:txBody>
                    <a:bodyPr/>
                    <a:lstStyle/>
                    <a:p>
                      <a:r>
                        <a:rPr sz="1300" b="0">
                          <a:solidFill>
                            <a:srgbClr val="2B2419"/>
                          </a:solidFill>
                          <a:latin typeface="Inter"/>
                        </a:rPr>
                        <a:t>16,800,000 VND</a:t>
                      </a:r>
                    </a:p>
                  </a:txBody>
                  <a:tcPr marL="73152" marR="73152" marT="36576" marB="36576">
                    <a:solidFill>
                      <a:srgbClr val="F5EFE6"/>
                    </a:solidFill>
                  </a:tcPr>
                </a:tc>
                <a:extLst>
                  <a:ext uri="{0D108BD9-81ED-4DB2-BD59-A6C34878D82A}">
                    <a16:rowId xmlns:a16="http://schemas.microsoft.com/office/drawing/2014/main" val="10002"/>
                  </a:ext>
                </a:extLst>
              </a:tr>
              <a:tr h="284719">
                <a:tc>
                  <a:txBody>
                    <a:bodyPr/>
                    <a:lstStyle/>
                    <a:p>
                      <a:r>
                        <a:rPr sz="1300" b="0">
                          <a:solidFill>
                            <a:srgbClr val="2B2419"/>
                          </a:solidFill>
                          <a:latin typeface="Inter"/>
                        </a:rPr>
                        <a:t>EV</a:t>
                      </a:r>
                    </a:p>
                  </a:txBody>
                  <a:tcPr marL="73152" marR="73152" marT="36576" marB="36576">
                    <a:solidFill>
                      <a:srgbClr val="F5EFE6"/>
                    </a:solidFill>
                  </a:tcPr>
                </a:tc>
                <a:tc>
                  <a:txBody>
                    <a:bodyPr/>
                    <a:lstStyle/>
                    <a:p>
                      <a:r>
                        <a:rPr sz="1300" b="0">
                          <a:solidFill>
                            <a:srgbClr val="2B2419"/>
                          </a:solidFill>
                          <a:latin typeface="Inter"/>
                        </a:rPr>
                        <a:t>Earned Value</a:t>
                      </a:r>
                    </a:p>
                  </a:txBody>
                  <a:tcPr marL="73152" marR="73152" marT="36576" marB="36576">
                    <a:solidFill>
                      <a:srgbClr val="F5EFE6"/>
                    </a:solidFill>
                  </a:tcPr>
                </a:tc>
                <a:tc>
                  <a:txBody>
                    <a:bodyPr/>
                    <a:lstStyle/>
                    <a:p>
                      <a:r>
                        <a:rPr sz="1300" b="0">
                          <a:solidFill>
                            <a:srgbClr val="2B2419"/>
                          </a:solidFill>
                          <a:latin typeface="Inter"/>
                        </a:rPr>
                        <a:t>M1+M2+M3+partial = 7.5M</a:t>
                      </a:r>
                    </a:p>
                  </a:txBody>
                  <a:tcPr marL="73152" marR="73152" marT="36576" marB="36576">
                    <a:solidFill>
                      <a:srgbClr val="F5EFE6"/>
                    </a:solidFill>
                  </a:tcPr>
                </a:tc>
                <a:tc>
                  <a:txBody>
                    <a:bodyPr/>
                    <a:lstStyle/>
                    <a:p>
                      <a:r>
                        <a:rPr sz="1300" b="0">
                          <a:solidFill>
                            <a:srgbClr val="2B2419"/>
                          </a:solidFill>
                          <a:latin typeface="Inter"/>
                        </a:rPr>
                        <a:t>7,500,000 VND</a:t>
                      </a:r>
                    </a:p>
                  </a:txBody>
                  <a:tcPr marL="73152" marR="73152" marT="36576" marB="36576">
                    <a:solidFill>
                      <a:srgbClr val="F5EFE6"/>
                    </a:solidFill>
                  </a:tcPr>
                </a:tc>
                <a:extLst>
                  <a:ext uri="{0D108BD9-81ED-4DB2-BD59-A6C34878D82A}">
                    <a16:rowId xmlns:a16="http://schemas.microsoft.com/office/drawing/2014/main" val="10003"/>
                  </a:ext>
                </a:extLst>
              </a:tr>
              <a:tr h="284719">
                <a:tc>
                  <a:txBody>
                    <a:bodyPr/>
                    <a:lstStyle/>
                    <a:p>
                      <a:r>
                        <a:rPr sz="1300" b="0">
                          <a:solidFill>
                            <a:srgbClr val="2B2419"/>
                          </a:solidFill>
                          <a:latin typeface="Inter"/>
                        </a:rPr>
                        <a:t>AC</a:t>
                      </a:r>
                    </a:p>
                  </a:txBody>
                  <a:tcPr marL="73152" marR="73152" marT="36576" marB="36576">
                    <a:solidFill>
                      <a:srgbClr val="F5EFE6"/>
                    </a:solidFill>
                  </a:tcPr>
                </a:tc>
                <a:tc>
                  <a:txBody>
                    <a:bodyPr/>
                    <a:lstStyle/>
                    <a:p>
                      <a:r>
                        <a:rPr sz="1300" b="0">
                          <a:solidFill>
                            <a:srgbClr val="2B2419"/>
                          </a:solidFill>
                          <a:latin typeface="Inter"/>
                        </a:rPr>
                        <a:t>Actual Cost</a:t>
                      </a:r>
                    </a:p>
                  </a:txBody>
                  <a:tcPr marL="73152" marR="73152" marT="36576" marB="36576">
                    <a:solidFill>
                      <a:srgbClr val="F5EFE6"/>
                    </a:solidFill>
                  </a:tcPr>
                </a:tc>
                <a:tc>
                  <a:txBody>
                    <a:bodyPr/>
                    <a:lstStyle/>
                    <a:p>
                      <a:r>
                        <a:rPr sz="1300" b="0">
                          <a:solidFill>
                            <a:srgbClr val="2B2419"/>
                          </a:solidFill>
                          <a:latin typeface="Inter"/>
                        </a:rPr>
                        <a:t>200 h × 50,000 VND/h</a:t>
                      </a:r>
                    </a:p>
                  </a:txBody>
                  <a:tcPr marL="73152" marR="73152" marT="36576" marB="36576">
                    <a:solidFill>
                      <a:srgbClr val="F5EFE6"/>
                    </a:solidFill>
                  </a:tcPr>
                </a:tc>
                <a:tc>
                  <a:txBody>
                    <a:bodyPr/>
                    <a:lstStyle/>
                    <a:p>
                      <a:r>
                        <a:rPr sz="1300" b="0">
                          <a:solidFill>
                            <a:srgbClr val="2B2419"/>
                          </a:solidFill>
                          <a:latin typeface="Inter"/>
                        </a:rPr>
                        <a:t>10,000,000 VND</a:t>
                      </a:r>
                    </a:p>
                  </a:txBody>
                  <a:tcPr marL="73152" marR="73152" marT="36576" marB="36576">
                    <a:solidFill>
                      <a:srgbClr val="F5EFE6"/>
                    </a:solidFill>
                  </a:tcPr>
                </a:tc>
                <a:extLst>
                  <a:ext uri="{0D108BD9-81ED-4DB2-BD59-A6C34878D82A}">
                    <a16:rowId xmlns:a16="http://schemas.microsoft.com/office/drawing/2014/main" val="10004"/>
                  </a:ext>
                </a:extLst>
              </a:tr>
              <a:tr h="284719">
                <a:tc>
                  <a:txBody>
                    <a:bodyPr/>
                    <a:lstStyle/>
                    <a:p>
                      <a:r>
                        <a:rPr sz="1300" b="0">
                          <a:solidFill>
                            <a:srgbClr val="2B2419"/>
                          </a:solidFill>
                          <a:latin typeface="Inter"/>
                        </a:rPr>
                        <a:t>CV</a:t>
                      </a:r>
                    </a:p>
                  </a:txBody>
                  <a:tcPr marL="73152" marR="73152" marT="36576" marB="36576">
                    <a:solidFill>
                      <a:srgbClr val="A65D3F"/>
                    </a:solidFill>
                  </a:tcPr>
                </a:tc>
                <a:tc>
                  <a:txBody>
                    <a:bodyPr/>
                    <a:lstStyle/>
                    <a:p>
                      <a:r>
                        <a:rPr sz="1300" b="0">
                          <a:solidFill>
                            <a:srgbClr val="2B2419"/>
                          </a:solidFill>
                          <a:latin typeface="Inter"/>
                        </a:rPr>
                        <a:t>Cost Variance</a:t>
                      </a:r>
                    </a:p>
                  </a:txBody>
                  <a:tcPr marL="73152" marR="73152" marT="36576" marB="36576">
                    <a:solidFill>
                      <a:srgbClr val="A65D3F"/>
                    </a:solidFill>
                  </a:tcPr>
                </a:tc>
                <a:tc>
                  <a:txBody>
                    <a:bodyPr/>
                    <a:lstStyle/>
                    <a:p>
                      <a:r>
                        <a:rPr sz="1300" b="0">
                          <a:solidFill>
                            <a:srgbClr val="2B2419"/>
                          </a:solidFill>
                          <a:latin typeface="Inter"/>
                        </a:rPr>
                        <a:t>EV − AC = 7.5M − 10M</a:t>
                      </a:r>
                    </a:p>
                  </a:txBody>
                  <a:tcPr marL="73152" marR="73152" marT="36576" marB="36576">
                    <a:solidFill>
                      <a:srgbClr val="A65D3F"/>
                    </a:solidFill>
                  </a:tcPr>
                </a:tc>
                <a:tc>
                  <a:txBody>
                    <a:bodyPr/>
                    <a:lstStyle/>
                    <a:p>
                      <a:r>
                        <a:rPr sz="1300" b="0">
                          <a:solidFill>
                            <a:srgbClr val="2B2419"/>
                          </a:solidFill>
                          <a:latin typeface="Inter"/>
                        </a:rPr>
                        <a:t>−2,500,000 VND</a:t>
                      </a:r>
                    </a:p>
                  </a:txBody>
                  <a:tcPr marL="73152" marR="73152" marT="36576" marB="36576">
                    <a:solidFill>
                      <a:srgbClr val="A65D3F"/>
                    </a:solidFill>
                  </a:tcPr>
                </a:tc>
                <a:extLst>
                  <a:ext uri="{0D108BD9-81ED-4DB2-BD59-A6C34878D82A}">
                    <a16:rowId xmlns:a16="http://schemas.microsoft.com/office/drawing/2014/main" val="10005"/>
                  </a:ext>
                </a:extLst>
              </a:tr>
              <a:tr h="284719">
                <a:tc>
                  <a:txBody>
                    <a:bodyPr/>
                    <a:lstStyle/>
                    <a:p>
                      <a:r>
                        <a:rPr sz="1300" b="0">
                          <a:solidFill>
                            <a:srgbClr val="2B2419"/>
                          </a:solidFill>
                          <a:latin typeface="Inter"/>
                        </a:rPr>
                        <a:t>SV</a:t>
                      </a:r>
                    </a:p>
                  </a:txBody>
                  <a:tcPr marL="73152" marR="73152" marT="36576" marB="36576">
                    <a:solidFill>
                      <a:srgbClr val="A65D3F"/>
                    </a:solidFill>
                  </a:tcPr>
                </a:tc>
                <a:tc>
                  <a:txBody>
                    <a:bodyPr/>
                    <a:lstStyle/>
                    <a:p>
                      <a:r>
                        <a:rPr sz="1300" b="0">
                          <a:solidFill>
                            <a:srgbClr val="2B2419"/>
                          </a:solidFill>
                          <a:latin typeface="Inter"/>
                        </a:rPr>
                        <a:t>Schedule Variance</a:t>
                      </a:r>
                    </a:p>
                  </a:txBody>
                  <a:tcPr marL="73152" marR="73152" marT="36576" marB="36576">
                    <a:solidFill>
                      <a:srgbClr val="A65D3F"/>
                    </a:solidFill>
                  </a:tcPr>
                </a:tc>
                <a:tc>
                  <a:txBody>
                    <a:bodyPr/>
                    <a:lstStyle/>
                    <a:p>
                      <a:r>
                        <a:rPr sz="1300" b="0">
                          <a:solidFill>
                            <a:srgbClr val="2B2419"/>
                          </a:solidFill>
                          <a:latin typeface="Inter"/>
                        </a:rPr>
                        <a:t>EV − PV = 7.5M − 16.8M</a:t>
                      </a:r>
                    </a:p>
                  </a:txBody>
                  <a:tcPr marL="73152" marR="73152" marT="36576" marB="36576">
                    <a:solidFill>
                      <a:srgbClr val="A65D3F"/>
                    </a:solidFill>
                  </a:tcPr>
                </a:tc>
                <a:tc>
                  <a:txBody>
                    <a:bodyPr/>
                    <a:lstStyle/>
                    <a:p>
                      <a:r>
                        <a:rPr sz="1300" b="0">
                          <a:solidFill>
                            <a:srgbClr val="2B2419"/>
                          </a:solidFill>
                          <a:latin typeface="Inter"/>
                        </a:rPr>
                        <a:t>−9,300,000 VND</a:t>
                      </a:r>
                    </a:p>
                  </a:txBody>
                  <a:tcPr marL="73152" marR="73152" marT="36576" marB="36576">
                    <a:solidFill>
                      <a:srgbClr val="A65D3F"/>
                    </a:solidFill>
                  </a:tcPr>
                </a:tc>
                <a:extLst>
                  <a:ext uri="{0D108BD9-81ED-4DB2-BD59-A6C34878D82A}">
                    <a16:rowId xmlns:a16="http://schemas.microsoft.com/office/drawing/2014/main" val="10006"/>
                  </a:ext>
                </a:extLst>
              </a:tr>
              <a:tr h="284719">
                <a:tc>
                  <a:txBody>
                    <a:bodyPr/>
                    <a:lstStyle/>
                    <a:p>
                      <a:r>
                        <a:rPr sz="1300" b="0">
                          <a:solidFill>
                            <a:srgbClr val="2B2419"/>
                          </a:solidFill>
                          <a:latin typeface="Inter"/>
                        </a:rPr>
                        <a:t>CPI</a:t>
                      </a:r>
                    </a:p>
                  </a:txBody>
                  <a:tcPr marL="73152" marR="73152" marT="36576" marB="36576">
                    <a:solidFill>
                      <a:srgbClr val="F5EFE6"/>
                    </a:solidFill>
                  </a:tcPr>
                </a:tc>
                <a:tc>
                  <a:txBody>
                    <a:bodyPr/>
                    <a:lstStyle/>
                    <a:p>
                      <a:r>
                        <a:rPr sz="1300" b="0">
                          <a:solidFill>
                            <a:srgbClr val="2B2419"/>
                          </a:solidFill>
                          <a:latin typeface="Inter"/>
                        </a:rPr>
                        <a:t>Cost Perf. Index</a:t>
                      </a:r>
                    </a:p>
                  </a:txBody>
                  <a:tcPr marL="73152" marR="73152" marT="36576" marB="36576">
                    <a:solidFill>
                      <a:srgbClr val="F5EFE6"/>
                    </a:solidFill>
                  </a:tcPr>
                </a:tc>
                <a:tc>
                  <a:txBody>
                    <a:bodyPr/>
                    <a:lstStyle/>
                    <a:p>
                      <a:r>
                        <a:rPr sz="1300" b="0">
                          <a:solidFill>
                            <a:srgbClr val="2B2419"/>
                          </a:solidFill>
                          <a:latin typeface="Inter"/>
                        </a:rPr>
                        <a:t>EV / AC = 7.5M / 10M</a:t>
                      </a:r>
                    </a:p>
                  </a:txBody>
                  <a:tcPr marL="73152" marR="73152" marT="36576" marB="36576">
                    <a:solidFill>
                      <a:srgbClr val="F5EFE6"/>
                    </a:solidFill>
                  </a:tcPr>
                </a:tc>
                <a:tc>
                  <a:txBody>
                    <a:bodyPr/>
                    <a:lstStyle/>
                    <a:p>
                      <a:r>
                        <a:rPr sz="1300" b="0">
                          <a:solidFill>
                            <a:srgbClr val="2B2419"/>
                          </a:solidFill>
                          <a:latin typeface="Inter"/>
                        </a:rPr>
                        <a:t>0.75</a:t>
                      </a:r>
                    </a:p>
                  </a:txBody>
                  <a:tcPr marL="73152" marR="73152" marT="36576" marB="36576">
                    <a:solidFill>
                      <a:srgbClr val="F5EFE6"/>
                    </a:solidFill>
                  </a:tcPr>
                </a:tc>
                <a:extLst>
                  <a:ext uri="{0D108BD9-81ED-4DB2-BD59-A6C34878D82A}">
                    <a16:rowId xmlns:a16="http://schemas.microsoft.com/office/drawing/2014/main" val="10007"/>
                  </a:ext>
                </a:extLst>
              </a:tr>
              <a:tr h="284719">
                <a:tc>
                  <a:txBody>
                    <a:bodyPr/>
                    <a:lstStyle/>
                    <a:p>
                      <a:r>
                        <a:rPr sz="1300" b="0">
                          <a:solidFill>
                            <a:srgbClr val="2B2419"/>
                          </a:solidFill>
                          <a:latin typeface="Inter"/>
                        </a:rPr>
                        <a:t>SPI</a:t>
                      </a:r>
                    </a:p>
                  </a:txBody>
                  <a:tcPr marL="73152" marR="73152" marT="36576" marB="36576">
                    <a:solidFill>
                      <a:srgbClr val="F5EFE6"/>
                    </a:solidFill>
                  </a:tcPr>
                </a:tc>
                <a:tc>
                  <a:txBody>
                    <a:bodyPr/>
                    <a:lstStyle/>
                    <a:p>
                      <a:r>
                        <a:rPr sz="1300" b="0">
                          <a:solidFill>
                            <a:srgbClr val="2B2419"/>
                          </a:solidFill>
                          <a:latin typeface="Inter"/>
                        </a:rPr>
                        <a:t>Schedule Perf. Index</a:t>
                      </a:r>
                    </a:p>
                  </a:txBody>
                  <a:tcPr marL="73152" marR="73152" marT="36576" marB="36576">
                    <a:solidFill>
                      <a:srgbClr val="F5EFE6"/>
                    </a:solidFill>
                  </a:tcPr>
                </a:tc>
                <a:tc>
                  <a:txBody>
                    <a:bodyPr/>
                    <a:lstStyle/>
                    <a:p>
                      <a:r>
                        <a:rPr sz="1300" b="0">
                          <a:solidFill>
                            <a:srgbClr val="2B2419"/>
                          </a:solidFill>
                          <a:latin typeface="Inter"/>
                        </a:rPr>
                        <a:t>EV / PV = 7.5M / 16.8M</a:t>
                      </a:r>
                    </a:p>
                  </a:txBody>
                  <a:tcPr marL="73152" marR="73152" marT="36576" marB="36576">
                    <a:solidFill>
                      <a:srgbClr val="F5EFE6"/>
                    </a:solidFill>
                  </a:tcPr>
                </a:tc>
                <a:tc>
                  <a:txBody>
                    <a:bodyPr/>
                    <a:lstStyle/>
                    <a:p>
                      <a:r>
                        <a:rPr sz="1300" b="0">
                          <a:solidFill>
                            <a:srgbClr val="2B2419"/>
                          </a:solidFill>
                          <a:latin typeface="Inter"/>
                        </a:rPr>
                        <a:t>≈ 0.45</a:t>
                      </a:r>
                    </a:p>
                  </a:txBody>
                  <a:tcPr marL="73152" marR="73152" marT="36576" marB="36576">
                    <a:solidFill>
                      <a:srgbClr val="F5EFE6"/>
                    </a:solidFill>
                  </a:tcPr>
                </a:tc>
                <a:extLst>
                  <a:ext uri="{0D108BD9-81ED-4DB2-BD59-A6C34878D82A}">
                    <a16:rowId xmlns:a16="http://schemas.microsoft.com/office/drawing/2014/main" val="10008"/>
                  </a:ext>
                </a:extLst>
              </a:tr>
              <a:tr h="284719">
                <a:tc>
                  <a:txBody>
                    <a:bodyPr/>
                    <a:lstStyle/>
                    <a:p>
                      <a:r>
                        <a:rPr sz="1300" b="0">
                          <a:solidFill>
                            <a:srgbClr val="2B2419"/>
                          </a:solidFill>
                          <a:latin typeface="Inter"/>
                        </a:rPr>
                        <a:t>EAC</a:t>
                      </a:r>
                    </a:p>
                  </a:txBody>
                  <a:tcPr marL="73152" marR="73152" marT="36576" marB="36576">
                    <a:solidFill>
                      <a:srgbClr val="F5EFE6"/>
                    </a:solidFill>
                  </a:tcPr>
                </a:tc>
                <a:tc>
                  <a:txBody>
                    <a:bodyPr/>
                    <a:lstStyle/>
                    <a:p>
                      <a:r>
                        <a:rPr sz="1300" b="0">
                          <a:solidFill>
                            <a:srgbClr val="2B2419"/>
                          </a:solidFill>
                          <a:latin typeface="Inter"/>
                        </a:rPr>
                        <a:t>Estimate at Completion</a:t>
                      </a:r>
                    </a:p>
                  </a:txBody>
                  <a:tcPr marL="73152" marR="73152" marT="36576" marB="36576">
                    <a:solidFill>
                      <a:srgbClr val="F5EFE6"/>
                    </a:solidFill>
                  </a:tcPr>
                </a:tc>
                <a:tc>
                  <a:txBody>
                    <a:bodyPr/>
                    <a:lstStyle/>
                    <a:p>
                      <a:r>
                        <a:rPr sz="1300" b="0">
                          <a:solidFill>
                            <a:srgbClr val="2B2419"/>
                          </a:solidFill>
                          <a:latin typeface="Inter"/>
                        </a:rPr>
                        <a:t>BAC / CPI = 33.6M / 0.75</a:t>
                      </a:r>
                    </a:p>
                  </a:txBody>
                  <a:tcPr marL="73152" marR="73152" marT="36576" marB="36576">
                    <a:solidFill>
                      <a:srgbClr val="F5EFE6"/>
                    </a:solidFill>
                  </a:tcPr>
                </a:tc>
                <a:tc>
                  <a:txBody>
                    <a:bodyPr/>
                    <a:lstStyle/>
                    <a:p>
                      <a:r>
                        <a:rPr sz="1300" b="0">
                          <a:solidFill>
                            <a:srgbClr val="2B2419"/>
                          </a:solidFill>
                          <a:latin typeface="Inter"/>
                        </a:rPr>
                        <a:t>44,800,000 VND</a:t>
                      </a:r>
                    </a:p>
                  </a:txBody>
                  <a:tcPr marL="73152" marR="73152" marT="36576" marB="36576">
                    <a:solidFill>
                      <a:srgbClr val="F5EFE6"/>
                    </a:solidFill>
                  </a:tcPr>
                </a:tc>
                <a:extLst>
                  <a:ext uri="{0D108BD9-81ED-4DB2-BD59-A6C34878D82A}">
                    <a16:rowId xmlns:a16="http://schemas.microsoft.com/office/drawing/2014/main" val="10009"/>
                  </a:ext>
                </a:extLst>
              </a:tr>
              <a:tr h="284719">
                <a:tc>
                  <a:txBody>
                    <a:bodyPr/>
                    <a:lstStyle/>
                    <a:p>
                      <a:r>
                        <a:rPr sz="1300" b="0">
                          <a:solidFill>
                            <a:srgbClr val="2B2419"/>
                          </a:solidFill>
                          <a:latin typeface="Inter"/>
                        </a:rPr>
                        <a:t>ETC</a:t>
                      </a:r>
                    </a:p>
                  </a:txBody>
                  <a:tcPr marL="73152" marR="73152" marT="36576" marB="36576">
                    <a:solidFill>
                      <a:srgbClr val="F5EFE6"/>
                    </a:solidFill>
                  </a:tcPr>
                </a:tc>
                <a:tc>
                  <a:txBody>
                    <a:bodyPr/>
                    <a:lstStyle/>
                    <a:p>
                      <a:r>
                        <a:rPr sz="1300" b="0">
                          <a:solidFill>
                            <a:srgbClr val="2B2419"/>
                          </a:solidFill>
                          <a:latin typeface="Inter"/>
                        </a:rPr>
                        <a:t>Estimate to Complete</a:t>
                      </a:r>
                    </a:p>
                  </a:txBody>
                  <a:tcPr marL="73152" marR="73152" marT="36576" marB="36576">
                    <a:solidFill>
                      <a:srgbClr val="F5EFE6"/>
                    </a:solidFill>
                  </a:tcPr>
                </a:tc>
                <a:tc>
                  <a:txBody>
                    <a:bodyPr/>
                    <a:lstStyle/>
                    <a:p>
                      <a:r>
                        <a:rPr sz="1300" b="0">
                          <a:solidFill>
                            <a:srgbClr val="2B2419"/>
                          </a:solidFill>
                          <a:latin typeface="Inter"/>
                        </a:rPr>
                        <a:t>EAC − AC = 44.8M − 10M</a:t>
                      </a:r>
                    </a:p>
                  </a:txBody>
                  <a:tcPr marL="73152" marR="73152" marT="36576" marB="36576">
                    <a:solidFill>
                      <a:srgbClr val="F5EFE6"/>
                    </a:solidFill>
                  </a:tcPr>
                </a:tc>
                <a:tc>
                  <a:txBody>
                    <a:bodyPr/>
                    <a:lstStyle/>
                    <a:p>
                      <a:r>
                        <a:rPr sz="1300" b="0">
                          <a:solidFill>
                            <a:srgbClr val="2B2419"/>
                          </a:solidFill>
                          <a:latin typeface="Inter"/>
                        </a:rPr>
                        <a:t>34,800,000 VND</a:t>
                      </a:r>
                    </a:p>
                  </a:txBody>
                  <a:tcPr marL="73152" marR="73152" marT="36576" marB="36576">
                    <a:solidFill>
                      <a:srgbClr val="F5EFE6"/>
                    </a:solidFill>
                  </a:tcPr>
                </a:tc>
                <a:extLst>
                  <a:ext uri="{0D108BD9-81ED-4DB2-BD59-A6C34878D82A}">
                    <a16:rowId xmlns:a16="http://schemas.microsoft.com/office/drawing/2014/main" val="10010"/>
                  </a:ext>
                </a:extLst>
              </a:tr>
              <a:tr h="284719">
                <a:tc>
                  <a:txBody>
                    <a:bodyPr/>
                    <a:lstStyle/>
                    <a:p>
                      <a:r>
                        <a:rPr sz="1300" b="0" dirty="0">
                          <a:solidFill>
                            <a:srgbClr val="2B2419"/>
                          </a:solidFill>
                          <a:latin typeface="Inter"/>
                        </a:rPr>
                        <a:t>VAC</a:t>
                      </a:r>
                    </a:p>
                  </a:txBody>
                  <a:tcPr marL="73152" marR="73152" marT="36576" marB="36576">
                    <a:solidFill>
                      <a:srgbClr val="F5EFE6"/>
                    </a:solidFill>
                  </a:tcPr>
                </a:tc>
                <a:tc>
                  <a:txBody>
                    <a:bodyPr/>
                    <a:lstStyle/>
                    <a:p>
                      <a:r>
                        <a:rPr sz="1300" b="0">
                          <a:solidFill>
                            <a:srgbClr val="2B2419"/>
                          </a:solidFill>
                          <a:latin typeface="Inter"/>
                        </a:rPr>
                        <a:t>Variance at Completion</a:t>
                      </a:r>
                    </a:p>
                  </a:txBody>
                  <a:tcPr marL="73152" marR="73152" marT="36576" marB="36576">
                    <a:solidFill>
                      <a:srgbClr val="F5EFE6"/>
                    </a:solidFill>
                  </a:tcPr>
                </a:tc>
                <a:tc>
                  <a:txBody>
                    <a:bodyPr/>
                    <a:lstStyle/>
                    <a:p>
                      <a:r>
                        <a:rPr sz="1300" b="0">
                          <a:solidFill>
                            <a:srgbClr val="2B2419"/>
                          </a:solidFill>
                          <a:latin typeface="Inter"/>
                        </a:rPr>
                        <a:t>BAC − EAC = 33.6M − 44.8M</a:t>
                      </a:r>
                    </a:p>
                  </a:txBody>
                  <a:tcPr marL="73152" marR="73152" marT="36576" marB="36576">
                    <a:solidFill>
                      <a:srgbClr val="F5EFE6"/>
                    </a:solidFill>
                  </a:tcPr>
                </a:tc>
                <a:tc>
                  <a:txBody>
                    <a:bodyPr/>
                    <a:lstStyle/>
                    <a:p>
                      <a:r>
                        <a:rPr sz="1300" b="0" dirty="0">
                          <a:solidFill>
                            <a:srgbClr val="2B2419"/>
                          </a:solidFill>
                          <a:latin typeface="Inter"/>
                        </a:rPr>
                        <a:t>−11,200,000 VND</a:t>
                      </a:r>
                    </a:p>
                  </a:txBody>
                  <a:tcPr marL="73152" marR="73152" marT="36576" marB="36576">
                    <a:solidFill>
                      <a:srgbClr val="F5EFE6"/>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MONITORING &amp; EVM</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Issue Log &amp; Change Control</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25 / 31</a:t>
            </a:r>
          </a:p>
        </p:txBody>
      </p:sp>
      <p:sp>
        <p:nvSpPr>
          <p:cNvPr id="8" name="TextBox 7"/>
          <p:cNvSpPr txBox="1"/>
          <p:nvPr/>
        </p:nvSpPr>
        <p:spPr>
          <a:xfrm>
            <a:off x="590652" y="1602675"/>
            <a:ext cx="5303520" cy="347472"/>
          </a:xfrm>
          <a:prstGeom prst="rect">
            <a:avLst/>
          </a:prstGeom>
          <a:noFill/>
        </p:spPr>
        <p:txBody>
          <a:bodyPr wrap="square" lIns="54864" tIns="18288" rIns="54864" bIns="18288" anchor="t">
            <a:spAutoFit/>
          </a:bodyPr>
          <a:lstStyle/>
          <a:p>
            <a:pPr algn="l">
              <a:lnSpc>
                <a:spcPct val="100000"/>
              </a:lnSpc>
            </a:pPr>
            <a:r>
              <a:rPr sz="1400" b="1" i="0">
                <a:solidFill>
                  <a:srgbClr val="2B2419"/>
                </a:solidFill>
                <a:latin typeface="Playfair Display"/>
              </a:rPr>
              <a:t>Issue Log</a:t>
            </a:r>
          </a:p>
        </p:txBody>
      </p:sp>
      <p:graphicFrame>
        <p:nvGraphicFramePr>
          <p:cNvPr id="9" name="Table 8"/>
          <p:cNvGraphicFramePr>
            <a:graphicFrameLocks noGrp="1"/>
          </p:cNvGraphicFramePr>
          <p:nvPr>
            <p:extLst>
              <p:ext uri="{D42A27DB-BD31-4B8C-83A1-F6EECF244321}">
                <p14:modId xmlns:p14="http://schemas.microsoft.com/office/powerpoint/2010/main" val="1026892999"/>
              </p:ext>
            </p:extLst>
          </p:nvPr>
        </p:nvGraphicFramePr>
        <p:xfrm>
          <a:off x="590650" y="2014153"/>
          <a:ext cx="5455921" cy="1803918"/>
        </p:xfrm>
        <a:graphic>
          <a:graphicData uri="http://schemas.openxmlformats.org/drawingml/2006/table">
            <a:tbl>
              <a:tblPr firstRow="1" bandRow="1">
                <a:tableStyleId>{5C22544A-7EE6-4342-B048-85BDC9FD1C3A}</a:tableStyleId>
              </a:tblPr>
              <a:tblGrid>
                <a:gridCol w="644242">
                  <a:extLst>
                    <a:ext uri="{9D8B030D-6E8A-4147-A177-3AD203B41FA5}">
                      <a16:colId xmlns:a16="http://schemas.microsoft.com/office/drawing/2014/main" val="20000"/>
                    </a:ext>
                  </a:extLst>
                </a:gridCol>
                <a:gridCol w="503313">
                  <a:extLst>
                    <a:ext uri="{9D8B030D-6E8A-4147-A177-3AD203B41FA5}">
                      <a16:colId xmlns:a16="http://schemas.microsoft.com/office/drawing/2014/main" val="20001"/>
                    </a:ext>
                  </a:extLst>
                </a:gridCol>
                <a:gridCol w="3019882">
                  <a:extLst>
                    <a:ext uri="{9D8B030D-6E8A-4147-A177-3AD203B41FA5}">
                      <a16:colId xmlns:a16="http://schemas.microsoft.com/office/drawing/2014/main" val="20002"/>
                    </a:ext>
                  </a:extLst>
                </a:gridCol>
                <a:gridCol w="644242">
                  <a:extLst>
                    <a:ext uri="{9D8B030D-6E8A-4147-A177-3AD203B41FA5}">
                      <a16:colId xmlns:a16="http://schemas.microsoft.com/office/drawing/2014/main" val="20003"/>
                    </a:ext>
                  </a:extLst>
                </a:gridCol>
                <a:gridCol w="644242">
                  <a:extLst>
                    <a:ext uri="{9D8B030D-6E8A-4147-A177-3AD203B41FA5}">
                      <a16:colId xmlns:a16="http://schemas.microsoft.com/office/drawing/2014/main" val="20004"/>
                    </a:ext>
                  </a:extLst>
                </a:gridCol>
              </a:tblGrid>
              <a:tr h="444842">
                <a:tc>
                  <a:txBody>
                    <a:bodyPr/>
                    <a:lstStyle/>
                    <a:p>
                      <a:r>
                        <a:rPr sz="1300" b="1">
                          <a:solidFill>
                            <a:srgbClr val="FFFFFF"/>
                          </a:solidFill>
                          <a:latin typeface="Inter"/>
                        </a:rPr>
                        <a:t>ID</a:t>
                      </a:r>
                    </a:p>
                  </a:txBody>
                  <a:tcPr marL="73152" marR="73152" marT="36576" marB="36576">
                    <a:solidFill>
                      <a:srgbClr val="8C5A2E"/>
                    </a:solidFill>
                  </a:tcPr>
                </a:tc>
                <a:tc>
                  <a:txBody>
                    <a:bodyPr/>
                    <a:lstStyle/>
                    <a:p>
                      <a:r>
                        <a:rPr sz="1300" b="1">
                          <a:solidFill>
                            <a:srgbClr val="FFFFFF"/>
                          </a:solidFill>
                          <a:latin typeface="Inter"/>
                        </a:rPr>
                        <a:t>Week</a:t>
                      </a:r>
                    </a:p>
                  </a:txBody>
                  <a:tcPr marL="73152" marR="73152" marT="36576" marB="36576">
                    <a:solidFill>
                      <a:srgbClr val="8C5A2E"/>
                    </a:solidFill>
                  </a:tcPr>
                </a:tc>
                <a:tc>
                  <a:txBody>
                    <a:bodyPr/>
                    <a:lstStyle/>
                    <a:p>
                      <a:r>
                        <a:rPr sz="1300" b="1">
                          <a:solidFill>
                            <a:srgbClr val="FFFFFF"/>
                          </a:solidFill>
                          <a:latin typeface="Inter"/>
                        </a:rPr>
                        <a:t>Description</a:t>
                      </a:r>
                    </a:p>
                  </a:txBody>
                  <a:tcPr marL="73152" marR="73152" marT="36576" marB="36576">
                    <a:solidFill>
                      <a:srgbClr val="8C5A2E"/>
                    </a:solidFill>
                  </a:tcPr>
                </a:tc>
                <a:tc>
                  <a:txBody>
                    <a:bodyPr/>
                    <a:lstStyle/>
                    <a:p>
                      <a:r>
                        <a:rPr sz="1300" b="1">
                          <a:solidFill>
                            <a:srgbClr val="FFFFFF"/>
                          </a:solidFill>
                          <a:latin typeface="Inter"/>
                        </a:rPr>
                        <a:t>Owner</a:t>
                      </a:r>
                    </a:p>
                  </a:txBody>
                  <a:tcPr marL="73152" marR="73152" marT="36576" marB="36576">
                    <a:solidFill>
                      <a:srgbClr val="8C5A2E"/>
                    </a:solidFill>
                  </a:tcPr>
                </a:tc>
                <a:tc>
                  <a:txBody>
                    <a:bodyPr/>
                    <a:lstStyle/>
                    <a:p>
                      <a:r>
                        <a:rPr sz="1300" b="1">
                          <a:solidFill>
                            <a:srgbClr val="FFFFFF"/>
                          </a:solidFill>
                          <a:latin typeface="Inter"/>
                        </a:rPr>
                        <a:t>Status</a:t>
                      </a:r>
                    </a:p>
                  </a:txBody>
                  <a:tcPr marL="73152" marR="73152" marT="36576" marB="36576">
                    <a:solidFill>
                      <a:srgbClr val="8C5A2E"/>
                    </a:solidFill>
                  </a:tcPr>
                </a:tc>
                <a:extLst>
                  <a:ext uri="{0D108BD9-81ED-4DB2-BD59-A6C34878D82A}">
                    <a16:rowId xmlns:a16="http://schemas.microsoft.com/office/drawing/2014/main" val="10000"/>
                  </a:ext>
                </a:extLst>
              </a:tr>
              <a:tr h="444842">
                <a:tc>
                  <a:txBody>
                    <a:bodyPr/>
                    <a:lstStyle/>
                    <a:p>
                      <a:r>
                        <a:rPr sz="1300" b="0">
                          <a:solidFill>
                            <a:srgbClr val="2B2419"/>
                          </a:solidFill>
                          <a:latin typeface="Inter"/>
                        </a:rPr>
                        <a:t>ISS-001</a:t>
                      </a:r>
                    </a:p>
                  </a:txBody>
                  <a:tcPr marL="73152" marR="73152" marT="36576" marB="36576">
                    <a:solidFill>
                      <a:srgbClr val="F5EFE6"/>
                    </a:solidFill>
                  </a:tcPr>
                </a:tc>
                <a:tc>
                  <a:txBody>
                    <a:bodyPr/>
                    <a:lstStyle/>
                    <a:p>
                      <a:r>
                        <a:rPr sz="1300" b="0">
                          <a:solidFill>
                            <a:srgbClr val="2B2419"/>
                          </a:solidFill>
                          <a:latin typeface="Inter"/>
                        </a:rPr>
                        <a:t>W3</a:t>
                      </a:r>
                    </a:p>
                  </a:txBody>
                  <a:tcPr marL="73152" marR="73152" marT="36576" marB="36576">
                    <a:solidFill>
                      <a:srgbClr val="F5EFE6"/>
                    </a:solidFill>
                  </a:tcPr>
                </a:tc>
                <a:tc>
                  <a:txBody>
                    <a:bodyPr/>
                    <a:lstStyle/>
                    <a:p>
                      <a:r>
                        <a:rPr sz="1300" b="0">
                          <a:solidFill>
                            <a:srgbClr val="2B2419"/>
                          </a:solidFill>
                          <a:latin typeface="Inter"/>
                        </a:rPr>
                        <a:t>Stakeholder interviews took +3 h</a:t>
                      </a:r>
                    </a:p>
                  </a:txBody>
                  <a:tcPr marL="73152" marR="73152" marT="36576" marB="36576">
                    <a:solidFill>
                      <a:srgbClr val="F5EFE6"/>
                    </a:solidFill>
                  </a:tcPr>
                </a:tc>
                <a:tc>
                  <a:txBody>
                    <a:bodyPr/>
                    <a:lstStyle/>
                    <a:p>
                      <a:r>
                        <a:rPr sz="1300" b="0">
                          <a:solidFill>
                            <a:srgbClr val="2B2419"/>
                          </a:solidFill>
                          <a:latin typeface="Inter"/>
                        </a:rPr>
                        <a:t>Đức</a:t>
                      </a:r>
                    </a:p>
                  </a:txBody>
                  <a:tcPr marL="73152" marR="73152" marT="36576" marB="36576">
                    <a:solidFill>
                      <a:srgbClr val="F5EFE6"/>
                    </a:solidFill>
                  </a:tcPr>
                </a:tc>
                <a:tc>
                  <a:txBody>
                    <a:bodyPr/>
                    <a:lstStyle/>
                    <a:p>
                      <a:r>
                        <a:rPr sz="1300" b="0" dirty="0">
                          <a:solidFill>
                            <a:srgbClr val="2B2419"/>
                          </a:solidFill>
                          <a:latin typeface="Inter"/>
                        </a:rPr>
                        <a:t>Closed</a:t>
                      </a:r>
                    </a:p>
                  </a:txBody>
                  <a:tcPr marL="73152" marR="73152" marT="36576" marB="36576">
                    <a:solidFill>
                      <a:srgbClr val="F5EFE6"/>
                    </a:solidFill>
                  </a:tcPr>
                </a:tc>
                <a:extLst>
                  <a:ext uri="{0D108BD9-81ED-4DB2-BD59-A6C34878D82A}">
                    <a16:rowId xmlns:a16="http://schemas.microsoft.com/office/drawing/2014/main" val="10001"/>
                  </a:ext>
                </a:extLst>
              </a:tr>
              <a:tr h="444842">
                <a:tc>
                  <a:txBody>
                    <a:bodyPr/>
                    <a:lstStyle/>
                    <a:p>
                      <a:r>
                        <a:rPr sz="1300" b="0">
                          <a:solidFill>
                            <a:srgbClr val="2B2419"/>
                          </a:solidFill>
                          <a:latin typeface="Inter"/>
                        </a:rPr>
                        <a:t>ISS-002</a:t>
                      </a:r>
                    </a:p>
                  </a:txBody>
                  <a:tcPr marL="73152" marR="73152" marT="36576" marB="36576">
                    <a:solidFill>
                      <a:srgbClr val="E8F0E4"/>
                    </a:solidFill>
                  </a:tcPr>
                </a:tc>
                <a:tc>
                  <a:txBody>
                    <a:bodyPr/>
                    <a:lstStyle/>
                    <a:p>
                      <a:r>
                        <a:rPr sz="1300" b="0">
                          <a:solidFill>
                            <a:srgbClr val="2B2419"/>
                          </a:solidFill>
                          <a:latin typeface="Inter"/>
                        </a:rPr>
                        <a:t>W5</a:t>
                      </a:r>
                    </a:p>
                  </a:txBody>
                  <a:tcPr marL="73152" marR="73152" marT="36576" marB="36576">
                    <a:solidFill>
                      <a:srgbClr val="E8F0E4"/>
                    </a:solidFill>
                  </a:tcPr>
                </a:tc>
                <a:tc>
                  <a:txBody>
                    <a:bodyPr/>
                    <a:lstStyle/>
                    <a:p>
                      <a:r>
                        <a:rPr sz="1300" b="0" dirty="0">
                          <a:solidFill>
                            <a:srgbClr val="2B2419"/>
                          </a:solidFill>
                          <a:latin typeface="Inter"/>
                        </a:rPr>
                        <a:t>react-router-</a:t>
                      </a:r>
                      <a:r>
                        <a:rPr sz="1300" b="0" dirty="0" err="1">
                          <a:solidFill>
                            <a:srgbClr val="2B2419"/>
                          </a:solidFill>
                          <a:latin typeface="Inter"/>
                        </a:rPr>
                        <a:t>dom</a:t>
                      </a:r>
                      <a:r>
                        <a:rPr sz="1300" b="0" dirty="0">
                          <a:solidFill>
                            <a:srgbClr val="2B2419"/>
                          </a:solidFill>
                          <a:latin typeface="Inter"/>
                        </a:rPr>
                        <a:t> v7 routing broken</a:t>
                      </a:r>
                    </a:p>
                  </a:txBody>
                  <a:tcPr marL="73152" marR="73152" marT="36576" marB="36576">
                    <a:solidFill>
                      <a:srgbClr val="E8F0E4"/>
                    </a:solidFill>
                  </a:tcPr>
                </a:tc>
                <a:tc>
                  <a:txBody>
                    <a:bodyPr/>
                    <a:lstStyle/>
                    <a:p>
                      <a:r>
                        <a:rPr sz="1300" b="0">
                          <a:solidFill>
                            <a:srgbClr val="2B2419"/>
                          </a:solidFill>
                          <a:latin typeface="Inter"/>
                        </a:rPr>
                        <a:t>Bảo</a:t>
                      </a:r>
                    </a:p>
                  </a:txBody>
                  <a:tcPr marL="73152" marR="73152" marT="36576" marB="36576">
                    <a:solidFill>
                      <a:srgbClr val="E8F0E4"/>
                    </a:solidFill>
                  </a:tcPr>
                </a:tc>
                <a:tc>
                  <a:txBody>
                    <a:bodyPr/>
                    <a:lstStyle/>
                    <a:p>
                      <a:r>
                        <a:rPr sz="1300" b="0">
                          <a:solidFill>
                            <a:srgbClr val="2B2419"/>
                          </a:solidFill>
                          <a:latin typeface="Inter"/>
                        </a:rPr>
                        <a:t>Closed</a:t>
                      </a:r>
                    </a:p>
                  </a:txBody>
                  <a:tcPr marL="73152" marR="73152" marT="36576" marB="36576">
                    <a:solidFill>
                      <a:srgbClr val="E8F0E4"/>
                    </a:solidFill>
                  </a:tcPr>
                </a:tc>
                <a:extLst>
                  <a:ext uri="{0D108BD9-81ED-4DB2-BD59-A6C34878D82A}">
                    <a16:rowId xmlns:a16="http://schemas.microsoft.com/office/drawing/2014/main" val="10002"/>
                  </a:ext>
                </a:extLst>
              </a:tr>
              <a:tr h="444842">
                <a:tc>
                  <a:txBody>
                    <a:bodyPr/>
                    <a:lstStyle/>
                    <a:p>
                      <a:r>
                        <a:rPr sz="1300" b="0">
                          <a:solidFill>
                            <a:srgbClr val="2B2419"/>
                          </a:solidFill>
                          <a:latin typeface="Inter"/>
                        </a:rPr>
                        <a:t>ISS-003</a:t>
                      </a:r>
                    </a:p>
                  </a:txBody>
                  <a:tcPr marL="73152" marR="73152" marT="36576" marB="36576">
                    <a:solidFill>
                      <a:srgbClr val="E8F0E4"/>
                    </a:solidFill>
                  </a:tcPr>
                </a:tc>
                <a:tc>
                  <a:txBody>
                    <a:bodyPr/>
                    <a:lstStyle/>
                    <a:p>
                      <a:r>
                        <a:rPr sz="1300" b="0">
                          <a:solidFill>
                            <a:srgbClr val="2B2419"/>
                          </a:solidFill>
                          <a:latin typeface="Inter"/>
                        </a:rPr>
                        <a:t>W6</a:t>
                      </a:r>
                    </a:p>
                  </a:txBody>
                  <a:tcPr marL="73152" marR="73152" marT="36576" marB="36576">
                    <a:solidFill>
                      <a:srgbClr val="E8F0E4"/>
                    </a:solidFill>
                  </a:tcPr>
                </a:tc>
                <a:tc>
                  <a:txBody>
                    <a:bodyPr/>
                    <a:lstStyle/>
                    <a:p>
                      <a:r>
                        <a:rPr sz="1300" b="0" dirty="0">
                          <a:solidFill>
                            <a:srgbClr val="2B2419"/>
                          </a:solidFill>
                          <a:latin typeface="Inter"/>
                        </a:rPr>
                        <a:t>M4 Integration milestone at risk</a:t>
                      </a:r>
                    </a:p>
                  </a:txBody>
                  <a:tcPr marL="73152" marR="73152" marT="36576" marB="36576">
                    <a:solidFill>
                      <a:srgbClr val="E8F0E4"/>
                    </a:solidFill>
                  </a:tcPr>
                </a:tc>
                <a:tc>
                  <a:txBody>
                    <a:bodyPr/>
                    <a:lstStyle/>
                    <a:p>
                      <a:r>
                        <a:rPr sz="1300" b="0">
                          <a:solidFill>
                            <a:srgbClr val="2B2419"/>
                          </a:solidFill>
                          <a:latin typeface="Inter"/>
                        </a:rPr>
                        <a:t>Đức</a:t>
                      </a:r>
                    </a:p>
                  </a:txBody>
                  <a:tcPr marL="73152" marR="73152" marT="36576" marB="36576">
                    <a:solidFill>
                      <a:srgbClr val="E8F0E4"/>
                    </a:solidFill>
                  </a:tcPr>
                </a:tc>
                <a:tc>
                  <a:txBody>
                    <a:bodyPr/>
                    <a:lstStyle/>
                    <a:p>
                      <a:r>
                        <a:rPr sz="1300" b="0" dirty="0">
                          <a:solidFill>
                            <a:srgbClr val="2B2419"/>
                          </a:solidFill>
                          <a:latin typeface="Inter"/>
                        </a:rPr>
                        <a:t>Open</a:t>
                      </a:r>
                    </a:p>
                  </a:txBody>
                  <a:tcPr marL="73152" marR="73152" marT="36576" marB="36576">
                    <a:solidFill>
                      <a:srgbClr val="E8F0E4"/>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6217920" y="1602675"/>
            <a:ext cx="5669280" cy="347472"/>
          </a:xfrm>
          <a:prstGeom prst="rect">
            <a:avLst/>
          </a:prstGeom>
          <a:noFill/>
        </p:spPr>
        <p:txBody>
          <a:bodyPr wrap="square" lIns="54864" tIns="18288" rIns="54864" bIns="18288" anchor="t">
            <a:spAutoFit/>
          </a:bodyPr>
          <a:lstStyle/>
          <a:p>
            <a:pPr algn="l">
              <a:lnSpc>
                <a:spcPct val="100000"/>
              </a:lnSpc>
            </a:pPr>
            <a:r>
              <a:rPr sz="1400" b="1" i="0">
                <a:solidFill>
                  <a:srgbClr val="2B2419"/>
                </a:solidFill>
                <a:latin typeface="Playfair Display"/>
              </a:rPr>
              <a:t>Change Request CR-001</a:t>
            </a:r>
          </a:p>
        </p:txBody>
      </p:sp>
      <p:graphicFrame>
        <p:nvGraphicFramePr>
          <p:cNvPr id="11" name="Table 10"/>
          <p:cNvGraphicFramePr>
            <a:graphicFrameLocks noGrp="1"/>
          </p:cNvGraphicFramePr>
          <p:nvPr>
            <p:extLst>
              <p:ext uri="{D42A27DB-BD31-4B8C-83A1-F6EECF244321}">
                <p14:modId xmlns:p14="http://schemas.microsoft.com/office/powerpoint/2010/main" val="2054719132"/>
              </p:ext>
            </p:extLst>
          </p:nvPr>
        </p:nvGraphicFramePr>
        <p:xfrm>
          <a:off x="6217920" y="2014155"/>
          <a:ext cx="5669280" cy="338328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75920">
                <a:tc>
                  <a:txBody>
                    <a:bodyPr/>
                    <a:lstStyle/>
                    <a:p>
                      <a:r>
                        <a:rPr sz="1300" b="1">
                          <a:solidFill>
                            <a:srgbClr val="FFFFFF"/>
                          </a:solidFill>
                          <a:latin typeface="Inter"/>
                        </a:rPr>
                        <a:t>Field</a:t>
                      </a:r>
                    </a:p>
                  </a:txBody>
                  <a:tcPr marL="73152" marR="73152" marT="36576" marB="36576">
                    <a:solidFill>
                      <a:srgbClr val="8C5A2E"/>
                    </a:solidFill>
                  </a:tcPr>
                </a:tc>
                <a:tc>
                  <a:txBody>
                    <a:bodyPr/>
                    <a:lstStyle/>
                    <a:p>
                      <a:r>
                        <a:rPr sz="1300" b="1">
                          <a:solidFill>
                            <a:srgbClr val="FFFFFF"/>
                          </a:solidFill>
                          <a:latin typeface="Inter"/>
                        </a:rPr>
                        <a:t>Value</a:t>
                      </a:r>
                    </a:p>
                  </a:txBody>
                  <a:tcPr marL="73152" marR="73152" marT="36576" marB="36576">
                    <a:solidFill>
                      <a:srgbClr val="8C5A2E"/>
                    </a:solidFill>
                  </a:tcPr>
                </a:tc>
                <a:extLst>
                  <a:ext uri="{0D108BD9-81ED-4DB2-BD59-A6C34878D82A}">
                    <a16:rowId xmlns:a16="http://schemas.microsoft.com/office/drawing/2014/main" val="10000"/>
                  </a:ext>
                </a:extLst>
              </a:tr>
              <a:tr h="375920">
                <a:tc>
                  <a:txBody>
                    <a:bodyPr/>
                    <a:lstStyle/>
                    <a:p>
                      <a:r>
                        <a:rPr sz="1300" b="0">
                          <a:solidFill>
                            <a:srgbClr val="2B2419"/>
                          </a:solidFill>
                          <a:latin typeface="Inter"/>
                        </a:rPr>
                        <a:t>Date</a:t>
                      </a:r>
                    </a:p>
                  </a:txBody>
                  <a:tcPr marL="73152" marR="73152" marT="36576" marB="36576">
                    <a:solidFill>
                      <a:srgbClr val="F5EFE6"/>
                    </a:solidFill>
                  </a:tcPr>
                </a:tc>
                <a:tc>
                  <a:txBody>
                    <a:bodyPr/>
                    <a:lstStyle/>
                    <a:p>
                      <a:r>
                        <a:rPr sz="1300" b="0">
                          <a:solidFill>
                            <a:srgbClr val="2B2419"/>
                          </a:solidFill>
                          <a:latin typeface="Inter"/>
                        </a:rPr>
                        <a:t>Week 6</a:t>
                      </a:r>
                    </a:p>
                  </a:txBody>
                  <a:tcPr marL="73152" marR="73152" marT="36576" marB="36576">
                    <a:solidFill>
                      <a:srgbClr val="F5EFE6"/>
                    </a:solidFill>
                  </a:tcPr>
                </a:tc>
                <a:extLst>
                  <a:ext uri="{0D108BD9-81ED-4DB2-BD59-A6C34878D82A}">
                    <a16:rowId xmlns:a16="http://schemas.microsoft.com/office/drawing/2014/main" val="10001"/>
                  </a:ext>
                </a:extLst>
              </a:tr>
              <a:tr h="375920">
                <a:tc>
                  <a:txBody>
                    <a:bodyPr/>
                    <a:lstStyle/>
                    <a:p>
                      <a:r>
                        <a:rPr sz="1300" b="0">
                          <a:solidFill>
                            <a:srgbClr val="2B2419"/>
                          </a:solidFill>
                          <a:latin typeface="Inter"/>
                        </a:rPr>
                        <a:t>Requester</a:t>
                      </a:r>
                    </a:p>
                  </a:txBody>
                  <a:tcPr marL="73152" marR="73152" marT="36576" marB="36576">
                    <a:solidFill>
                      <a:srgbClr val="F5EFE6"/>
                    </a:solidFill>
                  </a:tcPr>
                </a:tc>
                <a:tc>
                  <a:txBody>
                    <a:bodyPr/>
                    <a:lstStyle/>
                    <a:p>
                      <a:r>
                        <a:rPr sz="1300" b="0">
                          <a:solidFill>
                            <a:srgbClr val="2B2419"/>
                          </a:solidFill>
                          <a:latin typeface="Inter"/>
                        </a:rPr>
                        <a:t>Bảo</a:t>
                      </a:r>
                    </a:p>
                  </a:txBody>
                  <a:tcPr marL="73152" marR="73152" marT="36576" marB="36576">
                    <a:solidFill>
                      <a:srgbClr val="F5EFE6"/>
                    </a:solidFill>
                  </a:tcPr>
                </a:tc>
                <a:extLst>
                  <a:ext uri="{0D108BD9-81ED-4DB2-BD59-A6C34878D82A}">
                    <a16:rowId xmlns:a16="http://schemas.microsoft.com/office/drawing/2014/main" val="10002"/>
                  </a:ext>
                </a:extLst>
              </a:tr>
              <a:tr h="375920">
                <a:tc>
                  <a:txBody>
                    <a:bodyPr/>
                    <a:lstStyle/>
                    <a:p>
                      <a:r>
                        <a:rPr sz="1300" b="0">
                          <a:solidFill>
                            <a:srgbClr val="2B2419"/>
                          </a:solidFill>
                          <a:latin typeface="Inter"/>
                        </a:rPr>
                        <a:t>Description</a:t>
                      </a:r>
                    </a:p>
                  </a:txBody>
                  <a:tcPr marL="73152" marR="73152" marT="36576" marB="36576">
                    <a:solidFill>
                      <a:srgbClr val="F5EFE6"/>
                    </a:solidFill>
                  </a:tcPr>
                </a:tc>
                <a:tc>
                  <a:txBody>
                    <a:bodyPr/>
                    <a:lstStyle/>
                    <a:p>
                      <a:r>
                        <a:rPr sz="1300" b="0">
                          <a:solidFill>
                            <a:srgbClr val="2B2419"/>
                          </a:solidFill>
                          <a:latin typeface="Inter"/>
                        </a:rPr>
                        <a:t>Replace Supabase (cloud) with local state + mock data</a:t>
                      </a:r>
                    </a:p>
                  </a:txBody>
                  <a:tcPr marL="73152" marR="73152" marT="36576" marB="36576">
                    <a:solidFill>
                      <a:srgbClr val="F5EFE6"/>
                    </a:solidFill>
                  </a:tcPr>
                </a:tc>
                <a:extLst>
                  <a:ext uri="{0D108BD9-81ED-4DB2-BD59-A6C34878D82A}">
                    <a16:rowId xmlns:a16="http://schemas.microsoft.com/office/drawing/2014/main" val="10003"/>
                  </a:ext>
                </a:extLst>
              </a:tr>
              <a:tr h="375920">
                <a:tc>
                  <a:txBody>
                    <a:bodyPr/>
                    <a:lstStyle/>
                    <a:p>
                      <a:r>
                        <a:rPr sz="1300" b="0">
                          <a:solidFill>
                            <a:srgbClr val="2B2419"/>
                          </a:solidFill>
                          <a:latin typeface="Inter"/>
                        </a:rPr>
                        <a:t>Impact — Time</a:t>
                      </a:r>
                    </a:p>
                  </a:txBody>
                  <a:tcPr marL="73152" marR="73152" marT="36576" marB="36576">
                    <a:solidFill>
                      <a:srgbClr val="F5EFE6"/>
                    </a:solidFill>
                  </a:tcPr>
                </a:tc>
                <a:tc>
                  <a:txBody>
                    <a:bodyPr/>
                    <a:lstStyle/>
                    <a:p>
                      <a:r>
                        <a:rPr sz="1300" b="0">
                          <a:solidFill>
                            <a:srgbClr val="2B2419"/>
                          </a:solidFill>
                          <a:latin typeface="Inter"/>
                        </a:rPr>
                        <a:t>+1 day float recovered; no schedule impact</a:t>
                      </a:r>
                    </a:p>
                  </a:txBody>
                  <a:tcPr marL="73152" marR="73152" marT="36576" marB="36576">
                    <a:solidFill>
                      <a:srgbClr val="F5EFE6"/>
                    </a:solidFill>
                  </a:tcPr>
                </a:tc>
                <a:extLst>
                  <a:ext uri="{0D108BD9-81ED-4DB2-BD59-A6C34878D82A}">
                    <a16:rowId xmlns:a16="http://schemas.microsoft.com/office/drawing/2014/main" val="10004"/>
                  </a:ext>
                </a:extLst>
              </a:tr>
              <a:tr h="375920">
                <a:tc>
                  <a:txBody>
                    <a:bodyPr/>
                    <a:lstStyle/>
                    <a:p>
                      <a:r>
                        <a:rPr sz="1300" b="0">
                          <a:solidFill>
                            <a:srgbClr val="2B2419"/>
                          </a:solidFill>
                          <a:latin typeface="Inter"/>
                        </a:rPr>
                        <a:t>Impact — Cost</a:t>
                      </a:r>
                    </a:p>
                  </a:txBody>
                  <a:tcPr marL="73152" marR="73152" marT="36576" marB="36576">
                    <a:solidFill>
                      <a:srgbClr val="F5EFE6"/>
                    </a:solidFill>
                  </a:tcPr>
                </a:tc>
                <a:tc>
                  <a:txBody>
                    <a:bodyPr/>
                    <a:lstStyle/>
                    <a:p>
                      <a:r>
                        <a:rPr sz="1300" b="0">
                          <a:solidFill>
                            <a:srgbClr val="2B2419"/>
                          </a:solidFill>
                          <a:latin typeface="Inter"/>
                        </a:rPr>
                        <a:t>−200,000 VND (eliminates Supabase setup)</a:t>
                      </a:r>
                    </a:p>
                  </a:txBody>
                  <a:tcPr marL="73152" marR="73152" marT="36576" marB="36576">
                    <a:solidFill>
                      <a:srgbClr val="F5EFE6"/>
                    </a:solidFill>
                  </a:tcPr>
                </a:tc>
                <a:extLst>
                  <a:ext uri="{0D108BD9-81ED-4DB2-BD59-A6C34878D82A}">
                    <a16:rowId xmlns:a16="http://schemas.microsoft.com/office/drawing/2014/main" val="10005"/>
                  </a:ext>
                </a:extLst>
              </a:tr>
              <a:tr h="375920">
                <a:tc>
                  <a:txBody>
                    <a:bodyPr/>
                    <a:lstStyle/>
                    <a:p>
                      <a:r>
                        <a:rPr sz="1300" b="0">
                          <a:solidFill>
                            <a:srgbClr val="2B2419"/>
                          </a:solidFill>
                          <a:latin typeface="Inter"/>
                        </a:rPr>
                        <a:t>Impact — Scope</a:t>
                      </a:r>
                    </a:p>
                  </a:txBody>
                  <a:tcPr marL="73152" marR="73152" marT="36576" marB="36576">
                    <a:solidFill>
                      <a:srgbClr val="F5EFE6"/>
                    </a:solidFill>
                  </a:tcPr>
                </a:tc>
                <a:tc>
                  <a:txBody>
                    <a:bodyPr/>
                    <a:lstStyle/>
                    <a:p>
                      <a:r>
                        <a:rPr sz="1300" b="0">
                          <a:solidFill>
                            <a:srgbClr val="2B2419"/>
                          </a:solidFill>
                          <a:latin typeface="Inter"/>
                        </a:rPr>
                        <a:t>Removes cloud sync; already in Out-of-Scope</a:t>
                      </a:r>
                    </a:p>
                  </a:txBody>
                  <a:tcPr marL="73152" marR="73152" marT="36576" marB="36576">
                    <a:solidFill>
                      <a:srgbClr val="F5EFE6"/>
                    </a:solidFill>
                  </a:tcPr>
                </a:tc>
                <a:extLst>
                  <a:ext uri="{0D108BD9-81ED-4DB2-BD59-A6C34878D82A}">
                    <a16:rowId xmlns:a16="http://schemas.microsoft.com/office/drawing/2014/main" val="10006"/>
                  </a:ext>
                </a:extLst>
              </a:tr>
              <a:tr h="375920">
                <a:tc>
                  <a:txBody>
                    <a:bodyPr/>
                    <a:lstStyle/>
                    <a:p>
                      <a:r>
                        <a:rPr sz="1300" b="0">
                          <a:solidFill>
                            <a:srgbClr val="2B2419"/>
                          </a:solidFill>
                          <a:latin typeface="Inter"/>
                        </a:rPr>
                        <a:t>Decision</a:t>
                      </a:r>
                    </a:p>
                  </a:txBody>
                  <a:tcPr marL="73152" marR="73152" marT="36576" marB="36576">
                    <a:solidFill>
                      <a:srgbClr val="F5EFE6"/>
                    </a:solidFill>
                  </a:tcPr>
                </a:tc>
                <a:tc>
                  <a:txBody>
                    <a:bodyPr/>
                    <a:lstStyle/>
                    <a:p>
                      <a:r>
                        <a:rPr sz="1300" b="0">
                          <a:solidFill>
                            <a:srgbClr val="2B2419"/>
                          </a:solidFill>
                          <a:latin typeface="Inter"/>
                        </a:rPr>
                        <a:t>APPROVED</a:t>
                      </a:r>
                    </a:p>
                  </a:txBody>
                  <a:tcPr marL="73152" marR="73152" marT="36576" marB="36576">
                    <a:solidFill>
                      <a:srgbClr val="F5EFE6"/>
                    </a:solidFill>
                  </a:tcPr>
                </a:tc>
                <a:extLst>
                  <a:ext uri="{0D108BD9-81ED-4DB2-BD59-A6C34878D82A}">
                    <a16:rowId xmlns:a16="http://schemas.microsoft.com/office/drawing/2014/main" val="10007"/>
                  </a:ext>
                </a:extLst>
              </a:tr>
              <a:tr h="375920">
                <a:tc>
                  <a:txBody>
                    <a:bodyPr/>
                    <a:lstStyle/>
                    <a:p>
                      <a:r>
                        <a:rPr sz="1300" b="0">
                          <a:solidFill>
                            <a:srgbClr val="2B2419"/>
                          </a:solidFill>
                          <a:latin typeface="Inter"/>
                        </a:rPr>
                        <a:t>Status</a:t>
                      </a:r>
                    </a:p>
                  </a:txBody>
                  <a:tcPr marL="73152" marR="73152" marT="36576" marB="36576">
                    <a:solidFill>
                      <a:srgbClr val="5B6B47"/>
                    </a:solidFill>
                  </a:tcPr>
                </a:tc>
                <a:tc>
                  <a:txBody>
                    <a:bodyPr/>
                    <a:lstStyle/>
                    <a:p>
                      <a:r>
                        <a:rPr sz="1300" b="0" dirty="0">
                          <a:solidFill>
                            <a:srgbClr val="2B2419"/>
                          </a:solidFill>
                          <a:latin typeface="Inter"/>
                        </a:rPr>
                        <a:t>IMPLEMENTED</a:t>
                      </a:r>
                    </a:p>
                  </a:txBody>
                  <a:tcPr marL="73152" marR="73152" marT="36576" marB="36576">
                    <a:solidFill>
                      <a:srgbClr val="5B6B4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26 / 31</a:t>
            </a:r>
          </a:p>
        </p:txBody>
      </p:sp>
      <p:sp>
        <p:nvSpPr>
          <p:cNvPr id="11" name="TextBox 10">
            <a:extLst>
              <a:ext uri="{FF2B5EF4-FFF2-40B4-BE49-F238E27FC236}">
                <a16:creationId xmlns:a16="http://schemas.microsoft.com/office/drawing/2014/main" id="{005F75D7-EF28-77CA-394B-E81773E2F543}"/>
              </a:ext>
            </a:extLst>
          </p:cNvPr>
          <p:cNvSpPr txBox="1"/>
          <p:nvPr/>
        </p:nvSpPr>
        <p:spPr>
          <a:xfrm>
            <a:off x="4932812"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4E22A451-4148-43B0-C340-645EE3D34501}"/>
              </a:ext>
            </a:extLst>
          </p:cNvPr>
          <p:cNvSpPr txBox="1"/>
          <p:nvPr/>
        </p:nvSpPr>
        <p:spPr>
          <a:xfrm>
            <a:off x="5938652" y="2038061"/>
            <a:ext cx="2303302" cy="1514261"/>
          </a:xfrm>
          <a:prstGeom prst="rect">
            <a:avLst/>
          </a:prstGeom>
          <a:noFill/>
        </p:spPr>
        <p:txBody>
          <a:bodyPr wrap="square" lIns="54864" tIns="18288" rIns="54864" bIns="18288" anchor="t">
            <a:spAutoFit/>
          </a:bodyPr>
          <a:lstStyle/>
          <a:p>
            <a:pPr algn="l">
              <a:lnSpc>
                <a:spcPct val="100000"/>
              </a:lnSpc>
            </a:pPr>
            <a:r>
              <a:rPr lang="en-US" sz="9600" i="1" dirty="0">
                <a:solidFill>
                  <a:srgbClr val="C49A6C"/>
                </a:solidFill>
                <a:latin typeface="Playfair Display"/>
              </a:rPr>
              <a:t>VIII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A87404EF-DF68-E318-FF47-611380D14F39}"/>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Prototype &amp; Lessons</a:t>
            </a:r>
          </a:p>
        </p:txBody>
      </p:sp>
      <p:sp>
        <p:nvSpPr>
          <p:cNvPr id="14" name="TextBox 13">
            <a:extLst>
              <a:ext uri="{FF2B5EF4-FFF2-40B4-BE49-F238E27FC236}">
                <a16:creationId xmlns:a16="http://schemas.microsoft.com/office/drawing/2014/main" id="{FD5AE492-8956-88A8-8B48-BE58FCFA9D21}"/>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r>
              <a:rPr lang="en-US" sz="1300" i="1" dirty="0">
                <a:solidFill>
                  <a:srgbClr val="8A7A66"/>
                </a:solidFill>
                <a:latin typeface="Inter"/>
              </a:rPr>
              <a:t>CLO 7, 8, 9 · Ch. 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PROTOTYPE &amp; LESSONS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Prototype Demonstration Plan</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27 / 31</a:t>
            </a:r>
          </a:p>
        </p:txBody>
      </p:sp>
      <p:sp>
        <p:nvSpPr>
          <p:cNvPr id="8" name="Rectangle 7"/>
          <p:cNvSpPr/>
          <p:nvPr/>
        </p:nvSpPr>
        <p:spPr>
          <a:xfrm>
            <a:off x="640080" y="1417320"/>
            <a:ext cx="3474720" cy="402336"/>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417320"/>
            <a:ext cx="3474720" cy="402336"/>
          </a:xfrm>
          <a:prstGeom prst="rect">
            <a:avLst/>
          </a:prstGeom>
          <a:noFill/>
        </p:spPr>
        <p:txBody>
          <a:bodyPr wrap="square" lIns="54864" tIns="18288" rIns="54864" bIns="18288" anchor="t">
            <a:spAutoFit/>
          </a:bodyPr>
          <a:lstStyle/>
          <a:p>
            <a:pPr algn="ctr">
              <a:lnSpc>
                <a:spcPct val="100000"/>
              </a:lnSpc>
            </a:pPr>
            <a:r>
              <a:rPr sz="1200" b="1" i="0">
                <a:solidFill>
                  <a:srgbClr val="FFFFFF"/>
                </a:solidFill>
                <a:latin typeface="Inter"/>
              </a:rPr>
              <a:t>Feature 1  ·  90 s</a:t>
            </a:r>
          </a:p>
        </p:txBody>
      </p:sp>
      <p:sp>
        <p:nvSpPr>
          <p:cNvPr id="10" name="Rectangle 9"/>
          <p:cNvSpPr/>
          <p:nvPr/>
        </p:nvSpPr>
        <p:spPr>
          <a:xfrm>
            <a:off x="640080" y="1865376"/>
            <a:ext cx="3474720" cy="411480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1920240"/>
            <a:ext cx="3291840" cy="566928"/>
          </a:xfrm>
          <a:prstGeom prst="rect">
            <a:avLst/>
          </a:prstGeom>
          <a:noFill/>
        </p:spPr>
        <p:txBody>
          <a:bodyPr wrap="square" lIns="54864" tIns="18288" rIns="54864" bIns="18288" anchor="t">
            <a:spAutoFit/>
          </a:bodyPr>
          <a:lstStyle/>
          <a:p>
            <a:pPr algn="l">
              <a:lnSpc>
                <a:spcPct val="100000"/>
              </a:lnSpc>
            </a:pPr>
            <a:r>
              <a:rPr sz="1300" b="1" i="0">
                <a:solidFill>
                  <a:srgbClr val="8C5A2E"/>
                </a:solidFill>
                <a:latin typeface="Playfair Display"/>
              </a:rPr>
              <a:t>Task CRUD +
Assignment</a:t>
            </a:r>
          </a:p>
        </p:txBody>
      </p:sp>
      <p:sp>
        <p:nvSpPr>
          <p:cNvPr id="12" name="TextBox 11"/>
          <p:cNvSpPr txBox="1"/>
          <p:nvPr/>
        </p:nvSpPr>
        <p:spPr>
          <a:xfrm>
            <a:off x="731520" y="2542032"/>
            <a:ext cx="3291840" cy="236988"/>
          </a:xfrm>
          <a:prstGeom prst="rect">
            <a:avLst/>
          </a:prstGeom>
          <a:noFill/>
        </p:spPr>
        <p:txBody>
          <a:bodyPr wrap="square" lIns="54864" tIns="18288" rIns="54864" bIns="18288" anchor="t">
            <a:spAutoFit/>
          </a:bodyPr>
          <a:lstStyle/>
          <a:p>
            <a:pPr algn="l">
              <a:lnSpc>
                <a:spcPct val="100000"/>
              </a:lnSpc>
            </a:pPr>
            <a:r>
              <a:rPr sz="1300" b="1" i="0">
                <a:solidFill>
                  <a:srgbClr val="8A7A66"/>
                </a:solidFill>
                <a:latin typeface="Inter"/>
              </a:rPr>
              <a:t>Script:</a:t>
            </a:r>
          </a:p>
        </p:txBody>
      </p:sp>
      <p:sp>
        <p:nvSpPr>
          <p:cNvPr id="13" name="TextBox 12"/>
          <p:cNvSpPr txBox="1"/>
          <p:nvPr/>
        </p:nvSpPr>
        <p:spPr>
          <a:xfrm>
            <a:off x="731520" y="2816352"/>
            <a:ext cx="3291840" cy="837152"/>
          </a:xfrm>
          <a:prstGeom prst="rect">
            <a:avLst/>
          </a:prstGeom>
          <a:noFill/>
        </p:spPr>
        <p:txBody>
          <a:bodyPr wrap="square" lIns="54864" tIns="18288" rIns="54864" bIns="18288" anchor="t">
            <a:spAutoFit/>
          </a:bodyPr>
          <a:lstStyle/>
          <a:p>
            <a:pPr algn="l">
              <a:lnSpc>
                <a:spcPct val="100000"/>
              </a:lnSpc>
            </a:pPr>
            <a:r>
              <a:rPr sz="1300" b="0" i="0" dirty="0">
                <a:solidFill>
                  <a:srgbClr val="2B2419"/>
                </a:solidFill>
                <a:latin typeface="Inter"/>
              </a:rPr>
              <a:t>Navigate to /tasks
Create task: assign to 'Bảo',
set deadline June 20, priority High
→ Verify assignee badge appears</a:t>
            </a:r>
          </a:p>
        </p:txBody>
      </p:sp>
      <p:sp>
        <p:nvSpPr>
          <p:cNvPr id="14" name="TextBox 13"/>
          <p:cNvSpPr txBox="1"/>
          <p:nvPr/>
        </p:nvSpPr>
        <p:spPr>
          <a:xfrm>
            <a:off x="731520" y="5047488"/>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WBS: WBS 1.4.1</a:t>
            </a:r>
          </a:p>
        </p:txBody>
      </p:sp>
      <p:sp>
        <p:nvSpPr>
          <p:cNvPr id="15" name="TextBox 14"/>
          <p:cNvSpPr txBox="1"/>
          <p:nvPr/>
        </p:nvSpPr>
        <p:spPr>
          <a:xfrm>
            <a:off x="731520" y="5358384"/>
            <a:ext cx="3291840" cy="236988"/>
          </a:xfrm>
          <a:prstGeom prst="rect">
            <a:avLst/>
          </a:prstGeom>
          <a:noFill/>
        </p:spPr>
        <p:txBody>
          <a:bodyPr wrap="square" lIns="54864" tIns="18288" rIns="54864" bIns="18288" anchor="t">
            <a:spAutoFit/>
          </a:bodyPr>
          <a:lstStyle/>
          <a:p>
            <a:pPr algn="l">
              <a:lnSpc>
                <a:spcPct val="100000"/>
              </a:lnSpc>
            </a:pPr>
            <a:r>
              <a:rPr sz="1300" b="0" i="0"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Owner: Bảo + Thịnh</a:t>
            </a:r>
          </a:p>
        </p:txBody>
      </p:sp>
      <p:sp>
        <p:nvSpPr>
          <p:cNvPr id="16" name="Rectangle 15"/>
          <p:cNvSpPr/>
          <p:nvPr/>
        </p:nvSpPr>
        <p:spPr>
          <a:xfrm>
            <a:off x="4297680" y="1417320"/>
            <a:ext cx="3474720" cy="402336"/>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97680" y="1417320"/>
            <a:ext cx="3474720" cy="402336"/>
          </a:xfrm>
          <a:prstGeom prst="rect">
            <a:avLst/>
          </a:prstGeom>
          <a:noFill/>
        </p:spPr>
        <p:txBody>
          <a:bodyPr wrap="square" lIns="54864" tIns="18288" rIns="54864" bIns="18288" anchor="t">
            <a:spAutoFit/>
          </a:bodyPr>
          <a:lstStyle/>
          <a:p>
            <a:pPr algn="ctr">
              <a:lnSpc>
                <a:spcPct val="100000"/>
              </a:lnSpc>
            </a:pPr>
            <a:r>
              <a:rPr sz="1200" b="1" i="0">
                <a:solidFill>
                  <a:srgbClr val="FFFFFF"/>
                </a:solidFill>
                <a:latin typeface="Inter"/>
              </a:rPr>
              <a:t>Feature 2  ·  60 s</a:t>
            </a:r>
          </a:p>
        </p:txBody>
      </p:sp>
      <p:sp>
        <p:nvSpPr>
          <p:cNvPr id="18" name="Rectangle 17"/>
          <p:cNvSpPr/>
          <p:nvPr/>
        </p:nvSpPr>
        <p:spPr>
          <a:xfrm>
            <a:off x="4297680" y="1865376"/>
            <a:ext cx="3474720" cy="411480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89120" y="1920240"/>
            <a:ext cx="3291840" cy="566928"/>
          </a:xfrm>
          <a:prstGeom prst="rect">
            <a:avLst/>
          </a:prstGeom>
          <a:noFill/>
        </p:spPr>
        <p:txBody>
          <a:bodyPr wrap="square" lIns="54864" tIns="18288" rIns="54864" bIns="18288" anchor="t">
            <a:spAutoFit/>
          </a:bodyPr>
          <a:lstStyle/>
          <a:p>
            <a:pPr algn="l">
              <a:lnSpc>
                <a:spcPct val="100000"/>
              </a:lnSpc>
            </a:pPr>
            <a:r>
              <a:rPr sz="1300" b="1" i="0">
                <a:solidFill>
                  <a:srgbClr val="8C5A2E"/>
                </a:solidFill>
                <a:latin typeface="Playfair Display"/>
              </a:rPr>
              <a:t>Deadline Management
+ Overdue Highlight</a:t>
            </a:r>
          </a:p>
        </p:txBody>
      </p:sp>
      <p:sp>
        <p:nvSpPr>
          <p:cNvPr id="20" name="TextBox 19"/>
          <p:cNvSpPr txBox="1"/>
          <p:nvPr/>
        </p:nvSpPr>
        <p:spPr>
          <a:xfrm>
            <a:off x="4389120" y="2542032"/>
            <a:ext cx="3291840" cy="236988"/>
          </a:xfrm>
          <a:prstGeom prst="rect">
            <a:avLst/>
          </a:prstGeom>
          <a:noFill/>
        </p:spPr>
        <p:txBody>
          <a:bodyPr wrap="square" lIns="54864" tIns="18288" rIns="54864" bIns="18288" anchor="t">
            <a:spAutoFit/>
          </a:bodyPr>
          <a:lstStyle/>
          <a:p>
            <a:pPr algn="l">
              <a:lnSpc>
                <a:spcPct val="100000"/>
              </a:lnSpc>
            </a:pPr>
            <a:r>
              <a:rPr sz="1300" b="1" i="0">
                <a:solidFill>
                  <a:srgbClr val="8A7A66"/>
                </a:solidFill>
                <a:latin typeface="Inter"/>
              </a:rPr>
              <a:t>Script:</a:t>
            </a:r>
          </a:p>
        </p:txBody>
      </p:sp>
      <p:sp>
        <p:nvSpPr>
          <p:cNvPr id="21" name="TextBox 20"/>
          <p:cNvSpPr txBox="1"/>
          <p:nvPr/>
        </p:nvSpPr>
        <p:spPr>
          <a:xfrm>
            <a:off x="4389120" y="2816352"/>
            <a:ext cx="3291840" cy="837152"/>
          </a:xfrm>
          <a:prstGeom prst="rect">
            <a:avLst/>
          </a:prstGeom>
          <a:noFill/>
        </p:spPr>
        <p:txBody>
          <a:bodyPr wrap="square" lIns="54864" tIns="18288" rIns="54864" bIns="18288" anchor="t">
            <a:spAutoFit/>
          </a:bodyPr>
          <a:lstStyle/>
          <a:p>
            <a:pPr algn="l">
              <a:lnSpc>
                <a:spcPct val="100000"/>
              </a:lnSpc>
            </a:pPr>
            <a:r>
              <a:rPr sz="1300" b="0" i="0">
                <a:solidFill>
                  <a:srgbClr val="2B2419"/>
                </a:solidFill>
                <a:latin typeface="Inter"/>
              </a:rPr>
              <a:t>Show task with past deadline
(yesterday: June 15)
→ Red overdue badge displayed
→ Filter by 'Overdue'</a:t>
            </a:r>
          </a:p>
        </p:txBody>
      </p:sp>
      <p:sp>
        <p:nvSpPr>
          <p:cNvPr id="22" name="TextBox 21"/>
          <p:cNvSpPr txBox="1"/>
          <p:nvPr/>
        </p:nvSpPr>
        <p:spPr>
          <a:xfrm>
            <a:off x="4389120" y="5047488"/>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WBS: WBS 1.3.1</a:t>
            </a:r>
          </a:p>
        </p:txBody>
      </p:sp>
      <p:sp>
        <p:nvSpPr>
          <p:cNvPr id="23" name="TextBox 22"/>
          <p:cNvSpPr txBox="1"/>
          <p:nvPr/>
        </p:nvSpPr>
        <p:spPr>
          <a:xfrm>
            <a:off x="4389120" y="5358384"/>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Owner: Thịnh</a:t>
            </a:r>
          </a:p>
        </p:txBody>
      </p:sp>
      <p:sp>
        <p:nvSpPr>
          <p:cNvPr id="24" name="Rectangle 23"/>
          <p:cNvSpPr/>
          <p:nvPr/>
        </p:nvSpPr>
        <p:spPr>
          <a:xfrm>
            <a:off x="7955279" y="1417320"/>
            <a:ext cx="3474720" cy="402336"/>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55279" y="1417320"/>
            <a:ext cx="3474720" cy="402336"/>
          </a:xfrm>
          <a:prstGeom prst="rect">
            <a:avLst/>
          </a:prstGeom>
          <a:noFill/>
        </p:spPr>
        <p:txBody>
          <a:bodyPr wrap="square" lIns="54864" tIns="18288" rIns="54864" bIns="18288" anchor="t">
            <a:spAutoFit/>
          </a:bodyPr>
          <a:lstStyle/>
          <a:p>
            <a:pPr algn="ctr">
              <a:lnSpc>
                <a:spcPct val="100000"/>
              </a:lnSpc>
            </a:pPr>
            <a:r>
              <a:rPr sz="1200" b="1" i="0">
                <a:solidFill>
                  <a:srgbClr val="FFFFFF"/>
                </a:solidFill>
                <a:latin typeface="Inter"/>
              </a:rPr>
              <a:t>Feature 3  ·  60 s</a:t>
            </a:r>
          </a:p>
        </p:txBody>
      </p:sp>
      <p:sp>
        <p:nvSpPr>
          <p:cNvPr id="26" name="Rectangle 25"/>
          <p:cNvSpPr/>
          <p:nvPr/>
        </p:nvSpPr>
        <p:spPr>
          <a:xfrm>
            <a:off x="7955279" y="1865376"/>
            <a:ext cx="3474720" cy="411480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46719" y="1920240"/>
            <a:ext cx="3291840" cy="566928"/>
          </a:xfrm>
          <a:prstGeom prst="rect">
            <a:avLst/>
          </a:prstGeom>
          <a:noFill/>
        </p:spPr>
        <p:txBody>
          <a:bodyPr wrap="square" lIns="54864" tIns="18288" rIns="54864" bIns="18288" anchor="t">
            <a:spAutoFit/>
          </a:bodyPr>
          <a:lstStyle/>
          <a:p>
            <a:pPr algn="l">
              <a:lnSpc>
                <a:spcPct val="100000"/>
              </a:lnSpc>
            </a:pPr>
            <a:r>
              <a:rPr sz="1300" b="1" i="0">
                <a:solidFill>
                  <a:srgbClr val="8C5A2E"/>
                </a:solidFill>
                <a:latin typeface="Playfair Display"/>
              </a:rPr>
              <a:t>Progress Dashboard</a:t>
            </a:r>
          </a:p>
        </p:txBody>
      </p:sp>
      <p:sp>
        <p:nvSpPr>
          <p:cNvPr id="28" name="TextBox 27"/>
          <p:cNvSpPr txBox="1"/>
          <p:nvPr/>
        </p:nvSpPr>
        <p:spPr>
          <a:xfrm>
            <a:off x="8046719" y="2542032"/>
            <a:ext cx="3291840" cy="236988"/>
          </a:xfrm>
          <a:prstGeom prst="rect">
            <a:avLst/>
          </a:prstGeom>
          <a:noFill/>
        </p:spPr>
        <p:txBody>
          <a:bodyPr wrap="square" lIns="54864" tIns="18288" rIns="54864" bIns="18288" anchor="t">
            <a:spAutoFit/>
          </a:bodyPr>
          <a:lstStyle/>
          <a:p>
            <a:pPr algn="l">
              <a:lnSpc>
                <a:spcPct val="100000"/>
              </a:lnSpc>
            </a:pPr>
            <a:r>
              <a:rPr sz="1300" b="1" i="0">
                <a:solidFill>
                  <a:srgbClr val="8A7A66"/>
                </a:solidFill>
                <a:latin typeface="Inter"/>
              </a:rPr>
              <a:t>Script:</a:t>
            </a:r>
          </a:p>
        </p:txBody>
      </p:sp>
      <p:sp>
        <p:nvSpPr>
          <p:cNvPr id="29" name="TextBox 28"/>
          <p:cNvSpPr txBox="1"/>
          <p:nvPr/>
        </p:nvSpPr>
        <p:spPr>
          <a:xfrm>
            <a:off x="8046719" y="2816352"/>
            <a:ext cx="3291840" cy="837152"/>
          </a:xfrm>
          <a:prstGeom prst="rect">
            <a:avLst/>
          </a:prstGeom>
          <a:noFill/>
        </p:spPr>
        <p:txBody>
          <a:bodyPr wrap="square" lIns="54864" tIns="18288" rIns="54864" bIns="18288" anchor="t">
            <a:spAutoFit/>
          </a:bodyPr>
          <a:lstStyle/>
          <a:p>
            <a:pPr algn="l">
              <a:lnSpc>
                <a:spcPct val="100000"/>
              </a:lnSpc>
            </a:pPr>
            <a:r>
              <a:rPr sz="1300" b="0" i="0">
                <a:solidFill>
                  <a:srgbClr val="2B2419"/>
                </a:solidFill>
                <a:latin typeface="Inter"/>
              </a:rPr>
              <a:t>Navigate to /dashboard
→ Project cards with counts
→ Task progress bar (e.g. 60%)
→ Real-time metric aggregation</a:t>
            </a:r>
          </a:p>
        </p:txBody>
      </p:sp>
      <p:sp>
        <p:nvSpPr>
          <p:cNvPr id="30" name="TextBox 29"/>
          <p:cNvSpPr txBox="1"/>
          <p:nvPr/>
        </p:nvSpPr>
        <p:spPr>
          <a:xfrm>
            <a:off x="8046719" y="5047488"/>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WBS: WBS 1.4.1, 1.4.2</a:t>
            </a:r>
          </a:p>
        </p:txBody>
      </p:sp>
      <p:sp>
        <p:nvSpPr>
          <p:cNvPr id="31" name="TextBox 30"/>
          <p:cNvSpPr txBox="1"/>
          <p:nvPr/>
        </p:nvSpPr>
        <p:spPr>
          <a:xfrm>
            <a:off x="8046719" y="5358384"/>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Owner: Bảo</a:t>
            </a:r>
          </a:p>
        </p:txBody>
      </p:sp>
      <p:sp>
        <p:nvSpPr>
          <p:cNvPr id="32" name="TextBox 31"/>
          <p:cNvSpPr txBox="1"/>
          <p:nvPr/>
        </p:nvSpPr>
        <p:spPr>
          <a:xfrm>
            <a:off x="640080" y="6369660"/>
            <a:ext cx="11247120" cy="190821"/>
          </a:xfrm>
          <a:prstGeom prst="rect">
            <a:avLst/>
          </a:prstGeom>
          <a:noFill/>
        </p:spPr>
        <p:txBody>
          <a:bodyPr wrap="square" lIns="54864" tIns="18288" rIns="54864" bIns="18288" anchor="t">
            <a:spAutoFit/>
          </a:bodyPr>
          <a:lstStyle/>
          <a:p>
            <a:pPr algn="l">
              <a:lnSpc>
                <a:spcPct val="100000"/>
              </a:lnSpc>
            </a:pP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Demo URL: http://localhost:5173  ·  Run: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npm</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install &amp;&amp;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npm</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run dev</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PROTOTYPE &amp; LESSONS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Lessons Learned</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28 / 31</a:t>
            </a:r>
          </a:p>
        </p:txBody>
      </p:sp>
      <p:graphicFrame>
        <p:nvGraphicFramePr>
          <p:cNvPr id="8" name="Table 7"/>
          <p:cNvGraphicFramePr>
            <a:graphicFrameLocks noGrp="1"/>
          </p:cNvGraphicFramePr>
          <p:nvPr>
            <p:extLst>
              <p:ext uri="{D42A27DB-BD31-4B8C-83A1-F6EECF244321}">
                <p14:modId xmlns:p14="http://schemas.microsoft.com/office/powerpoint/2010/main" val="1185521266"/>
              </p:ext>
            </p:extLst>
          </p:nvPr>
        </p:nvGraphicFramePr>
        <p:xfrm>
          <a:off x="640079" y="1417319"/>
          <a:ext cx="10911535" cy="4489686"/>
        </p:xfrm>
        <a:graphic>
          <a:graphicData uri="http://schemas.openxmlformats.org/drawingml/2006/table">
            <a:tbl>
              <a:tblPr firstRow="1" bandRow="1">
                <a:tableStyleId>{5C22544A-7EE6-4342-B048-85BDC9FD1C3A}</a:tableStyleId>
              </a:tblPr>
              <a:tblGrid>
                <a:gridCol w="586416">
                  <a:extLst>
                    <a:ext uri="{9D8B030D-6E8A-4147-A177-3AD203B41FA5}">
                      <a16:colId xmlns:a16="http://schemas.microsoft.com/office/drawing/2014/main" val="20000"/>
                    </a:ext>
                  </a:extLst>
                </a:gridCol>
                <a:gridCol w="2303779">
                  <a:extLst>
                    <a:ext uri="{9D8B030D-6E8A-4147-A177-3AD203B41FA5}">
                      <a16:colId xmlns:a16="http://schemas.microsoft.com/office/drawing/2014/main" val="20001"/>
                    </a:ext>
                  </a:extLst>
                </a:gridCol>
                <a:gridCol w="7099828">
                  <a:extLst>
                    <a:ext uri="{9D8B030D-6E8A-4147-A177-3AD203B41FA5}">
                      <a16:colId xmlns:a16="http://schemas.microsoft.com/office/drawing/2014/main" val="20002"/>
                    </a:ext>
                  </a:extLst>
                </a:gridCol>
                <a:gridCol w="921512">
                  <a:extLst>
                    <a:ext uri="{9D8B030D-6E8A-4147-A177-3AD203B41FA5}">
                      <a16:colId xmlns:a16="http://schemas.microsoft.com/office/drawing/2014/main" val="20003"/>
                    </a:ext>
                  </a:extLst>
                </a:gridCol>
              </a:tblGrid>
              <a:tr h="748281">
                <a:tc>
                  <a:txBody>
                    <a:bodyPr/>
                    <a:lstStyle/>
                    <a:p>
                      <a:r>
                        <a:rPr sz="1300" b="1">
                          <a:solidFill>
                            <a:srgbClr val="FFFFFF"/>
                          </a:solidFill>
                          <a:latin typeface="Inter"/>
                        </a:rPr>
                        <a:t>ID</a:t>
                      </a:r>
                    </a:p>
                  </a:txBody>
                  <a:tcPr marL="73152" marR="73152" marT="36576" marB="36576">
                    <a:solidFill>
                      <a:srgbClr val="8C5A2E"/>
                    </a:solidFill>
                  </a:tcPr>
                </a:tc>
                <a:tc>
                  <a:txBody>
                    <a:bodyPr/>
                    <a:lstStyle/>
                    <a:p>
                      <a:r>
                        <a:rPr sz="1300" b="1">
                          <a:solidFill>
                            <a:srgbClr val="FFFFFF"/>
                          </a:solidFill>
                          <a:latin typeface="Inter"/>
                        </a:rPr>
                        <a:t>Lesson</a:t>
                      </a:r>
                    </a:p>
                  </a:txBody>
                  <a:tcPr marL="73152" marR="73152" marT="36576" marB="36576">
                    <a:solidFill>
                      <a:srgbClr val="8C5A2E"/>
                    </a:solidFill>
                  </a:tcPr>
                </a:tc>
                <a:tc>
                  <a:txBody>
                    <a:bodyPr/>
                    <a:lstStyle/>
                    <a:p>
                      <a:r>
                        <a:rPr sz="1300" b="1">
                          <a:solidFill>
                            <a:srgbClr val="FFFFFF"/>
                          </a:solidFill>
                          <a:latin typeface="Inter"/>
                        </a:rPr>
                        <a:t>Evidence / Action</a:t>
                      </a:r>
                    </a:p>
                  </a:txBody>
                  <a:tcPr marL="73152" marR="73152" marT="36576" marB="36576">
                    <a:solidFill>
                      <a:srgbClr val="8C5A2E"/>
                    </a:solidFill>
                  </a:tcPr>
                </a:tc>
                <a:tc>
                  <a:txBody>
                    <a:bodyPr/>
                    <a:lstStyle/>
                    <a:p>
                      <a:r>
                        <a:rPr sz="1300" b="1">
                          <a:solidFill>
                            <a:srgbClr val="FFFFFF"/>
                          </a:solidFill>
                          <a:latin typeface="Inter"/>
                        </a:rPr>
                        <a:t>CLO</a:t>
                      </a:r>
                    </a:p>
                  </a:txBody>
                  <a:tcPr marL="73152" marR="73152" marT="36576" marB="36576">
                    <a:solidFill>
                      <a:srgbClr val="8C5A2E"/>
                    </a:solidFill>
                  </a:tcPr>
                </a:tc>
                <a:extLst>
                  <a:ext uri="{0D108BD9-81ED-4DB2-BD59-A6C34878D82A}">
                    <a16:rowId xmlns:a16="http://schemas.microsoft.com/office/drawing/2014/main" val="10000"/>
                  </a:ext>
                </a:extLst>
              </a:tr>
              <a:tr h="748281">
                <a:tc>
                  <a:txBody>
                    <a:bodyPr/>
                    <a:lstStyle/>
                    <a:p>
                      <a:r>
                        <a:rPr sz="1300" b="0">
                          <a:solidFill>
                            <a:srgbClr val="2B2419"/>
                          </a:solidFill>
                          <a:latin typeface="Inter"/>
                        </a:rPr>
                        <a:t>LL-1</a:t>
                      </a:r>
                    </a:p>
                  </a:txBody>
                  <a:tcPr marL="73152" marR="73152" marT="36576" marB="36576">
                    <a:solidFill>
                      <a:srgbClr val="F5EFE6"/>
                    </a:solidFill>
                  </a:tcPr>
                </a:tc>
                <a:tc>
                  <a:txBody>
                    <a:bodyPr/>
                    <a:lstStyle/>
                    <a:p>
                      <a:r>
                        <a:rPr sz="1300" b="0">
                          <a:solidFill>
                            <a:srgbClr val="2B2419"/>
                          </a:solidFill>
                          <a:latin typeface="Inter"/>
                        </a:rPr>
                        <a:t>Scope creep at W6</a:t>
                      </a:r>
                    </a:p>
                  </a:txBody>
                  <a:tcPr marL="73152" marR="73152" marT="36576" marB="36576">
                    <a:solidFill>
                      <a:srgbClr val="F5EFE6"/>
                    </a:solidFill>
                  </a:tcPr>
                </a:tc>
                <a:tc>
                  <a:txBody>
                    <a:bodyPr/>
                    <a:lstStyle/>
                    <a:p>
                      <a:r>
                        <a:rPr sz="1300" b="0">
                          <a:solidFill>
                            <a:srgbClr val="2B2419"/>
                          </a:solidFill>
                          <a:latin typeface="Inter"/>
                        </a:rPr>
                        <a:t>CR-001 formalised scope lock; 4 h recovered</a:t>
                      </a:r>
                    </a:p>
                  </a:txBody>
                  <a:tcPr marL="73152" marR="73152" marT="36576" marB="36576">
                    <a:solidFill>
                      <a:srgbClr val="F5EFE6"/>
                    </a:solidFill>
                  </a:tcPr>
                </a:tc>
                <a:tc>
                  <a:txBody>
                    <a:bodyPr/>
                    <a:lstStyle/>
                    <a:p>
                      <a:r>
                        <a:rPr sz="1300" b="0">
                          <a:solidFill>
                            <a:srgbClr val="2B2419"/>
                          </a:solidFill>
                          <a:latin typeface="Inter"/>
                        </a:rPr>
                        <a:t>CLO 3, 9</a:t>
                      </a:r>
                    </a:p>
                  </a:txBody>
                  <a:tcPr marL="73152" marR="73152" marT="36576" marB="36576">
                    <a:solidFill>
                      <a:srgbClr val="F5EFE6"/>
                    </a:solidFill>
                  </a:tcPr>
                </a:tc>
                <a:extLst>
                  <a:ext uri="{0D108BD9-81ED-4DB2-BD59-A6C34878D82A}">
                    <a16:rowId xmlns:a16="http://schemas.microsoft.com/office/drawing/2014/main" val="10001"/>
                  </a:ext>
                </a:extLst>
              </a:tr>
              <a:tr h="748281">
                <a:tc>
                  <a:txBody>
                    <a:bodyPr/>
                    <a:lstStyle/>
                    <a:p>
                      <a:r>
                        <a:rPr sz="1300" b="0">
                          <a:solidFill>
                            <a:srgbClr val="2B2419"/>
                          </a:solidFill>
                          <a:latin typeface="Inter"/>
                        </a:rPr>
                        <a:t>LL-2</a:t>
                      </a:r>
                    </a:p>
                  </a:txBody>
                  <a:tcPr marL="73152" marR="73152" marT="36576" marB="36576">
                    <a:solidFill>
                      <a:srgbClr val="F5EFE6"/>
                    </a:solidFill>
                  </a:tcPr>
                </a:tc>
                <a:tc>
                  <a:txBody>
                    <a:bodyPr/>
                    <a:lstStyle/>
                    <a:p>
                      <a:r>
                        <a:rPr sz="1300" b="0">
                          <a:solidFill>
                            <a:srgbClr val="2B2419"/>
                          </a:solidFill>
                          <a:latin typeface="Inter"/>
                        </a:rPr>
                        <a:t>PERT estimates too optimistic</a:t>
                      </a:r>
                    </a:p>
                  </a:txBody>
                  <a:tcPr marL="73152" marR="73152" marT="36576" marB="36576">
                    <a:solidFill>
                      <a:srgbClr val="F5EFE6"/>
                    </a:solidFill>
                  </a:tcPr>
                </a:tc>
                <a:tc>
                  <a:txBody>
                    <a:bodyPr/>
                    <a:lstStyle/>
                    <a:p>
                      <a:r>
                        <a:rPr sz="1300" b="0">
                          <a:solidFill>
                            <a:srgbClr val="2B2419"/>
                          </a:solidFill>
                          <a:latin typeface="Inter"/>
                        </a:rPr>
                        <a:t>Activity B took 14 d; TE=10.5. Use 1.2×.</a:t>
                      </a:r>
                    </a:p>
                  </a:txBody>
                  <a:tcPr marL="73152" marR="73152" marT="36576" marB="36576">
                    <a:solidFill>
                      <a:srgbClr val="F5EFE6"/>
                    </a:solidFill>
                  </a:tcPr>
                </a:tc>
                <a:tc>
                  <a:txBody>
                    <a:bodyPr/>
                    <a:lstStyle/>
                    <a:p>
                      <a:r>
                        <a:rPr sz="1300" b="0">
                          <a:solidFill>
                            <a:srgbClr val="2B2419"/>
                          </a:solidFill>
                          <a:latin typeface="Inter"/>
                        </a:rPr>
                        <a:t>CLO 2, 5</a:t>
                      </a:r>
                    </a:p>
                  </a:txBody>
                  <a:tcPr marL="73152" marR="73152" marT="36576" marB="36576">
                    <a:solidFill>
                      <a:srgbClr val="F5EFE6"/>
                    </a:solidFill>
                  </a:tcPr>
                </a:tc>
                <a:extLst>
                  <a:ext uri="{0D108BD9-81ED-4DB2-BD59-A6C34878D82A}">
                    <a16:rowId xmlns:a16="http://schemas.microsoft.com/office/drawing/2014/main" val="10002"/>
                  </a:ext>
                </a:extLst>
              </a:tr>
              <a:tr h="748281">
                <a:tc>
                  <a:txBody>
                    <a:bodyPr/>
                    <a:lstStyle/>
                    <a:p>
                      <a:r>
                        <a:rPr sz="1300" b="0">
                          <a:solidFill>
                            <a:srgbClr val="2B2419"/>
                          </a:solidFill>
                          <a:latin typeface="Inter"/>
                        </a:rPr>
                        <a:t>LL-3</a:t>
                      </a:r>
                    </a:p>
                  </a:txBody>
                  <a:tcPr marL="73152" marR="73152" marT="36576" marB="36576">
                    <a:solidFill>
                      <a:srgbClr val="F5EFE6"/>
                    </a:solidFill>
                  </a:tcPr>
                </a:tc>
                <a:tc>
                  <a:txBody>
                    <a:bodyPr/>
                    <a:lstStyle/>
                    <a:p>
                      <a:r>
                        <a:rPr sz="1300" b="0">
                          <a:solidFill>
                            <a:srgbClr val="2B2419"/>
                          </a:solidFill>
                          <a:latin typeface="Inter"/>
                        </a:rPr>
                        <a:t>react-router v7 incompatibility</a:t>
                      </a:r>
                    </a:p>
                  </a:txBody>
                  <a:tcPr marL="73152" marR="73152" marT="36576" marB="36576">
                    <a:solidFill>
                      <a:srgbClr val="F5EFE6"/>
                    </a:solidFill>
                  </a:tcPr>
                </a:tc>
                <a:tc>
                  <a:txBody>
                    <a:bodyPr/>
                    <a:lstStyle/>
                    <a:p>
                      <a:r>
                        <a:rPr sz="1300" b="0">
                          <a:solidFill>
                            <a:srgbClr val="2B2419"/>
                          </a:solidFill>
                          <a:latin typeface="Inter"/>
                        </a:rPr>
                        <a:t>Downgraded to v6; pin versions in package.json</a:t>
                      </a:r>
                    </a:p>
                  </a:txBody>
                  <a:tcPr marL="73152" marR="73152" marT="36576" marB="36576">
                    <a:solidFill>
                      <a:srgbClr val="F5EFE6"/>
                    </a:solidFill>
                  </a:tcPr>
                </a:tc>
                <a:tc>
                  <a:txBody>
                    <a:bodyPr/>
                    <a:lstStyle/>
                    <a:p>
                      <a:r>
                        <a:rPr sz="1300" b="0">
                          <a:solidFill>
                            <a:srgbClr val="2B2419"/>
                          </a:solidFill>
                          <a:latin typeface="Inter"/>
                        </a:rPr>
                        <a:t>CLO 3, 5</a:t>
                      </a:r>
                    </a:p>
                  </a:txBody>
                  <a:tcPr marL="73152" marR="73152" marT="36576" marB="36576">
                    <a:solidFill>
                      <a:srgbClr val="F5EFE6"/>
                    </a:solidFill>
                  </a:tcPr>
                </a:tc>
                <a:extLst>
                  <a:ext uri="{0D108BD9-81ED-4DB2-BD59-A6C34878D82A}">
                    <a16:rowId xmlns:a16="http://schemas.microsoft.com/office/drawing/2014/main" val="10003"/>
                  </a:ext>
                </a:extLst>
              </a:tr>
              <a:tr h="748281">
                <a:tc>
                  <a:txBody>
                    <a:bodyPr/>
                    <a:lstStyle/>
                    <a:p>
                      <a:r>
                        <a:rPr sz="1300" b="0">
                          <a:solidFill>
                            <a:srgbClr val="2B2419"/>
                          </a:solidFill>
                          <a:latin typeface="Inter"/>
                        </a:rPr>
                        <a:t>LL-4</a:t>
                      </a:r>
                    </a:p>
                  </a:txBody>
                  <a:tcPr marL="73152" marR="73152" marT="36576" marB="36576">
                    <a:solidFill>
                      <a:srgbClr val="F5EFE6"/>
                    </a:solidFill>
                  </a:tcPr>
                </a:tc>
                <a:tc>
                  <a:txBody>
                    <a:bodyPr/>
                    <a:lstStyle/>
                    <a:p>
                      <a:r>
                        <a:rPr sz="1300" b="0">
                          <a:solidFill>
                            <a:srgbClr val="2B2419"/>
                          </a:solidFill>
                          <a:latin typeface="Inter"/>
                        </a:rPr>
                        <a:t>EVM was reactive, not proactive</a:t>
                      </a:r>
                    </a:p>
                  </a:txBody>
                  <a:tcPr marL="73152" marR="73152" marT="36576" marB="36576">
                    <a:solidFill>
                      <a:srgbClr val="F5EFE6"/>
                    </a:solidFill>
                  </a:tcPr>
                </a:tc>
                <a:tc>
                  <a:txBody>
                    <a:bodyPr/>
                    <a:lstStyle/>
                    <a:p>
                      <a:r>
                        <a:rPr sz="1300" b="0">
                          <a:solidFill>
                            <a:srgbClr val="2B2419"/>
                          </a:solidFill>
                          <a:latin typeface="Inter"/>
                        </a:rPr>
                        <a:t>VAC=−11.2M. Weekly EVM mini-check.</a:t>
                      </a:r>
                    </a:p>
                  </a:txBody>
                  <a:tcPr marL="73152" marR="73152" marT="36576" marB="36576">
                    <a:solidFill>
                      <a:srgbClr val="F5EFE6"/>
                    </a:solidFill>
                  </a:tcPr>
                </a:tc>
                <a:tc>
                  <a:txBody>
                    <a:bodyPr/>
                    <a:lstStyle/>
                    <a:p>
                      <a:r>
                        <a:rPr sz="1300" b="0">
                          <a:solidFill>
                            <a:srgbClr val="2B2419"/>
                          </a:solidFill>
                          <a:latin typeface="Inter"/>
                        </a:rPr>
                        <a:t>CLO 6, 7</a:t>
                      </a:r>
                    </a:p>
                  </a:txBody>
                  <a:tcPr marL="73152" marR="73152" marT="36576" marB="36576">
                    <a:solidFill>
                      <a:srgbClr val="F5EFE6"/>
                    </a:solidFill>
                  </a:tcPr>
                </a:tc>
                <a:extLst>
                  <a:ext uri="{0D108BD9-81ED-4DB2-BD59-A6C34878D82A}">
                    <a16:rowId xmlns:a16="http://schemas.microsoft.com/office/drawing/2014/main" val="10004"/>
                  </a:ext>
                </a:extLst>
              </a:tr>
              <a:tr h="748281">
                <a:tc>
                  <a:txBody>
                    <a:bodyPr/>
                    <a:lstStyle/>
                    <a:p>
                      <a:r>
                        <a:rPr sz="1300" b="0">
                          <a:solidFill>
                            <a:srgbClr val="2B2419"/>
                          </a:solidFill>
                          <a:latin typeface="Inter"/>
                        </a:rPr>
                        <a:t>LL-5</a:t>
                      </a:r>
                    </a:p>
                  </a:txBody>
                  <a:tcPr marL="73152" marR="73152" marT="36576" marB="36576">
                    <a:solidFill>
                      <a:srgbClr val="F5EFE6"/>
                    </a:solidFill>
                  </a:tcPr>
                </a:tc>
                <a:tc>
                  <a:txBody>
                    <a:bodyPr/>
                    <a:lstStyle/>
                    <a:p>
                      <a:r>
                        <a:rPr sz="1300" b="0">
                          <a:solidFill>
                            <a:srgbClr val="2B2419"/>
                          </a:solidFill>
                          <a:latin typeface="Inter"/>
                        </a:rPr>
                        <a:t>No frozen API contract</a:t>
                      </a:r>
                    </a:p>
                  </a:txBody>
                  <a:tcPr marL="73152" marR="73152" marT="36576" marB="36576">
                    <a:solidFill>
                      <a:srgbClr val="F5EFE6"/>
                    </a:solidFill>
                  </a:tcPr>
                </a:tc>
                <a:tc>
                  <a:txBody>
                    <a:bodyPr/>
                    <a:lstStyle/>
                    <a:p>
                      <a:r>
                        <a:rPr sz="1300" b="0">
                          <a:solidFill>
                            <a:srgbClr val="2B2419"/>
                          </a:solidFill>
                          <a:latin typeface="Inter"/>
                        </a:rPr>
                        <a:t>2 days rework at W7. Freeze API at W5.</a:t>
                      </a:r>
                    </a:p>
                  </a:txBody>
                  <a:tcPr marL="73152" marR="73152" marT="36576" marB="36576">
                    <a:solidFill>
                      <a:srgbClr val="F5EFE6"/>
                    </a:solidFill>
                  </a:tcPr>
                </a:tc>
                <a:tc>
                  <a:txBody>
                    <a:bodyPr/>
                    <a:lstStyle/>
                    <a:p>
                      <a:r>
                        <a:rPr sz="1300" b="0" dirty="0">
                          <a:solidFill>
                            <a:srgbClr val="2B2419"/>
                          </a:solidFill>
                          <a:latin typeface="Inter"/>
                        </a:rPr>
                        <a:t>CLO 2, 4</a:t>
                      </a:r>
                    </a:p>
                  </a:txBody>
                  <a:tcPr marL="73152" marR="73152" marT="36576" marB="36576">
                    <a:solidFill>
                      <a:srgbClr val="F5EF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PROTOTYPE &amp; LESSONS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CLO Coverage Matrix — All 9 CLOs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29 / 31</a:t>
            </a:r>
          </a:p>
        </p:txBody>
      </p:sp>
      <p:graphicFrame>
        <p:nvGraphicFramePr>
          <p:cNvPr id="8" name="Table 7"/>
          <p:cNvGraphicFramePr>
            <a:graphicFrameLocks noGrp="1"/>
          </p:cNvGraphicFramePr>
          <p:nvPr>
            <p:extLst>
              <p:ext uri="{D42A27DB-BD31-4B8C-83A1-F6EECF244321}">
                <p14:modId xmlns:p14="http://schemas.microsoft.com/office/powerpoint/2010/main" val="1162524672"/>
              </p:ext>
            </p:extLst>
          </p:nvPr>
        </p:nvGraphicFramePr>
        <p:xfrm>
          <a:off x="640080" y="1307592"/>
          <a:ext cx="10911535" cy="4685830"/>
        </p:xfrm>
        <a:graphic>
          <a:graphicData uri="http://schemas.openxmlformats.org/drawingml/2006/table">
            <a:tbl>
              <a:tblPr firstRow="1" bandRow="1">
                <a:tableStyleId>{5C22544A-7EE6-4342-B048-85BDC9FD1C3A}</a:tableStyleId>
              </a:tblPr>
              <a:tblGrid>
                <a:gridCol w="916236">
                  <a:extLst>
                    <a:ext uri="{9D8B030D-6E8A-4147-A177-3AD203B41FA5}">
                      <a16:colId xmlns:a16="http://schemas.microsoft.com/office/drawing/2014/main" val="20000"/>
                    </a:ext>
                  </a:extLst>
                </a:gridCol>
                <a:gridCol w="4442355">
                  <a:extLst>
                    <a:ext uri="{9D8B030D-6E8A-4147-A177-3AD203B41FA5}">
                      <a16:colId xmlns:a16="http://schemas.microsoft.com/office/drawing/2014/main" val="20001"/>
                    </a:ext>
                  </a:extLst>
                </a:gridCol>
                <a:gridCol w="1110589">
                  <a:extLst>
                    <a:ext uri="{9D8B030D-6E8A-4147-A177-3AD203B41FA5}">
                      <a16:colId xmlns:a16="http://schemas.microsoft.com/office/drawing/2014/main" val="20002"/>
                    </a:ext>
                  </a:extLst>
                </a:gridCol>
                <a:gridCol w="4442355">
                  <a:extLst>
                    <a:ext uri="{9D8B030D-6E8A-4147-A177-3AD203B41FA5}">
                      <a16:colId xmlns:a16="http://schemas.microsoft.com/office/drawing/2014/main" val="20003"/>
                    </a:ext>
                  </a:extLst>
                </a:gridCol>
              </a:tblGrid>
              <a:tr h="468583">
                <a:tc>
                  <a:txBody>
                    <a:bodyPr/>
                    <a:lstStyle/>
                    <a:p>
                      <a:r>
                        <a:rPr sz="1300" b="1">
                          <a:solidFill>
                            <a:srgbClr val="FFFFFF"/>
                          </a:solidFill>
                          <a:latin typeface="Inter"/>
                        </a:rPr>
                        <a:t>CLO</a:t>
                      </a:r>
                    </a:p>
                  </a:txBody>
                  <a:tcPr marL="73152" marR="73152" marT="36576" marB="36576">
                    <a:solidFill>
                      <a:srgbClr val="8C5A2E"/>
                    </a:solidFill>
                  </a:tcPr>
                </a:tc>
                <a:tc>
                  <a:txBody>
                    <a:bodyPr/>
                    <a:lstStyle/>
                    <a:p>
                      <a:r>
                        <a:rPr sz="1300" b="1">
                          <a:solidFill>
                            <a:srgbClr val="FFFFFF"/>
                          </a:solidFill>
                          <a:latin typeface="Inter"/>
                        </a:rPr>
                        <a:t>Description</a:t>
                      </a:r>
                    </a:p>
                  </a:txBody>
                  <a:tcPr marL="73152" marR="73152" marT="36576" marB="36576">
                    <a:solidFill>
                      <a:srgbClr val="8C5A2E"/>
                    </a:solidFill>
                  </a:tcPr>
                </a:tc>
                <a:tc>
                  <a:txBody>
                    <a:bodyPr/>
                    <a:lstStyle/>
                    <a:p>
                      <a:r>
                        <a:rPr sz="1300" b="1">
                          <a:solidFill>
                            <a:srgbClr val="FFFFFF"/>
                          </a:solidFill>
                          <a:latin typeface="Inter"/>
                        </a:rPr>
                        <a:t>Section</a:t>
                      </a:r>
                    </a:p>
                  </a:txBody>
                  <a:tcPr marL="73152" marR="73152" marT="36576" marB="36576">
                    <a:solidFill>
                      <a:srgbClr val="8C5A2E"/>
                    </a:solidFill>
                  </a:tcPr>
                </a:tc>
                <a:tc>
                  <a:txBody>
                    <a:bodyPr/>
                    <a:lstStyle/>
                    <a:p>
                      <a:r>
                        <a:rPr sz="1300" b="1">
                          <a:solidFill>
                            <a:srgbClr val="FFFFFF"/>
                          </a:solidFill>
                          <a:latin typeface="Inter"/>
                        </a:rPr>
                        <a:t>Evidence</a:t>
                      </a:r>
                    </a:p>
                  </a:txBody>
                  <a:tcPr marL="73152" marR="73152" marT="36576" marB="36576">
                    <a:solidFill>
                      <a:srgbClr val="8C5A2E"/>
                    </a:solidFill>
                  </a:tcPr>
                </a:tc>
                <a:extLst>
                  <a:ext uri="{0D108BD9-81ED-4DB2-BD59-A6C34878D82A}">
                    <a16:rowId xmlns:a16="http://schemas.microsoft.com/office/drawing/2014/main" val="10000"/>
                  </a:ext>
                </a:extLst>
              </a:tr>
              <a:tr h="468583">
                <a:tc>
                  <a:txBody>
                    <a:bodyPr/>
                    <a:lstStyle/>
                    <a:p>
                      <a:r>
                        <a:rPr sz="1300" b="0">
                          <a:solidFill>
                            <a:srgbClr val="2B2419"/>
                          </a:solidFill>
                          <a:latin typeface="Inter"/>
                        </a:rPr>
                        <a:t>CLO 1</a:t>
                      </a:r>
                    </a:p>
                  </a:txBody>
                  <a:tcPr marL="73152" marR="73152" marT="36576" marB="36576">
                    <a:solidFill>
                      <a:srgbClr val="F5EFE6"/>
                    </a:solidFill>
                  </a:tcPr>
                </a:tc>
                <a:tc>
                  <a:txBody>
                    <a:bodyPr/>
                    <a:lstStyle/>
                    <a:p>
                      <a:r>
                        <a:rPr sz="1300" b="0">
                          <a:solidFill>
                            <a:srgbClr val="2B2419"/>
                          </a:solidFill>
                          <a:latin typeface="Inter"/>
                        </a:rPr>
                        <a:t>APPLY PM principles</a:t>
                      </a:r>
                    </a:p>
                  </a:txBody>
                  <a:tcPr marL="73152" marR="73152" marT="36576" marB="36576">
                    <a:solidFill>
                      <a:srgbClr val="F5EFE6"/>
                    </a:solidFill>
                  </a:tcPr>
                </a:tc>
                <a:tc>
                  <a:txBody>
                    <a:bodyPr/>
                    <a:lstStyle/>
                    <a:p>
                      <a:r>
                        <a:rPr sz="1300" b="0">
                          <a:solidFill>
                            <a:srgbClr val="2B2419"/>
                          </a:solidFill>
                          <a:latin typeface="Inter"/>
                        </a:rPr>
                        <a:t>§ 1</a:t>
                      </a:r>
                    </a:p>
                  </a:txBody>
                  <a:tcPr marL="73152" marR="73152" marT="36576" marB="36576">
                    <a:solidFill>
                      <a:srgbClr val="F5EFE6"/>
                    </a:solidFill>
                  </a:tcPr>
                </a:tc>
                <a:tc>
                  <a:txBody>
                    <a:bodyPr/>
                    <a:lstStyle/>
                    <a:p>
                      <a:r>
                        <a:rPr sz="1300" b="0">
                          <a:solidFill>
                            <a:srgbClr val="2B2419"/>
                          </a:solidFill>
                          <a:latin typeface="Inter"/>
                        </a:rPr>
                        <a:t>SMART objectives; full PM cycle</a:t>
                      </a:r>
                    </a:p>
                  </a:txBody>
                  <a:tcPr marL="73152" marR="73152" marT="36576" marB="36576">
                    <a:solidFill>
                      <a:srgbClr val="F5EFE6"/>
                    </a:solidFill>
                  </a:tcPr>
                </a:tc>
                <a:extLst>
                  <a:ext uri="{0D108BD9-81ED-4DB2-BD59-A6C34878D82A}">
                    <a16:rowId xmlns:a16="http://schemas.microsoft.com/office/drawing/2014/main" val="10001"/>
                  </a:ext>
                </a:extLst>
              </a:tr>
              <a:tr h="468583">
                <a:tc>
                  <a:txBody>
                    <a:bodyPr/>
                    <a:lstStyle/>
                    <a:p>
                      <a:r>
                        <a:rPr sz="1300" b="0">
                          <a:solidFill>
                            <a:srgbClr val="2B2419"/>
                          </a:solidFill>
                          <a:latin typeface="Inter"/>
                        </a:rPr>
                        <a:t>CLO 2</a:t>
                      </a:r>
                    </a:p>
                  </a:txBody>
                  <a:tcPr marL="73152" marR="73152" marT="36576" marB="36576">
                    <a:solidFill>
                      <a:srgbClr val="F5EFE6"/>
                    </a:solidFill>
                  </a:tcPr>
                </a:tc>
                <a:tc>
                  <a:txBody>
                    <a:bodyPr/>
                    <a:lstStyle/>
                    <a:p>
                      <a:r>
                        <a:rPr sz="1300" b="0">
                          <a:solidFill>
                            <a:srgbClr val="2B2419"/>
                          </a:solidFill>
                          <a:latin typeface="Inter"/>
                        </a:rPr>
                        <a:t>IMPLEMENT scope / HR / time / cost</a:t>
                      </a:r>
                    </a:p>
                  </a:txBody>
                  <a:tcPr marL="73152" marR="73152" marT="36576" marB="36576">
                    <a:solidFill>
                      <a:srgbClr val="F5EFE6"/>
                    </a:solidFill>
                  </a:tcPr>
                </a:tc>
                <a:tc>
                  <a:txBody>
                    <a:bodyPr/>
                    <a:lstStyle/>
                    <a:p>
                      <a:r>
                        <a:rPr sz="1300" b="0">
                          <a:solidFill>
                            <a:srgbClr val="2B2419"/>
                          </a:solidFill>
                          <a:latin typeface="Inter"/>
                        </a:rPr>
                        <a:t>§ 1–4</a:t>
                      </a:r>
                    </a:p>
                  </a:txBody>
                  <a:tcPr marL="73152" marR="73152" marT="36576" marB="36576">
                    <a:solidFill>
                      <a:srgbClr val="F5EFE6"/>
                    </a:solidFill>
                  </a:tcPr>
                </a:tc>
                <a:tc>
                  <a:txBody>
                    <a:bodyPr/>
                    <a:lstStyle/>
                    <a:p>
                      <a:r>
                        <a:rPr sz="1300" b="0">
                          <a:solidFill>
                            <a:srgbClr val="2B2419"/>
                          </a:solidFill>
                          <a:latin typeface="Inter"/>
                        </a:rPr>
                        <a:t>WBS, CPM, RACI, bottom-up budget</a:t>
                      </a:r>
                    </a:p>
                  </a:txBody>
                  <a:tcPr marL="73152" marR="73152" marT="36576" marB="36576">
                    <a:solidFill>
                      <a:srgbClr val="F5EFE6"/>
                    </a:solidFill>
                  </a:tcPr>
                </a:tc>
                <a:extLst>
                  <a:ext uri="{0D108BD9-81ED-4DB2-BD59-A6C34878D82A}">
                    <a16:rowId xmlns:a16="http://schemas.microsoft.com/office/drawing/2014/main" val="10002"/>
                  </a:ext>
                </a:extLst>
              </a:tr>
              <a:tr h="468583">
                <a:tc>
                  <a:txBody>
                    <a:bodyPr/>
                    <a:lstStyle/>
                    <a:p>
                      <a:r>
                        <a:rPr sz="1300" b="0">
                          <a:solidFill>
                            <a:srgbClr val="2B2419"/>
                          </a:solidFill>
                          <a:latin typeface="Inter"/>
                        </a:rPr>
                        <a:t>CLO 3</a:t>
                      </a:r>
                    </a:p>
                  </a:txBody>
                  <a:tcPr marL="73152" marR="73152" marT="36576" marB="36576">
                    <a:solidFill>
                      <a:srgbClr val="F5EFE6"/>
                    </a:solidFill>
                  </a:tcPr>
                </a:tc>
                <a:tc>
                  <a:txBody>
                    <a:bodyPr/>
                    <a:lstStyle/>
                    <a:p>
                      <a:r>
                        <a:rPr sz="1300" b="0">
                          <a:solidFill>
                            <a:srgbClr val="2B2419"/>
                          </a:solidFill>
                          <a:latin typeface="Inter"/>
                        </a:rPr>
                        <a:t>IMPLEMENT integration / risk / quality</a:t>
                      </a:r>
                    </a:p>
                  </a:txBody>
                  <a:tcPr marL="73152" marR="73152" marT="36576" marB="36576">
                    <a:solidFill>
                      <a:srgbClr val="F5EFE6"/>
                    </a:solidFill>
                  </a:tcPr>
                </a:tc>
                <a:tc>
                  <a:txBody>
                    <a:bodyPr/>
                    <a:lstStyle/>
                    <a:p>
                      <a:r>
                        <a:rPr sz="1300" b="0">
                          <a:solidFill>
                            <a:srgbClr val="2B2419"/>
                          </a:solidFill>
                          <a:latin typeface="Inter"/>
                        </a:rPr>
                        <a:t>§ 5, § 8</a:t>
                      </a:r>
                    </a:p>
                  </a:txBody>
                  <a:tcPr marL="73152" marR="73152" marT="36576" marB="36576">
                    <a:solidFill>
                      <a:srgbClr val="F5EFE6"/>
                    </a:solidFill>
                  </a:tcPr>
                </a:tc>
                <a:tc>
                  <a:txBody>
                    <a:bodyPr/>
                    <a:lstStyle/>
                    <a:p>
                      <a:r>
                        <a:rPr sz="1300" b="0">
                          <a:solidFill>
                            <a:srgbClr val="2B2419"/>
                          </a:solidFill>
                          <a:latin typeface="Inter"/>
                        </a:rPr>
                        <a:t>Risk EMV; quality metrics; CR-001</a:t>
                      </a:r>
                    </a:p>
                  </a:txBody>
                  <a:tcPr marL="73152" marR="73152" marT="36576" marB="36576">
                    <a:solidFill>
                      <a:srgbClr val="F5EFE6"/>
                    </a:solidFill>
                  </a:tcPr>
                </a:tc>
                <a:extLst>
                  <a:ext uri="{0D108BD9-81ED-4DB2-BD59-A6C34878D82A}">
                    <a16:rowId xmlns:a16="http://schemas.microsoft.com/office/drawing/2014/main" val="10003"/>
                  </a:ext>
                </a:extLst>
              </a:tr>
              <a:tr h="468583">
                <a:tc>
                  <a:txBody>
                    <a:bodyPr/>
                    <a:lstStyle/>
                    <a:p>
                      <a:r>
                        <a:rPr sz="1300" b="0">
                          <a:solidFill>
                            <a:srgbClr val="2B2419"/>
                          </a:solidFill>
                          <a:latin typeface="Inter"/>
                        </a:rPr>
                        <a:t>CLO 4</a:t>
                      </a:r>
                    </a:p>
                  </a:txBody>
                  <a:tcPr marL="73152" marR="73152" marT="36576" marB="36576">
                    <a:solidFill>
                      <a:srgbClr val="F5EFE6"/>
                    </a:solidFill>
                  </a:tcPr>
                </a:tc>
                <a:tc>
                  <a:txBody>
                    <a:bodyPr/>
                    <a:lstStyle/>
                    <a:p>
                      <a:r>
                        <a:rPr sz="1300" b="0">
                          <a:solidFill>
                            <a:srgbClr val="2B2419"/>
                          </a:solidFill>
                          <a:latin typeface="Inter"/>
                        </a:rPr>
                        <a:t>IMPLEMENT systems &amp; decisions</a:t>
                      </a:r>
                    </a:p>
                  </a:txBody>
                  <a:tcPr marL="73152" marR="73152" marT="36576" marB="36576">
                    <a:solidFill>
                      <a:srgbClr val="F5EFE6"/>
                    </a:solidFill>
                  </a:tcPr>
                </a:tc>
                <a:tc>
                  <a:txBody>
                    <a:bodyPr/>
                    <a:lstStyle/>
                    <a:p>
                      <a:r>
                        <a:rPr sz="1300" b="0">
                          <a:solidFill>
                            <a:srgbClr val="2B2419"/>
                          </a:solidFill>
                          <a:latin typeface="Inter"/>
                        </a:rPr>
                        <a:t>§ 6, § 8</a:t>
                      </a:r>
                    </a:p>
                  </a:txBody>
                  <a:tcPr marL="73152" marR="73152" marT="36576" marB="36576">
                    <a:solidFill>
                      <a:srgbClr val="F5EFE6"/>
                    </a:solidFill>
                  </a:tcPr>
                </a:tc>
                <a:tc>
                  <a:txBody>
                    <a:bodyPr/>
                    <a:lstStyle/>
                    <a:p>
                      <a:r>
                        <a:rPr sz="1300" b="0">
                          <a:solidFill>
                            <a:srgbClr val="2B2419"/>
                          </a:solidFill>
                          <a:latin typeface="Inter"/>
                        </a:rPr>
                        <a:t>Decision process; live demo</a:t>
                      </a:r>
                    </a:p>
                  </a:txBody>
                  <a:tcPr marL="73152" marR="73152" marT="36576" marB="36576">
                    <a:solidFill>
                      <a:srgbClr val="F5EFE6"/>
                    </a:solidFill>
                  </a:tcPr>
                </a:tc>
                <a:extLst>
                  <a:ext uri="{0D108BD9-81ED-4DB2-BD59-A6C34878D82A}">
                    <a16:rowId xmlns:a16="http://schemas.microsoft.com/office/drawing/2014/main" val="10004"/>
                  </a:ext>
                </a:extLst>
              </a:tr>
              <a:tr h="468583">
                <a:tc>
                  <a:txBody>
                    <a:bodyPr/>
                    <a:lstStyle/>
                    <a:p>
                      <a:r>
                        <a:rPr sz="1300" b="0">
                          <a:solidFill>
                            <a:srgbClr val="2B2419"/>
                          </a:solidFill>
                          <a:latin typeface="Inter"/>
                        </a:rPr>
                        <a:t>CLO 5</a:t>
                      </a:r>
                    </a:p>
                  </a:txBody>
                  <a:tcPr marL="73152" marR="73152" marT="36576" marB="36576">
                    <a:solidFill>
                      <a:srgbClr val="F5EFE6"/>
                    </a:solidFill>
                  </a:tcPr>
                </a:tc>
                <a:tc>
                  <a:txBody>
                    <a:bodyPr/>
                    <a:lstStyle/>
                    <a:p>
                      <a:r>
                        <a:rPr sz="1300" b="0">
                          <a:solidFill>
                            <a:srgbClr val="2B2419"/>
                          </a:solidFill>
                          <a:latin typeface="Inter"/>
                        </a:rPr>
                        <a:t>USE tools / processes / techniques</a:t>
                      </a:r>
                    </a:p>
                  </a:txBody>
                  <a:tcPr marL="73152" marR="73152" marT="36576" marB="36576">
                    <a:solidFill>
                      <a:srgbClr val="F5EFE6"/>
                    </a:solidFill>
                  </a:tcPr>
                </a:tc>
                <a:tc>
                  <a:txBody>
                    <a:bodyPr/>
                    <a:lstStyle/>
                    <a:p>
                      <a:r>
                        <a:rPr sz="1300" b="0">
                          <a:solidFill>
                            <a:srgbClr val="2B2419"/>
                          </a:solidFill>
                          <a:latin typeface="Inter"/>
                        </a:rPr>
                        <a:t>§ 2–3</a:t>
                      </a:r>
                    </a:p>
                  </a:txBody>
                  <a:tcPr marL="73152" marR="73152" marT="36576" marB="36576">
                    <a:solidFill>
                      <a:srgbClr val="F5EFE6"/>
                    </a:solidFill>
                  </a:tcPr>
                </a:tc>
                <a:tc>
                  <a:txBody>
                    <a:bodyPr/>
                    <a:lstStyle/>
                    <a:p>
                      <a:r>
                        <a:rPr sz="1300" b="0">
                          <a:solidFill>
                            <a:srgbClr val="2B2419"/>
                          </a:solidFill>
                          <a:latin typeface="Inter"/>
                        </a:rPr>
                        <a:t>WBS tool, MS Project, PERT/CPM</a:t>
                      </a:r>
                    </a:p>
                  </a:txBody>
                  <a:tcPr marL="73152" marR="73152" marT="36576" marB="36576">
                    <a:solidFill>
                      <a:srgbClr val="F5EFE6"/>
                    </a:solidFill>
                  </a:tcPr>
                </a:tc>
                <a:extLst>
                  <a:ext uri="{0D108BD9-81ED-4DB2-BD59-A6C34878D82A}">
                    <a16:rowId xmlns:a16="http://schemas.microsoft.com/office/drawing/2014/main" val="10005"/>
                  </a:ext>
                </a:extLst>
              </a:tr>
              <a:tr h="468583">
                <a:tc>
                  <a:txBody>
                    <a:bodyPr/>
                    <a:lstStyle/>
                    <a:p>
                      <a:r>
                        <a:rPr sz="1300" b="0">
                          <a:solidFill>
                            <a:srgbClr val="2B2419"/>
                          </a:solidFill>
                          <a:latin typeface="Inter"/>
                        </a:rPr>
                        <a:t>CLO 6</a:t>
                      </a:r>
                    </a:p>
                  </a:txBody>
                  <a:tcPr marL="73152" marR="73152" marT="36576" marB="36576">
                    <a:solidFill>
                      <a:srgbClr val="F5EFE6"/>
                    </a:solidFill>
                  </a:tcPr>
                </a:tc>
                <a:tc>
                  <a:txBody>
                    <a:bodyPr/>
                    <a:lstStyle/>
                    <a:p>
                      <a:r>
                        <a:rPr sz="1300" b="0">
                          <a:solidFill>
                            <a:srgbClr val="2B2419"/>
                          </a:solidFill>
                          <a:latin typeface="Inter"/>
                        </a:rPr>
                        <a:t>PERFORM risk analysis &amp; contingency</a:t>
                      </a:r>
                    </a:p>
                  </a:txBody>
                  <a:tcPr marL="73152" marR="73152" marT="36576" marB="36576">
                    <a:solidFill>
                      <a:srgbClr val="F5EFE6"/>
                    </a:solidFill>
                  </a:tcPr>
                </a:tc>
                <a:tc>
                  <a:txBody>
                    <a:bodyPr/>
                    <a:lstStyle/>
                    <a:p>
                      <a:r>
                        <a:rPr sz="1300" b="0">
                          <a:solidFill>
                            <a:srgbClr val="2B2419"/>
                          </a:solidFill>
                          <a:latin typeface="Inter"/>
                        </a:rPr>
                        <a:t>§ 5</a:t>
                      </a:r>
                    </a:p>
                  </a:txBody>
                  <a:tcPr marL="73152" marR="73152" marT="36576" marB="36576">
                    <a:solidFill>
                      <a:srgbClr val="F5EFE6"/>
                    </a:solidFill>
                  </a:tcPr>
                </a:tc>
                <a:tc>
                  <a:txBody>
                    <a:bodyPr/>
                    <a:lstStyle/>
                    <a:p>
                      <a:r>
                        <a:rPr sz="1300" b="0">
                          <a:solidFill>
                            <a:srgbClr val="2B2419"/>
                          </a:solidFill>
                          <a:latin typeface="Inter"/>
                        </a:rPr>
                        <a:t>6 risks; EMV; contingency reconciliation</a:t>
                      </a:r>
                    </a:p>
                  </a:txBody>
                  <a:tcPr marL="73152" marR="73152" marT="36576" marB="36576">
                    <a:solidFill>
                      <a:srgbClr val="F5EFE6"/>
                    </a:solidFill>
                  </a:tcPr>
                </a:tc>
                <a:extLst>
                  <a:ext uri="{0D108BD9-81ED-4DB2-BD59-A6C34878D82A}">
                    <a16:rowId xmlns:a16="http://schemas.microsoft.com/office/drawing/2014/main" val="10006"/>
                  </a:ext>
                </a:extLst>
              </a:tr>
              <a:tr h="468583">
                <a:tc>
                  <a:txBody>
                    <a:bodyPr/>
                    <a:lstStyle/>
                    <a:p>
                      <a:r>
                        <a:rPr sz="1300" b="0">
                          <a:solidFill>
                            <a:srgbClr val="2B2419"/>
                          </a:solidFill>
                          <a:latin typeface="Inter"/>
                        </a:rPr>
                        <a:t>CLO 7</a:t>
                      </a:r>
                    </a:p>
                  </a:txBody>
                  <a:tcPr marL="73152" marR="73152" marT="36576" marB="36576">
                    <a:solidFill>
                      <a:srgbClr val="F5EFE6"/>
                    </a:solidFill>
                  </a:tcPr>
                </a:tc>
                <a:tc>
                  <a:txBody>
                    <a:bodyPr/>
                    <a:lstStyle/>
                    <a:p>
                      <a:r>
                        <a:rPr sz="1300" b="0">
                          <a:solidFill>
                            <a:srgbClr val="2B2419"/>
                          </a:solidFill>
                          <a:latin typeface="Inter"/>
                        </a:rPr>
                        <a:t>PERFORM overall evaluation</a:t>
                      </a:r>
                    </a:p>
                  </a:txBody>
                  <a:tcPr marL="73152" marR="73152" marT="36576" marB="36576">
                    <a:solidFill>
                      <a:srgbClr val="F5EFE6"/>
                    </a:solidFill>
                  </a:tcPr>
                </a:tc>
                <a:tc>
                  <a:txBody>
                    <a:bodyPr/>
                    <a:lstStyle/>
                    <a:p>
                      <a:r>
                        <a:rPr sz="1300" b="0">
                          <a:solidFill>
                            <a:srgbClr val="2B2419"/>
                          </a:solidFill>
                          <a:latin typeface="Inter"/>
                        </a:rPr>
                        <a:t>§ 7</a:t>
                      </a:r>
                    </a:p>
                  </a:txBody>
                  <a:tcPr marL="73152" marR="73152" marT="36576" marB="36576">
                    <a:solidFill>
                      <a:srgbClr val="F5EFE6"/>
                    </a:solidFill>
                  </a:tcPr>
                </a:tc>
                <a:tc>
                  <a:txBody>
                    <a:bodyPr/>
                    <a:lstStyle/>
                    <a:p>
                      <a:r>
                        <a:rPr sz="1300" b="0" dirty="0">
                          <a:solidFill>
                            <a:srgbClr val="2B2419"/>
                          </a:solidFill>
                          <a:latin typeface="Inter"/>
                        </a:rPr>
                        <a:t>10 EVM metrics; 5 lessons tagged</a:t>
                      </a:r>
                    </a:p>
                  </a:txBody>
                  <a:tcPr marL="73152" marR="73152" marT="36576" marB="36576">
                    <a:solidFill>
                      <a:srgbClr val="F5EFE6"/>
                    </a:solidFill>
                  </a:tcPr>
                </a:tc>
                <a:extLst>
                  <a:ext uri="{0D108BD9-81ED-4DB2-BD59-A6C34878D82A}">
                    <a16:rowId xmlns:a16="http://schemas.microsoft.com/office/drawing/2014/main" val="10007"/>
                  </a:ext>
                </a:extLst>
              </a:tr>
              <a:tr h="468583">
                <a:tc>
                  <a:txBody>
                    <a:bodyPr/>
                    <a:lstStyle/>
                    <a:p>
                      <a:r>
                        <a:rPr sz="1300" b="0">
                          <a:solidFill>
                            <a:srgbClr val="2B2419"/>
                          </a:solidFill>
                          <a:latin typeface="Inter"/>
                        </a:rPr>
                        <a:t>CLO 8</a:t>
                      </a:r>
                    </a:p>
                  </a:txBody>
                  <a:tcPr marL="73152" marR="73152" marT="36576" marB="36576">
                    <a:solidFill>
                      <a:srgbClr val="F5EFE6"/>
                    </a:solidFill>
                  </a:tcPr>
                </a:tc>
                <a:tc>
                  <a:txBody>
                    <a:bodyPr/>
                    <a:lstStyle/>
                    <a:p>
                      <a:r>
                        <a:rPr sz="1300" b="0">
                          <a:solidFill>
                            <a:srgbClr val="2B2419"/>
                          </a:solidFill>
                          <a:latin typeface="Inter"/>
                        </a:rPr>
                        <a:t>IMPLEMENT overall project plans</a:t>
                      </a:r>
                    </a:p>
                  </a:txBody>
                  <a:tcPr marL="73152" marR="73152" marT="36576" marB="36576">
                    <a:solidFill>
                      <a:srgbClr val="F5EFE6"/>
                    </a:solidFill>
                  </a:tcPr>
                </a:tc>
                <a:tc>
                  <a:txBody>
                    <a:bodyPr/>
                    <a:lstStyle/>
                    <a:p>
                      <a:r>
                        <a:rPr sz="1300" b="0">
                          <a:solidFill>
                            <a:srgbClr val="2B2419"/>
                          </a:solidFill>
                          <a:latin typeface="Inter"/>
                        </a:rPr>
                        <a:t>All</a:t>
                      </a:r>
                    </a:p>
                  </a:txBody>
                  <a:tcPr marL="73152" marR="73152" marT="36576" marB="36576">
                    <a:solidFill>
                      <a:srgbClr val="F5EFE6"/>
                    </a:solidFill>
                  </a:tcPr>
                </a:tc>
                <a:tc>
                  <a:txBody>
                    <a:bodyPr/>
                    <a:lstStyle/>
                    <a:p>
                      <a:r>
                        <a:rPr sz="1300" b="0">
                          <a:solidFill>
                            <a:srgbClr val="2B2419"/>
                          </a:solidFill>
                          <a:latin typeface="Inter"/>
                        </a:rPr>
                        <a:t>Report is the project plan; ZIP package</a:t>
                      </a:r>
                    </a:p>
                  </a:txBody>
                  <a:tcPr marL="73152" marR="73152" marT="36576" marB="36576">
                    <a:solidFill>
                      <a:srgbClr val="F5EFE6"/>
                    </a:solidFill>
                  </a:tcPr>
                </a:tc>
                <a:extLst>
                  <a:ext uri="{0D108BD9-81ED-4DB2-BD59-A6C34878D82A}">
                    <a16:rowId xmlns:a16="http://schemas.microsoft.com/office/drawing/2014/main" val="10008"/>
                  </a:ext>
                </a:extLst>
              </a:tr>
              <a:tr h="468583">
                <a:tc>
                  <a:txBody>
                    <a:bodyPr/>
                    <a:lstStyle/>
                    <a:p>
                      <a:r>
                        <a:rPr sz="1300" b="0">
                          <a:solidFill>
                            <a:srgbClr val="2B2419"/>
                          </a:solidFill>
                          <a:latin typeface="Inter"/>
                        </a:rPr>
                        <a:t>CLO 9</a:t>
                      </a:r>
                    </a:p>
                  </a:txBody>
                  <a:tcPr marL="73152" marR="73152" marT="36576" marB="36576">
                    <a:solidFill>
                      <a:srgbClr val="F5EFE6"/>
                    </a:solidFill>
                  </a:tcPr>
                </a:tc>
                <a:tc>
                  <a:txBody>
                    <a:bodyPr/>
                    <a:lstStyle/>
                    <a:p>
                      <a:r>
                        <a:rPr sz="1300" b="0">
                          <a:solidFill>
                            <a:srgbClr val="2B2419"/>
                          </a:solidFill>
                          <a:latin typeface="Inter"/>
                        </a:rPr>
                        <a:t>Autonomy &amp; personal qualities</a:t>
                      </a:r>
                    </a:p>
                  </a:txBody>
                  <a:tcPr marL="73152" marR="73152" marT="36576" marB="36576">
                    <a:solidFill>
                      <a:srgbClr val="F5EFE6"/>
                    </a:solidFill>
                  </a:tcPr>
                </a:tc>
                <a:tc>
                  <a:txBody>
                    <a:bodyPr/>
                    <a:lstStyle/>
                    <a:p>
                      <a:r>
                        <a:rPr sz="1300" b="0">
                          <a:solidFill>
                            <a:srgbClr val="2B2419"/>
                          </a:solidFill>
                          <a:latin typeface="Inter"/>
                        </a:rPr>
                        <a:t>§ 6, § 8</a:t>
                      </a:r>
                    </a:p>
                  </a:txBody>
                  <a:tcPr marL="73152" marR="73152" marT="36576" marB="36576">
                    <a:solidFill>
                      <a:srgbClr val="F5EFE6"/>
                    </a:solidFill>
                  </a:tcPr>
                </a:tc>
                <a:tc>
                  <a:txBody>
                    <a:bodyPr/>
                    <a:lstStyle/>
                    <a:p>
                      <a:r>
                        <a:rPr sz="1300" b="0" dirty="0">
                          <a:solidFill>
                            <a:srgbClr val="2B2419"/>
                          </a:solidFill>
                          <a:latin typeface="Inter"/>
                        </a:rPr>
                        <a:t>4 members with A/R roles; conflict process</a:t>
                      </a:r>
                    </a:p>
                  </a:txBody>
                  <a:tcPr marL="73152" marR="73152" marT="36576" marB="36576">
                    <a:solidFill>
                      <a:srgbClr val="F5EFE6"/>
                    </a:solidFill>
                  </a:tcPr>
                </a:tc>
                <a:extLst>
                  <a:ext uri="{0D108BD9-81ED-4DB2-BD59-A6C34878D82A}">
                    <a16:rowId xmlns:a16="http://schemas.microsoft.com/office/drawing/2014/main" val="10009"/>
                  </a:ext>
                </a:extLst>
              </a:tr>
            </a:tbl>
          </a:graphicData>
        </a:graphic>
      </p:graphicFrame>
      <p:sp>
        <p:nvSpPr>
          <p:cNvPr id="10" name="TextBox 9"/>
          <p:cNvSpPr txBox="1"/>
          <p:nvPr/>
        </p:nvSpPr>
        <p:spPr>
          <a:xfrm>
            <a:off x="640080" y="6249454"/>
            <a:ext cx="11247120" cy="206210"/>
          </a:xfrm>
          <a:prstGeom prst="rect">
            <a:avLst/>
          </a:prstGeom>
          <a:noFill/>
        </p:spPr>
        <p:txBody>
          <a:bodyPr wrap="square" lIns="54864" tIns="18288" rIns="54864" bIns="18288" anchor="t">
            <a:spAutoFit/>
          </a:bodyPr>
          <a:lstStyle/>
          <a:p>
            <a:pPr algn="l">
              <a:lnSpc>
                <a:spcPct val="100000"/>
              </a:lnSpc>
            </a:pPr>
            <a:r>
              <a:rPr sz="1100" b="1" i="0" dirty="0">
                <a:solidFill>
                  <a:srgbClr val="5B6B47"/>
                </a:solidFill>
                <a:latin typeface="Iosevka NFM" panose="02000509030000000004" pitchFamily="49" charset="0"/>
                <a:ea typeface="Iosevka NFM" panose="02000509030000000004" pitchFamily="49" charset="0"/>
                <a:cs typeface="Iosevka NFM" panose="02000509030000000004" pitchFamily="49" charset="0"/>
              </a:rPr>
              <a:t>Coverage check: All 9 CLOs demonstrably addressed through specific report sections and evidence. ✓</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822960" y="1097280"/>
            <a:ext cx="10515600" cy="1083374"/>
          </a:xfrm>
          <a:prstGeom prst="rect">
            <a:avLst/>
          </a:prstGeom>
          <a:noFill/>
        </p:spPr>
        <p:txBody>
          <a:bodyPr wrap="square" lIns="54864" tIns="18288" rIns="54864" bIns="18288" anchor="t">
            <a:spAutoFit/>
          </a:bodyPr>
          <a:lstStyle/>
          <a:p>
            <a:pPr algn="ctr">
              <a:lnSpc>
                <a:spcPct val="100000"/>
              </a:lnSpc>
            </a:pPr>
            <a:r>
              <a:rPr sz="6800" b="1" i="1" dirty="0">
                <a:solidFill>
                  <a:srgbClr val="2B2419"/>
                </a:solidFill>
                <a:latin typeface="Playfair Display"/>
              </a:rPr>
              <a:t>Thank you</a:t>
            </a:r>
          </a:p>
        </p:txBody>
      </p:sp>
      <p:sp>
        <p:nvSpPr>
          <p:cNvPr id="4" name="TextBox 3"/>
          <p:cNvSpPr txBox="1"/>
          <p:nvPr/>
        </p:nvSpPr>
        <p:spPr>
          <a:xfrm>
            <a:off x="822960" y="2468880"/>
            <a:ext cx="10515600" cy="498598"/>
          </a:xfrm>
          <a:prstGeom prst="rect">
            <a:avLst/>
          </a:prstGeom>
          <a:noFill/>
        </p:spPr>
        <p:txBody>
          <a:bodyPr wrap="square" lIns="54864" tIns="18288" rIns="54864" bIns="18288" anchor="t">
            <a:spAutoFit/>
          </a:bodyPr>
          <a:lstStyle/>
          <a:p>
            <a:pPr algn="ctr">
              <a:lnSpc>
                <a:spcPct val="100000"/>
              </a:lnSpc>
            </a:pPr>
            <a:r>
              <a:rPr sz="3000" b="0" i="1" dirty="0">
                <a:solidFill>
                  <a:srgbClr val="5C4F3F"/>
                </a:solidFill>
                <a:latin typeface="Playfair Display"/>
              </a:rPr>
              <a:t>Questions &amp; Discussion</a:t>
            </a:r>
          </a:p>
        </p:txBody>
      </p:sp>
      <p:cxnSp>
        <p:nvCxnSpPr>
          <p:cNvPr id="5" name="Connector 4"/>
          <p:cNvCxnSpPr/>
          <p:nvPr/>
        </p:nvCxnSpPr>
        <p:spPr>
          <a:xfrm>
            <a:off x="822960" y="3182112"/>
            <a:ext cx="1054577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310128"/>
            <a:ext cx="10515600" cy="347472"/>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nter"/>
              </a:rPr>
              <a:t>Group 14 · INS3044 IT Project Management</a:t>
            </a:r>
          </a:p>
        </p:txBody>
      </p:sp>
      <p:sp>
        <p:nvSpPr>
          <p:cNvPr id="7" name="Rectangle 6"/>
          <p:cNvSpPr/>
          <p:nvPr/>
        </p:nvSpPr>
        <p:spPr>
          <a:xfrm>
            <a:off x="822960" y="376732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381304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PM · Leader</a:t>
            </a:r>
          </a:p>
        </p:txBody>
      </p:sp>
      <p:sp>
        <p:nvSpPr>
          <p:cNvPr id="9" name="TextBox 8"/>
          <p:cNvSpPr txBox="1"/>
          <p:nvPr/>
        </p:nvSpPr>
        <p:spPr>
          <a:xfrm>
            <a:off x="914400" y="404164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Nguyễn Long Đức</a:t>
            </a:r>
          </a:p>
        </p:txBody>
      </p:sp>
      <p:sp>
        <p:nvSpPr>
          <p:cNvPr id="10" name="TextBox 9"/>
          <p:cNvSpPr txBox="1"/>
          <p:nvPr/>
        </p:nvSpPr>
        <p:spPr>
          <a:xfrm>
            <a:off x="914400" y="4389120"/>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23070435</a:t>
            </a:r>
          </a:p>
        </p:txBody>
      </p:sp>
      <p:sp>
        <p:nvSpPr>
          <p:cNvPr id="11" name="Rectangle 10"/>
          <p:cNvSpPr/>
          <p:nvPr/>
        </p:nvSpPr>
        <p:spPr>
          <a:xfrm>
            <a:off x="3474720" y="376732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66160" y="381304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Developer</a:t>
            </a:r>
          </a:p>
        </p:txBody>
      </p:sp>
      <p:sp>
        <p:nvSpPr>
          <p:cNvPr id="13" name="TextBox 12"/>
          <p:cNvSpPr txBox="1"/>
          <p:nvPr/>
        </p:nvSpPr>
        <p:spPr>
          <a:xfrm>
            <a:off x="3566160" y="404164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Phạm Hồ Bảo</a:t>
            </a:r>
          </a:p>
        </p:txBody>
      </p:sp>
      <p:sp>
        <p:nvSpPr>
          <p:cNvPr id="14" name="TextBox 13"/>
          <p:cNvSpPr txBox="1"/>
          <p:nvPr/>
        </p:nvSpPr>
        <p:spPr>
          <a:xfrm>
            <a:off x="3566160" y="4389120"/>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23070455</a:t>
            </a:r>
          </a:p>
        </p:txBody>
      </p:sp>
      <p:sp>
        <p:nvSpPr>
          <p:cNvPr id="15" name="Rectangle 14"/>
          <p:cNvSpPr/>
          <p:nvPr/>
        </p:nvSpPr>
        <p:spPr>
          <a:xfrm>
            <a:off x="6126480" y="376732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0" y="381304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UI / UX Designer</a:t>
            </a:r>
          </a:p>
        </p:txBody>
      </p:sp>
      <p:sp>
        <p:nvSpPr>
          <p:cNvPr id="17" name="TextBox 16"/>
          <p:cNvSpPr txBox="1"/>
          <p:nvPr/>
        </p:nvSpPr>
        <p:spPr>
          <a:xfrm>
            <a:off x="6217920" y="404164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Kiều Bá Thịnh</a:t>
            </a:r>
          </a:p>
        </p:txBody>
      </p:sp>
      <p:sp>
        <p:nvSpPr>
          <p:cNvPr id="18" name="TextBox 17"/>
          <p:cNvSpPr txBox="1"/>
          <p:nvPr/>
        </p:nvSpPr>
        <p:spPr>
          <a:xfrm>
            <a:off x="6217920" y="4389120"/>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23070247</a:t>
            </a:r>
          </a:p>
        </p:txBody>
      </p:sp>
      <p:sp>
        <p:nvSpPr>
          <p:cNvPr id="19" name="Rectangle 18"/>
          <p:cNvSpPr/>
          <p:nvPr/>
        </p:nvSpPr>
        <p:spPr>
          <a:xfrm>
            <a:off x="8778240" y="376732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69680" y="381304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Quality Assurance</a:t>
            </a:r>
          </a:p>
        </p:txBody>
      </p:sp>
      <p:sp>
        <p:nvSpPr>
          <p:cNvPr id="21" name="TextBox 20"/>
          <p:cNvSpPr txBox="1"/>
          <p:nvPr/>
        </p:nvSpPr>
        <p:spPr>
          <a:xfrm>
            <a:off x="8869680" y="404164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Đỗ Huy Hiếu</a:t>
            </a:r>
          </a:p>
        </p:txBody>
      </p:sp>
      <p:sp>
        <p:nvSpPr>
          <p:cNvPr id="22" name="TextBox 21"/>
          <p:cNvSpPr txBox="1"/>
          <p:nvPr/>
        </p:nvSpPr>
        <p:spPr>
          <a:xfrm>
            <a:off x="8869680" y="4389120"/>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23070325</a:t>
            </a:r>
          </a:p>
        </p:txBody>
      </p:sp>
      <p:cxnSp>
        <p:nvCxnSpPr>
          <p:cNvPr id="23" name="Connector 22"/>
          <p:cNvCxnSpPr/>
          <p:nvPr/>
        </p:nvCxnSpPr>
        <p:spPr>
          <a:xfrm>
            <a:off x="822960" y="5047488"/>
            <a:ext cx="1054577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5189219"/>
            <a:ext cx="105156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Faculty of Applied Sciences · Vietnam National University · June 2026</a:t>
            </a:r>
          </a:p>
        </p:txBody>
      </p:sp>
      <p:sp>
        <p:nvSpPr>
          <p:cNvPr id="26" name="TextBox 25"/>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30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TotalTime>
  <Words>4460</Words>
  <Application>Microsoft Macintosh PowerPoint</Application>
  <PresentationFormat>Widescreen</PresentationFormat>
  <Paragraphs>1100</Paragraphs>
  <Slides>31</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Inter</vt:lpstr>
      <vt:lpstr>Iosevka NFM</vt:lpstr>
      <vt:lpstr>JetBrains Mono</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Bảo Phạm</cp:lastModifiedBy>
  <cp:revision>2</cp:revision>
  <dcterms:created xsi:type="dcterms:W3CDTF">2013-01-27T09:14:16Z</dcterms:created>
  <dcterms:modified xsi:type="dcterms:W3CDTF">2026-06-16T04:45:35Z</dcterms:modified>
  <cp:category/>
</cp:coreProperties>
</file>