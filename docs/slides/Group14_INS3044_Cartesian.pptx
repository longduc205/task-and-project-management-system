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Group 14 consists of four members: Đức as project manager, Bảo on development, Thịnh handling UI and UX, and Hiếu leading QA. We've spent 14 weeks building a web-based Task and Project Management System from scratch, applying every major discipline of IT project management along the way. The tagline 'an unhurried 14-week build' captures our approach: we prioritised sound process over speed, which is exactly what INS3044 asks us to demonstrate. The talk is structured across eight sections — WBS, PERT, CPM, budgeting, risk, communication, EVM monitoring, and the prototype demo. Questions are welcome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presentation is organised into eight sections, mirroring the structure of a full project management cycle. We'll open with scope and objectives, move through the planning artefacts — WBS, schedule, budget — then the execution controls of risk and communication, finish with EVM monitoring and the live demo. Each section maps to specific CLOs in the INS3044 syllabus.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 sets the foundation. We'll cover the business context, define what's in scope and what's explicitly out of scope, and walk through our five SMART objectives that tie directly to the INS3044 CLOs.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KPIs define the project baseline. Budget at Completion is 33.6 million VND, covering labour, overhead, G&amp;A, contingency, and management reserve. The critical path is 43 working days — we'll see how we derived that in Section III. The risk EMV of 3.08 million VND is fully covered by contingency plus a management reserve top-up. And we have five prototype features to deliver.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shows what's explicitly in scope — agreed by all four team members and traceable to the project registration. The right column documents what we deliberately excluded and why. This scope lock is our first line of defence against scope creep, which is Risk R2 in our risk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our five objectives is Specific, Measurable, Achievable, Relevant, and Time-bound — the SMART framework. OBJ-1 covers the prototype deliverables. OBJ-2 covers our 480-hour budget. OBJ-3 covers quality at UAT. OBJ-4 covers risk management and the EMV-driven contingency. OBJ-5 covers the final submission. Every objective is tagged to one or more CLOs, so we can demonstrate coverage.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covers the Work Breakdown Structure. The WBS is our definitive scope baseline — every deliverable maps to exactly one Level 3 work package. We'll look at the three-level hierarchy and the WBS dictionary.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WBS decomposes the project into manageable chunks. Level 1 is the project itself. Level 2 has seven branches — Project Management, Requirements, Design, Development, QA, Documentation, and Presentation. Level 3 gives us 16 work packages that together account for 100% of the scope — verified against the scope statement. Total estimated effort is 480 person-hours.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is the schedule heart of the project. We'll cover PERT three-point estimation for six activities, the full CPM forward and backward pass, and the critical path identification. The Gantt overview shows all 16 work packages mapped against the project timeline with six key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Gantt chart shows all 16 Level 3 work packages across the 14-week project. The critical path activities are highlighted in burnt sienna — they have zero float and any delay on them directly delays the project end. The non-critical activities are in muted brown. Six diamond milestones mark key delivery points. Activity F (Backend Development) has 8 days of float — it can slip without affecting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 uses three-point estimation to account for uncertainty. For each activity we record an Optimistic (O), Most Likely (M), and Pessimistic (P) duration. The weighted expected time TE = (O + 4M + P) / 6 gives more weight to the most likely estimate. Standard deviation σ = (P − O) / 6 tells us how certain we are. Activity B — UI/UX Design — is the work-through example shown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Path Method gives us the longest sequence of dependent activities and the float available on non-critical ones. Forward pass: ES = max(EF of predecessors), EF = ES + duration. Backward pass: LF = min(LS of successors), LS = LF − duration. Slack = LS − ES. Critical activities have zero slack. Activity F has 8 days of float — it can slip by a week before affecting the project end 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path is the sequence of activities with zero float — any delay on them directly delays the project. It runs A → B → E → G → H, totalling 43 working days or approximately 9 calendar weeks. Activity F — Backend Development — has 8 days of float, giving us a scheduling buffer. The project duration is dominated by the Frontend Development activity at 15 days.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covers how we allocate people, budget, and materials to the project. The RACI matrix defines who does what across all 10 major work packages. The bottom-up budget rolls up from Level 3 hours to a total BAC of 33.6 million VND.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RACI matrix answers: who is Accountable, Responsible, Consulted, and Informed for each work package. Key verification rules from Chapter 12: exactly one Accountable per row, at least one Responsible per row, and no team member is purely Informed. Each of our four members carries a mix of A and R roles — no one is just a passive recipient of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budget is built bottom-up from the WBS. We estimate hours per Level 3 work package, multiply by the blended labor rate of 50,000 VND per hour, then add overhead, G&amp;A, contingency, and management reserve. The labor subtotal of 24 million VND carries a 20% overhead and 10% G&amp;A. The contingency reserve of 2.4 million is the primary risk buffer, topped up by a management reserve of 680,000 drawn from the G&amp;A buffer.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PV curve shows cumulative planned spend across the 8-month project timeline. It's front-loaded — heavy spending in months 4 through 7 during the development phase, lighter in the planning and final submission months. By month 8, the cumulative PV reaches the full BAC of 33.6 million VND. This curve was locked at Week 1 as the cost baseline for EVM tracking.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V documents our risk management process — identification, assessment, EMV calculation, and mitigation planning for six key risks. The total risk EMV of 3.08 million VND drives the contingency reserve. We'll also look at the 3×3 risk heatmap and reconcile EMV against our budgeted contingency.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identified six risks through team brainstorming and analogy with prior student projects. Each is scored on likelihood (0–1), with cost and time impacts. EMV = Likelihood × Impact gives us the expected monetary value. R2 — scope creep — has the highest EMV at 1.5 million VND, driving our formal change control process. The total EMV cost of 3.08 million VND and time EMV of 13.35 days are the key inputs to our contingency planning.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heatmap plots each risk on a 3×3 grid of Likelihood versus Impact. High-likelihood or high-impact risks land in the red zone at top-right — R2, R3, and R5 require active mitigation. Medium risks R1 and R6 are monitored. R4 is low-likelihood and low-impact, so we accept it with preventive measures in place. The heatmap helps prioritise where to focus contingency effort.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contingency reserve of 2.4 million VND alone doesn't fully cover the total risk EMV of 3.08 million — there's a gap of 680,000 VND. We address this by reallocating from the G&amp;A buffer, which was originally budgeted at 2.4 million VND. Reducing G&amp;A to 1.72 million closes the gap while maintaining full EMV coverage. This decision was made at the Week 3 risk review and documented in meeting minutes. The total project budget remains 33.6 million VND — the reserves are reallocated, not added.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VI covers how the team communicates and resolves conflict. We use a structured 6-step conflict resolution process for interpersonal issues, and a formal change control process for scope changes. We'll also look at the stakeholder power/interest grid and our communication channel matrix.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6-step conflict resolution process ensures disagreements are handled constructively. Key principles: focus on the issue not the person, document agreements immediately, and escalate only when necessary. The stakeholder power/interest grid maps five stakeholder groups — instructors and the university are high power/high interest and require active engagement. Peer groups and end users need different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VII is the project control heart — Earned Value Management. At Week 6 we took a mid-project snapshot. The results show the project is over budget (CPI = 0.75) and behind schedule (SPI = 0.45). We'll look at the EVM metrics, the corrective action plan, and the issue log.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Week 6 milestone checkpoint, we're tracking three metrics. Earned Value of 7.5 million VND comes from completed milestones: Charter (500K), Requirements (2.5M), Design Review (4M), and partial prototype (500K). Actual Cost is 10 million VND from 200 logged hours at 50,000 VND per hour. Planned Value at Week 6 should be 50% of BAC = 16.8 million VND. The variance analysis reveals we're both over budget and behind schedule.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issue log tracks problems as they arise. ISS-001 was closed — stakeholder interviews ran 3 hours over. ISS-002 was closed — we downgraded react-router-dom from v7 to v6 as a workaround. ISS-003 is open — the Week 10 integration milestone is at risk. The change control table shows CR-001, which approved replacing Supabase with local state to simplify the prototype for the demo. This had a positive schedule impact and minor cost saving.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VIII closes the loop — we show the live demo plan for three prototype features, then reflect on five key lessons learned tagged to their relevant CLOs. We'll also confirm full CLO coverage across all nine learning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demonstrate three core features in under 3 minutes. Feature 1 is Task CRUD with assignment — showing how to create a task, assign it to a team member, set priority and deadline. Feature 2 is deadline management with overdue highlighting — the system automatically flags past-deadline tasks in red. Feature 3 is the progress dashboard — project-level and task-level metrics aggregated in real time. The demo environment is localhost:5173.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concrete lessons from the project. LL-1: scope creep consumed 4 hours before CR-001 formalised the scope lock — we now require a change request form from day one. LL-2: PERT estimates were too optimistic — Activity B took 14 days vs. 10.5 estimated. Future projects should use a 1.2× multiplier for design-phase estimates. LL-3: react-router v7 broke our build — we now pin versions in package.json. LL-4: EVM was reactive; we'll implement weekly mini-checks going forward. LL-5: parallel dev without a frozen API contract caused 2 days of rework at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 nine INS3044 Course Learning Outcomes is demonstrably covered in this report. CLO 1 through CLO 9 map to specific sections and evidence artefacts. The coverage check confirms full CLO achievement across scope, time, cost, risk, quality, communication, and project delivery.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We're happy to take questions on any aspect of the project — from the PERT calculations to the EVM corrective action plan. All four team members can answer questions in their respective areas: Đức on schedule and risk, Bảo on technical implementation, Thịnh on design and UX, and Hiếu on testing and quality. The full report, prototype, and presentation materials are available in the submission ZIP.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525" y="4114800"/>
            <a:ext cx="11" cy="3086100"/>
          </a:xfrm>
          <a:prstGeom prst="rect">
            <a:avLst/>
          </a:prstGeom>
          <a:noFill/>
        </p:spPr>
        <p:txBody>
          <a:bodyPr wrap="square">
            <a:spAutoFit/>
          </a:bodyPr>
          <a:lstStyle/>
          <a:p>
            <a:pPr algn="l"/>
            <a:r>
              <a:rPr sz="1400" b="0" i="0">
                <a:solidFill>
                  <a:srgbClr val="8A7A66"/>
                </a:solidFill>
                <a:latin typeface="Calibri"/>
              </a:rPr>
              <a:t>INS3044 · IT Project Management</a:t>
            </a:r>
          </a:p>
        </p:txBody>
      </p:sp>
      <p:sp>
        <p:nvSpPr>
          <p:cNvPr id="5" name="TextBox 4"/>
          <p:cNvSpPr txBox="1"/>
          <p:nvPr/>
        </p:nvSpPr>
        <p:spPr>
          <a:xfrm>
            <a:off x="10972525" y="1"/>
            <a:ext cx="11" cy="1"/>
          </a:xfrm>
          <a:prstGeom prst="rect">
            <a:avLst/>
          </a:prstGeom>
          <a:noFill/>
        </p:spPr>
        <p:txBody>
          <a:bodyPr wrap="square">
            <a:spAutoFit/>
          </a:bodyPr>
          <a:lstStyle/>
          <a:p>
            <a:pPr algn="l"/>
            <a:r>
              <a:rPr sz="6200" b="1" i="0">
                <a:solidFill>
                  <a:srgbClr val="2B2419"/>
                </a:solidFill>
                <a:latin typeface="Georgia"/>
              </a:rPr>
              <a:t>Task &amp; Project</a:t>
            </a:r>
          </a:p>
        </p:txBody>
      </p:sp>
      <p:sp>
        <p:nvSpPr>
          <p:cNvPr id="6" name="TextBox 5"/>
          <p:cNvSpPr txBox="1"/>
          <p:nvPr/>
        </p:nvSpPr>
        <p:spPr>
          <a:xfrm>
            <a:off x="10972525" y="2"/>
            <a:ext cx="11" cy="6172200"/>
          </a:xfrm>
          <a:prstGeom prst="rect">
            <a:avLst/>
          </a:prstGeom>
          <a:noFill/>
        </p:spPr>
        <p:txBody>
          <a:bodyPr wrap="square">
            <a:spAutoFit/>
          </a:bodyPr>
          <a:lstStyle/>
          <a:p>
            <a:pPr algn="l"/>
            <a:r>
              <a:rPr sz="6200" b="1" i="0">
                <a:solidFill>
                  <a:srgbClr val="2B2419"/>
                </a:solidFill>
                <a:latin typeface="Georgia"/>
              </a:rPr>
              <a:t>Management System</a:t>
            </a:r>
          </a:p>
        </p:txBody>
      </p:sp>
      <p:sp>
        <p:nvSpPr>
          <p:cNvPr id="7" name="TextBox 6"/>
          <p:cNvSpPr txBox="1"/>
          <p:nvPr/>
        </p:nvSpPr>
        <p:spPr>
          <a:xfrm>
            <a:off x="10972525" y="3"/>
            <a:ext cx="9" cy="3429000"/>
          </a:xfrm>
          <a:prstGeom prst="rect">
            <a:avLst/>
          </a:prstGeom>
          <a:noFill/>
        </p:spPr>
        <p:txBody>
          <a:bodyPr wrap="square">
            <a:spAutoFit/>
          </a:bodyPr>
          <a:lstStyle/>
          <a:p>
            <a:pPr algn="l"/>
            <a:r>
              <a:rPr sz="2200" b="0" i="1">
                <a:solidFill>
                  <a:srgbClr val="5C4F3F"/>
                </a:solidFill>
                <a:latin typeface="Georgia"/>
              </a:rPr>
              <a:t>An unhurried 14-week build</a:t>
            </a:r>
          </a:p>
        </p:txBody>
      </p:sp>
      <p:sp>
        <p:nvSpPr>
          <p:cNvPr id="8" name="Rectangle 7"/>
          <p:cNvSpPr/>
          <p:nvPr/>
        </p:nvSpPr>
        <p:spPr>
          <a:xfrm>
            <a:off x="10972525" y="3"/>
            <a:ext cx="11" cy="2057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3"/>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 y="3"/>
            <a:ext cx="2" cy="2057400"/>
          </a:xfrm>
          <a:prstGeom prst="rect">
            <a:avLst/>
          </a:prstGeom>
          <a:noFill/>
        </p:spPr>
        <p:txBody>
          <a:bodyPr wrap="square">
            <a:spAutoFit/>
          </a:bodyPr>
          <a:lstStyle/>
          <a:p>
            <a:pPr algn="l"/>
            <a:r>
              <a:rPr sz="900" b="0" i="0">
                <a:solidFill>
                  <a:srgbClr val="8A7A66"/>
                </a:solidFill>
                <a:latin typeface="Calibri"/>
              </a:rPr>
              <a:t>PM · Leader</a:t>
            </a:r>
          </a:p>
        </p:txBody>
      </p:sp>
      <p:sp>
        <p:nvSpPr>
          <p:cNvPr id="11" name="TextBox 10"/>
          <p:cNvSpPr txBox="1"/>
          <p:nvPr/>
        </p:nvSpPr>
        <p:spPr>
          <a:xfrm>
            <a:off x="1" y="4"/>
            <a:ext cx="2" cy="2400300"/>
          </a:xfrm>
          <a:prstGeom prst="rect">
            <a:avLst/>
          </a:prstGeom>
          <a:noFill/>
        </p:spPr>
        <p:txBody>
          <a:bodyPr wrap="square">
            <a:spAutoFit/>
          </a:bodyPr>
          <a:lstStyle/>
          <a:p>
            <a:pPr algn="l"/>
            <a:r>
              <a:rPr sz="1400" b="1" i="0">
                <a:solidFill>
                  <a:srgbClr val="2B2419"/>
                </a:solidFill>
                <a:latin typeface="Georgia"/>
              </a:rPr>
              <a:t>Nguyễn Long Đức</a:t>
            </a:r>
          </a:p>
        </p:txBody>
      </p:sp>
      <p:sp>
        <p:nvSpPr>
          <p:cNvPr id="12" name="TextBox 11"/>
          <p:cNvSpPr txBox="1"/>
          <p:nvPr/>
        </p:nvSpPr>
        <p:spPr>
          <a:xfrm>
            <a:off x="1" y="4"/>
            <a:ext cx="2" cy="2057400"/>
          </a:xfrm>
          <a:prstGeom prst="rect">
            <a:avLst/>
          </a:prstGeom>
          <a:noFill/>
        </p:spPr>
        <p:txBody>
          <a:bodyPr wrap="square">
            <a:spAutoFit/>
          </a:bodyPr>
          <a:lstStyle/>
          <a:p>
            <a:pPr algn="l"/>
            <a:r>
              <a:rPr sz="1000" b="0" i="0">
                <a:solidFill>
                  <a:srgbClr val="8A7A66"/>
                </a:solidFill>
                <a:latin typeface="Calibri"/>
              </a:rPr>
              <a:t>23070435</a:t>
            </a:r>
          </a:p>
        </p:txBody>
      </p:sp>
      <p:sp>
        <p:nvSpPr>
          <p:cNvPr id="13" name="Rectangle 12"/>
          <p:cNvSpPr/>
          <p:nvPr/>
        </p:nvSpPr>
        <p:spPr>
          <a:xfrm>
            <a:off x="3" y="3"/>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 y="3"/>
            <a:ext cx="2" cy="2057400"/>
          </a:xfrm>
          <a:prstGeom prst="rect">
            <a:avLst/>
          </a:prstGeom>
          <a:noFill/>
        </p:spPr>
        <p:txBody>
          <a:bodyPr wrap="square">
            <a:spAutoFit/>
          </a:bodyPr>
          <a:lstStyle/>
          <a:p>
            <a:pPr algn="l"/>
            <a:r>
              <a:rPr sz="900" b="0" i="0">
                <a:solidFill>
                  <a:srgbClr val="8A7A66"/>
                </a:solidFill>
                <a:latin typeface="Calibri"/>
              </a:rPr>
              <a:t>Developer</a:t>
            </a:r>
          </a:p>
        </p:txBody>
      </p:sp>
      <p:sp>
        <p:nvSpPr>
          <p:cNvPr id="15" name="TextBox 14"/>
          <p:cNvSpPr txBox="1"/>
          <p:nvPr/>
        </p:nvSpPr>
        <p:spPr>
          <a:xfrm>
            <a:off x="3" y="4"/>
            <a:ext cx="2" cy="2400300"/>
          </a:xfrm>
          <a:prstGeom prst="rect">
            <a:avLst/>
          </a:prstGeom>
          <a:noFill/>
        </p:spPr>
        <p:txBody>
          <a:bodyPr wrap="square">
            <a:spAutoFit/>
          </a:bodyPr>
          <a:lstStyle/>
          <a:p>
            <a:pPr algn="l"/>
            <a:r>
              <a:rPr sz="1400" b="1" i="0">
                <a:solidFill>
                  <a:srgbClr val="2B2419"/>
                </a:solidFill>
                <a:latin typeface="Georgia"/>
              </a:rPr>
              <a:t>Phạm Hồ Bảo</a:t>
            </a:r>
          </a:p>
        </p:txBody>
      </p:sp>
      <p:sp>
        <p:nvSpPr>
          <p:cNvPr id="16" name="TextBox 15"/>
          <p:cNvSpPr txBox="1"/>
          <p:nvPr/>
        </p:nvSpPr>
        <p:spPr>
          <a:xfrm>
            <a:off x="3" y="4"/>
            <a:ext cx="2" cy="2057400"/>
          </a:xfrm>
          <a:prstGeom prst="rect">
            <a:avLst/>
          </a:prstGeom>
          <a:noFill/>
        </p:spPr>
        <p:txBody>
          <a:bodyPr wrap="square">
            <a:spAutoFit/>
          </a:bodyPr>
          <a:lstStyle/>
          <a:p>
            <a:pPr algn="l"/>
            <a:r>
              <a:rPr sz="1000" b="0" i="0">
                <a:solidFill>
                  <a:srgbClr val="8A7A66"/>
                </a:solidFill>
                <a:latin typeface="Calibri"/>
              </a:rPr>
              <a:t>23070455</a:t>
            </a:r>
          </a:p>
        </p:txBody>
      </p:sp>
      <p:sp>
        <p:nvSpPr>
          <p:cNvPr id="17" name="Rectangle 16"/>
          <p:cNvSpPr/>
          <p:nvPr/>
        </p:nvSpPr>
        <p:spPr>
          <a:xfrm>
            <a:off x="6" y="3"/>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 y="3"/>
            <a:ext cx="2" cy="2057400"/>
          </a:xfrm>
          <a:prstGeom prst="rect">
            <a:avLst/>
          </a:prstGeom>
          <a:noFill/>
        </p:spPr>
        <p:txBody>
          <a:bodyPr wrap="square">
            <a:spAutoFit/>
          </a:bodyPr>
          <a:lstStyle/>
          <a:p>
            <a:pPr algn="l"/>
            <a:r>
              <a:rPr sz="900" b="0" i="0">
                <a:solidFill>
                  <a:srgbClr val="8A7A66"/>
                </a:solidFill>
                <a:latin typeface="Calibri"/>
              </a:rPr>
              <a:t>UI / UX Designer</a:t>
            </a:r>
          </a:p>
        </p:txBody>
      </p:sp>
      <p:sp>
        <p:nvSpPr>
          <p:cNvPr id="19" name="TextBox 18"/>
          <p:cNvSpPr txBox="1"/>
          <p:nvPr/>
        </p:nvSpPr>
        <p:spPr>
          <a:xfrm>
            <a:off x="6" y="4"/>
            <a:ext cx="2" cy="2400300"/>
          </a:xfrm>
          <a:prstGeom prst="rect">
            <a:avLst/>
          </a:prstGeom>
          <a:noFill/>
        </p:spPr>
        <p:txBody>
          <a:bodyPr wrap="square">
            <a:spAutoFit/>
          </a:bodyPr>
          <a:lstStyle/>
          <a:p>
            <a:pPr algn="l"/>
            <a:r>
              <a:rPr sz="1400" b="1" i="0">
                <a:solidFill>
                  <a:srgbClr val="2B2419"/>
                </a:solidFill>
                <a:latin typeface="Georgia"/>
              </a:rPr>
              <a:t>Kiều Bá Thịnh</a:t>
            </a:r>
          </a:p>
        </p:txBody>
      </p:sp>
      <p:sp>
        <p:nvSpPr>
          <p:cNvPr id="20" name="TextBox 19"/>
          <p:cNvSpPr txBox="1"/>
          <p:nvPr/>
        </p:nvSpPr>
        <p:spPr>
          <a:xfrm>
            <a:off x="6" y="4"/>
            <a:ext cx="2" cy="2057400"/>
          </a:xfrm>
          <a:prstGeom prst="rect">
            <a:avLst/>
          </a:prstGeom>
          <a:noFill/>
        </p:spPr>
        <p:txBody>
          <a:bodyPr wrap="square">
            <a:spAutoFit/>
          </a:bodyPr>
          <a:lstStyle/>
          <a:p>
            <a:pPr algn="l"/>
            <a:r>
              <a:rPr sz="1000" b="0" i="0">
                <a:solidFill>
                  <a:srgbClr val="8A7A66"/>
                </a:solidFill>
                <a:latin typeface="Calibri"/>
              </a:rPr>
              <a:t>23070247</a:t>
            </a:r>
          </a:p>
        </p:txBody>
      </p:sp>
      <p:sp>
        <p:nvSpPr>
          <p:cNvPr id="21" name="Rectangle 20"/>
          <p:cNvSpPr/>
          <p:nvPr/>
        </p:nvSpPr>
        <p:spPr>
          <a:xfrm>
            <a:off x="9" y="3"/>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 y="3"/>
            <a:ext cx="2" cy="2057400"/>
          </a:xfrm>
          <a:prstGeom prst="rect">
            <a:avLst/>
          </a:prstGeom>
          <a:noFill/>
        </p:spPr>
        <p:txBody>
          <a:bodyPr wrap="square">
            <a:spAutoFit/>
          </a:bodyPr>
          <a:lstStyle/>
          <a:p>
            <a:pPr algn="l"/>
            <a:r>
              <a:rPr sz="900" b="0" i="0">
                <a:solidFill>
                  <a:srgbClr val="8A7A66"/>
                </a:solidFill>
                <a:latin typeface="Calibri"/>
              </a:rPr>
              <a:t>Quality Assurance</a:t>
            </a:r>
          </a:p>
        </p:txBody>
      </p:sp>
      <p:sp>
        <p:nvSpPr>
          <p:cNvPr id="23" name="TextBox 22"/>
          <p:cNvSpPr txBox="1"/>
          <p:nvPr/>
        </p:nvSpPr>
        <p:spPr>
          <a:xfrm>
            <a:off x="9" y="4"/>
            <a:ext cx="2" cy="2400300"/>
          </a:xfrm>
          <a:prstGeom prst="rect">
            <a:avLst/>
          </a:prstGeom>
          <a:noFill/>
        </p:spPr>
        <p:txBody>
          <a:bodyPr wrap="square">
            <a:spAutoFit/>
          </a:bodyPr>
          <a:lstStyle/>
          <a:p>
            <a:pPr algn="l"/>
            <a:r>
              <a:rPr sz="1400" b="1" i="0">
                <a:solidFill>
                  <a:srgbClr val="2B2419"/>
                </a:solidFill>
                <a:latin typeface="Georgia"/>
              </a:rPr>
              <a:t>Đỗ Huy Hiếu</a:t>
            </a:r>
          </a:p>
        </p:txBody>
      </p:sp>
      <p:sp>
        <p:nvSpPr>
          <p:cNvPr id="24" name="TextBox 23"/>
          <p:cNvSpPr txBox="1"/>
          <p:nvPr/>
        </p:nvSpPr>
        <p:spPr>
          <a:xfrm>
            <a:off x="9" y="4"/>
            <a:ext cx="2" cy="2057400"/>
          </a:xfrm>
          <a:prstGeom prst="rect">
            <a:avLst/>
          </a:prstGeom>
          <a:noFill/>
        </p:spPr>
        <p:txBody>
          <a:bodyPr wrap="square">
            <a:spAutoFit/>
          </a:bodyPr>
          <a:lstStyle/>
          <a:p>
            <a:pPr algn="l"/>
            <a:r>
              <a:rPr sz="1000" b="0" i="0">
                <a:solidFill>
                  <a:srgbClr val="8A7A66"/>
                </a:solidFill>
                <a:latin typeface="Calibri"/>
              </a:rPr>
              <a:t>23070325</a:t>
            </a:r>
          </a:p>
        </p:txBody>
      </p:sp>
      <p:sp>
        <p:nvSpPr>
          <p:cNvPr id="25" name="Rectangle 24"/>
          <p:cNvSpPr/>
          <p:nvPr/>
        </p:nvSpPr>
        <p:spPr>
          <a:xfrm>
            <a:off x="10972525" y="6"/>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525" y="6"/>
            <a:ext cx="6" cy="2057400"/>
          </a:xfrm>
          <a:prstGeom prst="rect">
            <a:avLst/>
          </a:prstGeom>
          <a:noFill/>
        </p:spPr>
        <p:txBody>
          <a:bodyPr wrap="square">
            <a:spAutoFit/>
          </a:bodyPr>
          <a:lstStyle/>
          <a:p>
            <a:pPr algn="l"/>
            <a:r>
              <a:rPr sz="1000" b="0" i="0">
                <a:solidFill>
                  <a:srgbClr val="8A7A66"/>
                </a:solidFill>
                <a:latin typeface="Calibri"/>
              </a:rPr>
              <a:t>Instructors: Dr Nguyễn Phương Anh · MS Đỗ Tiến Thành</a:t>
            </a:r>
          </a:p>
        </p:txBody>
      </p:sp>
      <p:sp>
        <p:nvSpPr>
          <p:cNvPr id="27" name="TextBox 26"/>
          <p:cNvSpPr txBox="1"/>
          <p:nvPr/>
        </p:nvSpPr>
        <p:spPr>
          <a:xfrm>
            <a:off x="10972525" y="6"/>
            <a:ext cx="6" cy="2057400"/>
          </a:xfrm>
          <a:prstGeom prst="rect">
            <a:avLst/>
          </a:prstGeom>
          <a:noFill/>
        </p:spPr>
        <p:txBody>
          <a:bodyPr wrap="square">
            <a:spAutoFit/>
          </a:bodyPr>
          <a:lstStyle/>
          <a:p>
            <a:pPr algn="l"/>
            <a:r>
              <a:rPr sz="1000" b="0" i="0">
                <a:solidFill>
                  <a:srgbClr val="8A7A66"/>
                </a:solidFill>
                <a:latin typeface="Calibri"/>
              </a:rPr>
              <a:t>Faculty of Applied Sciences · VNU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OVERVIEW</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Agenda</a:t>
            </a:r>
          </a:p>
        </p:txBody>
      </p:sp>
      <p:sp>
        <p:nvSpPr>
          <p:cNvPr id="6" name="TextBox 5"/>
          <p:cNvSpPr txBox="1"/>
          <p:nvPr/>
        </p:nvSpPr>
        <p:spPr>
          <a:xfrm>
            <a:off x="8534186" y="1"/>
            <a:ext cx="12" cy="2743200"/>
          </a:xfrm>
          <a:prstGeom prst="rect">
            <a:avLst/>
          </a:prstGeom>
          <a:noFill/>
        </p:spPr>
        <p:txBody>
          <a:bodyPr wrap="square">
            <a:spAutoFit/>
          </a:bodyPr>
          <a:lstStyle/>
          <a:p>
            <a:pPr algn="l"/>
            <a:r>
              <a:rPr sz="1400" b="0" i="1">
                <a:solidFill>
                  <a:srgbClr val="5C4F3F"/>
                </a:solidFill>
                <a:latin typeface="Calibri"/>
              </a:rPr>
              <a:t>Eight sections, one project</a:t>
            </a:r>
          </a:p>
        </p:txBody>
      </p:sp>
      <p:sp>
        <p:nvSpPr>
          <p:cNvPr id="7" name="Rectangle 6"/>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9" name="TextBox 8"/>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 / 24</a:t>
            </a:r>
          </a:p>
        </p:txBody>
      </p:sp>
      <p:sp>
        <p:nvSpPr>
          <p:cNvPr id="10" name="Rectangle 9"/>
          <p:cNvSpPr/>
          <p:nvPr/>
        </p:nvSpPr>
        <p:spPr>
          <a:xfrm>
            <a:off x="8534186" y="1"/>
            <a:ext cx="5" cy="6515100"/>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62940" y="1"/>
            <a:ext cx="8534186" cy="5829300"/>
          </a:xfrm>
          <a:prstGeom prst="rect">
            <a:avLst/>
          </a:prstGeom>
          <a:noFill/>
        </p:spPr>
        <p:txBody>
          <a:bodyPr wrap="square">
            <a:spAutoFit/>
          </a:bodyPr>
          <a:lstStyle/>
          <a:p>
            <a:pPr algn="l"/>
            <a:r>
              <a:rPr sz="2800" b="0" i="1">
                <a:solidFill>
                  <a:srgbClr val="8C5A2E"/>
                </a:solidFill>
                <a:latin typeface="Georgia"/>
              </a:rPr>
              <a:t>§ I</a:t>
            </a:r>
          </a:p>
        </p:txBody>
      </p:sp>
      <p:sp>
        <p:nvSpPr>
          <p:cNvPr id="12" name="TextBox 11"/>
          <p:cNvSpPr txBox="1"/>
          <p:nvPr/>
        </p:nvSpPr>
        <p:spPr>
          <a:xfrm>
            <a:off x="1" y="1"/>
            <a:ext cx="4" cy="2743200"/>
          </a:xfrm>
          <a:prstGeom prst="rect">
            <a:avLst/>
          </a:prstGeom>
          <a:noFill/>
        </p:spPr>
        <p:txBody>
          <a:bodyPr wrap="square">
            <a:spAutoFit/>
          </a:bodyPr>
          <a:lstStyle/>
          <a:p>
            <a:pPr algn="l"/>
            <a:r>
              <a:rPr sz="1600" b="1" i="0">
                <a:solidFill>
                  <a:srgbClr val="2B2419"/>
                </a:solidFill>
                <a:latin typeface="Georgia"/>
              </a:rPr>
              <a:t>Scope &amp; Objectives</a:t>
            </a:r>
          </a:p>
        </p:txBody>
      </p:sp>
      <p:sp>
        <p:nvSpPr>
          <p:cNvPr id="13" name="TextBox 12"/>
          <p:cNvSpPr txBox="1"/>
          <p:nvPr/>
        </p:nvSpPr>
        <p:spPr>
          <a:xfrm>
            <a:off x="1" y="2"/>
            <a:ext cx="4" cy="2057400"/>
          </a:xfrm>
          <a:prstGeom prst="rect">
            <a:avLst/>
          </a:prstGeom>
          <a:noFill/>
        </p:spPr>
        <p:txBody>
          <a:bodyPr wrap="square">
            <a:spAutoFit/>
          </a:bodyPr>
          <a:lstStyle/>
          <a:p>
            <a:pPr algn="l"/>
            <a:r>
              <a:rPr sz="1100" b="0" i="0">
                <a:solidFill>
                  <a:srgbClr val="8A7A66"/>
                </a:solidFill>
                <a:latin typeface="Calibri"/>
              </a:rPr>
              <a:t>CLO 1, 2</a:t>
            </a:r>
          </a:p>
        </p:txBody>
      </p:sp>
      <p:sp>
        <p:nvSpPr>
          <p:cNvPr id="14" name="Rectangle 13"/>
          <p:cNvSpPr/>
          <p:nvPr/>
        </p:nvSpPr>
        <p:spPr>
          <a:xfrm>
            <a:off x="6" y="1"/>
            <a:ext cx="5" cy="6515100"/>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 y="1"/>
            <a:ext cx="8534186" cy="5829300"/>
          </a:xfrm>
          <a:prstGeom prst="rect">
            <a:avLst/>
          </a:prstGeom>
          <a:noFill/>
        </p:spPr>
        <p:txBody>
          <a:bodyPr wrap="square">
            <a:spAutoFit/>
          </a:bodyPr>
          <a:lstStyle/>
          <a:p>
            <a:pPr algn="l"/>
            <a:r>
              <a:rPr sz="2800" b="0" i="1">
                <a:solidFill>
                  <a:srgbClr val="8C5A2E"/>
                </a:solidFill>
                <a:latin typeface="Georgia"/>
              </a:rPr>
              <a:t>§ II</a:t>
            </a:r>
          </a:p>
        </p:txBody>
      </p:sp>
      <p:sp>
        <p:nvSpPr>
          <p:cNvPr id="16" name="TextBox 15"/>
          <p:cNvSpPr txBox="1"/>
          <p:nvPr/>
        </p:nvSpPr>
        <p:spPr>
          <a:xfrm>
            <a:off x="7" y="1"/>
            <a:ext cx="4" cy="2743200"/>
          </a:xfrm>
          <a:prstGeom prst="rect">
            <a:avLst/>
          </a:prstGeom>
          <a:noFill/>
        </p:spPr>
        <p:txBody>
          <a:bodyPr wrap="square">
            <a:spAutoFit/>
          </a:bodyPr>
          <a:lstStyle/>
          <a:p>
            <a:pPr algn="l"/>
            <a:r>
              <a:rPr sz="1600" b="1" i="0">
                <a:solidFill>
                  <a:srgbClr val="2B2419"/>
                </a:solidFill>
                <a:latin typeface="Georgia"/>
              </a:rPr>
              <a:t>Work Breakdown Structure</a:t>
            </a:r>
          </a:p>
        </p:txBody>
      </p:sp>
      <p:sp>
        <p:nvSpPr>
          <p:cNvPr id="17" name="TextBox 16"/>
          <p:cNvSpPr txBox="1"/>
          <p:nvPr/>
        </p:nvSpPr>
        <p:spPr>
          <a:xfrm>
            <a:off x="7" y="2"/>
            <a:ext cx="4" cy="2057400"/>
          </a:xfrm>
          <a:prstGeom prst="rect">
            <a:avLst/>
          </a:prstGeom>
          <a:noFill/>
        </p:spPr>
        <p:txBody>
          <a:bodyPr wrap="square">
            <a:spAutoFit/>
          </a:bodyPr>
          <a:lstStyle/>
          <a:p>
            <a:pPr algn="l"/>
            <a:r>
              <a:rPr sz="1100" b="0" i="0">
                <a:solidFill>
                  <a:srgbClr val="8A7A66"/>
                </a:solidFill>
                <a:latin typeface="Calibri"/>
              </a:rPr>
              <a:t>CLO 2, 5</a:t>
            </a:r>
          </a:p>
        </p:txBody>
      </p:sp>
      <p:sp>
        <p:nvSpPr>
          <p:cNvPr id="18" name="Rectangle 17"/>
          <p:cNvSpPr/>
          <p:nvPr/>
        </p:nvSpPr>
        <p:spPr>
          <a:xfrm>
            <a:off x="8534186" y="2"/>
            <a:ext cx="5" cy="6515100"/>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62940" y="2"/>
            <a:ext cx="8534186" cy="5829300"/>
          </a:xfrm>
          <a:prstGeom prst="rect">
            <a:avLst/>
          </a:prstGeom>
          <a:noFill/>
        </p:spPr>
        <p:txBody>
          <a:bodyPr wrap="square">
            <a:spAutoFit/>
          </a:bodyPr>
          <a:lstStyle/>
          <a:p>
            <a:pPr algn="l"/>
            <a:r>
              <a:rPr sz="2800" b="0" i="1">
                <a:solidFill>
                  <a:srgbClr val="8C5A2E"/>
                </a:solidFill>
                <a:latin typeface="Georgia"/>
              </a:rPr>
              <a:t>§ III</a:t>
            </a:r>
          </a:p>
        </p:txBody>
      </p:sp>
      <p:sp>
        <p:nvSpPr>
          <p:cNvPr id="20" name="TextBox 19"/>
          <p:cNvSpPr txBox="1"/>
          <p:nvPr/>
        </p:nvSpPr>
        <p:spPr>
          <a:xfrm>
            <a:off x="1" y="2"/>
            <a:ext cx="4" cy="2743200"/>
          </a:xfrm>
          <a:prstGeom prst="rect">
            <a:avLst/>
          </a:prstGeom>
          <a:noFill/>
        </p:spPr>
        <p:txBody>
          <a:bodyPr wrap="square">
            <a:spAutoFit/>
          </a:bodyPr>
          <a:lstStyle/>
          <a:p>
            <a:pPr algn="l"/>
            <a:r>
              <a:rPr sz="1600" b="1" i="0">
                <a:solidFill>
                  <a:srgbClr val="2B2419"/>
                </a:solidFill>
                <a:latin typeface="Georgia"/>
              </a:rPr>
              <a:t>Timeline &amp; Milestones</a:t>
            </a:r>
          </a:p>
        </p:txBody>
      </p:sp>
      <p:sp>
        <p:nvSpPr>
          <p:cNvPr id="21" name="TextBox 20"/>
          <p:cNvSpPr txBox="1"/>
          <p:nvPr/>
        </p:nvSpPr>
        <p:spPr>
          <a:xfrm>
            <a:off x="1" y="3"/>
            <a:ext cx="4" cy="2057400"/>
          </a:xfrm>
          <a:prstGeom prst="rect">
            <a:avLst/>
          </a:prstGeom>
          <a:noFill/>
        </p:spPr>
        <p:txBody>
          <a:bodyPr wrap="square">
            <a:spAutoFit/>
          </a:bodyPr>
          <a:lstStyle/>
          <a:p>
            <a:pPr algn="l"/>
            <a:r>
              <a:rPr sz="1100" b="0" i="0">
                <a:solidFill>
                  <a:srgbClr val="8A7A66"/>
                </a:solidFill>
                <a:latin typeface="Calibri"/>
              </a:rPr>
              <a:t>CLO 2, 4, 5</a:t>
            </a:r>
          </a:p>
        </p:txBody>
      </p:sp>
      <p:sp>
        <p:nvSpPr>
          <p:cNvPr id="22" name="Rectangle 21"/>
          <p:cNvSpPr/>
          <p:nvPr/>
        </p:nvSpPr>
        <p:spPr>
          <a:xfrm>
            <a:off x="6" y="2"/>
            <a:ext cx="5" cy="6515100"/>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 y="2"/>
            <a:ext cx="8534186" cy="5829300"/>
          </a:xfrm>
          <a:prstGeom prst="rect">
            <a:avLst/>
          </a:prstGeom>
          <a:noFill/>
        </p:spPr>
        <p:txBody>
          <a:bodyPr wrap="square">
            <a:spAutoFit/>
          </a:bodyPr>
          <a:lstStyle/>
          <a:p>
            <a:pPr algn="l"/>
            <a:r>
              <a:rPr sz="2800" b="0" i="1">
                <a:solidFill>
                  <a:srgbClr val="8C5A2E"/>
                </a:solidFill>
                <a:latin typeface="Georgia"/>
              </a:rPr>
              <a:t>§ IV</a:t>
            </a:r>
          </a:p>
        </p:txBody>
      </p:sp>
      <p:sp>
        <p:nvSpPr>
          <p:cNvPr id="24" name="TextBox 23"/>
          <p:cNvSpPr txBox="1"/>
          <p:nvPr/>
        </p:nvSpPr>
        <p:spPr>
          <a:xfrm>
            <a:off x="7" y="2"/>
            <a:ext cx="4" cy="2743200"/>
          </a:xfrm>
          <a:prstGeom prst="rect">
            <a:avLst/>
          </a:prstGeom>
          <a:noFill/>
        </p:spPr>
        <p:txBody>
          <a:bodyPr wrap="square">
            <a:spAutoFit/>
          </a:bodyPr>
          <a:lstStyle/>
          <a:p>
            <a:pPr algn="l"/>
            <a:r>
              <a:rPr sz="1600" b="1" i="0">
                <a:solidFill>
                  <a:srgbClr val="2B2419"/>
                </a:solidFill>
                <a:latin typeface="Georgia"/>
              </a:rPr>
              <a:t>Resource Management</a:t>
            </a:r>
          </a:p>
        </p:txBody>
      </p:sp>
      <p:sp>
        <p:nvSpPr>
          <p:cNvPr id="25" name="TextBox 24"/>
          <p:cNvSpPr txBox="1"/>
          <p:nvPr/>
        </p:nvSpPr>
        <p:spPr>
          <a:xfrm>
            <a:off x="7" y="3"/>
            <a:ext cx="4" cy="2057400"/>
          </a:xfrm>
          <a:prstGeom prst="rect">
            <a:avLst/>
          </a:prstGeom>
          <a:noFill/>
        </p:spPr>
        <p:txBody>
          <a:bodyPr wrap="square">
            <a:spAutoFit/>
          </a:bodyPr>
          <a:lstStyle/>
          <a:p>
            <a:pPr algn="l"/>
            <a:r>
              <a:rPr sz="1100" b="0" i="0">
                <a:solidFill>
                  <a:srgbClr val="8A7A66"/>
                </a:solidFill>
                <a:latin typeface="Calibri"/>
              </a:rPr>
              <a:t>CLO 2, 8, 9</a:t>
            </a:r>
          </a:p>
        </p:txBody>
      </p:sp>
      <p:sp>
        <p:nvSpPr>
          <p:cNvPr id="26" name="Rectangle 25"/>
          <p:cNvSpPr/>
          <p:nvPr/>
        </p:nvSpPr>
        <p:spPr>
          <a:xfrm>
            <a:off x="8534186" y="3"/>
            <a:ext cx="5" cy="6515100"/>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62940" y="3"/>
            <a:ext cx="8534186" cy="5829300"/>
          </a:xfrm>
          <a:prstGeom prst="rect">
            <a:avLst/>
          </a:prstGeom>
          <a:noFill/>
        </p:spPr>
        <p:txBody>
          <a:bodyPr wrap="square">
            <a:spAutoFit/>
          </a:bodyPr>
          <a:lstStyle/>
          <a:p>
            <a:pPr algn="l"/>
            <a:r>
              <a:rPr sz="2800" b="0" i="1">
                <a:solidFill>
                  <a:srgbClr val="8C5A2E"/>
                </a:solidFill>
                <a:latin typeface="Georgia"/>
              </a:rPr>
              <a:t>§ V</a:t>
            </a:r>
          </a:p>
        </p:txBody>
      </p:sp>
      <p:sp>
        <p:nvSpPr>
          <p:cNvPr id="28" name="TextBox 27"/>
          <p:cNvSpPr txBox="1"/>
          <p:nvPr/>
        </p:nvSpPr>
        <p:spPr>
          <a:xfrm>
            <a:off x="1" y="4"/>
            <a:ext cx="4" cy="2743200"/>
          </a:xfrm>
          <a:prstGeom prst="rect">
            <a:avLst/>
          </a:prstGeom>
          <a:noFill/>
        </p:spPr>
        <p:txBody>
          <a:bodyPr wrap="square">
            <a:spAutoFit/>
          </a:bodyPr>
          <a:lstStyle/>
          <a:p>
            <a:pPr algn="l"/>
            <a:r>
              <a:rPr sz="1600" b="1" i="0">
                <a:solidFill>
                  <a:srgbClr val="2B2419"/>
                </a:solidFill>
                <a:latin typeface="Georgia"/>
              </a:rPr>
              <a:t>Risk Management</a:t>
            </a:r>
          </a:p>
        </p:txBody>
      </p:sp>
      <p:sp>
        <p:nvSpPr>
          <p:cNvPr id="29" name="TextBox 28"/>
          <p:cNvSpPr txBox="1"/>
          <p:nvPr/>
        </p:nvSpPr>
        <p:spPr>
          <a:xfrm>
            <a:off x="1" y="4"/>
            <a:ext cx="4" cy="2057400"/>
          </a:xfrm>
          <a:prstGeom prst="rect">
            <a:avLst/>
          </a:prstGeom>
          <a:noFill/>
        </p:spPr>
        <p:txBody>
          <a:bodyPr wrap="square">
            <a:spAutoFit/>
          </a:bodyPr>
          <a:lstStyle/>
          <a:p>
            <a:pPr algn="l"/>
            <a:r>
              <a:rPr sz="1100" b="0" i="0">
                <a:solidFill>
                  <a:srgbClr val="8A7A66"/>
                </a:solidFill>
                <a:latin typeface="Calibri"/>
              </a:rPr>
              <a:t>CLO 3, 6</a:t>
            </a:r>
          </a:p>
        </p:txBody>
      </p:sp>
      <p:sp>
        <p:nvSpPr>
          <p:cNvPr id="30" name="Rectangle 29"/>
          <p:cNvSpPr/>
          <p:nvPr/>
        </p:nvSpPr>
        <p:spPr>
          <a:xfrm>
            <a:off x="6" y="3"/>
            <a:ext cx="5" cy="6515100"/>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 y="3"/>
            <a:ext cx="8534186" cy="5829300"/>
          </a:xfrm>
          <a:prstGeom prst="rect">
            <a:avLst/>
          </a:prstGeom>
          <a:noFill/>
        </p:spPr>
        <p:txBody>
          <a:bodyPr wrap="square">
            <a:spAutoFit/>
          </a:bodyPr>
          <a:lstStyle/>
          <a:p>
            <a:pPr algn="l"/>
            <a:r>
              <a:rPr sz="2800" b="0" i="1">
                <a:solidFill>
                  <a:srgbClr val="8C5A2E"/>
                </a:solidFill>
                <a:latin typeface="Georgia"/>
              </a:rPr>
              <a:t>§ VI</a:t>
            </a:r>
          </a:p>
        </p:txBody>
      </p:sp>
      <p:sp>
        <p:nvSpPr>
          <p:cNvPr id="32" name="TextBox 31"/>
          <p:cNvSpPr txBox="1"/>
          <p:nvPr/>
        </p:nvSpPr>
        <p:spPr>
          <a:xfrm>
            <a:off x="7" y="4"/>
            <a:ext cx="4" cy="2743200"/>
          </a:xfrm>
          <a:prstGeom prst="rect">
            <a:avLst/>
          </a:prstGeom>
          <a:noFill/>
        </p:spPr>
        <p:txBody>
          <a:bodyPr wrap="square">
            <a:spAutoFit/>
          </a:bodyPr>
          <a:lstStyle/>
          <a:p>
            <a:pPr algn="l"/>
            <a:r>
              <a:rPr sz="1600" b="1" i="0">
                <a:solidFill>
                  <a:srgbClr val="2B2419"/>
                </a:solidFill>
                <a:latin typeface="Georgia"/>
              </a:rPr>
              <a:t>Communication</a:t>
            </a:r>
          </a:p>
        </p:txBody>
      </p:sp>
      <p:sp>
        <p:nvSpPr>
          <p:cNvPr id="33" name="TextBox 32"/>
          <p:cNvSpPr txBox="1"/>
          <p:nvPr/>
        </p:nvSpPr>
        <p:spPr>
          <a:xfrm>
            <a:off x="7" y="4"/>
            <a:ext cx="4" cy="2057400"/>
          </a:xfrm>
          <a:prstGeom prst="rect">
            <a:avLst/>
          </a:prstGeom>
          <a:noFill/>
        </p:spPr>
        <p:txBody>
          <a:bodyPr wrap="square">
            <a:spAutoFit/>
          </a:bodyPr>
          <a:lstStyle/>
          <a:p>
            <a:pPr algn="l"/>
            <a:r>
              <a:rPr sz="1100" b="0" i="0">
                <a:solidFill>
                  <a:srgbClr val="8A7A66"/>
                </a:solidFill>
                <a:latin typeface="Calibri"/>
              </a:rPr>
              <a:t>CLO 4, 5, 8, 9, 12</a:t>
            </a:r>
          </a:p>
        </p:txBody>
      </p:sp>
      <p:sp>
        <p:nvSpPr>
          <p:cNvPr id="34" name="Rectangle 33"/>
          <p:cNvSpPr/>
          <p:nvPr/>
        </p:nvSpPr>
        <p:spPr>
          <a:xfrm>
            <a:off x="8534186" y="5"/>
            <a:ext cx="5" cy="6515100"/>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62940" y="5"/>
            <a:ext cx="8534186" cy="5829300"/>
          </a:xfrm>
          <a:prstGeom prst="rect">
            <a:avLst/>
          </a:prstGeom>
          <a:noFill/>
        </p:spPr>
        <p:txBody>
          <a:bodyPr wrap="square">
            <a:spAutoFit/>
          </a:bodyPr>
          <a:lstStyle/>
          <a:p>
            <a:pPr algn="l"/>
            <a:r>
              <a:rPr sz="2800" b="0" i="1">
                <a:solidFill>
                  <a:srgbClr val="8C5A2E"/>
                </a:solidFill>
                <a:latin typeface="Georgia"/>
              </a:rPr>
              <a:t>§ VII</a:t>
            </a:r>
          </a:p>
        </p:txBody>
      </p:sp>
      <p:sp>
        <p:nvSpPr>
          <p:cNvPr id="36" name="TextBox 35"/>
          <p:cNvSpPr txBox="1"/>
          <p:nvPr/>
        </p:nvSpPr>
        <p:spPr>
          <a:xfrm>
            <a:off x="1" y="5"/>
            <a:ext cx="4" cy="2743200"/>
          </a:xfrm>
          <a:prstGeom prst="rect">
            <a:avLst/>
          </a:prstGeom>
          <a:noFill/>
        </p:spPr>
        <p:txBody>
          <a:bodyPr wrap="square">
            <a:spAutoFit/>
          </a:bodyPr>
          <a:lstStyle/>
          <a:p>
            <a:pPr algn="l"/>
            <a:r>
              <a:rPr sz="1600" b="1" i="0">
                <a:solidFill>
                  <a:srgbClr val="2B2419"/>
                </a:solidFill>
                <a:latin typeface="Georgia"/>
              </a:rPr>
              <a:t>Monitoring &amp; EVM</a:t>
            </a:r>
          </a:p>
        </p:txBody>
      </p:sp>
      <p:sp>
        <p:nvSpPr>
          <p:cNvPr id="37" name="TextBox 36"/>
          <p:cNvSpPr txBox="1"/>
          <p:nvPr/>
        </p:nvSpPr>
        <p:spPr>
          <a:xfrm>
            <a:off x="1" y="5"/>
            <a:ext cx="4" cy="2057400"/>
          </a:xfrm>
          <a:prstGeom prst="rect">
            <a:avLst/>
          </a:prstGeom>
          <a:noFill/>
        </p:spPr>
        <p:txBody>
          <a:bodyPr wrap="square">
            <a:spAutoFit/>
          </a:bodyPr>
          <a:lstStyle/>
          <a:p>
            <a:pPr algn="l"/>
            <a:r>
              <a:rPr sz="1100" b="0" i="0">
                <a:solidFill>
                  <a:srgbClr val="8A7A66"/>
                </a:solidFill>
                <a:latin typeface="Calibri"/>
              </a:rPr>
              <a:t>CLO 7</a:t>
            </a:r>
          </a:p>
        </p:txBody>
      </p:sp>
      <p:sp>
        <p:nvSpPr>
          <p:cNvPr id="38" name="Rectangle 37"/>
          <p:cNvSpPr/>
          <p:nvPr/>
        </p:nvSpPr>
        <p:spPr>
          <a:xfrm>
            <a:off x="6" y="5"/>
            <a:ext cx="5" cy="6515100"/>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 y="5"/>
            <a:ext cx="8534186" cy="5829300"/>
          </a:xfrm>
          <a:prstGeom prst="rect">
            <a:avLst/>
          </a:prstGeom>
          <a:noFill/>
        </p:spPr>
        <p:txBody>
          <a:bodyPr wrap="square">
            <a:spAutoFit/>
          </a:bodyPr>
          <a:lstStyle/>
          <a:p>
            <a:pPr algn="l"/>
            <a:r>
              <a:rPr sz="2800" b="0" i="1">
                <a:solidFill>
                  <a:srgbClr val="8C5A2E"/>
                </a:solidFill>
                <a:latin typeface="Georgia"/>
              </a:rPr>
              <a:t>§ VIII</a:t>
            </a:r>
          </a:p>
        </p:txBody>
      </p:sp>
      <p:sp>
        <p:nvSpPr>
          <p:cNvPr id="40" name="TextBox 39"/>
          <p:cNvSpPr txBox="1"/>
          <p:nvPr/>
        </p:nvSpPr>
        <p:spPr>
          <a:xfrm>
            <a:off x="7" y="5"/>
            <a:ext cx="4" cy="2743200"/>
          </a:xfrm>
          <a:prstGeom prst="rect">
            <a:avLst/>
          </a:prstGeom>
          <a:noFill/>
        </p:spPr>
        <p:txBody>
          <a:bodyPr wrap="square">
            <a:spAutoFit/>
          </a:bodyPr>
          <a:lstStyle/>
          <a:p>
            <a:pPr algn="l"/>
            <a:r>
              <a:rPr sz="1600" b="1" i="0">
                <a:solidFill>
                  <a:srgbClr val="2B2419"/>
                </a:solidFill>
                <a:latin typeface="Georgia"/>
              </a:rPr>
              <a:t>Prototype &amp; Lessons</a:t>
            </a:r>
          </a:p>
        </p:txBody>
      </p:sp>
      <p:sp>
        <p:nvSpPr>
          <p:cNvPr id="41" name="TextBox 40"/>
          <p:cNvSpPr txBox="1"/>
          <p:nvPr/>
        </p:nvSpPr>
        <p:spPr>
          <a:xfrm>
            <a:off x="7" y="5"/>
            <a:ext cx="4" cy="2057400"/>
          </a:xfrm>
          <a:prstGeom prst="rect">
            <a:avLst/>
          </a:prstGeom>
          <a:noFill/>
        </p:spPr>
        <p:txBody>
          <a:bodyPr wrap="square">
            <a:spAutoFit/>
          </a:bodyPr>
          <a:lstStyle/>
          <a:p>
            <a:pPr algn="l"/>
            <a:r>
              <a:rPr sz="1100" b="0" i="0">
                <a:solidFill>
                  <a:srgbClr val="8A7A66"/>
                </a:solidFill>
                <a:latin typeface="Calibri"/>
              </a:rPr>
              <a:t>CLO 7, 8,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356" y="1"/>
            <a:ext cx="2" cy="1"/>
          </a:xfrm>
          <a:prstGeom prst="rect">
            <a:avLst/>
          </a:prstGeom>
          <a:noFill/>
        </p:spPr>
        <p:txBody>
          <a:bodyPr wrap="square">
            <a:spAutoFit/>
          </a:bodyPr>
          <a:lstStyle/>
          <a:p>
            <a:pPr algn="l"/>
            <a:r>
              <a:rPr sz="12000" b="0" i="1">
                <a:solidFill>
                  <a:srgbClr val="8C5A2E"/>
                </a:solidFill>
                <a:latin typeface="Georgia"/>
              </a:rPr>
              <a:t>§</a:t>
            </a:r>
          </a:p>
        </p:txBody>
      </p:sp>
      <p:sp>
        <p:nvSpPr>
          <p:cNvPr id="6" name="TextBox 5"/>
          <p:cNvSpPr txBox="1"/>
          <p:nvPr/>
        </p:nvSpPr>
        <p:spPr>
          <a:xfrm>
            <a:off x="2" y="1"/>
            <a:ext cx="2" cy="1"/>
          </a:xfrm>
          <a:prstGeom prst="rect">
            <a:avLst/>
          </a:prstGeom>
          <a:noFill/>
        </p:spPr>
        <p:txBody>
          <a:bodyPr wrap="square">
            <a:spAutoFit/>
          </a:bodyPr>
          <a:lstStyle/>
          <a:p>
            <a:pPr algn="l"/>
            <a:r>
              <a:rPr sz="4800" b="0" i="1">
                <a:solidFill>
                  <a:srgbClr val="E8D5BC"/>
                </a:solidFill>
                <a:latin typeface="Georgia"/>
              </a:rPr>
              <a:t>I</a:t>
            </a:r>
          </a:p>
        </p:txBody>
      </p:sp>
      <p:sp>
        <p:nvSpPr>
          <p:cNvPr id="7" name="TextBox 6"/>
          <p:cNvSpPr txBox="1"/>
          <p:nvPr/>
        </p:nvSpPr>
        <p:spPr>
          <a:xfrm>
            <a:off x="9753356" y="3"/>
            <a:ext cx="11" cy="1"/>
          </a:xfrm>
          <a:prstGeom prst="rect">
            <a:avLst/>
          </a:prstGeom>
          <a:noFill/>
        </p:spPr>
        <p:txBody>
          <a:bodyPr wrap="square">
            <a:spAutoFit/>
          </a:bodyPr>
          <a:lstStyle/>
          <a:p>
            <a:pPr algn="l"/>
            <a:r>
              <a:rPr sz="4400" b="1" i="0">
                <a:solidFill>
                  <a:srgbClr val="2B2419"/>
                </a:solidFill>
                <a:latin typeface="Georgia"/>
              </a:rPr>
              <a:t>Scope &amp; Objectives</a:t>
            </a:r>
          </a:p>
        </p:txBody>
      </p:sp>
      <p:sp>
        <p:nvSpPr>
          <p:cNvPr id="8" name="TextBox 7"/>
          <p:cNvSpPr txBox="1"/>
          <p:nvPr/>
        </p:nvSpPr>
        <p:spPr>
          <a:xfrm>
            <a:off x="9753356" y="4"/>
            <a:ext cx="10" cy="3429000"/>
          </a:xfrm>
          <a:prstGeom prst="rect">
            <a:avLst/>
          </a:prstGeom>
          <a:noFill/>
        </p:spPr>
        <p:txBody>
          <a:bodyPr wrap="square">
            <a:spAutoFit/>
          </a:bodyPr>
          <a:lstStyle/>
          <a:p>
            <a:pPr algn="l"/>
            <a:r>
              <a:rPr sz="1400" b="0" i="1">
                <a:solidFill>
                  <a:srgbClr val="8A7A66"/>
                </a:solidFill>
                <a:latin typeface="Calibri"/>
              </a:rPr>
              <a:t>CLO 1, 2 · Ch. 1, 2, 3</a:t>
            </a:r>
          </a:p>
        </p:txBody>
      </p:sp>
      <p:sp>
        <p:nvSpPr>
          <p:cNvPr id="9" name="Rectangle 8"/>
          <p:cNvSpPr/>
          <p:nvPr/>
        </p:nvSpPr>
        <p:spPr>
          <a:xfrm>
            <a:off x="975335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SCOPE &amp; OBJECTIVES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Project at a Glance</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2 / 24</a:t>
            </a:r>
          </a:p>
        </p:txBody>
      </p:sp>
      <p:sp>
        <p:nvSpPr>
          <p:cNvPr id="9" name="Rectangle 8"/>
          <p:cNvSpPr/>
          <p:nvPr/>
        </p:nvSpPr>
        <p:spPr>
          <a:xfrm>
            <a:off x="8534186" y="1"/>
            <a:ext cx="2" cy="1"/>
          </a:xfrm>
          <a:prstGeom prst="rect">
            <a:avLst/>
          </a:prstGeom>
          <a:solidFill>
            <a:srgbClr val="E8D5BC"/>
          </a:solidFill>
          <a:ln w="9525">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1"/>
            <a:ext cx="2" cy="1"/>
          </a:xfrm>
          <a:prstGeom prst="rect">
            <a:avLst/>
          </a:prstGeom>
          <a:noFill/>
        </p:spPr>
        <p:txBody>
          <a:bodyPr wrap="square">
            <a:spAutoFit/>
          </a:bodyPr>
          <a:lstStyle/>
          <a:p>
            <a:pPr algn="ctr"/>
            <a:r>
              <a:rPr sz="2800" b="1" i="0">
                <a:solidFill>
                  <a:srgbClr val="8C5A2E"/>
                </a:solidFill>
                <a:latin typeface="Georgia"/>
              </a:rPr>
              <a:t>33,600,000 VND</a:t>
            </a:r>
          </a:p>
        </p:txBody>
      </p:sp>
      <p:sp>
        <p:nvSpPr>
          <p:cNvPr id="11" name="TextBox 10"/>
          <p:cNvSpPr txBox="1"/>
          <p:nvPr/>
        </p:nvSpPr>
        <p:spPr>
          <a:xfrm>
            <a:off x="9143771" y="2"/>
            <a:ext cx="2" cy="3086100"/>
          </a:xfrm>
          <a:prstGeom prst="rect">
            <a:avLst/>
          </a:prstGeom>
          <a:noFill/>
        </p:spPr>
        <p:txBody>
          <a:bodyPr wrap="square">
            <a:spAutoFit/>
          </a:bodyPr>
          <a:lstStyle/>
          <a:p>
            <a:pPr algn="ctr"/>
            <a:r>
              <a:rPr sz="1000" b="0" i="0">
                <a:solidFill>
                  <a:srgbClr val="5C4F3F"/>
                </a:solidFill>
                <a:latin typeface="Calibri"/>
              </a:rPr>
              <a:t>Budget at Completion (BAC)</a:t>
            </a:r>
          </a:p>
        </p:txBody>
      </p:sp>
      <p:sp>
        <p:nvSpPr>
          <p:cNvPr id="12" name="Rectangle 11"/>
          <p:cNvSpPr/>
          <p:nvPr/>
        </p:nvSpPr>
        <p:spPr>
          <a:xfrm>
            <a:off x="3" y="1"/>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 y="1"/>
            <a:ext cx="2" cy="1"/>
          </a:xfrm>
          <a:prstGeom prst="rect">
            <a:avLst/>
          </a:prstGeom>
          <a:noFill/>
        </p:spPr>
        <p:txBody>
          <a:bodyPr wrap="square">
            <a:spAutoFit/>
          </a:bodyPr>
          <a:lstStyle/>
          <a:p>
            <a:pPr algn="ctr"/>
            <a:r>
              <a:rPr sz="2800" b="1" i="0">
                <a:solidFill>
                  <a:srgbClr val="2B2419"/>
                </a:solidFill>
                <a:latin typeface="Georgia"/>
              </a:rPr>
              <a:t>43 working days</a:t>
            </a:r>
          </a:p>
        </p:txBody>
      </p:sp>
      <p:sp>
        <p:nvSpPr>
          <p:cNvPr id="14" name="TextBox 13"/>
          <p:cNvSpPr txBox="1"/>
          <p:nvPr/>
        </p:nvSpPr>
        <p:spPr>
          <a:xfrm>
            <a:off x="3" y="2"/>
            <a:ext cx="2" cy="3086100"/>
          </a:xfrm>
          <a:prstGeom prst="rect">
            <a:avLst/>
          </a:prstGeom>
          <a:noFill/>
        </p:spPr>
        <p:txBody>
          <a:bodyPr wrap="square">
            <a:spAutoFit/>
          </a:bodyPr>
          <a:lstStyle/>
          <a:p>
            <a:pPr algn="ctr"/>
            <a:r>
              <a:rPr sz="1000" b="0" i="0">
                <a:solidFill>
                  <a:srgbClr val="5C4F3F"/>
                </a:solidFill>
                <a:latin typeface="Calibri"/>
              </a:rPr>
              <a:t>Critical Path Duration</a:t>
            </a:r>
          </a:p>
        </p:txBody>
      </p:sp>
      <p:sp>
        <p:nvSpPr>
          <p:cNvPr id="15" name="Rectangle 14"/>
          <p:cNvSpPr/>
          <p:nvPr/>
        </p:nvSpPr>
        <p:spPr>
          <a:xfrm>
            <a:off x="6" y="1"/>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 y="1"/>
            <a:ext cx="2" cy="1"/>
          </a:xfrm>
          <a:prstGeom prst="rect">
            <a:avLst/>
          </a:prstGeom>
          <a:noFill/>
        </p:spPr>
        <p:txBody>
          <a:bodyPr wrap="square">
            <a:spAutoFit/>
          </a:bodyPr>
          <a:lstStyle/>
          <a:p>
            <a:pPr algn="ctr"/>
            <a:r>
              <a:rPr sz="2800" b="1" i="0">
                <a:solidFill>
                  <a:srgbClr val="2B2419"/>
                </a:solidFill>
                <a:latin typeface="Georgia"/>
              </a:rPr>
              <a:t>3,080,000 VND</a:t>
            </a:r>
          </a:p>
        </p:txBody>
      </p:sp>
      <p:sp>
        <p:nvSpPr>
          <p:cNvPr id="17" name="TextBox 16"/>
          <p:cNvSpPr txBox="1"/>
          <p:nvPr/>
        </p:nvSpPr>
        <p:spPr>
          <a:xfrm>
            <a:off x="6" y="2"/>
            <a:ext cx="2" cy="3086100"/>
          </a:xfrm>
          <a:prstGeom prst="rect">
            <a:avLst/>
          </a:prstGeom>
          <a:noFill/>
        </p:spPr>
        <p:txBody>
          <a:bodyPr wrap="square">
            <a:spAutoFit/>
          </a:bodyPr>
          <a:lstStyle/>
          <a:p>
            <a:pPr algn="ctr"/>
            <a:r>
              <a:rPr sz="1000" b="0" i="0">
                <a:solidFill>
                  <a:srgbClr val="5C4F3F"/>
                </a:solidFill>
                <a:latin typeface="Calibri"/>
              </a:rPr>
              <a:t>Total Risk EMV (Cost)</a:t>
            </a:r>
          </a:p>
        </p:txBody>
      </p:sp>
      <p:sp>
        <p:nvSpPr>
          <p:cNvPr id="18" name="Rectangle 17"/>
          <p:cNvSpPr/>
          <p:nvPr/>
        </p:nvSpPr>
        <p:spPr>
          <a:xfrm>
            <a:off x="10" y="1"/>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 y="1"/>
            <a:ext cx="2" cy="1"/>
          </a:xfrm>
          <a:prstGeom prst="rect">
            <a:avLst/>
          </a:prstGeom>
          <a:noFill/>
        </p:spPr>
        <p:txBody>
          <a:bodyPr wrap="square">
            <a:spAutoFit/>
          </a:bodyPr>
          <a:lstStyle/>
          <a:p>
            <a:pPr algn="ctr"/>
            <a:r>
              <a:rPr sz="2800" b="1" i="0">
                <a:solidFill>
                  <a:srgbClr val="2B2419"/>
                </a:solidFill>
                <a:latin typeface="Georgia"/>
              </a:rPr>
              <a:t>5 core features</a:t>
            </a:r>
          </a:p>
        </p:txBody>
      </p:sp>
      <p:sp>
        <p:nvSpPr>
          <p:cNvPr id="20" name="TextBox 19"/>
          <p:cNvSpPr txBox="1"/>
          <p:nvPr/>
        </p:nvSpPr>
        <p:spPr>
          <a:xfrm>
            <a:off x="10" y="2"/>
            <a:ext cx="2" cy="3086100"/>
          </a:xfrm>
          <a:prstGeom prst="rect">
            <a:avLst/>
          </a:prstGeom>
          <a:noFill/>
        </p:spPr>
        <p:txBody>
          <a:bodyPr wrap="square">
            <a:spAutoFit/>
          </a:bodyPr>
          <a:lstStyle/>
          <a:p>
            <a:pPr algn="ctr"/>
            <a:r>
              <a:rPr sz="1000" b="0" i="0">
                <a:solidFill>
                  <a:srgbClr val="5C4F3F"/>
                </a:solidFill>
                <a:latin typeface="Calibri"/>
              </a:rPr>
              <a:t>Prototype Feature Areas</a:t>
            </a:r>
          </a:p>
        </p:txBody>
      </p:sp>
      <p:sp>
        <p:nvSpPr>
          <p:cNvPr id="21" name="TextBox 20"/>
          <p:cNvSpPr txBox="1"/>
          <p:nvPr/>
        </p:nvSpPr>
        <p:spPr>
          <a:xfrm>
            <a:off x="8534186" y="3"/>
            <a:ext cx="12" cy="2057400"/>
          </a:xfrm>
          <a:prstGeom prst="rect">
            <a:avLst/>
          </a:prstGeom>
          <a:noFill/>
        </p:spPr>
        <p:txBody>
          <a:bodyPr wrap="square">
            <a:spAutoFit/>
          </a:bodyPr>
          <a:lstStyle/>
          <a:p>
            <a:pPr algn="l"/>
            <a:r>
              <a:rPr sz="1100" b="0" i="1">
                <a:solidFill>
                  <a:srgbClr val="8A7A66"/>
                </a:solidFill>
                <a:latin typeface="Calibri"/>
              </a:rPr>
              <a:t>BAC breakdown: Labour 24M · OH 20% · G&amp;A reallocated · Contingency 2.4M · Mgmt reserve 0.68M</a:t>
            </a:r>
          </a:p>
        </p:txBody>
      </p:sp>
      <p:sp>
        <p:nvSpPr>
          <p:cNvPr id="22" name="TextBox 21"/>
          <p:cNvSpPr txBox="1"/>
          <p:nvPr/>
        </p:nvSpPr>
        <p:spPr>
          <a:xfrm>
            <a:off x="8534186" y="4"/>
            <a:ext cx="12" cy="2057400"/>
          </a:xfrm>
          <a:prstGeom prst="rect">
            <a:avLst/>
          </a:prstGeom>
          <a:noFill/>
        </p:spPr>
        <p:txBody>
          <a:bodyPr wrap="square">
            <a:spAutoFit/>
          </a:bodyPr>
          <a:lstStyle/>
          <a:p>
            <a:pPr algn="l"/>
            <a:r>
              <a:rPr sz="1100" b="0" i="1">
                <a:solidFill>
                  <a:srgbClr val="8A7A66"/>
                </a:solidFill>
                <a:latin typeface="Calibri"/>
              </a:rPr>
              <a:t>Risk EMV coverage: Contingency 2,400,000 + Management reserve 680,000 = 3,080,000 VND ✓</a:t>
            </a:r>
          </a:p>
        </p:txBody>
      </p:sp>
      <p:sp>
        <p:nvSpPr>
          <p:cNvPr id="23" name="Rectangle 22"/>
          <p:cNvSpPr/>
          <p:nvPr/>
        </p:nvSpPr>
        <p:spPr>
          <a:xfrm>
            <a:off x="8534186" y="4"/>
            <a:ext cx="12" cy="20574"/>
          </a:xfrm>
          <a:prstGeom prst="rect">
            <a:avLst/>
          </a:prstGeom>
          <a:no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34186" y="4"/>
            <a:ext cx="12" cy="2743200"/>
          </a:xfrm>
          <a:prstGeom prst="rect">
            <a:avLst/>
          </a:prstGeom>
          <a:noFill/>
        </p:spPr>
        <p:txBody>
          <a:bodyPr wrap="square">
            <a:spAutoFit/>
          </a:bodyPr>
          <a:lstStyle/>
          <a:p>
            <a:pPr algn="l"/>
            <a:r>
              <a:rPr sz="1100" b="0" i="0">
                <a:solidFill>
                  <a:srgbClr val="5C4F3F"/>
                </a:solidFill>
                <a:latin typeface="Calibri"/>
              </a:rPr>
              <a:t>Team: Nguyễn Long Đức (23070435, PM) · Phạm Hồ Bảo (23070455, Dev) · Kiều Bá Thịnh (23070247, UI/UX) · Đỗ Huy Hiếu (23070325, QA)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SCOPE &amp; OBJECTIVES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Scope Boundaries</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3 / 24</a:t>
            </a:r>
          </a:p>
        </p:txBody>
      </p:sp>
      <p:sp>
        <p:nvSpPr>
          <p:cNvPr id="9" name="Rectangle 8"/>
          <p:cNvSpPr/>
          <p:nvPr/>
        </p:nvSpPr>
        <p:spPr>
          <a:xfrm>
            <a:off x="8534186" y="1"/>
            <a:ext cx="5" cy="2743200"/>
          </a:xfrm>
          <a:prstGeom prst="rect">
            <a:avLst/>
          </a:prstGeom>
          <a:solidFill>
            <a:srgbClr val="5B6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34186" y="1"/>
            <a:ext cx="5" cy="2743200"/>
          </a:xfrm>
          <a:prstGeom prst="rect">
            <a:avLst/>
          </a:prstGeom>
          <a:noFill/>
        </p:spPr>
        <p:txBody>
          <a:bodyPr wrap="square">
            <a:spAutoFit/>
          </a:bodyPr>
          <a:lstStyle/>
          <a:p>
            <a:pPr algn="ctr"/>
            <a:r>
              <a:rPr sz="1300" b="1" i="0">
                <a:solidFill>
                  <a:srgbClr val="FFFFFF"/>
                </a:solidFill>
                <a:latin typeface="Calibri"/>
              </a:rPr>
              <a:t>IN SCOPE</a:t>
            </a:r>
          </a:p>
        </p:txBody>
      </p:sp>
      <p:sp>
        <p:nvSpPr>
          <p:cNvPr id="11" name="TextBox 10"/>
          <p:cNvSpPr txBox="1"/>
          <p:nvPr/>
        </p:nvSpPr>
        <p:spPr>
          <a:xfrm>
            <a:off x="8534186" y="2"/>
            <a:ext cx="5" cy="2606040"/>
          </a:xfrm>
          <a:prstGeom prst="rect">
            <a:avLst/>
          </a:prstGeom>
          <a:noFill/>
        </p:spPr>
        <p:txBody>
          <a:bodyPr wrap="square">
            <a:spAutoFit/>
          </a:bodyPr>
          <a:lstStyle/>
          <a:p>
            <a:pPr algn="l"/>
            <a:r>
              <a:rPr sz="1000" b="0" i="0">
                <a:solidFill>
                  <a:srgbClr val="2B2419"/>
                </a:solidFill>
                <a:latin typeface="Calibri"/>
              </a:rPr>
              <a:t>·  Project CRUD (create, read, update, delete)</a:t>
            </a:r>
          </a:p>
        </p:txBody>
      </p:sp>
      <p:sp>
        <p:nvSpPr>
          <p:cNvPr id="12" name="TextBox 11"/>
          <p:cNvSpPr txBox="1"/>
          <p:nvPr/>
        </p:nvSpPr>
        <p:spPr>
          <a:xfrm>
            <a:off x="8534186" y="2"/>
            <a:ext cx="5" cy="2606040"/>
          </a:xfrm>
          <a:prstGeom prst="rect">
            <a:avLst/>
          </a:prstGeom>
          <a:noFill/>
        </p:spPr>
        <p:txBody>
          <a:bodyPr wrap="square">
            <a:spAutoFit/>
          </a:bodyPr>
          <a:lstStyle/>
          <a:p>
            <a:pPr algn="l"/>
            <a:r>
              <a:rPr sz="1000" b="0" i="0">
                <a:solidFill>
                  <a:srgbClr val="2B2419"/>
                </a:solidFill>
                <a:latin typeface="Calibri"/>
              </a:rPr>
              <a:t>·  Task CRUD with user assignment</a:t>
            </a:r>
          </a:p>
        </p:txBody>
      </p:sp>
      <p:sp>
        <p:nvSpPr>
          <p:cNvPr id="13" name="TextBox 12"/>
          <p:cNvSpPr txBox="1"/>
          <p:nvPr/>
        </p:nvSpPr>
        <p:spPr>
          <a:xfrm>
            <a:off x="8534186" y="2"/>
            <a:ext cx="5" cy="2606040"/>
          </a:xfrm>
          <a:prstGeom prst="rect">
            <a:avLst/>
          </a:prstGeom>
          <a:noFill/>
        </p:spPr>
        <p:txBody>
          <a:bodyPr wrap="square">
            <a:spAutoFit/>
          </a:bodyPr>
          <a:lstStyle/>
          <a:p>
            <a:pPr algn="l"/>
            <a:r>
              <a:rPr sz="1000" b="0" i="0">
                <a:solidFill>
                  <a:srgbClr val="2B2419"/>
                </a:solidFill>
                <a:latin typeface="Calibri"/>
              </a:rPr>
              <a:t>·  Status workflow: To Do → In Progress → Done</a:t>
            </a:r>
          </a:p>
        </p:txBody>
      </p:sp>
      <p:sp>
        <p:nvSpPr>
          <p:cNvPr id="14" name="TextBox 13"/>
          <p:cNvSpPr txBox="1"/>
          <p:nvPr/>
        </p:nvSpPr>
        <p:spPr>
          <a:xfrm>
            <a:off x="8534186" y="3"/>
            <a:ext cx="5" cy="2606040"/>
          </a:xfrm>
          <a:prstGeom prst="rect">
            <a:avLst/>
          </a:prstGeom>
          <a:noFill/>
        </p:spPr>
        <p:txBody>
          <a:bodyPr wrap="square">
            <a:spAutoFit/>
          </a:bodyPr>
          <a:lstStyle/>
          <a:p>
            <a:pPr algn="l"/>
            <a:r>
              <a:rPr sz="1000" b="0" i="0">
                <a:solidFill>
                  <a:srgbClr val="2B2419"/>
                </a:solidFill>
                <a:latin typeface="Calibri"/>
              </a:rPr>
              <a:t>·  Task deadline with overdue highlighting</a:t>
            </a:r>
          </a:p>
        </p:txBody>
      </p:sp>
      <p:sp>
        <p:nvSpPr>
          <p:cNvPr id="15" name="TextBox 14"/>
          <p:cNvSpPr txBox="1"/>
          <p:nvPr/>
        </p:nvSpPr>
        <p:spPr>
          <a:xfrm>
            <a:off x="8534186" y="3"/>
            <a:ext cx="5" cy="2606040"/>
          </a:xfrm>
          <a:prstGeom prst="rect">
            <a:avLst/>
          </a:prstGeom>
          <a:noFill/>
        </p:spPr>
        <p:txBody>
          <a:bodyPr wrap="square">
            <a:spAutoFit/>
          </a:bodyPr>
          <a:lstStyle/>
          <a:p>
            <a:pPr algn="l"/>
            <a:r>
              <a:rPr sz="1000" b="0" i="0">
                <a:solidFill>
                  <a:srgbClr val="2B2419"/>
                </a:solidFill>
                <a:latin typeface="Calibri"/>
              </a:rPr>
              <a:t>·  Task progress % (0–100%) per task</a:t>
            </a:r>
          </a:p>
        </p:txBody>
      </p:sp>
      <p:sp>
        <p:nvSpPr>
          <p:cNvPr id="16" name="TextBox 15"/>
          <p:cNvSpPr txBox="1"/>
          <p:nvPr/>
        </p:nvSpPr>
        <p:spPr>
          <a:xfrm>
            <a:off x="8534186" y="4"/>
            <a:ext cx="5" cy="2606040"/>
          </a:xfrm>
          <a:prstGeom prst="rect">
            <a:avLst/>
          </a:prstGeom>
          <a:noFill/>
        </p:spPr>
        <p:txBody>
          <a:bodyPr wrap="square">
            <a:spAutoFit/>
          </a:bodyPr>
          <a:lstStyle/>
          <a:p>
            <a:pPr algn="l"/>
            <a:r>
              <a:rPr sz="1000" b="0" i="0">
                <a:solidFill>
                  <a:srgbClr val="2B2419"/>
                </a:solidFill>
                <a:latin typeface="Calibri"/>
              </a:rPr>
              <a:t>·  Project dashboard (counts &amp; progress)</a:t>
            </a:r>
          </a:p>
        </p:txBody>
      </p:sp>
      <p:sp>
        <p:nvSpPr>
          <p:cNvPr id="17" name="TextBox 16"/>
          <p:cNvSpPr txBox="1"/>
          <p:nvPr/>
        </p:nvSpPr>
        <p:spPr>
          <a:xfrm>
            <a:off x="8534186" y="4"/>
            <a:ext cx="5" cy="2606040"/>
          </a:xfrm>
          <a:prstGeom prst="rect">
            <a:avLst/>
          </a:prstGeom>
          <a:noFill/>
        </p:spPr>
        <p:txBody>
          <a:bodyPr wrap="square">
            <a:spAutoFit/>
          </a:bodyPr>
          <a:lstStyle/>
          <a:p>
            <a:pPr algn="l"/>
            <a:r>
              <a:rPr sz="1000" b="0" i="0">
                <a:solidFill>
                  <a:srgbClr val="2B2419"/>
                </a:solidFill>
                <a:latin typeface="Calibri"/>
              </a:rPr>
              <a:t>·  Role-based UI: Admin / PM / Member</a:t>
            </a:r>
          </a:p>
        </p:txBody>
      </p:sp>
      <p:sp>
        <p:nvSpPr>
          <p:cNvPr id="18" name="TextBox 17"/>
          <p:cNvSpPr txBox="1"/>
          <p:nvPr/>
        </p:nvSpPr>
        <p:spPr>
          <a:xfrm>
            <a:off x="8534186" y="4"/>
            <a:ext cx="5" cy="2606040"/>
          </a:xfrm>
          <a:prstGeom prst="rect">
            <a:avLst/>
          </a:prstGeom>
          <a:noFill/>
        </p:spPr>
        <p:txBody>
          <a:bodyPr wrap="square">
            <a:spAutoFit/>
          </a:bodyPr>
          <a:lstStyle/>
          <a:p>
            <a:pPr algn="l"/>
            <a:r>
              <a:rPr sz="1000" b="0" i="0">
                <a:solidFill>
                  <a:srgbClr val="2B2419"/>
                </a:solidFill>
                <a:latin typeface="Calibri"/>
              </a:rPr>
              <a:t>·  Responsive single-page web application</a:t>
            </a:r>
          </a:p>
        </p:txBody>
      </p:sp>
      <p:sp>
        <p:nvSpPr>
          <p:cNvPr id="19" name="TextBox 18"/>
          <p:cNvSpPr txBox="1"/>
          <p:nvPr/>
        </p:nvSpPr>
        <p:spPr>
          <a:xfrm>
            <a:off x="8534186" y="5"/>
            <a:ext cx="5" cy="2606040"/>
          </a:xfrm>
          <a:prstGeom prst="rect">
            <a:avLst/>
          </a:prstGeom>
          <a:noFill/>
        </p:spPr>
        <p:txBody>
          <a:bodyPr wrap="square">
            <a:spAutoFit/>
          </a:bodyPr>
          <a:lstStyle/>
          <a:p>
            <a:pPr algn="l"/>
            <a:r>
              <a:rPr sz="1000" b="0" i="0">
                <a:solidFill>
                  <a:srgbClr val="2B2419"/>
                </a:solidFill>
                <a:latin typeface="Calibri"/>
              </a:rPr>
              <a:t>·  Functional prototype (≥ 3 features live)</a:t>
            </a:r>
          </a:p>
        </p:txBody>
      </p:sp>
      <p:sp>
        <p:nvSpPr>
          <p:cNvPr id="20" name="TextBox 19"/>
          <p:cNvSpPr txBox="1"/>
          <p:nvPr/>
        </p:nvSpPr>
        <p:spPr>
          <a:xfrm>
            <a:off x="8534186" y="5"/>
            <a:ext cx="5" cy="2606040"/>
          </a:xfrm>
          <a:prstGeom prst="rect">
            <a:avLst/>
          </a:prstGeom>
          <a:noFill/>
        </p:spPr>
        <p:txBody>
          <a:bodyPr wrap="square">
            <a:spAutoFit/>
          </a:bodyPr>
          <a:lstStyle/>
          <a:p>
            <a:pPr algn="l"/>
            <a:r>
              <a:rPr sz="1000" b="0" i="0">
                <a:solidFill>
                  <a:srgbClr val="2B2419"/>
                </a:solidFill>
                <a:latin typeface="Calibri"/>
              </a:rPr>
              <a:t>·  Full PM documentation (WBS, CPM, budget, risk, EVM)</a:t>
            </a:r>
          </a:p>
        </p:txBody>
      </p:sp>
      <p:sp>
        <p:nvSpPr>
          <p:cNvPr id="21" name="Rectangle 20"/>
          <p:cNvSpPr/>
          <p:nvPr/>
        </p:nvSpPr>
        <p:spPr>
          <a:xfrm>
            <a:off x="6" y="1"/>
            <a:ext cx="5" cy="2743200"/>
          </a:xfrm>
          <a:prstGeom prst="rect">
            <a:avLst/>
          </a:prstGeom>
          <a:solidFill>
            <a:srgbClr val="A65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 y="1"/>
            <a:ext cx="5" cy="2743200"/>
          </a:xfrm>
          <a:prstGeom prst="rect">
            <a:avLst/>
          </a:prstGeom>
          <a:noFill/>
        </p:spPr>
        <p:txBody>
          <a:bodyPr wrap="square">
            <a:spAutoFit/>
          </a:bodyPr>
          <a:lstStyle/>
          <a:p>
            <a:pPr algn="ctr"/>
            <a:r>
              <a:rPr sz="1300" b="1" i="0">
                <a:solidFill>
                  <a:srgbClr val="FFFFFF"/>
                </a:solidFill>
                <a:latin typeface="Calibri"/>
              </a:rPr>
              <a:t>OUT OF SCOPE</a:t>
            </a:r>
          </a:p>
        </p:txBody>
      </p:sp>
      <p:sp>
        <p:nvSpPr>
          <p:cNvPr id="23" name="TextBox 22"/>
          <p:cNvSpPr txBox="1"/>
          <p:nvPr/>
        </p:nvSpPr>
        <p:spPr>
          <a:xfrm>
            <a:off x="6" y="2"/>
            <a:ext cx="5" cy="2606040"/>
          </a:xfrm>
          <a:prstGeom prst="rect">
            <a:avLst/>
          </a:prstGeom>
          <a:noFill/>
        </p:spPr>
        <p:txBody>
          <a:bodyPr wrap="square">
            <a:spAutoFit/>
          </a:bodyPr>
          <a:lstStyle/>
          <a:p>
            <a:pPr algn="l"/>
            <a:r>
              <a:rPr sz="1000" b="0" i="0">
                <a:solidFill>
                  <a:srgbClr val="2B2419"/>
                </a:solidFill>
                <a:latin typeface="Calibri"/>
              </a:rPr>
              <a:t>✗  Native iOS / Android application</a:t>
            </a:r>
          </a:p>
        </p:txBody>
      </p:sp>
      <p:sp>
        <p:nvSpPr>
          <p:cNvPr id="24" name="TextBox 23"/>
          <p:cNvSpPr txBox="1"/>
          <p:nvPr/>
        </p:nvSpPr>
        <p:spPr>
          <a:xfrm>
            <a:off x="6" y="2"/>
            <a:ext cx="5" cy="2606040"/>
          </a:xfrm>
          <a:prstGeom prst="rect">
            <a:avLst/>
          </a:prstGeom>
          <a:noFill/>
        </p:spPr>
        <p:txBody>
          <a:bodyPr wrap="square">
            <a:spAutoFit/>
          </a:bodyPr>
          <a:lstStyle/>
          <a:p>
            <a:pPr algn="l"/>
            <a:r>
              <a:rPr sz="1000" b="0" i="0">
                <a:solidFill>
                  <a:srgbClr val="2B2419"/>
                </a:solidFill>
                <a:latin typeface="Calibri"/>
              </a:rPr>
              <a:t>✗  Real-time chat or messaging</a:t>
            </a:r>
          </a:p>
        </p:txBody>
      </p:sp>
      <p:sp>
        <p:nvSpPr>
          <p:cNvPr id="25" name="TextBox 24"/>
          <p:cNvSpPr txBox="1"/>
          <p:nvPr/>
        </p:nvSpPr>
        <p:spPr>
          <a:xfrm>
            <a:off x="6" y="2"/>
            <a:ext cx="5" cy="2606040"/>
          </a:xfrm>
          <a:prstGeom prst="rect">
            <a:avLst/>
          </a:prstGeom>
          <a:noFill/>
        </p:spPr>
        <p:txBody>
          <a:bodyPr wrap="square">
            <a:spAutoFit/>
          </a:bodyPr>
          <a:lstStyle/>
          <a:p>
            <a:pPr algn="l"/>
            <a:r>
              <a:rPr sz="1000" b="0" i="0">
                <a:solidFill>
                  <a:srgbClr val="2B2419"/>
                </a:solidFill>
                <a:latin typeface="Calibri"/>
              </a:rPr>
              <a:t>✗  Billing, invoicing, payment processing</a:t>
            </a:r>
          </a:p>
        </p:txBody>
      </p:sp>
      <p:sp>
        <p:nvSpPr>
          <p:cNvPr id="26" name="TextBox 25"/>
          <p:cNvSpPr txBox="1"/>
          <p:nvPr/>
        </p:nvSpPr>
        <p:spPr>
          <a:xfrm>
            <a:off x="6" y="3"/>
            <a:ext cx="5" cy="2606040"/>
          </a:xfrm>
          <a:prstGeom prst="rect">
            <a:avLst/>
          </a:prstGeom>
          <a:noFill/>
        </p:spPr>
        <p:txBody>
          <a:bodyPr wrap="square">
            <a:spAutoFit/>
          </a:bodyPr>
          <a:lstStyle/>
          <a:p>
            <a:pPr algn="l"/>
            <a:r>
              <a:rPr sz="1000" b="0" i="0">
                <a:solidFill>
                  <a:srgbClr val="2B2419"/>
                </a:solidFill>
                <a:latin typeface="Calibri"/>
              </a:rPr>
              <a:t>✗  Third-party integrations (Slack, GitHub, Outlook)</a:t>
            </a:r>
          </a:p>
        </p:txBody>
      </p:sp>
      <p:sp>
        <p:nvSpPr>
          <p:cNvPr id="27" name="TextBox 26"/>
          <p:cNvSpPr txBox="1"/>
          <p:nvPr/>
        </p:nvSpPr>
        <p:spPr>
          <a:xfrm>
            <a:off x="6" y="3"/>
            <a:ext cx="5" cy="2606040"/>
          </a:xfrm>
          <a:prstGeom prst="rect">
            <a:avLst/>
          </a:prstGeom>
          <a:noFill/>
        </p:spPr>
        <p:txBody>
          <a:bodyPr wrap="square">
            <a:spAutoFit/>
          </a:bodyPr>
          <a:lstStyle/>
          <a:p>
            <a:pPr algn="l"/>
            <a:r>
              <a:rPr sz="1000" b="0" i="0">
                <a:solidFill>
                  <a:srgbClr val="2B2419"/>
                </a:solidFill>
                <a:latin typeface="Calibri"/>
              </a:rPr>
              <a:t>✗  Multi-tenancy (multiple organisations)</a:t>
            </a:r>
          </a:p>
        </p:txBody>
      </p:sp>
      <p:sp>
        <p:nvSpPr>
          <p:cNvPr id="28" name="TextBox 27"/>
          <p:cNvSpPr txBox="1"/>
          <p:nvPr/>
        </p:nvSpPr>
        <p:spPr>
          <a:xfrm>
            <a:off x="6" y="4"/>
            <a:ext cx="5" cy="2606040"/>
          </a:xfrm>
          <a:prstGeom prst="rect">
            <a:avLst/>
          </a:prstGeom>
          <a:noFill/>
        </p:spPr>
        <p:txBody>
          <a:bodyPr wrap="square">
            <a:spAutoFit/>
          </a:bodyPr>
          <a:lstStyle/>
          <a:p>
            <a:pPr algn="l"/>
            <a:r>
              <a:rPr sz="1000" b="0" i="0">
                <a:solidFill>
                  <a:srgbClr val="2B2419"/>
                </a:solidFill>
                <a:latin typeface="Calibri"/>
              </a:rPr>
              <a:t>✗  Post-launch maintenance or support</a:t>
            </a:r>
          </a:p>
        </p:txBody>
      </p:sp>
      <p:sp>
        <p:nvSpPr>
          <p:cNvPr id="29" name="TextBox 28"/>
          <p:cNvSpPr txBox="1"/>
          <p:nvPr/>
        </p:nvSpPr>
        <p:spPr>
          <a:xfrm>
            <a:off x="6" y="4"/>
            <a:ext cx="5" cy="2606040"/>
          </a:xfrm>
          <a:prstGeom prst="rect">
            <a:avLst/>
          </a:prstGeom>
          <a:noFill/>
        </p:spPr>
        <p:txBody>
          <a:bodyPr wrap="square">
            <a:spAutoFit/>
          </a:bodyPr>
          <a:lstStyle/>
          <a:p>
            <a:pPr algn="l"/>
            <a:r>
              <a:rPr sz="1000" b="0" i="0">
                <a:solidFill>
                  <a:srgbClr val="2B2419"/>
                </a:solidFill>
                <a:latin typeface="Calibri"/>
              </a:rPr>
              <a:t>✗  Automated email / push notifications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SCOPE &amp; OBJECTIVES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SMART Objectives</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4 / 24</a:t>
            </a:r>
          </a:p>
        </p:txBody>
      </p:sp>
      <p:graphicFrame>
        <p:nvGraphicFramePr>
          <p:cNvPr id="9" name="Table 8"/>
          <p:cNvGraphicFramePr>
            <a:graphicFrameLocks noGrp="1"/>
          </p:cNvGraphicFramePr>
          <p:nvPr/>
        </p:nvGraphicFramePr>
        <p:xfrm>
          <a:off x="8534186.5" y="10629900.0"/>
          <a:ext cx="149957847" cy="26060400.0"/>
        </p:xfrm>
        <a:graphic>
          <a:graphicData uri="http://schemas.openxmlformats.org/drawingml/2006/table">
            <a:tbl>
              <a:tblPr firstRow="1" bandRow="1">
                <a:tableStyleId>{5C22544A-7EE6-4342-B048-85BDC9FD1C3A}</a:tableStyleId>
              </a:tblPr>
              <a:tblGrid>
                <a:gridCol w="8055586"/>
                <a:gridCol w="130748372"/>
                <a:gridCol w="11153889"/>
              </a:tblGrid>
              <a:tr h="4343400">
                <a:tc>
                  <a:txBody>
                    <a:bodyPr wrap="square"/>
                    <a:lstStyle/>
                    <a:p>
                      <a:pPr algn="l"/>
                      <a:r>
                        <a:rPr sz="1100">
                          <a:solidFill>
                            <a:srgbClr val="FFFFFF"/>
                          </a:solidFill>
                          <a:latin typeface="Calibri"/>
                        </a:rPr>
                        <a:t>#</a:t>
                      </a:r>
                    </a:p>
                  </a:txBody>
                  <a:tcPr>
                    <a:solidFill>
                      <a:srgbClr val="8C5A2E"/>
                    </a:solidFill>
                  </a:tcPr>
                </a:tc>
                <a:tc>
                  <a:txBody>
                    <a:bodyPr wrap="square"/>
                    <a:lstStyle/>
                    <a:p>
                      <a:pPr algn="l"/>
                      <a:r>
                        <a:rPr sz="1100">
                          <a:solidFill>
                            <a:srgbClr val="FFFFFF"/>
                          </a:solidFill>
                          <a:latin typeface="Calibri"/>
                        </a:rPr>
                        <a:t>Objective</a:t>
                      </a:r>
                    </a:p>
                  </a:txBody>
                  <a:tcPr>
                    <a:solidFill>
                      <a:srgbClr val="8C5A2E"/>
                    </a:solidFill>
                  </a:tcPr>
                </a:tc>
                <a:tc>
                  <a:txBody>
                    <a:bodyPr wrap="square"/>
                    <a:lstStyle/>
                    <a:p>
                      <a:pPr algn="l"/>
                      <a:r>
                        <a:rPr sz="1100">
                          <a:solidFill>
                            <a:srgbClr val="FFFFFF"/>
                          </a:solidFill>
                          <a:latin typeface="Calibri"/>
                        </a:rPr>
                        <a:t>CLO</a:t>
                      </a:r>
                    </a:p>
                  </a:txBody>
                  <a:tcPr>
                    <a:solidFill>
                      <a:srgbClr val="8C5A2E"/>
                    </a:solidFill>
                  </a:tcPr>
                </a:tc>
              </a:tr>
              <a:tr h="4343400">
                <a:tc>
                  <a:txBody>
                    <a:bodyPr wrap="square"/>
                    <a:lstStyle/>
                    <a:p>
                      <a:pPr algn="l"/>
                      <a:r>
                        <a:rPr sz="1100">
                          <a:solidFill>
                            <a:srgbClr val="2B2419"/>
                          </a:solidFill>
                          <a:latin typeface="Calibri"/>
                        </a:rPr>
                        <a:t>OBJ-1</a:t>
                      </a:r>
                    </a:p>
                  </a:txBody>
                  <a:tcPr>
                    <a:solidFill>
                      <a:srgbClr val="F5EFE6"/>
                    </a:solidFill>
                  </a:tcPr>
                </a:tc>
                <a:tc>
                  <a:txBody>
                    <a:bodyPr wrap="square"/>
                    <a:lstStyle/>
                    <a:p>
                      <a:pPr algn="l"/>
                      <a:r>
                        <a:rPr sz="1100">
                          <a:solidFill>
                            <a:srgbClr val="2B2419"/>
                          </a:solidFill>
                          <a:latin typeface="Calibri"/>
                        </a:rPr>
                        <a:t>Deliver working prototype: task CRUD, assignment, deadline tracking,
progress monitoring for 3 roles — demo at W10, submit at W14</a:t>
                      </a:r>
                    </a:p>
                  </a:txBody>
                  <a:tcPr>
                    <a:solidFill>
                      <a:srgbClr val="F5EFE6"/>
                    </a:solidFill>
                  </a:tcPr>
                </a:tc>
                <a:tc>
                  <a:txBody>
                    <a:bodyPr wrap="square"/>
                    <a:lstStyle/>
                    <a:p>
                      <a:pPr algn="l"/>
                      <a:r>
                        <a:rPr sz="1100">
                          <a:solidFill>
                            <a:srgbClr val="2B2419"/>
                          </a:solidFill>
                          <a:latin typeface="Calibri"/>
                        </a:rPr>
                        <a:t>CLO 1, 2</a:t>
                      </a:r>
                    </a:p>
                  </a:txBody>
                  <a:tcPr>
                    <a:solidFill>
                      <a:srgbClr val="F5EFE6"/>
                    </a:solidFill>
                  </a:tcPr>
                </a:tc>
              </a:tr>
              <a:tr h="4343400">
                <a:tc>
                  <a:txBody>
                    <a:bodyPr wrap="square"/>
                    <a:lstStyle/>
                    <a:p>
                      <a:pPr algn="l"/>
                      <a:r>
                        <a:rPr sz="1100">
                          <a:solidFill>
                            <a:srgbClr val="2B2419"/>
                          </a:solidFill>
                          <a:latin typeface="Calibri"/>
                        </a:rPr>
                        <a:t>OBJ-2</a:t>
                      </a:r>
                    </a:p>
                  </a:txBody>
                  <a:tcPr>
                    <a:solidFill>
                      <a:srgbClr val="F5EFE6"/>
                    </a:solidFill>
                  </a:tcPr>
                </a:tc>
                <a:tc>
                  <a:txBody>
                    <a:bodyPr wrap="square"/>
                    <a:lstStyle/>
                    <a:p>
                      <a:pPr algn="l"/>
                      <a:r>
                        <a:rPr sz="1100">
                          <a:solidFill>
                            <a:srgbClr val="2B2419"/>
                          </a:solidFill>
                          <a:latin typeface="Calibri"/>
                        </a:rPr>
                        <a:t>Complete all 16 WBS Level 3 packages within 480 person-hours (±10%)
by Week 14; tracked weekly in Trello</a:t>
                      </a:r>
                    </a:p>
                  </a:txBody>
                  <a:tcPr>
                    <a:solidFill>
                      <a:srgbClr val="F5EFE6"/>
                    </a:solidFill>
                  </a:tcPr>
                </a:tc>
                <a:tc>
                  <a:txBody>
                    <a:bodyPr wrap="square"/>
                    <a:lstStyle/>
                    <a:p>
                      <a:pPr algn="l"/>
                      <a:r>
                        <a:rPr sz="1100">
                          <a:solidFill>
                            <a:srgbClr val="2B2419"/>
                          </a:solidFill>
                          <a:latin typeface="Calibri"/>
                        </a:rPr>
                        <a:t>CLO 2, 4</a:t>
                      </a:r>
                    </a:p>
                  </a:txBody>
                  <a:tcPr>
                    <a:solidFill>
                      <a:srgbClr val="F5EFE6"/>
                    </a:solidFill>
                  </a:tcPr>
                </a:tc>
              </a:tr>
              <a:tr h="4343400">
                <a:tc>
                  <a:txBody>
                    <a:bodyPr wrap="square"/>
                    <a:lstStyle/>
                    <a:p>
                      <a:pPr algn="l"/>
                      <a:r>
                        <a:rPr sz="1100">
                          <a:solidFill>
                            <a:srgbClr val="2B2419"/>
                          </a:solidFill>
                          <a:latin typeface="Calibri"/>
                        </a:rPr>
                        <a:t>OBJ-3</a:t>
                      </a:r>
                    </a:p>
                  </a:txBody>
                  <a:tcPr>
                    <a:solidFill>
                      <a:srgbClr val="F5EFE6"/>
                    </a:solidFill>
                  </a:tcPr>
                </a:tc>
                <a:tc>
                  <a:txBody>
                    <a:bodyPr wrap="square"/>
                    <a:lstStyle/>
                    <a:p>
                      <a:pPr algn="l"/>
                      <a:r>
                        <a:rPr sz="1100">
                          <a:solidFill>
                            <a:srgbClr val="2B2419"/>
                          </a:solidFill>
                          <a:latin typeface="Calibri"/>
                        </a:rPr>
                        <a:t>Pass UAT with ≥ 80% test coverage and ≤ 10 defects/KLOC;
UAT sign-off at Week 12</a:t>
                      </a:r>
                    </a:p>
                  </a:txBody>
                  <a:tcPr>
                    <a:solidFill>
                      <a:srgbClr val="F5EFE6"/>
                    </a:solidFill>
                  </a:tcPr>
                </a:tc>
                <a:tc>
                  <a:txBody>
                    <a:bodyPr wrap="square"/>
                    <a:lstStyle/>
                    <a:p>
                      <a:pPr algn="l"/>
                      <a:r>
                        <a:rPr sz="1100">
                          <a:solidFill>
                            <a:srgbClr val="2B2419"/>
                          </a:solidFill>
                          <a:latin typeface="Calibri"/>
                        </a:rPr>
                        <a:t>CLO 3, 6</a:t>
                      </a:r>
                    </a:p>
                  </a:txBody>
                  <a:tcPr>
                    <a:solidFill>
                      <a:srgbClr val="F5EFE6"/>
                    </a:solidFill>
                  </a:tcPr>
                </a:tc>
              </a:tr>
              <a:tr h="4343400">
                <a:tc>
                  <a:txBody>
                    <a:bodyPr wrap="square"/>
                    <a:lstStyle/>
                    <a:p>
                      <a:pPr algn="l"/>
                      <a:r>
                        <a:rPr sz="1100">
                          <a:solidFill>
                            <a:srgbClr val="2B2419"/>
                          </a:solidFill>
                          <a:latin typeface="Calibri"/>
                        </a:rPr>
                        <a:t>OBJ-4</a:t>
                      </a:r>
                    </a:p>
                  </a:txBody>
                  <a:tcPr>
                    <a:solidFill>
                      <a:srgbClr val="F5EFE6"/>
                    </a:solidFill>
                  </a:tcPr>
                </a:tc>
                <a:tc>
                  <a:txBody>
                    <a:bodyPr wrap="square"/>
                    <a:lstStyle/>
                    <a:p>
                      <a:pPr algn="l"/>
                      <a:r>
                        <a:rPr sz="1100">
                          <a:solidFill>
                            <a:srgbClr val="2B2419"/>
                          </a:solidFill>
                          <a:latin typeface="Calibri"/>
                        </a:rPr>
                        <a:t>Identify ≥ 6 risks; maintain contingency reserve ≥ Total Risk EMV;
risk register updated bi-weekly</a:t>
                      </a:r>
                    </a:p>
                  </a:txBody>
                  <a:tcPr>
                    <a:solidFill>
                      <a:srgbClr val="F5EFE6"/>
                    </a:solidFill>
                  </a:tcPr>
                </a:tc>
                <a:tc>
                  <a:txBody>
                    <a:bodyPr wrap="square"/>
                    <a:lstStyle/>
                    <a:p>
                      <a:pPr algn="l"/>
                      <a:r>
                        <a:rPr sz="1100">
                          <a:solidFill>
                            <a:srgbClr val="2B2419"/>
                          </a:solidFill>
                          <a:latin typeface="Calibri"/>
                        </a:rPr>
                        <a:t>CLO 3, 6</a:t>
                      </a:r>
                    </a:p>
                  </a:txBody>
                  <a:tcPr>
                    <a:solidFill>
                      <a:srgbClr val="F5EFE6"/>
                    </a:solidFill>
                  </a:tcPr>
                </a:tc>
              </a:tr>
              <a:tr h="4343400">
                <a:tc>
                  <a:txBody>
                    <a:bodyPr wrap="square"/>
                    <a:lstStyle/>
                    <a:p>
                      <a:pPr algn="l"/>
                      <a:r>
                        <a:rPr sz="1100">
                          <a:solidFill>
                            <a:srgbClr val="2B2419"/>
                          </a:solidFill>
                          <a:latin typeface="Calibri"/>
                        </a:rPr>
                        <a:t>OBJ-5</a:t>
                      </a:r>
                    </a:p>
                  </a:txBody>
                  <a:tcPr>
                    <a:solidFill>
                      <a:srgbClr val="F5EFE6"/>
                    </a:solidFill>
                  </a:tcPr>
                </a:tc>
                <a:tc>
                  <a:txBody>
                    <a:bodyPr wrap="square"/>
                    <a:lstStyle/>
                    <a:p>
                      <a:pPr algn="l"/>
                      <a:r>
                        <a:rPr sz="1100">
                          <a:solidFill>
                            <a:srgbClr val="2B2419"/>
                          </a:solidFill>
                          <a:latin typeface="Calibri"/>
                        </a:rPr>
                        <a:t>Submit full ZIP package (report, prototype, PPTX+PDF, evidence)
before Week 14 deadline</a:t>
                      </a:r>
                    </a:p>
                  </a:txBody>
                  <a:tcPr>
                    <a:solidFill>
                      <a:srgbClr val="F5EFE6"/>
                    </a:solidFill>
                  </a:tcPr>
                </a:tc>
                <a:tc>
                  <a:txBody>
                    <a:bodyPr wrap="square"/>
                    <a:lstStyle/>
                    <a:p>
                      <a:pPr algn="l"/>
                      <a:r>
                        <a:rPr sz="1100">
                          <a:solidFill>
                            <a:srgbClr val="2B2419"/>
                          </a:solidFill>
                          <a:latin typeface="Calibri"/>
                        </a:rPr>
                        <a:t>CLO 7, 8, 9</a:t>
                      </a:r>
                    </a:p>
                  </a:txBody>
                  <a:tcPr>
                    <a:solidFill>
                      <a:srgbClr val="F5EFE6"/>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356" y="1"/>
            <a:ext cx="2" cy="1"/>
          </a:xfrm>
          <a:prstGeom prst="rect">
            <a:avLst/>
          </a:prstGeom>
          <a:noFill/>
        </p:spPr>
        <p:txBody>
          <a:bodyPr wrap="square">
            <a:spAutoFit/>
          </a:bodyPr>
          <a:lstStyle/>
          <a:p>
            <a:pPr algn="l"/>
            <a:r>
              <a:rPr sz="12000" b="0" i="1">
                <a:solidFill>
                  <a:srgbClr val="8C5A2E"/>
                </a:solidFill>
                <a:latin typeface="Georgia"/>
              </a:rPr>
              <a:t>§</a:t>
            </a:r>
          </a:p>
        </p:txBody>
      </p:sp>
      <p:sp>
        <p:nvSpPr>
          <p:cNvPr id="6" name="TextBox 5"/>
          <p:cNvSpPr txBox="1"/>
          <p:nvPr/>
        </p:nvSpPr>
        <p:spPr>
          <a:xfrm>
            <a:off x="2" y="1"/>
            <a:ext cx="2" cy="1"/>
          </a:xfrm>
          <a:prstGeom prst="rect">
            <a:avLst/>
          </a:prstGeom>
          <a:noFill/>
        </p:spPr>
        <p:txBody>
          <a:bodyPr wrap="square">
            <a:spAutoFit/>
          </a:bodyPr>
          <a:lstStyle/>
          <a:p>
            <a:pPr algn="l"/>
            <a:r>
              <a:rPr sz="4800" b="0" i="1">
                <a:solidFill>
                  <a:srgbClr val="E8D5BC"/>
                </a:solidFill>
                <a:latin typeface="Georgia"/>
              </a:rPr>
              <a:t>II</a:t>
            </a:r>
          </a:p>
        </p:txBody>
      </p:sp>
      <p:sp>
        <p:nvSpPr>
          <p:cNvPr id="7" name="TextBox 6"/>
          <p:cNvSpPr txBox="1"/>
          <p:nvPr/>
        </p:nvSpPr>
        <p:spPr>
          <a:xfrm>
            <a:off x="9753356" y="3"/>
            <a:ext cx="11" cy="1"/>
          </a:xfrm>
          <a:prstGeom prst="rect">
            <a:avLst/>
          </a:prstGeom>
          <a:noFill/>
        </p:spPr>
        <p:txBody>
          <a:bodyPr wrap="square">
            <a:spAutoFit/>
          </a:bodyPr>
          <a:lstStyle/>
          <a:p>
            <a:pPr algn="l"/>
            <a:r>
              <a:rPr sz="4400" b="1" i="0">
                <a:solidFill>
                  <a:srgbClr val="2B2419"/>
                </a:solidFill>
                <a:latin typeface="Georgia"/>
              </a:rPr>
              <a:t>Work Breakdown Structure</a:t>
            </a:r>
          </a:p>
        </p:txBody>
      </p:sp>
      <p:sp>
        <p:nvSpPr>
          <p:cNvPr id="8" name="TextBox 7"/>
          <p:cNvSpPr txBox="1"/>
          <p:nvPr/>
        </p:nvSpPr>
        <p:spPr>
          <a:xfrm>
            <a:off x="9753356" y="4"/>
            <a:ext cx="10" cy="3429000"/>
          </a:xfrm>
          <a:prstGeom prst="rect">
            <a:avLst/>
          </a:prstGeom>
          <a:noFill/>
        </p:spPr>
        <p:txBody>
          <a:bodyPr wrap="square">
            <a:spAutoFit/>
          </a:bodyPr>
          <a:lstStyle/>
          <a:p>
            <a:pPr algn="l"/>
            <a:r>
              <a:rPr sz="1400" b="0" i="1">
                <a:solidFill>
                  <a:srgbClr val="8A7A66"/>
                </a:solidFill>
                <a:latin typeface="Calibri"/>
              </a:rPr>
              <a:t>CLO 2, 5 · Ch. 4, 5</a:t>
            </a:r>
          </a:p>
        </p:txBody>
      </p:sp>
      <p:sp>
        <p:nvSpPr>
          <p:cNvPr id="9" name="Rectangle 8"/>
          <p:cNvSpPr/>
          <p:nvPr/>
        </p:nvSpPr>
        <p:spPr>
          <a:xfrm>
            <a:off x="975335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WORK BREAKDOWN STRUCTURE</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WBS — Three-Level Hierarchy</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5 / 24</a:t>
            </a:r>
          </a:p>
        </p:txBody>
      </p:sp>
      <p:sp>
        <p:nvSpPr>
          <p:cNvPr id="9" name="Rectangle 8"/>
          <p:cNvSpPr/>
          <p:nvPr/>
        </p:nvSpPr>
        <p:spPr>
          <a:xfrm>
            <a:off x="8534186" y="1"/>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3771" y="1"/>
            <a:ext cx="6705432" cy="1371600"/>
          </a:xfrm>
          <a:prstGeom prst="rect">
            <a:avLst/>
          </a:prstGeom>
          <a:noFill/>
        </p:spPr>
        <p:txBody>
          <a:bodyPr wrap="square">
            <a:spAutoFit/>
          </a:bodyPr>
          <a:lstStyle/>
          <a:p>
            <a:pPr algn="l"/>
            <a:r>
              <a:rPr sz="1100" b="1" i="0">
                <a:solidFill>
                  <a:srgbClr val="8C5A2E"/>
                </a:solidFill>
                <a:latin typeface="Calibri"/>
              </a:rPr>
              <a:t>1.0</a:t>
            </a:r>
          </a:p>
        </p:txBody>
      </p:sp>
      <p:sp>
        <p:nvSpPr>
          <p:cNvPr id="11" name="TextBox 10"/>
          <p:cNvSpPr txBox="1"/>
          <p:nvPr/>
        </p:nvSpPr>
        <p:spPr>
          <a:xfrm>
            <a:off x="1" y="1"/>
            <a:ext cx="3" cy="1371600"/>
          </a:xfrm>
          <a:prstGeom prst="rect">
            <a:avLst/>
          </a:prstGeom>
          <a:noFill/>
        </p:spPr>
        <p:txBody>
          <a:bodyPr wrap="square">
            <a:spAutoFit/>
          </a:bodyPr>
          <a:lstStyle/>
          <a:p>
            <a:pPr algn="l"/>
            <a:r>
              <a:rPr sz="1200" b="1" i="0">
                <a:solidFill>
                  <a:srgbClr val="2B2419"/>
                </a:solidFill>
                <a:latin typeface="Calibri"/>
              </a:rPr>
              <a:t>Task &amp; Project Management System</a:t>
            </a:r>
          </a:p>
        </p:txBody>
      </p:sp>
      <p:sp>
        <p:nvSpPr>
          <p:cNvPr id="12" name="Rectangle 11"/>
          <p:cNvSpPr/>
          <p:nvPr/>
        </p:nvSpPr>
        <p:spPr>
          <a:xfrm>
            <a:off x="10972525" y="1"/>
            <a:ext cx="4" cy="13716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582110" y="1"/>
            <a:ext cx="6705432" cy="1371600"/>
          </a:xfrm>
          <a:prstGeom prst="rect">
            <a:avLst/>
          </a:prstGeom>
          <a:noFill/>
        </p:spPr>
        <p:txBody>
          <a:bodyPr wrap="square">
            <a:spAutoFit/>
          </a:bodyPr>
          <a:lstStyle/>
          <a:p>
            <a:pPr algn="l"/>
            <a:r>
              <a:rPr sz="1000" b="1" i="0">
                <a:solidFill>
                  <a:srgbClr val="8C5A2E"/>
                </a:solidFill>
                <a:latin typeface="Calibri"/>
              </a:rPr>
              <a:t>1.1</a:t>
            </a:r>
          </a:p>
        </p:txBody>
      </p:sp>
      <p:sp>
        <p:nvSpPr>
          <p:cNvPr id="14" name="TextBox 13"/>
          <p:cNvSpPr txBox="1"/>
          <p:nvPr/>
        </p:nvSpPr>
        <p:spPr>
          <a:xfrm>
            <a:off x="1" y="1"/>
            <a:ext cx="3" cy="1371600"/>
          </a:xfrm>
          <a:prstGeom prst="rect">
            <a:avLst/>
          </a:prstGeom>
          <a:noFill/>
        </p:spPr>
        <p:txBody>
          <a:bodyPr wrap="square">
            <a:spAutoFit/>
          </a:bodyPr>
          <a:lstStyle/>
          <a:p>
            <a:pPr algn="l"/>
            <a:r>
              <a:rPr sz="1100" b="1" i="0">
                <a:solidFill>
                  <a:srgbClr val="2B2419"/>
                </a:solidFill>
                <a:latin typeface="Calibri"/>
              </a:rPr>
              <a:t>Project Management</a:t>
            </a:r>
          </a:p>
        </p:txBody>
      </p:sp>
      <p:sp>
        <p:nvSpPr>
          <p:cNvPr id="15" name="Rectangle 14"/>
          <p:cNvSpPr/>
          <p:nvPr/>
        </p:nvSpPr>
        <p:spPr>
          <a:xfrm>
            <a:off x="1" y="1"/>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 y="1"/>
            <a:ext cx="6705432" cy="1371600"/>
          </a:xfrm>
          <a:prstGeom prst="rect">
            <a:avLst/>
          </a:prstGeom>
          <a:noFill/>
        </p:spPr>
        <p:txBody>
          <a:bodyPr wrap="square">
            <a:spAutoFit/>
          </a:bodyPr>
          <a:lstStyle/>
          <a:p>
            <a:pPr algn="l"/>
            <a:r>
              <a:rPr sz="900" b="1" i="0">
                <a:solidFill>
                  <a:srgbClr val="8C5A2E"/>
                </a:solidFill>
                <a:latin typeface="Calibri"/>
              </a:rPr>
              <a:t>1.1.1</a:t>
            </a:r>
          </a:p>
        </p:txBody>
      </p:sp>
      <p:sp>
        <p:nvSpPr>
          <p:cNvPr id="17" name="TextBox 16"/>
          <p:cNvSpPr txBox="1"/>
          <p:nvPr/>
        </p:nvSpPr>
        <p:spPr>
          <a:xfrm>
            <a:off x="2" y="1"/>
            <a:ext cx="3" cy="1371600"/>
          </a:xfrm>
          <a:prstGeom prst="rect">
            <a:avLst/>
          </a:prstGeom>
          <a:noFill/>
        </p:spPr>
        <p:txBody>
          <a:bodyPr wrap="square">
            <a:spAutoFit/>
          </a:bodyPr>
          <a:lstStyle/>
          <a:p>
            <a:pPr algn="l"/>
            <a:r>
              <a:rPr sz="1000" b="0" i="0">
                <a:solidFill>
                  <a:srgbClr val="5C4F3F"/>
                </a:solidFill>
                <a:latin typeface="Calibri"/>
              </a:rPr>
              <a:t>  Project Charter &amp; Kickoff</a:t>
            </a:r>
          </a:p>
        </p:txBody>
      </p:sp>
      <p:sp>
        <p:nvSpPr>
          <p:cNvPr id="18" name="Rectangle 17"/>
          <p:cNvSpPr/>
          <p:nvPr/>
        </p:nvSpPr>
        <p:spPr>
          <a:xfrm>
            <a:off x="1" y="2"/>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 y="2"/>
            <a:ext cx="6705432" cy="1371600"/>
          </a:xfrm>
          <a:prstGeom prst="rect">
            <a:avLst/>
          </a:prstGeom>
          <a:noFill/>
        </p:spPr>
        <p:txBody>
          <a:bodyPr wrap="square">
            <a:spAutoFit/>
          </a:bodyPr>
          <a:lstStyle/>
          <a:p>
            <a:pPr algn="l"/>
            <a:r>
              <a:rPr sz="900" b="1" i="0">
                <a:solidFill>
                  <a:srgbClr val="8C5A2E"/>
                </a:solidFill>
                <a:latin typeface="Calibri"/>
              </a:rPr>
              <a:t>1.1.2</a:t>
            </a:r>
          </a:p>
        </p:txBody>
      </p:sp>
      <p:sp>
        <p:nvSpPr>
          <p:cNvPr id="20" name="TextBox 19"/>
          <p:cNvSpPr txBox="1"/>
          <p:nvPr/>
        </p:nvSpPr>
        <p:spPr>
          <a:xfrm>
            <a:off x="2" y="2"/>
            <a:ext cx="3" cy="1371600"/>
          </a:xfrm>
          <a:prstGeom prst="rect">
            <a:avLst/>
          </a:prstGeom>
          <a:noFill/>
        </p:spPr>
        <p:txBody>
          <a:bodyPr wrap="square">
            <a:spAutoFit/>
          </a:bodyPr>
          <a:lstStyle/>
          <a:p>
            <a:pPr algn="l"/>
            <a:r>
              <a:rPr sz="1000" b="0" i="0">
                <a:solidFill>
                  <a:srgbClr val="5C4F3F"/>
                </a:solidFill>
                <a:latin typeface="Calibri"/>
              </a:rPr>
              <a:t>  Status Meetings (12 × 2 h)</a:t>
            </a:r>
          </a:p>
        </p:txBody>
      </p:sp>
      <p:sp>
        <p:nvSpPr>
          <p:cNvPr id="21" name="Rectangle 20"/>
          <p:cNvSpPr/>
          <p:nvPr/>
        </p:nvSpPr>
        <p:spPr>
          <a:xfrm>
            <a:off x="1" y="2"/>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 y="2"/>
            <a:ext cx="6705432" cy="1371600"/>
          </a:xfrm>
          <a:prstGeom prst="rect">
            <a:avLst/>
          </a:prstGeom>
          <a:noFill/>
        </p:spPr>
        <p:txBody>
          <a:bodyPr wrap="square">
            <a:spAutoFit/>
          </a:bodyPr>
          <a:lstStyle/>
          <a:p>
            <a:pPr algn="l"/>
            <a:r>
              <a:rPr sz="900" b="1" i="0">
                <a:solidFill>
                  <a:srgbClr val="8C5A2E"/>
                </a:solidFill>
                <a:latin typeface="Calibri"/>
              </a:rPr>
              <a:t>1.1.3</a:t>
            </a:r>
          </a:p>
        </p:txBody>
      </p:sp>
      <p:sp>
        <p:nvSpPr>
          <p:cNvPr id="23" name="TextBox 22"/>
          <p:cNvSpPr txBox="1"/>
          <p:nvPr/>
        </p:nvSpPr>
        <p:spPr>
          <a:xfrm>
            <a:off x="2" y="2"/>
            <a:ext cx="3" cy="1371600"/>
          </a:xfrm>
          <a:prstGeom prst="rect">
            <a:avLst/>
          </a:prstGeom>
          <a:noFill/>
        </p:spPr>
        <p:txBody>
          <a:bodyPr wrap="square">
            <a:spAutoFit/>
          </a:bodyPr>
          <a:lstStyle/>
          <a:p>
            <a:pPr algn="l"/>
            <a:r>
              <a:rPr sz="1000" b="0" i="0">
                <a:solidFill>
                  <a:srgbClr val="5C4F3F"/>
                </a:solidFill>
                <a:latin typeface="Calibri"/>
              </a:rPr>
              <a:t>  Risk Reviews</a:t>
            </a:r>
          </a:p>
        </p:txBody>
      </p:sp>
      <p:sp>
        <p:nvSpPr>
          <p:cNvPr id="24" name="Rectangle 23"/>
          <p:cNvSpPr/>
          <p:nvPr/>
        </p:nvSpPr>
        <p:spPr>
          <a:xfrm>
            <a:off x="1" y="2"/>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 y="2"/>
            <a:ext cx="6705432" cy="1371600"/>
          </a:xfrm>
          <a:prstGeom prst="rect">
            <a:avLst/>
          </a:prstGeom>
          <a:noFill/>
        </p:spPr>
        <p:txBody>
          <a:bodyPr wrap="square">
            <a:spAutoFit/>
          </a:bodyPr>
          <a:lstStyle/>
          <a:p>
            <a:pPr algn="l"/>
            <a:r>
              <a:rPr sz="900" b="1" i="0">
                <a:solidFill>
                  <a:srgbClr val="8C5A2E"/>
                </a:solidFill>
                <a:latin typeface="Calibri"/>
              </a:rPr>
              <a:t>1.1.4</a:t>
            </a:r>
          </a:p>
        </p:txBody>
      </p:sp>
      <p:sp>
        <p:nvSpPr>
          <p:cNvPr id="26" name="TextBox 25"/>
          <p:cNvSpPr txBox="1"/>
          <p:nvPr/>
        </p:nvSpPr>
        <p:spPr>
          <a:xfrm>
            <a:off x="2" y="2"/>
            <a:ext cx="3" cy="1371600"/>
          </a:xfrm>
          <a:prstGeom prst="rect">
            <a:avLst/>
          </a:prstGeom>
          <a:noFill/>
        </p:spPr>
        <p:txBody>
          <a:bodyPr wrap="square">
            <a:spAutoFit/>
          </a:bodyPr>
          <a:lstStyle/>
          <a:p>
            <a:pPr algn="l"/>
            <a:r>
              <a:rPr sz="1000" b="0" i="0">
                <a:solidFill>
                  <a:srgbClr val="5C4F3F"/>
                </a:solidFill>
                <a:latin typeface="Calibri"/>
              </a:rPr>
              <a:t>  Final Report Writing</a:t>
            </a:r>
          </a:p>
        </p:txBody>
      </p:sp>
      <p:sp>
        <p:nvSpPr>
          <p:cNvPr id="27" name="Rectangle 26"/>
          <p:cNvSpPr/>
          <p:nvPr/>
        </p:nvSpPr>
        <p:spPr>
          <a:xfrm>
            <a:off x="10972525" y="2"/>
            <a:ext cx="4" cy="13716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582110" y="2"/>
            <a:ext cx="6705432" cy="1371600"/>
          </a:xfrm>
          <a:prstGeom prst="rect">
            <a:avLst/>
          </a:prstGeom>
          <a:noFill/>
        </p:spPr>
        <p:txBody>
          <a:bodyPr wrap="square">
            <a:spAutoFit/>
          </a:bodyPr>
          <a:lstStyle/>
          <a:p>
            <a:pPr algn="l"/>
            <a:r>
              <a:rPr sz="1000" b="1" i="0">
                <a:solidFill>
                  <a:srgbClr val="8C5A2E"/>
                </a:solidFill>
                <a:latin typeface="Calibri"/>
              </a:rPr>
              <a:t>1.2</a:t>
            </a:r>
          </a:p>
        </p:txBody>
      </p:sp>
      <p:sp>
        <p:nvSpPr>
          <p:cNvPr id="29" name="TextBox 28"/>
          <p:cNvSpPr txBox="1"/>
          <p:nvPr/>
        </p:nvSpPr>
        <p:spPr>
          <a:xfrm>
            <a:off x="1" y="2"/>
            <a:ext cx="3" cy="1371600"/>
          </a:xfrm>
          <a:prstGeom prst="rect">
            <a:avLst/>
          </a:prstGeom>
          <a:noFill/>
        </p:spPr>
        <p:txBody>
          <a:bodyPr wrap="square">
            <a:spAutoFit/>
          </a:bodyPr>
          <a:lstStyle/>
          <a:p>
            <a:pPr algn="l"/>
            <a:r>
              <a:rPr sz="1100" b="1" i="0">
                <a:solidFill>
                  <a:srgbClr val="2B2419"/>
                </a:solidFill>
                <a:latin typeface="Calibri"/>
              </a:rPr>
              <a:t>Requirements &amp; Analysis</a:t>
            </a:r>
          </a:p>
        </p:txBody>
      </p:sp>
      <p:sp>
        <p:nvSpPr>
          <p:cNvPr id="30" name="Rectangle 29"/>
          <p:cNvSpPr/>
          <p:nvPr/>
        </p:nvSpPr>
        <p:spPr>
          <a:xfrm>
            <a:off x="1" y="3"/>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 y="3"/>
            <a:ext cx="6705432" cy="1371600"/>
          </a:xfrm>
          <a:prstGeom prst="rect">
            <a:avLst/>
          </a:prstGeom>
          <a:noFill/>
        </p:spPr>
        <p:txBody>
          <a:bodyPr wrap="square">
            <a:spAutoFit/>
          </a:bodyPr>
          <a:lstStyle/>
          <a:p>
            <a:pPr algn="l"/>
            <a:r>
              <a:rPr sz="900" b="1" i="0">
                <a:solidFill>
                  <a:srgbClr val="8C5A2E"/>
                </a:solidFill>
                <a:latin typeface="Calibri"/>
              </a:rPr>
              <a:t>1.2.1</a:t>
            </a:r>
          </a:p>
        </p:txBody>
      </p:sp>
      <p:sp>
        <p:nvSpPr>
          <p:cNvPr id="32" name="TextBox 31"/>
          <p:cNvSpPr txBox="1"/>
          <p:nvPr/>
        </p:nvSpPr>
        <p:spPr>
          <a:xfrm>
            <a:off x="2" y="3"/>
            <a:ext cx="3" cy="1371600"/>
          </a:xfrm>
          <a:prstGeom prst="rect">
            <a:avLst/>
          </a:prstGeom>
          <a:noFill/>
        </p:spPr>
        <p:txBody>
          <a:bodyPr wrap="square">
            <a:spAutoFit/>
          </a:bodyPr>
          <a:lstStyle/>
          <a:p>
            <a:pPr algn="l"/>
            <a:r>
              <a:rPr sz="1000" b="0" i="0">
                <a:solidFill>
                  <a:srgbClr val="5C4F3F"/>
                </a:solidFill>
                <a:latin typeface="Calibri"/>
              </a:rPr>
              <a:t>  Stakeholder Interviews</a:t>
            </a:r>
          </a:p>
        </p:txBody>
      </p:sp>
      <p:sp>
        <p:nvSpPr>
          <p:cNvPr id="33" name="Rectangle 32"/>
          <p:cNvSpPr/>
          <p:nvPr/>
        </p:nvSpPr>
        <p:spPr>
          <a:xfrm>
            <a:off x="1" y="3"/>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 y="3"/>
            <a:ext cx="6705432" cy="1371600"/>
          </a:xfrm>
          <a:prstGeom prst="rect">
            <a:avLst/>
          </a:prstGeom>
          <a:noFill/>
        </p:spPr>
        <p:txBody>
          <a:bodyPr wrap="square">
            <a:spAutoFit/>
          </a:bodyPr>
          <a:lstStyle/>
          <a:p>
            <a:pPr algn="l"/>
            <a:r>
              <a:rPr sz="900" b="1" i="0">
                <a:solidFill>
                  <a:srgbClr val="8C5A2E"/>
                </a:solidFill>
                <a:latin typeface="Calibri"/>
              </a:rPr>
              <a:t>1.2.2</a:t>
            </a:r>
          </a:p>
        </p:txBody>
      </p:sp>
      <p:sp>
        <p:nvSpPr>
          <p:cNvPr id="35" name="TextBox 34"/>
          <p:cNvSpPr txBox="1"/>
          <p:nvPr/>
        </p:nvSpPr>
        <p:spPr>
          <a:xfrm>
            <a:off x="2" y="3"/>
            <a:ext cx="3" cy="1371600"/>
          </a:xfrm>
          <a:prstGeom prst="rect">
            <a:avLst/>
          </a:prstGeom>
          <a:noFill/>
        </p:spPr>
        <p:txBody>
          <a:bodyPr wrap="square">
            <a:spAutoFit/>
          </a:bodyPr>
          <a:lstStyle/>
          <a:p>
            <a:pPr algn="l"/>
            <a:r>
              <a:rPr sz="1000" b="0" i="0">
                <a:solidFill>
                  <a:srgbClr val="5C4F3F"/>
                </a:solidFill>
                <a:latin typeface="Calibri"/>
              </a:rPr>
              <a:t>  Requirements Document</a:t>
            </a:r>
          </a:p>
        </p:txBody>
      </p:sp>
      <p:sp>
        <p:nvSpPr>
          <p:cNvPr id="36" name="Rectangle 35"/>
          <p:cNvSpPr/>
          <p:nvPr/>
        </p:nvSpPr>
        <p:spPr>
          <a:xfrm>
            <a:off x="1" y="3"/>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 y="3"/>
            <a:ext cx="6705432" cy="1371600"/>
          </a:xfrm>
          <a:prstGeom prst="rect">
            <a:avLst/>
          </a:prstGeom>
          <a:noFill/>
        </p:spPr>
        <p:txBody>
          <a:bodyPr wrap="square">
            <a:spAutoFit/>
          </a:bodyPr>
          <a:lstStyle/>
          <a:p>
            <a:pPr algn="l"/>
            <a:r>
              <a:rPr sz="900" b="1" i="0">
                <a:solidFill>
                  <a:srgbClr val="8C5A2E"/>
                </a:solidFill>
                <a:latin typeface="Calibri"/>
              </a:rPr>
              <a:t>1.2.3</a:t>
            </a:r>
          </a:p>
        </p:txBody>
      </p:sp>
      <p:sp>
        <p:nvSpPr>
          <p:cNvPr id="38" name="TextBox 37"/>
          <p:cNvSpPr txBox="1"/>
          <p:nvPr/>
        </p:nvSpPr>
        <p:spPr>
          <a:xfrm>
            <a:off x="2" y="3"/>
            <a:ext cx="3" cy="1371600"/>
          </a:xfrm>
          <a:prstGeom prst="rect">
            <a:avLst/>
          </a:prstGeom>
          <a:noFill/>
        </p:spPr>
        <p:txBody>
          <a:bodyPr wrap="square">
            <a:spAutoFit/>
          </a:bodyPr>
          <a:lstStyle/>
          <a:p>
            <a:pPr algn="l"/>
            <a:r>
              <a:rPr sz="1000" b="0" i="0">
                <a:solidFill>
                  <a:srgbClr val="5C4F3F"/>
                </a:solidFill>
                <a:latin typeface="Calibri"/>
              </a:rPr>
              <a:t>  Requirements Sign-off</a:t>
            </a:r>
          </a:p>
        </p:txBody>
      </p:sp>
      <p:sp>
        <p:nvSpPr>
          <p:cNvPr id="39" name="Rectangle 38"/>
          <p:cNvSpPr/>
          <p:nvPr/>
        </p:nvSpPr>
        <p:spPr>
          <a:xfrm>
            <a:off x="10972525" y="3"/>
            <a:ext cx="4" cy="13716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582110" y="3"/>
            <a:ext cx="6705432" cy="1371600"/>
          </a:xfrm>
          <a:prstGeom prst="rect">
            <a:avLst/>
          </a:prstGeom>
          <a:noFill/>
        </p:spPr>
        <p:txBody>
          <a:bodyPr wrap="square">
            <a:spAutoFit/>
          </a:bodyPr>
          <a:lstStyle/>
          <a:p>
            <a:pPr algn="l"/>
            <a:r>
              <a:rPr sz="1000" b="1" i="0">
                <a:solidFill>
                  <a:srgbClr val="8C5A2E"/>
                </a:solidFill>
                <a:latin typeface="Calibri"/>
              </a:rPr>
              <a:t>1.3</a:t>
            </a:r>
          </a:p>
        </p:txBody>
      </p:sp>
      <p:sp>
        <p:nvSpPr>
          <p:cNvPr id="41" name="TextBox 40"/>
          <p:cNvSpPr txBox="1"/>
          <p:nvPr/>
        </p:nvSpPr>
        <p:spPr>
          <a:xfrm>
            <a:off x="1" y="3"/>
            <a:ext cx="3" cy="1371600"/>
          </a:xfrm>
          <a:prstGeom prst="rect">
            <a:avLst/>
          </a:prstGeom>
          <a:noFill/>
        </p:spPr>
        <p:txBody>
          <a:bodyPr wrap="square">
            <a:spAutoFit/>
          </a:bodyPr>
          <a:lstStyle/>
          <a:p>
            <a:pPr algn="l"/>
            <a:r>
              <a:rPr sz="1100" b="1" i="0">
                <a:solidFill>
                  <a:srgbClr val="2B2419"/>
                </a:solidFill>
                <a:latin typeface="Calibri"/>
              </a:rPr>
              <a:t>System Design</a:t>
            </a:r>
          </a:p>
        </p:txBody>
      </p:sp>
      <p:sp>
        <p:nvSpPr>
          <p:cNvPr id="42" name="Rectangle 41"/>
          <p:cNvSpPr/>
          <p:nvPr/>
        </p:nvSpPr>
        <p:spPr>
          <a:xfrm>
            <a:off x="1" y="3"/>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 y="3"/>
            <a:ext cx="6705432" cy="1371600"/>
          </a:xfrm>
          <a:prstGeom prst="rect">
            <a:avLst/>
          </a:prstGeom>
          <a:noFill/>
        </p:spPr>
        <p:txBody>
          <a:bodyPr wrap="square">
            <a:spAutoFit/>
          </a:bodyPr>
          <a:lstStyle/>
          <a:p>
            <a:pPr algn="l"/>
            <a:r>
              <a:rPr sz="900" b="1" i="0">
                <a:solidFill>
                  <a:srgbClr val="8C5A2E"/>
                </a:solidFill>
                <a:latin typeface="Calibri"/>
              </a:rPr>
              <a:t>1.3.1</a:t>
            </a:r>
          </a:p>
        </p:txBody>
      </p:sp>
      <p:sp>
        <p:nvSpPr>
          <p:cNvPr id="44" name="TextBox 43"/>
          <p:cNvSpPr txBox="1"/>
          <p:nvPr/>
        </p:nvSpPr>
        <p:spPr>
          <a:xfrm>
            <a:off x="2" y="3"/>
            <a:ext cx="3" cy="1371600"/>
          </a:xfrm>
          <a:prstGeom prst="rect">
            <a:avLst/>
          </a:prstGeom>
          <a:noFill/>
        </p:spPr>
        <p:txBody>
          <a:bodyPr wrap="square">
            <a:spAutoFit/>
          </a:bodyPr>
          <a:lstStyle/>
          <a:p>
            <a:pPr algn="l"/>
            <a:r>
              <a:rPr sz="1000" b="0" i="0">
                <a:solidFill>
                  <a:srgbClr val="5C4F3F"/>
                </a:solidFill>
                <a:latin typeface="Calibri"/>
              </a:rPr>
              <a:t>  UI/UX Design (Figma)</a:t>
            </a:r>
          </a:p>
        </p:txBody>
      </p:sp>
      <p:sp>
        <p:nvSpPr>
          <p:cNvPr id="45" name="Rectangle 44"/>
          <p:cNvSpPr/>
          <p:nvPr/>
        </p:nvSpPr>
        <p:spPr>
          <a:xfrm>
            <a:off x="1" y="4"/>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 y="4"/>
            <a:ext cx="6705432" cy="1371600"/>
          </a:xfrm>
          <a:prstGeom prst="rect">
            <a:avLst/>
          </a:prstGeom>
          <a:noFill/>
        </p:spPr>
        <p:txBody>
          <a:bodyPr wrap="square">
            <a:spAutoFit/>
          </a:bodyPr>
          <a:lstStyle/>
          <a:p>
            <a:pPr algn="l"/>
            <a:r>
              <a:rPr sz="900" b="1" i="0">
                <a:solidFill>
                  <a:srgbClr val="8C5A2E"/>
                </a:solidFill>
                <a:latin typeface="Calibri"/>
              </a:rPr>
              <a:t>1.3.2</a:t>
            </a:r>
          </a:p>
        </p:txBody>
      </p:sp>
      <p:sp>
        <p:nvSpPr>
          <p:cNvPr id="47" name="TextBox 46"/>
          <p:cNvSpPr txBox="1"/>
          <p:nvPr/>
        </p:nvSpPr>
        <p:spPr>
          <a:xfrm>
            <a:off x="2" y="4"/>
            <a:ext cx="3" cy="1371600"/>
          </a:xfrm>
          <a:prstGeom prst="rect">
            <a:avLst/>
          </a:prstGeom>
          <a:noFill/>
        </p:spPr>
        <p:txBody>
          <a:bodyPr wrap="square">
            <a:spAutoFit/>
          </a:bodyPr>
          <a:lstStyle/>
          <a:p>
            <a:pPr algn="l"/>
            <a:r>
              <a:rPr sz="1000" b="0" i="0">
                <a:solidFill>
                  <a:srgbClr val="5C4F3F"/>
                </a:solidFill>
                <a:latin typeface="Calibri"/>
              </a:rPr>
              <a:t>  Database / Data-Model Schema</a:t>
            </a:r>
          </a:p>
        </p:txBody>
      </p:sp>
      <p:sp>
        <p:nvSpPr>
          <p:cNvPr id="48" name="Rectangle 47"/>
          <p:cNvSpPr/>
          <p:nvPr/>
        </p:nvSpPr>
        <p:spPr>
          <a:xfrm>
            <a:off x="1" y="4"/>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 y="4"/>
            <a:ext cx="6705432" cy="1371600"/>
          </a:xfrm>
          <a:prstGeom prst="rect">
            <a:avLst/>
          </a:prstGeom>
          <a:noFill/>
        </p:spPr>
        <p:txBody>
          <a:bodyPr wrap="square">
            <a:spAutoFit/>
          </a:bodyPr>
          <a:lstStyle/>
          <a:p>
            <a:pPr algn="l"/>
            <a:r>
              <a:rPr sz="900" b="1" i="0">
                <a:solidFill>
                  <a:srgbClr val="8C5A2E"/>
                </a:solidFill>
                <a:latin typeface="Calibri"/>
              </a:rPr>
              <a:t>1.3.3</a:t>
            </a:r>
          </a:p>
        </p:txBody>
      </p:sp>
      <p:sp>
        <p:nvSpPr>
          <p:cNvPr id="50" name="TextBox 49"/>
          <p:cNvSpPr txBox="1"/>
          <p:nvPr/>
        </p:nvSpPr>
        <p:spPr>
          <a:xfrm>
            <a:off x="2" y="4"/>
            <a:ext cx="3" cy="1371600"/>
          </a:xfrm>
          <a:prstGeom prst="rect">
            <a:avLst/>
          </a:prstGeom>
          <a:noFill/>
        </p:spPr>
        <p:txBody>
          <a:bodyPr wrap="square">
            <a:spAutoFit/>
          </a:bodyPr>
          <a:lstStyle/>
          <a:p>
            <a:pPr algn="l"/>
            <a:r>
              <a:rPr sz="1000" b="0" i="0">
                <a:solidFill>
                  <a:srgbClr val="5C4F3F"/>
                </a:solidFill>
                <a:latin typeface="Calibri"/>
              </a:rPr>
              <a:t>  API / Service Contract</a:t>
            </a:r>
          </a:p>
        </p:txBody>
      </p:sp>
      <p:sp>
        <p:nvSpPr>
          <p:cNvPr id="51" name="Rectangle 50"/>
          <p:cNvSpPr/>
          <p:nvPr/>
        </p:nvSpPr>
        <p:spPr>
          <a:xfrm>
            <a:off x="10972525" y="4"/>
            <a:ext cx="4" cy="13716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582110" y="4"/>
            <a:ext cx="6705432" cy="1371600"/>
          </a:xfrm>
          <a:prstGeom prst="rect">
            <a:avLst/>
          </a:prstGeom>
          <a:noFill/>
        </p:spPr>
        <p:txBody>
          <a:bodyPr wrap="square">
            <a:spAutoFit/>
          </a:bodyPr>
          <a:lstStyle/>
          <a:p>
            <a:pPr algn="l"/>
            <a:r>
              <a:rPr sz="1000" b="1" i="0">
                <a:solidFill>
                  <a:srgbClr val="8C5A2E"/>
                </a:solidFill>
                <a:latin typeface="Calibri"/>
              </a:rPr>
              <a:t>1.4</a:t>
            </a:r>
          </a:p>
        </p:txBody>
      </p:sp>
      <p:sp>
        <p:nvSpPr>
          <p:cNvPr id="53" name="TextBox 52"/>
          <p:cNvSpPr txBox="1"/>
          <p:nvPr/>
        </p:nvSpPr>
        <p:spPr>
          <a:xfrm>
            <a:off x="1" y="4"/>
            <a:ext cx="3" cy="1371600"/>
          </a:xfrm>
          <a:prstGeom prst="rect">
            <a:avLst/>
          </a:prstGeom>
          <a:noFill/>
        </p:spPr>
        <p:txBody>
          <a:bodyPr wrap="square">
            <a:spAutoFit/>
          </a:bodyPr>
          <a:lstStyle/>
          <a:p>
            <a:pPr algn="l"/>
            <a:r>
              <a:rPr sz="1100" b="1" i="0">
                <a:solidFill>
                  <a:srgbClr val="2B2419"/>
                </a:solidFill>
                <a:latin typeface="Calibri"/>
              </a:rPr>
              <a:t>Development</a:t>
            </a:r>
          </a:p>
        </p:txBody>
      </p:sp>
      <p:sp>
        <p:nvSpPr>
          <p:cNvPr id="54" name="Rectangle 53"/>
          <p:cNvSpPr/>
          <p:nvPr/>
        </p:nvSpPr>
        <p:spPr>
          <a:xfrm>
            <a:off x="1" y="4"/>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 y="4"/>
            <a:ext cx="6705432" cy="1371600"/>
          </a:xfrm>
          <a:prstGeom prst="rect">
            <a:avLst/>
          </a:prstGeom>
          <a:noFill/>
        </p:spPr>
        <p:txBody>
          <a:bodyPr wrap="square">
            <a:spAutoFit/>
          </a:bodyPr>
          <a:lstStyle/>
          <a:p>
            <a:pPr algn="l"/>
            <a:r>
              <a:rPr sz="900" b="1" i="0">
                <a:solidFill>
                  <a:srgbClr val="8C5A2E"/>
                </a:solidFill>
                <a:latin typeface="Calibri"/>
              </a:rPr>
              <a:t>1.4.1</a:t>
            </a:r>
          </a:p>
        </p:txBody>
      </p:sp>
      <p:sp>
        <p:nvSpPr>
          <p:cNvPr id="56" name="TextBox 55"/>
          <p:cNvSpPr txBox="1"/>
          <p:nvPr/>
        </p:nvSpPr>
        <p:spPr>
          <a:xfrm>
            <a:off x="2" y="4"/>
            <a:ext cx="3" cy="1371600"/>
          </a:xfrm>
          <a:prstGeom prst="rect">
            <a:avLst/>
          </a:prstGeom>
          <a:noFill/>
        </p:spPr>
        <p:txBody>
          <a:bodyPr wrap="square">
            <a:spAutoFit/>
          </a:bodyPr>
          <a:lstStyle/>
          <a:p>
            <a:pPr algn="l"/>
            <a:r>
              <a:rPr sz="1000" b="0" i="0">
                <a:solidFill>
                  <a:srgbClr val="5C4F3F"/>
                </a:solidFill>
                <a:latin typeface="Calibri"/>
              </a:rPr>
              <a:t>  Frontend (React + Vite + TS)</a:t>
            </a:r>
          </a:p>
        </p:txBody>
      </p:sp>
      <p:sp>
        <p:nvSpPr>
          <p:cNvPr id="57" name="Rectangle 56"/>
          <p:cNvSpPr/>
          <p:nvPr/>
        </p:nvSpPr>
        <p:spPr>
          <a:xfrm>
            <a:off x="1" y="4"/>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 y="4"/>
            <a:ext cx="6705432" cy="1371600"/>
          </a:xfrm>
          <a:prstGeom prst="rect">
            <a:avLst/>
          </a:prstGeom>
          <a:noFill/>
        </p:spPr>
        <p:txBody>
          <a:bodyPr wrap="square">
            <a:spAutoFit/>
          </a:bodyPr>
          <a:lstStyle/>
          <a:p>
            <a:pPr algn="l"/>
            <a:r>
              <a:rPr sz="900" b="1" i="0">
                <a:solidFill>
                  <a:srgbClr val="8C5A2E"/>
                </a:solidFill>
                <a:latin typeface="Calibri"/>
              </a:rPr>
              <a:t>1.4.2</a:t>
            </a:r>
          </a:p>
        </p:txBody>
      </p:sp>
      <p:sp>
        <p:nvSpPr>
          <p:cNvPr id="59" name="TextBox 58"/>
          <p:cNvSpPr txBox="1"/>
          <p:nvPr/>
        </p:nvSpPr>
        <p:spPr>
          <a:xfrm>
            <a:off x="2" y="4"/>
            <a:ext cx="3" cy="1371600"/>
          </a:xfrm>
          <a:prstGeom prst="rect">
            <a:avLst/>
          </a:prstGeom>
          <a:noFill/>
        </p:spPr>
        <p:txBody>
          <a:bodyPr wrap="square">
            <a:spAutoFit/>
          </a:bodyPr>
          <a:lstStyle/>
          <a:p>
            <a:pPr algn="l"/>
            <a:r>
              <a:rPr sz="1000" b="0" i="0">
                <a:solidFill>
                  <a:srgbClr val="5C4F3F"/>
                </a:solidFill>
                <a:latin typeface="Calibri"/>
              </a:rPr>
              <a:t>  Backend / Persistence Layer</a:t>
            </a:r>
          </a:p>
        </p:txBody>
      </p:sp>
      <p:sp>
        <p:nvSpPr>
          <p:cNvPr id="60" name="Rectangle 59"/>
          <p:cNvSpPr/>
          <p:nvPr/>
        </p:nvSpPr>
        <p:spPr>
          <a:xfrm>
            <a:off x="1" y="5"/>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 y="5"/>
            <a:ext cx="6705432" cy="1371600"/>
          </a:xfrm>
          <a:prstGeom prst="rect">
            <a:avLst/>
          </a:prstGeom>
          <a:noFill/>
        </p:spPr>
        <p:txBody>
          <a:bodyPr wrap="square">
            <a:spAutoFit/>
          </a:bodyPr>
          <a:lstStyle/>
          <a:p>
            <a:pPr algn="l"/>
            <a:r>
              <a:rPr sz="900" b="1" i="0">
                <a:solidFill>
                  <a:srgbClr val="8C5A2E"/>
                </a:solidFill>
                <a:latin typeface="Calibri"/>
              </a:rPr>
              <a:t>1.4.3</a:t>
            </a:r>
          </a:p>
        </p:txBody>
      </p:sp>
      <p:sp>
        <p:nvSpPr>
          <p:cNvPr id="62" name="TextBox 61"/>
          <p:cNvSpPr txBox="1"/>
          <p:nvPr/>
        </p:nvSpPr>
        <p:spPr>
          <a:xfrm>
            <a:off x="2" y="5"/>
            <a:ext cx="3" cy="1371600"/>
          </a:xfrm>
          <a:prstGeom prst="rect">
            <a:avLst/>
          </a:prstGeom>
          <a:noFill/>
        </p:spPr>
        <p:txBody>
          <a:bodyPr wrap="square">
            <a:spAutoFit/>
          </a:bodyPr>
          <a:lstStyle/>
          <a:p>
            <a:pPr algn="l"/>
            <a:r>
              <a:rPr sz="1000" b="0" i="0">
                <a:solidFill>
                  <a:srgbClr val="5C4F3F"/>
                </a:solidFill>
                <a:latin typeface="Calibri"/>
              </a:rPr>
              <a:t>  Integration &amp; Wiring</a:t>
            </a:r>
          </a:p>
        </p:txBody>
      </p:sp>
      <p:sp>
        <p:nvSpPr>
          <p:cNvPr id="63" name="Rectangle 62"/>
          <p:cNvSpPr/>
          <p:nvPr/>
        </p:nvSpPr>
        <p:spPr>
          <a:xfrm>
            <a:off x="10972525" y="5"/>
            <a:ext cx="4" cy="13716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582110" y="5"/>
            <a:ext cx="6705432" cy="1371600"/>
          </a:xfrm>
          <a:prstGeom prst="rect">
            <a:avLst/>
          </a:prstGeom>
          <a:noFill/>
        </p:spPr>
        <p:txBody>
          <a:bodyPr wrap="square">
            <a:spAutoFit/>
          </a:bodyPr>
          <a:lstStyle/>
          <a:p>
            <a:pPr algn="l"/>
            <a:r>
              <a:rPr sz="1000" b="1" i="0">
                <a:solidFill>
                  <a:srgbClr val="8C5A2E"/>
                </a:solidFill>
                <a:latin typeface="Calibri"/>
              </a:rPr>
              <a:t>1.5</a:t>
            </a:r>
          </a:p>
        </p:txBody>
      </p:sp>
      <p:sp>
        <p:nvSpPr>
          <p:cNvPr id="65" name="TextBox 64"/>
          <p:cNvSpPr txBox="1"/>
          <p:nvPr/>
        </p:nvSpPr>
        <p:spPr>
          <a:xfrm>
            <a:off x="1" y="5"/>
            <a:ext cx="3" cy="1371600"/>
          </a:xfrm>
          <a:prstGeom prst="rect">
            <a:avLst/>
          </a:prstGeom>
          <a:noFill/>
        </p:spPr>
        <p:txBody>
          <a:bodyPr wrap="square">
            <a:spAutoFit/>
          </a:bodyPr>
          <a:lstStyle/>
          <a:p>
            <a:pPr algn="l"/>
            <a:r>
              <a:rPr sz="1100" b="1" i="0">
                <a:solidFill>
                  <a:srgbClr val="2B2419"/>
                </a:solidFill>
                <a:latin typeface="Calibri"/>
              </a:rPr>
              <a:t>Testing &amp; QA</a:t>
            </a:r>
          </a:p>
        </p:txBody>
      </p:sp>
      <p:sp>
        <p:nvSpPr>
          <p:cNvPr id="66" name="Rectangle 65"/>
          <p:cNvSpPr/>
          <p:nvPr/>
        </p:nvSpPr>
        <p:spPr>
          <a:xfrm>
            <a:off x="1" y="5"/>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 y="5"/>
            <a:ext cx="6705432" cy="1371600"/>
          </a:xfrm>
          <a:prstGeom prst="rect">
            <a:avLst/>
          </a:prstGeom>
          <a:noFill/>
        </p:spPr>
        <p:txBody>
          <a:bodyPr wrap="square">
            <a:spAutoFit/>
          </a:bodyPr>
          <a:lstStyle/>
          <a:p>
            <a:pPr algn="l"/>
            <a:r>
              <a:rPr sz="900" b="1" i="0">
                <a:solidFill>
                  <a:srgbClr val="8C5A2E"/>
                </a:solidFill>
                <a:latin typeface="Calibri"/>
              </a:rPr>
              <a:t>1.5.1</a:t>
            </a:r>
          </a:p>
        </p:txBody>
      </p:sp>
      <p:sp>
        <p:nvSpPr>
          <p:cNvPr id="68" name="TextBox 67"/>
          <p:cNvSpPr txBox="1"/>
          <p:nvPr/>
        </p:nvSpPr>
        <p:spPr>
          <a:xfrm>
            <a:off x="2" y="5"/>
            <a:ext cx="3" cy="1371600"/>
          </a:xfrm>
          <a:prstGeom prst="rect">
            <a:avLst/>
          </a:prstGeom>
          <a:noFill/>
        </p:spPr>
        <p:txBody>
          <a:bodyPr wrap="square">
            <a:spAutoFit/>
          </a:bodyPr>
          <a:lstStyle/>
          <a:p>
            <a:pPr algn="l"/>
            <a:r>
              <a:rPr sz="1000" b="0" i="0">
                <a:solidFill>
                  <a:srgbClr val="5C4F3F"/>
                </a:solidFill>
                <a:latin typeface="Calibri"/>
              </a:rPr>
              <a:t>  Unit Tests (Vitest)</a:t>
            </a:r>
          </a:p>
        </p:txBody>
      </p:sp>
      <p:sp>
        <p:nvSpPr>
          <p:cNvPr id="69" name="Rectangle 68"/>
          <p:cNvSpPr/>
          <p:nvPr/>
        </p:nvSpPr>
        <p:spPr>
          <a:xfrm>
            <a:off x="1" y="5"/>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 y="5"/>
            <a:ext cx="6705432" cy="1371600"/>
          </a:xfrm>
          <a:prstGeom prst="rect">
            <a:avLst/>
          </a:prstGeom>
          <a:noFill/>
        </p:spPr>
        <p:txBody>
          <a:bodyPr wrap="square">
            <a:spAutoFit/>
          </a:bodyPr>
          <a:lstStyle/>
          <a:p>
            <a:pPr algn="l"/>
            <a:r>
              <a:rPr sz="900" b="1" i="0">
                <a:solidFill>
                  <a:srgbClr val="8C5A2E"/>
                </a:solidFill>
                <a:latin typeface="Calibri"/>
              </a:rPr>
              <a:t>1.5.2</a:t>
            </a:r>
          </a:p>
        </p:txBody>
      </p:sp>
      <p:sp>
        <p:nvSpPr>
          <p:cNvPr id="71" name="TextBox 70"/>
          <p:cNvSpPr txBox="1"/>
          <p:nvPr/>
        </p:nvSpPr>
        <p:spPr>
          <a:xfrm>
            <a:off x="2" y="5"/>
            <a:ext cx="3" cy="1371600"/>
          </a:xfrm>
          <a:prstGeom prst="rect">
            <a:avLst/>
          </a:prstGeom>
          <a:noFill/>
        </p:spPr>
        <p:txBody>
          <a:bodyPr wrap="square">
            <a:spAutoFit/>
          </a:bodyPr>
          <a:lstStyle/>
          <a:p>
            <a:pPr algn="l"/>
            <a:r>
              <a:rPr sz="1000" b="0" i="0">
                <a:solidFill>
                  <a:srgbClr val="5C4F3F"/>
                </a:solidFill>
                <a:latin typeface="Calibri"/>
              </a:rPr>
              <a:t>  Integration Tests</a:t>
            </a:r>
          </a:p>
        </p:txBody>
      </p:sp>
      <p:sp>
        <p:nvSpPr>
          <p:cNvPr id="72" name="Rectangle 71"/>
          <p:cNvSpPr/>
          <p:nvPr/>
        </p:nvSpPr>
        <p:spPr>
          <a:xfrm>
            <a:off x="1" y="6"/>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 y="6"/>
            <a:ext cx="6705432" cy="1371600"/>
          </a:xfrm>
          <a:prstGeom prst="rect">
            <a:avLst/>
          </a:prstGeom>
          <a:noFill/>
        </p:spPr>
        <p:txBody>
          <a:bodyPr wrap="square">
            <a:spAutoFit/>
          </a:bodyPr>
          <a:lstStyle/>
          <a:p>
            <a:pPr algn="l"/>
            <a:r>
              <a:rPr sz="900" b="1" i="0">
                <a:solidFill>
                  <a:srgbClr val="8C5A2E"/>
                </a:solidFill>
                <a:latin typeface="Calibri"/>
              </a:rPr>
              <a:t>1.5.3</a:t>
            </a:r>
          </a:p>
        </p:txBody>
      </p:sp>
      <p:sp>
        <p:nvSpPr>
          <p:cNvPr id="74" name="TextBox 73"/>
          <p:cNvSpPr txBox="1"/>
          <p:nvPr/>
        </p:nvSpPr>
        <p:spPr>
          <a:xfrm>
            <a:off x="2" y="6"/>
            <a:ext cx="3" cy="1371600"/>
          </a:xfrm>
          <a:prstGeom prst="rect">
            <a:avLst/>
          </a:prstGeom>
          <a:noFill/>
        </p:spPr>
        <p:txBody>
          <a:bodyPr wrap="square">
            <a:spAutoFit/>
          </a:bodyPr>
          <a:lstStyle/>
          <a:p>
            <a:pPr algn="l"/>
            <a:r>
              <a:rPr sz="1000" b="0" i="0">
                <a:solidFill>
                  <a:srgbClr val="5C4F3F"/>
                </a:solidFill>
                <a:latin typeface="Calibri"/>
              </a:rPr>
              <a:t>  User Acceptance Test</a:t>
            </a:r>
          </a:p>
        </p:txBody>
      </p:sp>
      <p:sp>
        <p:nvSpPr>
          <p:cNvPr id="75" name="Rectangle 74"/>
          <p:cNvSpPr/>
          <p:nvPr/>
        </p:nvSpPr>
        <p:spPr>
          <a:xfrm>
            <a:off x="10972525" y="6"/>
            <a:ext cx="4" cy="13716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1582110" y="6"/>
            <a:ext cx="6705432" cy="1371600"/>
          </a:xfrm>
          <a:prstGeom prst="rect">
            <a:avLst/>
          </a:prstGeom>
          <a:noFill/>
        </p:spPr>
        <p:txBody>
          <a:bodyPr wrap="square">
            <a:spAutoFit/>
          </a:bodyPr>
          <a:lstStyle/>
          <a:p>
            <a:pPr algn="l"/>
            <a:r>
              <a:rPr sz="1000" b="1" i="0">
                <a:solidFill>
                  <a:srgbClr val="8C5A2E"/>
                </a:solidFill>
                <a:latin typeface="Calibri"/>
              </a:rPr>
              <a:t>1.6</a:t>
            </a:r>
          </a:p>
        </p:txBody>
      </p:sp>
      <p:sp>
        <p:nvSpPr>
          <p:cNvPr id="77" name="TextBox 76"/>
          <p:cNvSpPr txBox="1"/>
          <p:nvPr/>
        </p:nvSpPr>
        <p:spPr>
          <a:xfrm>
            <a:off x="1" y="6"/>
            <a:ext cx="3" cy="1371600"/>
          </a:xfrm>
          <a:prstGeom prst="rect">
            <a:avLst/>
          </a:prstGeom>
          <a:noFill/>
        </p:spPr>
        <p:txBody>
          <a:bodyPr wrap="square">
            <a:spAutoFit/>
          </a:bodyPr>
          <a:lstStyle/>
          <a:p>
            <a:pPr algn="l"/>
            <a:r>
              <a:rPr sz="1100" b="1" i="0">
                <a:solidFill>
                  <a:srgbClr val="2B2419"/>
                </a:solidFill>
                <a:latin typeface="Calibri"/>
              </a:rPr>
              <a:t>Documentation</a:t>
            </a:r>
          </a:p>
        </p:txBody>
      </p:sp>
      <p:sp>
        <p:nvSpPr>
          <p:cNvPr id="78" name="Rectangle 77"/>
          <p:cNvSpPr/>
          <p:nvPr/>
        </p:nvSpPr>
        <p:spPr>
          <a:xfrm>
            <a:off x="1" y="6"/>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 y="6"/>
            <a:ext cx="6705432" cy="1371600"/>
          </a:xfrm>
          <a:prstGeom prst="rect">
            <a:avLst/>
          </a:prstGeom>
          <a:noFill/>
        </p:spPr>
        <p:txBody>
          <a:bodyPr wrap="square">
            <a:spAutoFit/>
          </a:bodyPr>
          <a:lstStyle/>
          <a:p>
            <a:pPr algn="l"/>
            <a:r>
              <a:rPr sz="900" b="1" i="0">
                <a:solidFill>
                  <a:srgbClr val="8C5A2E"/>
                </a:solidFill>
                <a:latin typeface="Calibri"/>
              </a:rPr>
              <a:t>1.6.1</a:t>
            </a:r>
          </a:p>
        </p:txBody>
      </p:sp>
      <p:sp>
        <p:nvSpPr>
          <p:cNvPr id="80" name="TextBox 79"/>
          <p:cNvSpPr txBox="1"/>
          <p:nvPr/>
        </p:nvSpPr>
        <p:spPr>
          <a:xfrm>
            <a:off x="2" y="6"/>
            <a:ext cx="3" cy="1371600"/>
          </a:xfrm>
          <a:prstGeom prst="rect">
            <a:avLst/>
          </a:prstGeom>
          <a:noFill/>
        </p:spPr>
        <p:txBody>
          <a:bodyPr wrap="square">
            <a:spAutoFit/>
          </a:bodyPr>
          <a:lstStyle/>
          <a:p>
            <a:pPr algn="l"/>
            <a:r>
              <a:rPr sz="1000" b="0" i="0">
                <a:solidFill>
                  <a:srgbClr val="5C4F3F"/>
                </a:solidFill>
                <a:latin typeface="Calibri"/>
              </a:rPr>
              <a:t>  User Guide</a:t>
            </a:r>
          </a:p>
        </p:txBody>
      </p:sp>
      <p:sp>
        <p:nvSpPr>
          <p:cNvPr id="81" name="Rectangle 80"/>
          <p:cNvSpPr/>
          <p:nvPr/>
        </p:nvSpPr>
        <p:spPr>
          <a:xfrm>
            <a:off x="1" y="6"/>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 y="6"/>
            <a:ext cx="6705432" cy="1371600"/>
          </a:xfrm>
          <a:prstGeom prst="rect">
            <a:avLst/>
          </a:prstGeom>
          <a:noFill/>
        </p:spPr>
        <p:txBody>
          <a:bodyPr wrap="square">
            <a:spAutoFit/>
          </a:bodyPr>
          <a:lstStyle/>
          <a:p>
            <a:pPr algn="l"/>
            <a:r>
              <a:rPr sz="900" b="1" i="0">
                <a:solidFill>
                  <a:srgbClr val="8C5A2E"/>
                </a:solidFill>
                <a:latin typeface="Calibri"/>
              </a:rPr>
              <a:t>1.6.2</a:t>
            </a:r>
          </a:p>
        </p:txBody>
      </p:sp>
      <p:sp>
        <p:nvSpPr>
          <p:cNvPr id="83" name="TextBox 82"/>
          <p:cNvSpPr txBox="1"/>
          <p:nvPr/>
        </p:nvSpPr>
        <p:spPr>
          <a:xfrm>
            <a:off x="2" y="6"/>
            <a:ext cx="3" cy="1371600"/>
          </a:xfrm>
          <a:prstGeom prst="rect">
            <a:avLst/>
          </a:prstGeom>
          <a:noFill/>
        </p:spPr>
        <p:txBody>
          <a:bodyPr wrap="square">
            <a:spAutoFit/>
          </a:bodyPr>
          <a:lstStyle/>
          <a:p>
            <a:pPr algn="l"/>
            <a:r>
              <a:rPr sz="1000" b="0" i="0">
                <a:solidFill>
                  <a:srgbClr val="5C4F3F"/>
                </a:solidFill>
                <a:latin typeface="Calibri"/>
              </a:rPr>
              <a:t>  Technical Documentation</a:t>
            </a:r>
          </a:p>
        </p:txBody>
      </p:sp>
      <p:sp>
        <p:nvSpPr>
          <p:cNvPr id="84" name="Rectangle 83"/>
          <p:cNvSpPr/>
          <p:nvPr/>
        </p:nvSpPr>
        <p:spPr>
          <a:xfrm>
            <a:off x="10972525" y="6"/>
            <a:ext cx="4" cy="13716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582110" y="6"/>
            <a:ext cx="6705432" cy="1371600"/>
          </a:xfrm>
          <a:prstGeom prst="rect">
            <a:avLst/>
          </a:prstGeom>
          <a:noFill/>
        </p:spPr>
        <p:txBody>
          <a:bodyPr wrap="square">
            <a:spAutoFit/>
          </a:bodyPr>
          <a:lstStyle/>
          <a:p>
            <a:pPr algn="l"/>
            <a:r>
              <a:rPr sz="1000" b="1" i="0">
                <a:solidFill>
                  <a:srgbClr val="8C5A2E"/>
                </a:solidFill>
                <a:latin typeface="Calibri"/>
              </a:rPr>
              <a:t>1.7</a:t>
            </a:r>
          </a:p>
        </p:txBody>
      </p:sp>
      <p:sp>
        <p:nvSpPr>
          <p:cNvPr id="86" name="TextBox 85"/>
          <p:cNvSpPr txBox="1"/>
          <p:nvPr/>
        </p:nvSpPr>
        <p:spPr>
          <a:xfrm>
            <a:off x="1" y="6"/>
            <a:ext cx="3" cy="1371600"/>
          </a:xfrm>
          <a:prstGeom prst="rect">
            <a:avLst/>
          </a:prstGeom>
          <a:noFill/>
        </p:spPr>
        <p:txBody>
          <a:bodyPr wrap="square">
            <a:spAutoFit/>
          </a:bodyPr>
          <a:lstStyle/>
          <a:p>
            <a:pPr algn="l"/>
            <a:r>
              <a:rPr sz="1100" b="1" i="0">
                <a:solidFill>
                  <a:srgbClr val="2B2419"/>
                </a:solidFill>
                <a:latin typeface="Calibri"/>
              </a:rPr>
              <a:t>Presentation &amp; Submission</a:t>
            </a:r>
          </a:p>
        </p:txBody>
      </p:sp>
      <p:sp>
        <p:nvSpPr>
          <p:cNvPr id="87" name="Rectangle 86"/>
          <p:cNvSpPr/>
          <p:nvPr/>
        </p:nvSpPr>
        <p:spPr>
          <a:xfrm>
            <a:off x="1" y="7"/>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 y="7"/>
            <a:ext cx="6705432" cy="1371600"/>
          </a:xfrm>
          <a:prstGeom prst="rect">
            <a:avLst/>
          </a:prstGeom>
          <a:noFill/>
        </p:spPr>
        <p:txBody>
          <a:bodyPr wrap="square">
            <a:spAutoFit/>
          </a:bodyPr>
          <a:lstStyle/>
          <a:p>
            <a:pPr algn="l"/>
            <a:r>
              <a:rPr sz="900" b="1" i="0">
                <a:solidFill>
                  <a:srgbClr val="8C5A2E"/>
                </a:solidFill>
                <a:latin typeface="Calibri"/>
              </a:rPr>
              <a:t>1.7.1</a:t>
            </a:r>
          </a:p>
        </p:txBody>
      </p:sp>
      <p:sp>
        <p:nvSpPr>
          <p:cNvPr id="89" name="TextBox 88"/>
          <p:cNvSpPr txBox="1"/>
          <p:nvPr/>
        </p:nvSpPr>
        <p:spPr>
          <a:xfrm>
            <a:off x="2" y="7"/>
            <a:ext cx="3" cy="1371600"/>
          </a:xfrm>
          <a:prstGeom prst="rect">
            <a:avLst/>
          </a:prstGeom>
          <a:noFill/>
        </p:spPr>
        <p:txBody>
          <a:bodyPr wrap="square">
            <a:spAutoFit/>
          </a:bodyPr>
          <a:lstStyle/>
          <a:p>
            <a:pPr algn="l"/>
            <a:r>
              <a:rPr sz="1000" b="0" i="0">
                <a:solidFill>
                  <a:srgbClr val="5C4F3F"/>
                </a:solidFill>
                <a:latin typeface="Calibri"/>
              </a:rPr>
              <a:t>  Slide Deck</a:t>
            </a:r>
          </a:p>
        </p:txBody>
      </p:sp>
      <p:sp>
        <p:nvSpPr>
          <p:cNvPr id="90" name="Rectangle 89"/>
          <p:cNvSpPr/>
          <p:nvPr/>
        </p:nvSpPr>
        <p:spPr>
          <a:xfrm>
            <a:off x="1" y="7"/>
            <a:ext cx="4" cy="1371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 y="7"/>
            <a:ext cx="6705432" cy="1371600"/>
          </a:xfrm>
          <a:prstGeom prst="rect">
            <a:avLst/>
          </a:prstGeom>
          <a:noFill/>
        </p:spPr>
        <p:txBody>
          <a:bodyPr wrap="square">
            <a:spAutoFit/>
          </a:bodyPr>
          <a:lstStyle/>
          <a:p>
            <a:pPr algn="l"/>
            <a:r>
              <a:rPr sz="900" b="1" i="0">
                <a:solidFill>
                  <a:srgbClr val="8C5A2E"/>
                </a:solidFill>
                <a:latin typeface="Calibri"/>
              </a:rPr>
              <a:t>1.7.2</a:t>
            </a:r>
          </a:p>
        </p:txBody>
      </p:sp>
      <p:sp>
        <p:nvSpPr>
          <p:cNvPr id="92" name="TextBox 91"/>
          <p:cNvSpPr txBox="1"/>
          <p:nvPr/>
        </p:nvSpPr>
        <p:spPr>
          <a:xfrm>
            <a:off x="2" y="7"/>
            <a:ext cx="3" cy="1371600"/>
          </a:xfrm>
          <a:prstGeom prst="rect">
            <a:avLst/>
          </a:prstGeom>
          <a:noFill/>
        </p:spPr>
        <p:txBody>
          <a:bodyPr wrap="square">
            <a:spAutoFit/>
          </a:bodyPr>
          <a:lstStyle/>
          <a:p>
            <a:pPr algn="l"/>
            <a:r>
              <a:rPr sz="1000" b="0" i="0">
                <a:solidFill>
                  <a:srgbClr val="5C4F3F"/>
                </a:solidFill>
                <a:latin typeface="Calibri"/>
              </a:rPr>
              <a:t>  Rehearsal</a:t>
            </a:r>
          </a:p>
        </p:txBody>
      </p:sp>
      <p:sp>
        <p:nvSpPr>
          <p:cNvPr id="93" name="Rectangle 92"/>
          <p:cNvSpPr/>
          <p:nvPr/>
        </p:nvSpPr>
        <p:spPr>
          <a:xfrm>
            <a:off x="6" y="1"/>
            <a:ext cx="6" cy="20574"/>
          </a:xfrm>
          <a:prstGeom prst="rect">
            <a:avLst/>
          </a:prstGeom>
          <a:no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 y="1"/>
            <a:ext cx="6" cy="2743200"/>
          </a:xfrm>
          <a:prstGeom prst="rect">
            <a:avLst/>
          </a:prstGeom>
          <a:noFill/>
        </p:spPr>
        <p:txBody>
          <a:bodyPr wrap="square">
            <a:spAutoFit/>
          </a:bodyPr>
          <a:lstStyle/>
          <a:p>
            <a:pPr algn="l"/>
            <a:r>
              <a:rPr sz="1400" b="1" i="0">
                <a:solidFill>
                  <a:srgbClr val="2B2419"/>
                </a:solidFill>
                <a:latin typeface="Georgia"/>
              </a:rPr>
              <a:t>WBS Level 3 Hours Summary</a:t>
            </a:r>
          </a:p>
        </p:txBody>
      </p:sp>
      <p:sp>
        <p:nvSpPr>
          <p:cNvPr id="95" name="Rectangle 94"/>
          <p:cNvSpPr/>
          <p:nvPr/>
        </p:nvSpPr>
        <p:spPr>
          <a:xfrm>
            <a:off x="6" y="2"/>
            <a:ext cx="2" cy="30861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 y="2"/>
            <a:ext cx="1" cy="2606040"/>
          </a:xfrm>
          <a:prstGeom prst="rect">
            <a:avLst/>
          </a:prstGeom>
          <a:noFill/>
        </p:spPr>
        <p:txBody>
          <a:bodyPr wrap="square">
            <a:spAutoFit/>
          </a:bodyPr>
          <a:lstStyle/>
          <a:p>
            <a:pPr algn="l"/>
            <a:r>
              <a:rPr sz="1000" b="0" i="0">
                <a:solidFill>
                  <a:srgbClr val="8A7A66"/>
                </a:solidFill>
                <a:latin typeface="Calibri"/>
              </a:rPr>
              <a:t>1.1 PM</a:t>
            </a:r>
          </a:p>
        </p:txBody>
      </p:sp>
      <p:sp>
        <p:nvSpPr>
          <p:cNvPr id="97" name="TextBox 96"/>
          <p:cNvSpPr txBox="1"/>
          <p:nvPr/>
        </p:nvSpPr>
        <p:spPr>
          <a:xfrm>
            <a:off x="8" y="2"/>
            <a:ext cx="1" cy="2606040"/>
          </a:xfrm>
          <a:prstGeom prst="rect">
            <a:avLst/>
          </a:prstGeom>
          <a:noFill/>
        </p:spPr>
        <p:txBody>
          <a:bodyPr wrap="square">
            <a:spAutoFit/>
          </a:bodyPr>
          <a:lstStyle/>
          <a:p>
            <a:pPr algn="l"/>
            <a:r>
              <a:rPr sz="1400" b="1" i="0">
                <a:solidFill>
                  <a:srgbClr val="2B2419"/>
                </a:solidFill>
                <a:latin typeface="Georgia"/>
              </a:rPr>
              <a:t>60 h</a:t>
            </a:r>
          </a:p>
        </p:txBody>
      </p:sp>
      <p:sp>
        <p:nvSpPr>
          <p:cNvPr id="98" name="Rectangle 97"/>
          <p:cNvSpPr/>
          <p:nvPr/>
        </p:nvSpPr>
        <p:spPr>
          <a:xfrm>
            <a:off x="9" y="2"/>
            <a:ext cx="2" cy="30861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 y="2"/>
            <a:ext cx="1" cy="2606040"/>
          </a:xfrm>
          <a:prstGeom prst="rect">
            <a:avLst/>
          </a:prstGeom>
          <a:noFill/>
        </p:spPr>
        <p:txBody>
          <a:bodyPr wrap="square">
            <a:spAutoFit/>
          </a:bodyPr>
          <a:lstStyle/>
          <a:p>
            <a:pPr algn="l"/>
            <a:r>
              <a:rPr sz="1000" b="0" i="0">
                <a:solidFill>
                  <a:srgbClr val="8A7A66"/>
                </a:solidFill>
                <a:latin typeface="Calibri"/>
              </a:rPr>
              <a:t>1.2 Req</a:t>
            </a:r>
          </a:p>
        </p:txBody>
      </p:sp>
      <p:sp>
        <p:nvSpPr>
          <p:cNvPr id="100" name="TextBox 99"/>
          <p:cNvSpPr txBox="1"/>
          <p:nvPr/>
        </p:nvSpPr>
        <p:spPr>
          <a:xfrm>
            <a:off x="11" y="2"/>
            <a:ext cx="1" cy="2606040"/>
          </a:xfrm>
          <a:prstGeom prst="rect">
            <a:avLst/>
          </a:prstGeom>
          <a:noFill/>
        </p:spPr>
        <p:txBody>
          <a:bodyPr wrap="square">
            <a:spAutoFit/>
          </a:bodyPr>
          <a:lstStyle/>
          <a:p>
            <a:pPr algn="l"/>
            <a:r>
              <a:rPr sz="1400" b="1" i="0">
                <a:solidFill>
                  <a:srgbClr val="2B2419"/>
                </a:solidFill>
                <a:latin typeface="Georgia"/>
              </a:rPr>
              <a:t>50 h</a:t>
            </a:r>
          </a:p>
        </p:txBody>
      </p:sp>
      <p:sp>
        <p:nvSpPr>
          <p:cNvPr id="101" name="Rectangle 100"/>
          <p:cNvSpPr/>
          <p:nvPr/>
        </p:nvSpPr>
        <p:spPr>
          <a:xfrm>
            <a:off x="6" y="2"/>
            <a:ext cx="2" cy="30861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 y="2"/>
            <a:ext cx="1" cy="2606040"/>
          </a:xfrm>
          <a:prstGeom prst="rect">
            <a:avLst/>
          </a:prstGeom>
          <a:noFill/>
        </p:spPr>
        <p:txBody>
          <a:bodyPr wrap="square">
            <a:spAutoFit/>
          </a:bodyPr>
          <a:lstStyle/>
          <a:p>
            <a:pPr algn="l"/>
            <a:r>
              <a:rPr sz="1000" b="0" i="0">
                <a:solidFill>
                  <a:srgbClr val="8A7A66"/>
                </a:solidFill>
                <a:latin typeface="Calibri"/>
              </a:rPr>
              <a:t>1.3 Design</a:t>
            </a:r>
          </a:p>
        </p:txBody>
      </p:sp>
      <p:sp>
        <p:nvSpPr>
          <p:cNvPr id="103" name="TextBox 102"/>
          <p:cNvSpPr txBox="1"/>
          <p:nvPr/>
        </p:nvSpPr>
        <p:spPr>
          <a:xfrm>
            <a:off x="8" y="2"/>
            <a:ext cx="1" cy="2606040"/>
          </a:xfrm>
          <a:prstGeom prst="rect">
            <a:avLst/>
          </a:prstGeom>
          <a:noFill/>
        </p:spPr>
        <p:txBody>
          <a:bodyPr wrap="square">
            <a:spAutoFit/>
          </a:bodyPr>
          <a:lstStyle/>
          <a:p>
            <a:pPr algn="l"/>
            <a:r>
              <a:rPr sz="1400" b="1" i="0">
                <a:solidFill>
                  <a:srgbClr val="2B2419"/>
                </a:solidFill>
                <a:latin typeface="Georgia"/>
              </a:rPr>
              <a:t>80 h</a:t>
            </a:r>
          </a:p>
        </p:txBody>
      </p:sp>
      <p:sp>
        <p:nvSpPr>
          <p:cNvPr id="104" name="Rectangle 103"/>
          <p:cNvSpPr/>
          <p:nvPr/>
        </p:nvSpPr>
        <p:spPr>
          <a:xfrm>
            <a:off x="9" y="2"/>
            <a:ext cx="2" cy="30861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 y="2"/>
            <a:ext cx="1" cy="2606040"/>
          </a:xfrm>
          <a:prstGeom prst="rect">
            <a:avLst/>
          </a:prstGeom>
          <a:noFill/>
        </p:spPr>
        <p:txBody>
          <a:bodyPr wrap="square">
            <a:spAutoFit/>
          </a:bodyPr>
          <a:lstStyle/>
          <a:p>
            <a:pPr algn="l"/>
            <a:r>
              <a:rPr sz="1000" b="0" i="0">
                <a:solidFill>
                  <a:srgbClr val="8A7A66"/>
                </a:solidFill>
                <a:latin typeface="Calibri"/>
              </a:rPr>
              <a:t>1.4 Dev</a:t>
            </a:r>
          </a:p>
        </p:txBody>
      </p:sp>
      <p:sp>
        <p:nvSpPr>
          <p:cNvPr id="106" name="TextBox 105"/>
          <p:cNvSpPr txBox="1"/>
          <p:nvPr/>
        </p:nvSpPr>
        <p:spPr>
          <a:xfrm>
            <a:off x="11" y="2"/>
            <a:ext cx="1" cy="2606040"/>
          </a:xfrm>
          <a:prstGeom prst="rect">
            <a:avLst/>
          </a:prstGeom>
          <a:noFill/>
        </p:spPr>
        <p:txBody>
          <a:bodyPr wrap="square">
            <a:spAutoFit/>
          </a:bodyPr>
          <a:lstStyle/>
          <a:p>
            <a:pPr algn="l"/>
            <a:r>
              <a:rPr sz="1400" b="1" i="0">
                <a:solidFill>
                  <a:srgbClr val="2B2419"/>
                </a:solidFill>
                <a:latin typeface="Georgia"/>
              </a:rPr>
              <a:t>180 h</a:t>
            </a:r>
          </a:p>
        </p:txBody>
      </p:sp>
      <p:sp>
        <p:nvSpPr>
          <p:cNvPr id="107" name="Rectangle 106"/>
          <p:cNvSpPr/>
          <p:nvPr/>
        </p:nvSpPr>
        <p:spPr>
          <a:xfrm>
            <a:off x="6" y="3"/>
            <a:ext cx="2" cy="30861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 y="3"/>
            <a:ext cx="1" cy="2606040"/>
          </a:xfrm>
          <a:prstGeom prst="rect">
            <a:avLst/>
          </a:prstGeom>
          <a:noFill/>
        </p:spPr>
        <p:txBody>
          <a:bodyPr wrap="square">
            <a:spAutoFit/>
          </a:bodyPr>
          <a:lstStyle/>
          <a:p>
            <a:pPr algn="l"/>
            <a:r>
              <a:rPr sz="1000" b="0" i="0">
                <a:solidFill>
                  <a:srgbClr val="8A7A66"/>
                </a:solidFill>
                <a:latin typeface="Calibri"/>
              </a:rPr>
              <a:t>1.5 QA</a:t>
            </a:r>
          </a:p>
        </p:txBody>
      </p:sp>
      <p:sp>
        <p:nvSpPr>
          <p:cNvPr id="109" name="TextBox 108"/>
          <p:cNvSpPr txBox="1"/>
          <p:nvPr/>
        </p:nvSpPr>
        <p:spPr>
          <a:xfrm>
            <a:off x="8" y="3"/>
            <a:ext cx="1" cy="2606040"/>
          </a:xfrm>
          <a:prstGeom prst="rect">
            <a:avLst/>
          </a:prstGeom>
          <a:noFill/>
        </p:spPr>
        <p:txBody>
          <a:bodyPr wrap="square">
            <a:spAutoFit/>
          </a:bodyPr>
          <a:lstStyle/>
          <a:p>
            <a:pPr algn="l"/>
            <a:r>
              <a:rPr sz="1400" b="1" i="0">
                <a:solidFill>
                  <a:srgbClr val="2B2419"/>
                </a:solidFill>
                <a:latin typeface="Georgia"/>
              </a:rPr>
              <a:t>60 h</a:t>
            </a:r>
          </a:p>
        </p:txBody>
      </p:sp>
      <p:sp>
        <p:nvSpPr>
          <p:cNvPr id="110" name="Rectangle 109"/>
          <p:cNvSpPr/>
          <p:nvPr/>
        </p:nvSpPr>
        <p:spPr>
          <a:xfrm>
            <a:off x="9" y="3"/>
            <a:ext cx="2" cy="30861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 y="3"/>
            <a:ext cx="1" cy="2606040"/>
          </a:xfrm>
          <a:prstGeom prst="rect">
            <a:avLst/>
          </a:prstGeom>
          <a:noFill/>
        </p:spPr>
        <p:txBody>
          <a:bodyPr wrap="square">
            <a:spAutoFit/>
          </a:bodyPr>
          <a:lstStyle/>
          <a:p>
            <a:pPr algn="l"/>
            <a:r>
              <a:rPr sz="1000" b="0" i="0">
                <a:solidFill>
                  <a:srgbClr val="8A7A66"/>
                </a:solidFill>
                <a:latin typeface="Calibri"/>
              </a:rPr>
              <a:t>1.6 Docs</a:t>
            </a:r>
          </a:p>
        </p:txBody>
      </p:sp>
      <p:sp>
        <p:nvSpPr>
          <p:cNvPr id="112" name="TextBox 111"/>
          <p:cNvSpPr txBox="1"/>
          <p:nvPr/>
        </p:nvSpPr>
        <p:spPr>
          <a:xfrm>
            <a:off x="11" y="3"/>
            <a:ext cx="1" cy="2606040"/>
          </a:xfrm>
          <a:prstGeom prst="rect">
            <a:avLst/>
          </a:prstGeom>
          <a:noFill/>
        </p:spPr>
        <p:txBody>
          <a:bodyPr wrap="square">
            <a:spAutoFit/>
          </a:bodyPr>
          <a:lstStyle/>
          <a:p>
            <a:pPr algn="l"/>
            <a:r>
              <a:rPr sz="1400" b="1" i="0">
                <a:solidFill>
                  <a:srgbClr val="2B2419"/>
                </a:solidFill>
                <a:latin typeface="Georgia"/>
              </a:rPr>
              <a:t>30 h</a:t>
            </a:r>
          </a:p>
        </p:txBody>
      </p:sp>
      <p:sp>
        <p:nvSpPr>
          <p:cNvPr id="113" name="Rectangle 112"/>
          <p:cNvSpPr/>
          <p:nvPr/>
        </p:nvSpPr>
        <p:spPr>
          <a:xfrm>
            <a:off x="6" y="3"/>
            <a:ext cx="2" cy="30861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 y="3"/>
            <a:ext cx="1" cy="2606040"/>
          </a:xfrm>
          <a:prstGeom prst="rect">
            <a:avLst/>
          </a:prstGeom>
          <a:noFill/>
        </p:spPr>
        <p:txBody>
          <a:bodyPr wrap="square">
            <a:spAutoFit/>
          </a:bodyPr>
          <a:lstStyle/>
          <a:p>
            <a:pPr algn="l"/>
            <a:r>
              <a:rPr sz="1000" b="0" i="0">
                <a:solidFill>
                  <a:srgbClr val="8A7A66"/>
                </a:solidFill>
                <a:latin typeface="Calibri"/>
              </a:rPr>
              <a:t>1.7 Pres</a:t>
            </a:r>
          </a:p>
        </p:txBody>
      </p:sp>
      <p:sp>
        <p:nvSpPr>
          <p:cNvPr id="115" name="TextBox 114"/>
          <p:cNvSpPr txBox="1"/>
          <p:nvPr/>
        </p:nvSpPr>
        <p:spPr>
          <a:xfrm>
            <a:off x="8" y="3"/>
            <a:ext cx="1" cy="2606040"/>
          </a:xfrm>
          <a:prstGeom prst="rect">
            <a:avLst/>
          </a:prstGeom>
          <a:noFill/>
        </p:spPr>
        <p:txBody>
          <a:bodyPr wrap="square">
            <a:spAutoFit/>
          </a:bodyPr>
          <a:lstStyle/>
          <a:p>
            <a:pPr algn="l"/>
            <a:r>
              <a:rPr sz="1400" b="1" i="0">
                <a:solidFill>
                  <a:srgbClr val="2B2419"/>
                </a:solidFill>
                <a:latin typeface="Georgia"/>
              </a:rPr>
              <a:t>20 h</a:t>
            </a:r>
          </a:p>
        </p:txBody>
      </p:sp>
      <p:sp>
        <p:nvSpPr>
          <p:cNvPr id="116" name="Rectangle 115"/>
          <p:cNvSpPr/>
          <p:nvPr/>
        </p:nvSpPr>
        <p:spPr>
          <a:xfrm>
            <a:off x="6" y="4"/>
            <a:ext cx="6"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 y="4"/>
            <a:ext cx="6" cy="2743200"/>
          </a:xfrm>
          <a:prstGeom prst="rect">
            <a:avLst/>
          </a:prstGeom>
          <a:noFill/>
        </p:spPr>
        <p:txBody>
          <a:bodyPr wrap="square">
            <a:spAutoFit/>
          </a:bodyPr>
          <a:lstStyle/>
          <a:p>
            <a:pPr algn="l"/>
            <a:r>
              <a:rPr sz="1100" b="1" i="0">
                <a:solidFill>
                  <a:srgbClr val="2B2419"/>
                </a:solidFill>
                <a:latin typeface="Calibri"/>
              </a:rPr>
              <a:t>Total Labor: 480 hours × 50,000 VND/h = 24,000,000 VND</a:t>
            </a:r>
          </a:p>
        </p:txBody>
      </p:sp>
      <p:sp>
        <p:nvSpPr>
          <p:cNvPr id="118" name="TextBox 117"/>
          <p:cNvSpPr txBox="1"/>
          <p:nvPr/>
        </p:nvSpPr>
        <p:spPr>
          <a:xfrm>
            <a:off x="6" y="4"/>
            <a:ext cx="6" cy="2057400"/>
          </a:xfrm>
          <a:prstGeom prst="rect">
            <a:avLst/>
          </a:prstGeom>
          <a:noFill/>
        </p:spPr>
        <p:txBody>
          <a:bodyPr wrap="square">
            <a:spAutoFit/>
          </a:bodyPr>
          <a:lstStyle/>
          <a:p>
            <a:pPr algn="l"/>
            <a:r>
              <a:rPr sz="1100" b="0" i="1">
                <a:solidFill>
                  <a:srgbClr val="8A7A66"/>
                </a:solidFill>
                <a:latin typeface="Calibri"/>
              </a:rPr>
              <a:t>→ See Budget Rollup in Section IV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356" y="1"/>
            <a:ext cx="2" cy="1"/>
          </a:xfrm>
          <a:prstGeom prst="rect">
            <a:avLst/>
          </a:prstGeom>
          <a:noFill/>
        </p:spPr>
        <p:txBody>
          <a:bodyPr wrap="square">
            <a:spAutoFit/>
          </a:bodyPr>
          <a:lstStyle/>
          <a:p>
            <a:pPr algn="l"/>
            <a:r>
              <a:rPr sz="12000" b="0" i="1">
                <a:solidFill>
                  <a:srgbClr val="8C5A2E"/>
                </a:solidFill>
                <a:latin typeface="Georgia"/>
              </a:rPr>
              <a:t>§</a:t>
            </a:r>
          </a:p>
        </p:txBody>
      </p:sp>
      <p:sp>
        <p:nvSpPr>
          <p:cNvPr id="6" name="TextBox 5"/>
          <p:cNvSpPr txBox="1"/>
          <p:nvPr/>
        </p:nvSpPr>
        <p:spPr>
          <a:xfrm>
            <a:off x="2" y="1"/>
            <a:ext cx="2" cy="1"/>
          </a:xfrm>
          <a:prstGeom prst="rect">
            <a:avLst/>
          </a:prstGeom>
          <a:noFill/>
        </p:spPr>
        <p:txBody>
          <a:bodyPr wrap="square">
            <a:spAutoFit/>
          </a:bodyPr>
          <a:lstStyle/>
          <a:p>
            <a:pPr algn="l"/>
            <a:r>
              <a:rPr sz="4800" b="0" i="1">
                <a:solidFill>
                  <a:srgbClr val="E8D5BC"/>
                </a:solidFill>
                <a:latin typeface="Georgia"/>
              </a:rPr>
              <a:t>III</a:t>
            </a:r>
          </a:p>
        </p:txBody>
      </p:sp>
      <p:sp>
        <p:nvSpPr>
          <p:cNvPr id="7" name="TextBox 6"/>
          <p:cNvSpPr txBox="1"/>
          <p:nvPr/>
        </p:nvSpPr>
        <p:spPr>
          <a:xfrm>
            <a:off x="9753356" y="3"/>
            <a:ext cx="11" cy="1"/>
          </a:xfrm>
          <a:prstGeom prst="rect">
            <a:avLst/>
          </a:prstGeom>
          <a:noFill/>
        </p:spPr>
        <p:txBody>
          <a:bodyPr wrap="square">
            <a:spAutoFit/>
          </a:bodyPr>
          <a:lstStyle/>
          <a:p>
            <a:pPr algn="l"/>
            <a:r>
              <a:rPr sz="4400" b="1" i="0">
                <a:solidFill>
                  <a:srgbClr val="2B2419"/>
                </a:solidFill>
                <a:latin typeface="Georgia"/>
              </a:rPr>
              <a:t>Timeline &amp; Milestones</a:t>
            </a:r>
          </a:p>
        </p:txBody>
      </p:sp>
      <p:sp>
        <p:nvSpPr>
          <p:cNvPr id="8" name="TextBox 7"/>
          <p:cNvSpPr txBox="1"/>
          <p:nvPr/>
        </p:nvSpPr>
        <p:spPr>
          <a:xfrm>
            <a:off x="9753356" y="4"/>
            <a:ext cx="10" cy="3429000"/>
          </a:xfrm>
          <a:prstGeom prst="rect">
            <a:avLst/>
          </a:prstGeom>
          <a:noFill/>
        </p:spPr>
        <p:txBody>
          <a:bodyPr wrap="square">
            <a:spAutoFit/>
          </a:bodyPr>
          <a:lstStyle/>
          <a:p>
            <a:pPr algn="l"/>
            <a:r>
              <a:rPr sz="1400" b="0" i="1">
                <a:solidFill>
                  <a:srgbClr val="8A7A66"/>
                </a:solidFill>
                <a:latin typeface="Calibri"/>
              </a:rPr>
              <a:t>CLO 2, 4, 5 · Ch. 4, 8, 10</a:t>
            </a:r>
          </a:p>
        </p:txBody>
      </p:sp>
      <p:sp>
        <p:nvSpPr>
          <p:cNvPr id="9" name="Rectangle 8"/>
          <p:cNvSpPr/>
          <p:nvPr/>
        </p:nvSpPr>
        <p:spPr>
          <a:xfrm>
            <a:off x="975335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TIMELINE &amp; MILESTONES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Gantt Chart — 14-Week Timeline</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6 / 24</a:t>
            </a:r>
          </a:p>
        </p:txBody>
      </p:sp>
      <p:sp>
        <p:nvSpPr>
          <p:cNvPr id="9" name="TextBox 8"/>
          <p:cNvSpPr txBox="1"/>
          <p:nvPr/>
        </p:nvSpPr>
        <p:spPr>
          <a:xfrm>
            <a:off x="8534186" y="1"/>
            <a:ext cx="1" cy="2400300"/>
          </a:xfrm>
          <a:prstGeom prst="rect">
            <a:avLst/>
          </a:prstGeom>
          <a:noFill/>
        </p:spPr>
        <p:txBody>
          <a:bodyPr wrap="square">
            <a:spAutoFit/>
          </a:bodyPr>
          <a:lstStyle/>
          <a:p>
            <a:pPr algn="l"/>
            <a:r>
              <a:rPr sz="900" b="1" i="0">
                <a:solidFill>
                  <a:srgbClr val="8A7A66"/>
                </a:solidFill>
                <a:latin typeface="Calibri"/>
              </a:rPr>
              <a:t>WBS</a:t>
            </a:r>
          </a:p>
        </p:txBody>
      </p:sp>
      <p:sp>
        <p:nvSpPr>
          <p:cNvPr id="10" name="Rectangle 9"/>
          <p:cNvSpPr/>
          <p:nvPr/>
        </p:nvSpPr>
        <p:spPr>
          <a:xfrm>
            <a:off x="2"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 y="1"/>
            <a:ext cx="8899937" cy="2400300"/>
          </a:xfrm>
          <a:prstGeom prst="rect">
            <a:avLst/>
          </a:prstGeom>
          <a:noFill/>
        </p:spPr>
        <p:txBody>
          <a:bodyPr wrap="square">
            <a:spAutoFit/>
          </a:bodyPr>
          <a:lstStyle/>
          <a:p>
            <a:pPr algn="ctr"/>
            <a:r>
              <a:rPr sz="900" b="1" i="0">
                <a:solidFill>
                  <a:srgbClr val="2B2419"/>
                </a:solidFill>
                <a:latin typeface="Calibri"/>
              </a:rPr>
              <a:t>W1</a:t>
            </a:r>
          </a:p>
        </p:txBody>
      </p:sp>
      <p:sp>
        <p:nvSpPr>
          <p:cNvPr id="12" name="Rectangle 11"/>
          <p:cNvSpPr/>
          <p:nvPr/>
        </p:nvSpPr>
        <p:spPr>
          <a:xfrm>
            <a:off x="3"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 y="1"/>
            <a:ext cx="8899937" cy="2400300"/>
          </a:xfrm>
          <a:prstGeom prst="rect">
            <a:avLst/>
          </a:prstGeom>
          <a:noFill/>
        </p:spPr>
        <p:txBody>
          <a:bodyPr wrap="square">
            <a:spAutoFit/>
          </a:bodyPr>
          <a:lstStyle/>
          <a:p>
            <a:pPr algn="ctr"/>
            <a:r>
              <a:rPr sz="900" b="1" i="0">
                <a:solidFill>
                  <a:srgbClr val="2B2419"/>
                </a:solidFill>
                <a:latin typeface="Calibri"/>
              </a:rPr>
              <a:t>W2</a:t>
            </a:r>
          </a:p>
        </p:txBody>
      </p:sp>
      <p:sp>
        <p:nvSpPr>
          <p:cNvPr id="14" name="Rectangle 13"/>
          <p:cNvSpPr/>
          <p:nvPr/>
        </p:nvSpPr>
        <p:spPr>
          <a:xfrm>
            <a:off x="3"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 y="1"/>
            <a:ext cx="8899937" cy="2400300"/>
          </a:xfrm>
          <a:prstGeom prst="rect">
            <a:avLst/>
          </a:prstGeom>
          <a:noFill/>
        </p:spPr>
        <p:txBody>
          <a:bodyPr wrap="square">
            <a:spAutoFit/>
          </a:bodyPr>
          <a:lstStyle/>
          <a:p>
            <a:pPr algn="ctr"/>
            <a:r>
              <a:rPr sz="900" b="1" i="0">
                <a:solidFill>
                  <a:srgbClr val="2B2419"/>
                </a:solidFill>
                <a:latin typeface="Calibri"/>
              </a:rPr>
              <a:t>W3</a:t>
            </a:r>
          </a:p>
        </p:txBody>
      </p:sp>
      <p:sp>
        <p:nvSpPr>
          <p:cNvPr id="16" name="Rectangle 15"/>
          <p:cNvSpPr/>
          <p:nvPr/>
        </p:nvSpPr>
        <p:spPr>
          <a:xfrm>
            <a:off x="4"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 y="1"/>
            <a:ext cx="8899937" cy="2400300"/>
          </a:xfrm>
          <a:prstGeom prst="rect">
            <a:avLst/>
          </a:prstGeom>
          <a:noFill/>
        </p:spPr>
        <p:txBody>
          <a:bodyPr wrap="square">
            <a:spAutoFit/>
          </a:bodyPr>
          <a:lstStyle/>
          <a:p>
            <a:pPr algn="ctr"/>
            <a:r>
              <a:rPr sz="900" b="1" i="0">
                <a:solidFill>
                  <a:srgbClr val="2B2419"/>
                </a:solidFill>
                <a:latin typeface="Calibri"/>
              </a:rPr>
              <a:t>W4</a:t>
            </a:r>
          </a:p>
        </p:txBody>
      </p:sp>
      <p:sp>
        <p:nvSpPr>
          <p:cNvPr id="18" name="Rectangle 17"/>
          <p:cNvSpPr/>
          <p:nvPr/>
        </p:nvSpPr>
        <p:spPr>
          <a:xfrm>
            <a:off x="5"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 y="1"/>
            <a:ext cx="8899937" cy="2400300"/>
          </a:xfrm>
          <a:prstGeom prst="rect">
            <a:avLst/>
          </a:prstGeom>
          <a:noFill/>
        </p:spPr>
        <p:txBody>
          <a:bodyPr wrap="square">
            <a:spAutoFit/>
          </a:bodyPr>
          <a:lstStyle/>
          <a:p>
            <a:pPr algn="ctr"/>
            <a:r>
              <a:rPr sz="900" b="1" i="0">
                <a:solidFill>
                  <a:srgbClr val="2B2419"/>
                </a:solidFill>
                <a:latin typeface="Calibri"/>
              </a:rPr>
              <a:t>W5</a:t>
            </a:r>
          </a:p>
        </p:txBody>
      </p:sp>
      <p:sp>
        <p:nvSpPr>
          <p:cNvPr id="20" name="Rectangle 19"/>
          <p:cNvSpPr/>
          <p:nvPr/>
        </p:nvSpPr>
        <p:spPr>
          <a:xfrm>
            <a:off x="6"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 y="1"/>
            <a:ext cx="8899937" cy="2400300"/>
          </a:xfrm>
          <a:prstGeom prst="rect">
            <a:avLst/>
          </a:prstGeom>
          <a:noFill/>
        </p:spPr>
        <p:txBody>
          <a:bodyPr wrap="square">
            <a:spAutoFit/>
          </a:bodyPr>
          <a:lstStyle/>
          <a:p>
            <a:pPr algn="ctr"/>
            <a:r>
              <a:rPr sz="900" b="1" i="0">
                <a:solidFill>
                  <a:srgbClr val="2B2419"/>
                </a:solidFill>
                <a:latin typeface="Calibri"/>
              </a:rPr>
              <a:t>W6</a:t>
            </a:r>
          </a:p>
        </p:txBody>
      </p:sp>
      <p:sp>
        <p:nvSpPr>
          <p:cNvPr id="22" name="Rectangle 21"/>
          <p:cNvSpPr/>
          <p:nvPr/>
        </p:nvSpPr>
        <p:spPr>
          <a:xfrm>
            <a:off x="6"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 y="1"/>
            <a:ext cx="8899937" cy="2400300"/>
          </a:xfrm>
          <a:prstGeom prst="rect">
            <a:avLst/>
          </a:prstGeom>
          <a:noFill/>
        </p:spPr>
        <p:txBody>
          <a:bodyPr wrap="square">
            <a:spAutoFit/>
          </a:bodyPr>
          <a:lstStyle/>
          <a:p>
            <a:pPr algn="ctr"/>
            <a:r>
              <a:rPr sz="900" b="1" i="0">
                <a:solidFill>
                  <a:srgbClr val="2B2419"/>
                </a:solidFill>
                <a:latin typeface="Calibri"/>
              </a:rPr>
              <a:t>W7</a:t>
            </a:r>
          </a:p>
        </p:txBody>
      </p:sp>
      <p:sp>
        <p:nvSpPr>
          <p:cNvPr id="24" name="Rectangle 23"/>
          <p:cNvSpPr/>
          <p:nvPr/>
        </p:nvSpPr>
        <p:spPr>
          <a:xfrm>
            <a:off x="7"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 y="1"/>
            <a:ext cx="8899937" cy="2400300"/>
          </a:xfrm>
          <a:prstGeom prst="rect">
            <a:avLst/>
          </a:prstGeom>
          <a:noFill/>
        </p:spPr>
        <p:txBody>
          <a:bodyPr wrap="square">
            <a:spAutoFit/>
          </a:bodyPr>
          <a:lstStyle/>
          <a:p>
            <a:pPr algn="ctr"/>
            <a:r>
              <a:rPr sz="900" b="1" i="0">
                <a:solidFill>
                  <a:srgbClr val="2B2419"/>
                </a:solidFill>
                <a:latin typeface="Calibri"/>
              </a:rPr>
              <a:t>W8</a:t>
            </a:r>
          </a:p>
        </p:txBody>
      </p:sp>
      <p:sp>
        <p:nvSpPr>
          <p:cNvPr id="26" name="Rectangle 25"/>
          <p:cNvSpPr/>
          <p:nvPr/>
        </p:nvSpPr>
        <p:spPr>
          <a:xfrm>
            <a:off x="8"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 y="1"/>
            <a:ext cx="8899937" cy="2400300"/>
          </a:xfrm>
          <a:prstGeom prst="rect">
            <a:avLst/>
          </a:prstGeom>
          <a:noFill/>
        </p:spPr>
        <p:txBody>
          <a:bodyPr wrap="square">
            <a:spAutoFit/>
          </a:bodyPr>
          <a:lstStyle/>
          <a:p>
            <a:pPr algn="ctr"/>
            <a:r>
              <a:rPr sz="900" b="1" i="0">
                <a:solidFill>
                  <a:srgbClr val="2B2419"/>
                </a:solidFill>
                <a:latin typeface="Calibri"/>
              </a:rPr>
              <a:t>W9</a:t>
            </a:r>
          </a:p>
        </p:txBody>
      </p:sp>
      <p:sp>
        <p:nvSpPr>
          <p:cNvPr id="28" name="Rectangle 27"/>
          <p:cNvSpPr/>
          <p:nvPr/>
        </p:nvSpPr>
        <p:spPr>
          <a:xfrm>
            <a:off x="9"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 y="1"/>
            <a:ext cx="8899937" cy="2400300"/>
          </a:xfrm>
          <a:prstGeom prst="rect">
            <a:avLst/>
          </a:prstGeom>
          <a:noFill/>
        </p:spPr>
        <p:txBody>
          <a:bodyPr wrap="square">
            <a:spAutoFit/>
          </a:bodyPr>
          <a:lstStyle/>
          <a:p>
            <a:pPr algn="ctr"/>
            <a:r>
              <a:rPr sz="900" b="1" i="0">
                <a:solidFill>
                  <a:srgbClr val="2B2419"/>
                </a:solidFill>
                <a:latin typeface="Calibri"/>
              </a:rPr>
              <a:t>W10</a:t>
            </a:r>
          </a:p>
        </p:txBody>
      </p:sp>
      <p:sp>
        <p:nvSpPr>
          <p:cNvPr id="30" name="Rectangle 29"/>
          <p:cNvSpPr/>
          <p:nvPr/>
        </p:nvSpPr>
        <p:spPr>
          <a:xfrm>
            <a:off x="9"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 y="1"/>
            <a:ext cx="8899937" cy="2400300"/>
          </a:xfrm>
          <a:prstGeom prst="rect">
            <a:avLst/>
          </a:prstGeom>
          <a:noFill/>
        </p:spPr>
        <p:txBody>
          <a:bodyPr wrap="square">
            <a:spAutoFit/>
          </a:bodyPr>
          <a:lstStyle/>
          <a:p>
            <a:pPr algn="ctr"/>
            <a:r>
              <a:rPr sz="900" b="1" i="0">
                <a:solidFill>
                  <a:srgbClr val="2B2419"/>
                </a:solidFill>
                <a:latin typeface="Calibri"/>
              </a:rPr>
              <a:t>W11</a:t>
            </a:r>
          </a:p>
        </p:txBody>
      </p:sp>
      <p:sp>
        <p:nvSpPr>
          <p:cNvPr id="32" name="Rectangle 31"/>
          <p:cNvSpPr/>
          <p:nvPr/>
        </p:nvSpPr>
        <p:spPr>
          <a:xfrm>
            <a:off x="10"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 y="1"/>
            <a:ext cx="8899937" cy="2400300"/>
          </a:xfrm>
          <a:prstGeom prst="rect">
            <a:avLst/>
          </a:prstGeom>
          <a:noFill/>
        </p:spPr>
        <p:txBody>
          <a:bodyPr wrap="square">
            <a:spAutoFit/>
          </a:bodyPr>
          <a:lstStyle/>
          <a:p>
            <a:pPr algn="ctr"/>
            <a:r>
              <a:rPr sz="900" b="1" i="0">
                <a:solidFill>
                  <a:srgbClr val="2B2419"/>
                </a:solidFill>
                <a:latin typeface="Calibri"/>
              </a:rPr>
              <a:t>W12</a:t>
            </a:r>
          </a:p>
        </p:txBody>
      </p:sp>
      <p:sp>
        <p:nvSpPr>
          <p:cNvPr id="34" name="Rectangle 33"/>
          <p:cNvSpPr/>
          <p:nvPr/>
        </p:nvSpPr>
        <p:spPr>
          <a:xfrm>
            <a:off x="11"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 y="1"/>
            <a:ext cx="8899937" cy="2400300"/>
          </a:xfrm>
          <a:prstGeom prst="rect">
            <a:avLst/>
          </a:prstGeom>
          <a:noFill/>
        </p:spPr>
        <p:txBody>
          <a:bodyPr wrap="square">
            <a:spAutoFit/>
          </a:bodyPr>
          <a:lstStyle/>
          <a:p>
            <a:pPr algn="ctr"/>
            <a:r>
              <a:rPr sz="900" b="1" i="0">
                <a:solidFill>
                  <a:srgbClr val="2B2419"/>
                </a:solidFill>
                <a:latin typeface="Calibri"/>
              </a:rPr>
              <a:t>W13</a:t>
            </a:r>
          </a:p>
        </p:txBody>
      </p:sp>
      <p:sp>
        <p:nvSpPr>
          <p:cNvPr id="36" name="Rectangle 35"/>
          <p:cNvSpPr/>
          <p:nvPr/>
        </p:nvSpPr>
        <p:spPr>
          <a:xfrm>
            <a:off x="12" y="1"/>
            <a:ext cx="8899937" cy="2400300"/>
          </a:xfrm>
          <a:prstGeom prst="rect">
            <a:avLst/>
          </a:prstGeom>
          <a:solidFill>
            <a:srgbClr val="EDE4D3"/>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 y="1"/>
            <a:ext cx="8899937" cy="2400300"/>
          </a:xfrm>
          <a:prstGeom prst="rect">
            <a:avLst/>
          </a:prstGeom>
          <a:noFill/>
        </p:spPr>
        <p:txBody>
          <a:bodyPr wrap="square">
            <a:spAutoFit/>
          </a:bodyPr>
          <a:lstStyle/>
          <a:p>
            <a:pPr algn="ctr"/>
            <a:r>
              <a:rPr sz="900" b="1" i="0">
                <a:solidFill>
                  <a:srgbClr val="2B2419"/>
                </a:solidFill>
                <a:latin typeface="Calibri"/>
              </a:rPr>
              <a:t>W14</a:t>
            </a:r>
          </a:p>
        </p:txBody>
      </p:sp>
      <p:sp>
        <p:nvSpPr>
          <p:cNvPr id="38" name="TextBox 37"/>
          <p:cNvSpPr txBox="1"/>
          <p:nvPr/>
        </p:nvSpPr>
        <p:spPr>
          <a:xfrm>
            <a:off x="8534186" y="1"/>
            <a:ext cx="6705432" cy="1645920"/>
          </a:xfrm>
          <a:prstGeom prst="rect">
            <a:avLst/>
          </a:prstGeom>
          <a:noFill/>
        </p:spPr>
        <p:txBody>
          <a:bodyPr wrap="square">
            <a:spAutoFit/>
          </a:bodyPr>
          <a:lstStyle/>
          <a:p>
            <a:pPr algn="l"/>
            <a:r>
              <a:rPr sz="700" b="1" i="0">
                <a:solidFill>
                  <a:srgbClr val="8C5A2E"/>
                </a:solidFill>
                <a:latin typeface="Calibri"/>
              </a:rPr>
              <a:t>1.1.1</a:t>
            </a:r>
          </a:p>
        </p:txBody>
      </p:sp>
      <p:sp>
        <p:nvSpPr>
          <p:cNvPr id="39" name="TextBox 38"/>
          <p:cNvSpPr txBox="1"/>
          <p:nvPr/>
        </p:nvSpPr>
        <p:spPr>
          <a:xfrm>
            <a:off x="1" y="1"/>
            <a:ext cx="1" cy="1645920"/>
          </a:xfrm>
          <a:prstGeom prst="rect">
            <a:avLst/>
          </a:prstGeom>
          <a:noFill/>
        </p:spPr>
        <p:txBody>
          <a:bodyPr wrap="square">
            <a:spAutoFit/>
          </a:bodyPr>
          <a:lstStyle/>
          <a:p>
            <a:pPr algn="l"/>
            <a:r>
              <a:rPr sz="700" b="0" i="0">
                <a:solidFill>
                  <a:srgbClr val="2B2419"/>
                </a:solidFill>
                <a:latin typeface="Calibri"/>
              </a:rPr>
              <a:t>Charter &amp; Kickoff</a:t>
            </a:r>
          </a:p>
        </p:txBody>
      </p:sp>
      <p:sp>
        <p:nvSpPr>
          <p:cNvPr id="40" name="Rectangle 39"/>
          <p:cNvSpPr/>
          <p:nvPr/>
        </p:nvSpPr>
        <p:spPr>
          <a:xfrm>
            <a:off x="2" y="1"/>
            <a:ext cx="1" cy="123444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 y="1"/>
            <a:ext cx="1" cy="1234440"/>
          </a:xfrm>
          <a:prstGeom prst="rect">
            <a:avLst/>
          </a:prstGeom>
          <a:noFill/>
        </p:spPr>
        <p:txBody>
          <a:bodyPr wrap="square">
            <a:spAutoFit/>
          </a:bodyPr>
          <a:lstStyle/>
          <a:p>
            <a:pPr algn="ctr"/>
            <a:r>
              <a:rPr sz="600" b="0" i="0">
                <a:solidFill>
                  <a:srgbClr val="FFFFFF"/>
                </a:solidFill>
                <a:latin typeface="Calibri"/>
              </a:rPr>
              <a:t>Đức</a:t>
            </a:r>
          </a:p>
        </p:txBody>
      </p:sp>
      <p:sp>
        <p:nvSpPr>
          <p:cNvPr id="42" name="TextBox 41"/>
          <p:cNvSpPr txBox="1"/>
          <p:nvPr/>
        </p:nvSpPr>
        <p:spPr>
          <a:xfrm>
            <a:off x="8534186" y="2"/>
            <a:ext cx="6705432" cy="1645920"/>
          </a:xfrm>
          <a:prstGeom prst="rect">
            <a:avLst/>
          </a:prstGeom>
          <a:noFill/>
        </p:spPr>
        <p:txBody>
          <a:bodyPr wrap="square">
            <a:spAutoFit/>
          </a:bodyPr>
          <a:lstStyle/>
          <a:p>
            <a:pPr algn="l"/>
            <a:r>
              <a:rPr sz="700" b="1" i="0">
                <a:solidFill>
                  <a:srgbClr val="8C5A2E"/>
                </a:solidFill>
                <a:latin typeface="Calibri"/>
              </a:rPr>
              <a:t>1.1.2</a:t>
            </a:r>
          </a:p>
        </p:txBody>
      </p:sp>
      <p:sp>
        <p:nvSpPr>
          <p:cNvPr id="43" name="TextBox 42"/>
          <p:cNvSpPr txBox="1"/>
          <p:nvPr/>
        </p:nvSpPr>
        <p:spPr>
          <a:xfrm>
            <a:off x="1" y="2"/>
            <a:ext cx="1" cy="1645920"/>
          </a:xfrm>
          <a:prstGeom prst="rect">
            <a:avLst/>
          </a:prstGeom>
          <a:noFill/>
        </p:spPr>
        <p:txBody>
          <a:bodyPr wrap="square">
            <a:spAutoFit/>
          </a:bodyPr>
          <a:lstStyle/>
          <a:p>
            <a:pPr algn="l"/>
            <a:r>
              <a:rPr sz="700" b="0" i="0">
                <a:solidFill>
                  <a:srgbClr val="2B2419"/>
                </a:solidFill>
                <a:latin typeface="Calibri"/>
              </a:rPr>
              <a:t>Status Meetings</a:t>
            </a:r>
          </a:p>
        </p:txBody>
      </p:sp>
      <p:sp>
        <p:nvSpPr>
          <p:cNvPr id="44" name="Rectangle 43"/>
          <p:cNvSpPr/>
          <p:nvPr/>
        </p:nvSpPr>
        <p:spPr>
          <a:xfrm>
            <a:off x="2" y="2"/>
            <a:ext cx="10"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 y="2"/>
            <a:ext cx="10" cy="1234440"/>
          </a:xfrm>
          <a:prstGeom prst="rect">
            <a:avLst/>
          </a:prstGeom>
          <a:noFill/>
        </p:spPr>
        <p:txBody>
          <a:bodyPr wrap="square">
            <a:spAutoFit/>
          </a:bodyPr>
          <a:lstStyle/>
          <a:p>
            <a:pPr algn="ctr"/>
            <a:r>
              <a:rPr sz="600" b="0" i="0">
                <a:solidFill>
                  <a:srgbClr val="2B2419"/>
                </a:solidFill>
                <a:latin typeface="Calibri"/>
              </a:rPr>
              <a:t>Đức</a:t>
            </a:r>
          </a:p>
        </p:txBody>
      </p:sp>
      <p:sp>
        <p:nvSpPr>
          <p:cNvPr id="46" name="TextBox 45"/>
          <p:cNvSpPr txBox="1"/>
          <p:nvPr/>
        </p:nvSpPr>
        <p:spPr>
          <a:xfrm>
            <a:off x="8534186" y="2"/>
            <a:ext cx="6705432" cy="1645920"/>
          </a:xfrm>
          <a:prstGeom prst="rect">
            <a:avLst/>
          </a:prstGeom>
          <a:noFill/>
        </p:spPr>
        <p:txBody>
          <a:bodyPr wrap="square">
            <a:spAutoFit/>
          </a:bodyPr>
          <a:lstStyle/>
          <a:p>
            <a:pPr algn="l"/>
            <a:r>
              <a:rPr sz="700" b="1" i="0">
                <a:solidFill>
                  <a:srgbClr val="8C5A2E"/>
                </a:solidFill>
                <a:latin typeface="Calibri"/>
              </a:rPr>
              <a:t>1.1.3</a:t>
            </a:r>
          </a:p>
        </p:txBody>
      </p:sp>
      <p:sp>
        <p:nvSpPr>
          <p:cNvPr id="47" name="TextBox 46"/>
          <p:cNvSpPr txBox="1"/>
          <p:nvPr/>
        </p:nvSpPr>
        <p:spPr>
          <a:xfrm>
            <a:off x="1" y="2"/>
            <a:ext cx="1" cy="1645920"/>
          </a:xfrm>
          <a:prstGeom prst="rect">
            <a:avLst/>
          </a:prstGeom>
          <a:noFill/>
        </p:spPr>
        <p:txBody>
          <a:bodyPr wrap="square">
            <a:spAutoFit/>
          </a:bodyPr>
          <a:lstStyle/>
          <a:p>
            <a:pPr algn="l"/>
            <a:r>
              <a:rPr sz="700" b="0" i="0">
                <a:solidFill>
                  <a:srgbClr val="2B2419"/>
                </a:solidFill>
                <a:latin typeface="Calibri"/>
              </a:rPr>
              <a:t>Risk Reviews</a:t>
            </a:r>
          </a:p>
        </p:txBody>
      </p:sp>
      <p:sp>
        <p:nvSpPr>
          <p:cNvPr id="48" name="Rectangle 47"/>
          <p:cNvSpPr/>
          <p:nvPr/>
        </p:nvSpPr>
        <p:spPr>
          <a:xfrm>
            <a:off x="2" y="2"/>
            <a:ext cx="10"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 y="2"/>
            <a:ext cx="10" cy="1234440"/>
          </a:xfrm>
          <a:prstGeom prst="rect">
            <a:avLst/>
          </a:prstGeom>
          <a:noFill/>
        </p:spPr>
        <p:txBody>
          <a:bodyPr wrap="square">
            <a:spAutoFit/>
          </a:bodyPr>
          <a:lstStyle/>
          <a:p>
            <a:pPr algn="ctr"/>
            <a:r>
              <a:rPr sz="600" b="0" i="0">
                <a:solidFill>
                  <a:srgbClr val="2B2419"/>
                </a:solidFill>
                <a:latin typeface="Calibri"/>
              </a:rPr>
              <a:t>Đức</a:t>
            </a:r>
          </a:p>
        </p:txBody>
      </p:sp>
      <p:sp>
        <p:nvSpPr>
          <p:cNvPr id="50" name="TextBox 49"/>
          <p:cNvSpPr txBox="1"/>
          <p:nvPr/>
        </p:nvSpPr>
        <p:spPr>
          <a:xfrm>
            <a:off x="8534186" y="2"/>
            <a:ext cx="6705432" cy="1645920"/>
          </a:xfrm>
          <a:prstGeom prst="rect">
            <a:avLst/>
          </a:prstGeom>
          <a:noFill/>
        </p:spPr>
        <p:txBody>
          <a:bodyPr wrap="square">
            <a:spAutoFit/>
          </a:bodyPr>
          <a:lstStyle/>
          <a:p>
            <a:pPr algn="l"/>
            <a:r>
              <a:rPr sz="700" b="1" i="0">
                <a:solidFill>
                  <a:srgbClr val="8C5A2E"/>
                </a:solidFill>
                <a:latin typeface="Calibri"/>
              </a:rPr>
              <a:t>1.2.1</a:t>
            </a:r>
          </a:p>
        </p:txBody>
      </p:sp>
      <p:sp>
        <p:nvSpPr>
          <p:cNvPr id="51" name="TextBox 50"/>
          <p:cNvSpPr txBox="1"/>
          <p:nvPr/>
        </p:nvSpPr>
        <p:spPr>
          <a:xfrm>
            <a:off x="1" y="2"/>
            <a:ext cx="1" cy="1645920"/>
          </a:xfrm>
          <a:prstGeom prst="rect">
            <a:avLst/>
          </a:prstGeom>
          <a:noFill/>
        </p:spPr>
        <p:txBody>
          <a:bodyPr wrap="square">
            <a:spAutoFit/>
          </a:bodyPr>
          <a:lstStyle/>
          <a:p>
            <a:pPr algn="l"/>
            <a:r>
              <a:rPr sz="700" b="0" i="0">
                <a:solidFill>
                  <a:srgbClr val="2B2419"/>
                </a:solidFill>
                <a:latin typeface="Calibri"/>
              </a:rPr>
              <a:t>Stakeholder Interv</a:t>
            </a:r>
          </a:p>
        </p:txBody>
      </p:sp>
      <p:sp>
        <p:nvSpPr>
          <p:cNvPr id="52" name="Rectangle 51"/>
          <p:cNvSpPr/>
          <p:nvPr/>
        </p:nvSpPr>
        <p:spPr>
          <a:xfrm>
            <a:off x="3" y="2"/>
            <a:ext cx="8778020" cy="123444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 y="2"/>
            <a:ext cx="8290352" cy="1234440"/>
          </a:xfrm>
          <a:prstGeom prst="rect">
            <a:avLst/>
          </a:prstGeom>
          <a:noFill/>
        </p:spPr>
        <p:txBody>
          <a:bodyPr wrap="square">
            <a:spAutoFit/>
          </a:bodyPr>
          <a:lstStyle/>
          <a:p>
            <a:pPr algn="ctr"/>
            <a:r>
              <a:rPr sz="600" b="0" i="0">
                <a:solidFill>
                  <a:srgbClr val="FFFFFF"/>
                </a:solidFill>
                <a:latin typeface="Calibri"/>
              </a:rPr>
              <a:t>Đức</a:t>
            </a:r>
          </a:p>
        </p:txBody>
      </p:sp>
      <p:sp>
        <p:nvSpPr>
          <p:cNvPr id="54" name="TextBox 53"/>
          <p:cNvSpPr txBox="1"/>
          <p:nvPr/>
        </p:nvSpPr>
        <p:spPr>
          <a:xfrm>
            <a:off x="8534186" y="2"/>
            <a:ext cx="6705432" cy="1645920"/>
          </a:xfrm>
          <a:prstGeom prst="rect">
            <a:avLst/>
          </a:prstGeom>
          <a:noFill/>
        </p:spPr>
        <p:txBody>
          <a:bodyPr wrap="square">
            <a:spAutoFit/>
          </a:bodyPr>
          <a:lstStyle/>
          <a:p>
            <a:pPr algn="l"/>
            <a:r>
              <a:rPr sz="700" b="1" i="0">
                <a:solidFill>
                  <a:srgbClr val="8C5A2E"/>
                </a:solidFill>
                <a:latin typeface="Calibri"/>
              </a:rPr>
              <a:t>1.2.2</a:t>
            </a:r>
          </a:p>
        </p:txBody>
      </p:sp>
      <p:sp>
        <p:nvSpPr>
          <p:cNvPr id="55" name="TextBox 54"/>
          <p:cNvSpPr txBox="1"/>
          <p:nvPr/>
        </p:nvSpPr>
        <p:spPr>
          <a:xfrm>
            <a:off x="1" y="2"/>
            <a:ext cx="1" cy="1645920"/>
          </a:xfrm>
          <a:prstGeom prst="rect">
            <a:avLst/>
          </a:prstGeom>
          <a:noFill/>
        </p:spPr>
        <p:txBody>
          <a:bodyPr wrap="square">
            <a:spAutoFit/>
          </a:bodyPr>
          <a:lstStyle/>
          <a:p>
            <a:pPr algn="l"/>
            <a:r>
              <a:rPr sz="700" b="0" i="0">
                <a:solidFill>
                  <a:srgbClr val="2B2419"/>
                </a:solidFill>
                <a:latin typeface="Calibri"/>
              </a:rPr>
              <a:t>Requirements Doc</a:t>
            </a:r>
          </a:p>
        </p:txBody>
      </p:sp>
      <p:sp>
        <p:nvSpPr>
          <p:cNvPr id="56" name="Rectangle 55"/>
          <p:cNvSpPr/>
          <p:nvPr/>
        </p:nvSpPr>
        <p:spPr>
          <a:xfrm>
            <a:off x="3" y="3"/>
            <a:ext cx="1" cy="123444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 y="3"/>
            <a:ext cx="1" cy="1234440"/>
          </a:xfrm>
          <a:prstGeom prst="rect">
            <a:avLst/>
          </a:prstGeom>
          <a:noFill/>
        </p:spPr>
        <p:txBody>
          <a:bodyPr wrap="square">
            <a:spAutoFit/>
          </a:bodyPr>
          <a:lstStyle/>
          <a:p>
            <a:pPr algn="ctr"/>
            <a:r>
              <a:rPr sz="600" b="0" i="0">
                <a:solidFill>
                  <a:srgbClr val="FFFFFF"/>
                </a:solidFill>
                <a:latin typeface="Calibri"/>
              </a:rPr>
              <a:t>Bảo</a:t>
            </a:r>
          </a:p>
        </p:txBody>
      </p:sp>
      <p:sp>
        <p:nvSpPr>
          <p:cNvPr id="58" name="TextBox 57"/>
          <p:cNvSpPr txBox="1"/>
          <p:nvPr/>
        </p:nvSpPr>
        <p:spPr>
          <a:xfrm>
            <a:off x="8534186" y="3"/>
            <a:ext cx="6705432" cy="1645920"/>
          </a:xfrm>
          <a:prstGeom prst="rect">
            <a:avLst/>
          </a:prstGeom>
          <a:noFill/>
        </p:spPr>
        <p:txBody>
          <a:bodyPr wrap="square">
            <a:spAutoFit/>
          </a:bodyPr>
          <a:lstStyle/>
          <a:p>
            <a:pPr algn="l"/>
            <a:r>
              <a:rPr sz="700" b="1" i="0">
                <a:solidFill>
                  <a:srgbClr val="8C5A2E"/>
                </a:solidFill>
                <a:latin typeface="Calibri"/>
              </a:rPr>
              <a:t>1.2.3</a:t>
            </a:r>
          </a:p>
        </p:txBody>
      </p:sp>
      <p:sp>
        <p:nvSpPr>
          <p:cNvPr id="59" name="TextBox 58"/>
          <p:cNvSpPr txBox="1"/>
          <p:nvPr/>
        </p:nvSpPr>
        <p:spPr>
          <a:xfrm>
            <a:off x="1" y="3"/>
            <a:ext cx="1" cy="1645920"/>
          </a:xfrm>
          <a:prstGeom prst="rect">
            <a:avLst/>
          </a:prstGeom>
          <a:noFill/>
        </p:spPr>
        <p:txBody>
          <a:bodyPr wrap="square">
            <a:spAutoFit/>
          </a:bodyPr>
          <a:lstStyle/>
          <a:p>
            <a:pPr algn="l"/>
            <a:r>
              <a:rPr sz="700" b="0" i="0">
                <a:solidFill>
                  <a:srgbClr val="2B2419"/>
                </a:solidFill>
                <a:latin typeface="Calibri"/>
              </a:rPr>
              <a:t>Req Sign-off</a:t>
            </a:r>
          </a:p>
        </p:txBody>
      </p:sp>
      <p:sp>
        <p:nvSpPr>
          <p:cNvPr id="60" name="Rectangle 59"/>
          <p:cNvSpPr/>
          <p:nvPr/>
        </p:nvSpPr>
        <p:spPr>
          <a:xfrm>
            <a:off x="3" y="3"/>
            <a:ext cx="8778020" cy="123444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 y="3"/>
            <a:ext cx="8290352" cy="1234440"/>
          </a:xfrm>
          <a:prstGeom prst="rect">
            <a:avLst/>
          </a:prstGeom>
          <a:noFill/>
        </p:spPr>
        <p:txBody>
          <a:bodyPr wrap="square">
            <a:spAutoFit/>
          </a:bodyPr>
          <a:lstStyle/>
          <a:p>
            <a:pPr algn="ctr"/>
            <a:r>
              <a:rPr sz="600" b="0" i="0">
                <a:solidFill>
                  <a:srgbClr val="FFFFFF"/>
                </a:solidFill>
                <a:latin typeface="Calibri"/>
              </a:rPr>
              <a:t>Đức</a:t>
            </a:r>
          </a:p>
        </p:txBody>
      </p:sp>
      <p:sp>
        <p:nvSpPr>
          <p:cNvPr id="62" name="TextBox 61"/>
          <p:cNvSpPr txBox="1"/>
          <p:nvPr/>
        </p:nvSpPr>
        <p:spPr>
          <a:xfrm>
            <a:off x="8534186" y="3"/>
            <a:ext cx="6705432" cy="1645920"/>
          </a:xfrm>
          <a:prstGeom prst="rect">
            <a:avLst/>
          </a:prstGeom>
          <a:noFill/>
        </p:spPr>
        <p:txBody>
          <a:bodyPr wrap="square">
            <a:spAutoFit/>
          </a:bodyPr>
          <a:lstStyle/>
          <a:p>
            <a:pPr algn="l"/>
            <a:r>
              <a:rPr sz="700" b="1" i="0">
                <a:solidFill>
                  <a:srgbClr val="8C5A2E"/>
                </a:solidFill>
                <a:latin typeface="Calibri"/>
              </a:rPr>
              <a:t>1.3.1</a:t>
            </a:r>
          </a:p>
        </p:txBody>
      </p:sp>
      <p:sp>
        <p:nvSpPr>
          <p:cNvPr id="63" name="TextBox 62"/>
          <p:cNvSpPr txBox="1"/>
          <p:nvPr/>
        </p:nvSpPr>
        <p:spPr>
          <a:xfrm>
            <a:off x="1" y="3"/>
            <a:ext cx="1" cy="1645920"/>
          </a:xfrm>
          <a:prstGeom prst="rect">
            <a:avLst/>
          </a:prstGeom>
          <a:noFill/>
        </p:spPr>
        <p:txBody>
          <a:bodyPr wrap="square">
            <a:spAutoFit/>
          </a:bodyPr>
          <a:lstStyle/>
          <a:p>
            <a:pPr algn="l"/>
            <a:r>
              <a:rPr sz="700" b="0" i="0">
                <a:solidFill>
                  <a:srgbClr val="2B2419"/>
                </a:solidFill>
                <a:latin typeface="Calibri"/>
              </a:rPr>
              <a:t>UI/UX Design</a:t>
            </a:r>
          </a:p>
        </p:txBody>
      </p:sp>
      <p:sp>
        <p:nvSpPr>
          <p:cNvPr id="64" name="Rectangle 63"/>
          <p:cNvSpPr/>
          <p:nvPr/>
        </p:nvSpPr>
        <p:spPr>
          <a:xfrm>
            <a:off x="3" y="3"/>
            <a:ext cx="2" cy="123444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 y="3"/>
            <a:ext cx="2" cy="1234440"/>
          </a:xfrm>
          <a:prstGeom prst="rect">
            <a:avLst/>
          </a:prstGeom>
          <a:noFill/>
        </p:spPr>
        <p:txBody>
          <a:bodyPr wrap="square">
            <a:spAutoFit/>
          </a:bodyPr>
          <a:lstStyle/>
          <a:p>
            <a:pPr algn="ctr"/>
            <a:r>
              <a:rPr sz="600" b="0" i="0">
                <a:solidFill>
                  <a:srgbClr val="FFFFFF"/>
                </a:solidFill>
                <a:latin typeface="Calibri"/>
              </a:rPr>
              <a:t>Thịnh</a:t>
            </a:r>
          </a:p>
        </p:txBody>
      </p:sp>
      <p:sp>
        <p:nvSpPr>
          <p:cNvPr id="66" name="TextBox 65"/>
          <p:cNvSpPr txBox="1"/>
          <p:nvPr/>
        </p:nvSpPr>
        <p:spPr>
          <a:xfrm>
            <a:off x="8534186" y="3"/>
            <a:ext cx="6705432" cy="1645920"/>
          </a:xfrm>
          <a:prstGeom prst="rect">
            <a:avLst/>
          </a:prstGeom>
          <a:noFill/>
        </p:spPr>
        <p:txBody>
          <a:bodyPr wrap="square">
            <a:spAutoFit/>
          </a:bodyPr>
          <a:lstStyle/>
          <a:p>
            <a:pPr algn="l"/>
            <a:r>
              <a:rPr sz="700" b="1" i="0">
                <a:solidFill>
                  <a:srgbClr val="8C5A2E"/>
                </a:solidFill>
                <a:latin typeface="Calibri"/>
              </a:rPr>
              <a:t>1.3.2</a:t>
            </a:r>
          </a:p>
        </p:txBody>
      </p:sp>
      <p:sp>
        <p:nvSpPr>
          <p:cNvPr id="67" name="TextBox 66"/>
          <p:cNvSpPr txBox="1"/>
          <p:nvPr/>
        </p:nvSpPr>
        <p:spPr>
          <a:xfrm>
            <a:off x="1" y="3"/>
            <a:ext cx="1" cy="1645920"/>
          </a:xfrm>
          <a:prstGeom prst="rect">
            <a:avLst/>
          </a:prstGeom>
          <a:noFill/>
        </p:spPr>
        <p:txBody>
          <a:bodyPr wrap="square">
            <a:spAutoFit/>
          </a:bodyPr>
          <a:lstStyle/>
          <a:p>
            <a:pPr algn="l"/>
            <a:r>
              <a:rPr sz="700" b="0" i="0">
                <a:solidFill>
                  <a:srgbClr val="2B2419"/>
                </a:solidFill>
                <a:latin typeface="Calibri"/>
              </a:rPr>
              <a:t>DB Schema</a:t>
            </a:r>
          </a:p>
        </p:txBody>
      </p:sp>
      <p:sp>
        <p:nvSpPr>
          <p:cNvPr id="68" name="Rectangle 67"/>
          <p:cNvSpPr/>
          <p:nvPr/>
        </p:nvSpPr>
        <p:spPr>
          <a:xfrm>
            <a:off x="3" y="3"/>
            <a:ext cx="1"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 y="3"/>
            <a:ext cx="1" cy="1234440"/>
          </a:xfrm>
          <a:prstGeom prst="rect">
            <a:avLst/>
          </a:prstGeom>
          <a:noFill/>
        </p:spPr>
        <p:txBody>
          <a:bodyPr wrap="square">
            <a:spAutoFit/>
          </a:bodyPr>
          <a:lstStyle/>
          <a:p>
            <a:pPr algn="ctr"/>
            <a:r>
              <a:rPr sz="600" b="0" i="0">
                <a:solidFill>
                  <a:srgbClr val="2B2419"/>
                </a:solidFill>
                <a:latin typeface="Calibri"/>
              </a:rPr>
              <a:t>Bảo</a:t>
            </a:r>
          </a:p>
        </p:txBody>
      </p:sp>
      <p:sp>
        <p:nvSpPr>
          <p:cNvPr id="70" name="TextBox 69"/>
          <p:cNvSpPr txBox="1"/>
          <p:nvPr/>
        </p:nvSpPr>
        <p:spPr>
          <a:xfrm>
            <a:off x="8534186" y="3"/>
            <a:ext cx="6705432" cy="1645920"/>
          </a:xfrm>
          <a:prstGeom prst="rect">
            <a:avLst/>
          </a:prstGeom>
          <a:noFill/>
        </p:spPr>
        <p:txBody>
          <a:bodyPr wrap="square">
            <a:spAutoFit/>
          </a:bodyPr>
          <a:lstStyle/>
          <a:p>
            <a:pPr algn="l"/>
            <a:r>
              <a:rPr sz="700" b="1" i="0">
                <a:solidFill>
                  <a:srgbClr val="8C5A2E"/>
                </a:solidFill>
                <a:latin typeface="Calibri"/>
              </a:rPr>
              <a:t>1.3.3</a:t>
            </a:r>
          </a:p>
        </p:txBody>
      </p:sp>
      <p:sp>
        <p:nvSpPr>
          <p:cNvPr id="71" name="TextBox 70"/>
          <p:cNvSpPr txBox="1"/>
          <p:nvPr/>
        </p:nvSpPr>
        <p:spPr>
          <a:xfrm>
            <a:off x="1" y="3"/>
            <a:ext cx="1" cy="1645920"/>
          </a:xfrm>
          <a:prstGeom prst="rect">
            <a:avLst/>
          </a:prstGeom>
          <a:noFill/>
        </p:spPr>
        <p:txBody>
          <a:bodyPr wrap="square">
            <a:spAutoFit/>
          </a:bodyPr>
          <a:lstStyle/>
          <a:p>
            <a:pPr algn="l"/>
            <a:r>
              <a:rPr sz="700" b="0" i="0">
                <a:solidFill>
                  <a:srgbClr val="2B2419"/>
                </a:solidFill>
                <a:latin typeface="Calibri"/>
              </a:rPr>
              <a:t>API Contract</a:t>
            </a:r>
          </a:p>
        </p:txBody>
      </p:sp>
      <p:sp>
        <p:nvSpPr>
          <p:cNvPr id="72" name="Rectangle 71"/>
          <p:cNvSpPr/>
          <p:nvPr/>
        </p:nvSpPr>
        <p:spPr>
          <a:xfrm>
            <a:off x="4" y="4"/>
            <a:ext cx="1"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 y="4"/>
            <a:ext cx="1" cy="1234440"/>
          </a:xfrm>
          <a:prstGeom prst="rect">
            <a:avLst/>
          </a:prstGeom>
          <a:noFill/>
        </p:spPr>
        <p:txBody>
          <a:bodyPr wrap="square">
            <a:spAutoFit/>
          </a:bodyPr>
          <a:lstStyle/>
          <a:p>
            <a:pPr algn="ctr"/>
            <a:r>
              <a:rPr sz="600" b="0" i="0">
                <a:solidFill>
                  <a:srgbClr val="2B2419"/>
                </a:solidFill>
                <a:latin typeface="Calibri"/>
              </a:rPr>
              <a:t>Bảo</a:t>
            </a:r>
          </a:p>
        </p:txBody>
      </p:sp>
      <p:sp>
        <p:nvSpPr>
          <p:cNvPr id="74" name="TextBox 73"/>
          <p:cNvSpPr txBox="1"/>
          <p:nvPr/>
        </p:nvSpPr>
        <p:spPr>
          <a:xfrm>
            <a:off x="8534186" y="4"/>
            <a:ext cx="6705432" cy="1645920"/>
          </a:xfrm>
          <a:prstGeom prst="rect">
            <a:avLst/>
          </a:prstGeom>
          <a:noFill/>
        </p:spPr>
        <p:txBody>
          <a:bodyPr wrap="square">
            <a:spAutoFit/>
          </a:bodyPr>
          <a:lstStyle/>
          <a:p>
            <a:pPr algn="l"/>
            <a:r>
              <a:rPr sz="700" b="1" i="0">
                <a:solidFill>
                  <a:srgbClr val="8C5A2E"/>
                </a:solidFill>
                <a:latin typeface="Calibri"/>
              </a:rPr>
              <a:t>1.4.1</a:t>
            </a:r>
          </a:p>
        </p:txBody>
      </p:sp>
      <p:sp>
        <p:nvSpPr>
          <p:cNvPr id="75" name="TextBox 74"/>
          <p:cNvSpPr txBox="1"/>
          <p:nvPr/>
        </p:nvSpPr>
        <p:spPr>
          <a:xfrm>
            <a:off x="1" y="4"/>
            <a:ext cx="1" cy="1645920"/>
          </a:xfrm>
          <a:prstGeom prst="rect">
            <a:avLst/>
          </a:prstGeom>
          <a:noFill/>
        </p:spPr>
        <p:txBody>
          <a:bodyPr wrap="square">
            <a:spAutoFit/>
          </a:bodyPr>
          <a:lstStyle/>
          <a:p>
            <a:pPr algn="l"/>
            <a:r>
              <a:rPr sz="700" b="0" i="0">
                <a:solidFill>
                  <a:srgbClr val="2B2419"/>
                </a:solidFill>
                <a:latin typeface="Calibri"/>
              </a:rPr>
              <a:t>Frontend Dev</a:t>
            </a:r>
          </a:p>
        </p:txBody>
      </p:sp>
      <p:sp>
        <p:nvSpPr>
          <p:cNvPr id="76" name="Rectangle 75"/>
          <p:cNvSpPr/>
          <p:nvPr/>
        </p:nvSpPr>
        <p:spPr>
          <a:xfrm>
            <a:off x="5" y="4"/>
            <a:ext cx="3" cy="123444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 y="4"/>
            <a:ext cx="3" cy="1234440"/>
          </a:xfrm>
          <a:prstGeom prst="rect">
            <a:avLst/>
          </a:prstGeom>
          <a:noFill/>
        </p:spPr>
        <p:txBody>
          <a:bodyPr wrap="square">
            <a:spAutoFit/>
          </a:bodyPr>
          <a:lstStyle/>
          <a:p>
            <a:pPr algn="ctr"/>
            <a:r>
              <a:rPr sz="600" b="0" i="0">
                <a:solidFill>
                  <a:srgbClr val="FFFFFF"/>
                </a:solidFill>
                <a:latin typeface="Calibri"/>
              </a:rPr>
              <a:t>Bảo+Thịnh</a:t>
            </a:r>
          </a:p>
        </p:txBody>
      </p:sp>
      <p:sp>
        <p:nvSpPr>
          <p:cNvPr id="78" name="TextBox 77"/>
          <p:cNvSpPr txBox="1"/>
          <p:nvPr/>
        </p:nvSpPr>
        <p:spPr>
          <a:xfrm>
            <a:off x="8534186" y="4"/>
            <a:ext cx="6705432" cy="1645920"/>
          </a:xfrm>
          <a:prstGeom prst="rect">
            <a:avLst/>
          </a:prstGeom>
          <a:noFill/>
        </p:spPr>
        <p:txBody>
          <a:bodyPr wrap="square">
            <a:spAutoFit/>
          </a:bodyPr>
          <a:lstStyle/>
          <a:p>
            <a:pPr algn="l"/>
            <a:r>
              <a:rPr sz="700" b="1" i="0">
                <a:solidFill>
                  <a:srgbClr val="8C5A2E"/>
                </a:solidFill>
                <a:latin typeface="Calibri"/>
              </a:rPr>
              <a:t>1.4.2</a:t>
            </a:r>
          </a:p>
        </p:txBody>
      </p:sp>
      <p:sp>
        <p:nvSpPr>
          <p:cNvPr id="79" name="TextBox 78"/>
          <p:cNvSpPr txBox="1"/>
          <p:nvPr/>
        </p:nvSpPr>
        <p:spPr>
          <a:xfrm>
            <a:off x="1" y="4"/>
            <a:ext cx="1" cy="1645920"/>
          </a:xfrm>
          <a:prstGeom prst="rect">
            <a:avLst/>
          </a:prstGeom>
          <a:noFill/>
        </p:spPr>
        <p:txBody>
          <a:bodyPr wrap="square">
            <a:spAutoFit/>
          </a:bodyPr>
          <a:lstStyle/>
          <a:p>
            <a:pPr algn="l"/>
            <a:r>
              <a:rPr sz="700" b="0" i="0">
                <a:solidFill>
                  <a:srgbClr val="2B2419"/>
                </a:solidFill>
                <a:latin typeface="Calibri"/>
              </a:rPr>
              <a:t>Backend Dev</a:t>
            </a:r>
          </a:p>
        </p:txBody>
      </p:sp>
      <p:sp>
        <p:nvSpPr>
          <p:cNvPr id="80" name="Rectangle 79"/>
          <p:cNvSpPr/>
          <p:nvPr/>
        </p:nvSpPr>
        <p:spPr>
          <a:xfrm>
            <a:off x="5" y="4"/>
            <a:ext cx="3"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 y="4"/>
            <a:ext cx="2" cy="1234440"/>
          </a:xfrm>
          <a:prstGeom prst="rect">
            <a:avLst/>
          </a:prstGeom>
          <a:noFill/>
        </p:spPr>
        <p:txBody>
          <a:bodyPr wrap="square">
            <a:spAutoFit/>
          </a:bodyPr>
          <a:lstStyle/>
          <a:p>
            <a:pPr algn="ctr"/>
            <a:r>
              <a:rPr sz="600" b="0" i="0">
                <a:solidFill>
                  <a:srgbClr val="2B2419"/>
                </a:solidFill>
                <a:latin typeface="Calibri"/>
              </a:rPr>
              <a:t>Bảo</a:t>
            </a:r>
          </a:p>
        </p:txBody>
      </p:sp>
      <p:sp>
        <p:nvSpPr>
          <p:cNvPr id="82" name="TextBox 81"/>
          <p:cNvSpPr txBox="1"/>
          <p:nvPr/>
        </p:nvSpPr>
        <p:spPr>
          <a:xfrm>
            <a:off x="8534186" y="4"/>
            <a:ext cx="6705432" cy="1645920"/>
          </a:xfrm>
          <a:prstGeom prst="rect">
            <a:avLst/>
          </a:prstGeom>
          <a:noFill/>
        </p:spPr>
        <p:txBody>
          <a:bodyPr wrap="square">
            <a:spAutoFit/>
          </a:bodyPr>
          <a:lstStyle/>
          <a:p>
            <a:pPr algn="l"/>
            <a:r>
              <a:rPr sz="700" b="1" i="0">
                <a:solidFill>
                  <a:srgbClr val="8C5A2E"/>
                </a:solidFill>
                <a:latin typeface="Calibri"/>
              </a:rPr>
              <a:t>1.4.3</a:t>
            </a:r>
          </a:p>
        </p:txBody>
      </p:sp>
      <p:sp>
        <p:nvSpPr>
          <p:cNvPr id="83" name="TextBox 82"/>
          <p:cNvSpPr txBox="1"/>
          <p:nvPr/>
        </p:nvSpPr>
        <p:spPr>
          <a:xfrm>
            <a:off x="1" y="4"/>
            <a:ext cx="1" cy="1645920"/>
          </a:xfrm>
          <a:prstGeom prst="rect">
            <a:avLst/>
          </a:prstGeom>
          <a:noFill/>
        </p:spPr>
        <p:txBody>
          <a:bodyPr wrap="square">
            <a:spAutoFit/>
          </a:bodyPr>
          <a:lstStyle/>
          <a:p>
            <a:pPr algn="l"/>
            <a:r>
              <a:rPr sz="700" b="0" i="0">
                <a:solidFill>
                  <a:srgbClr val="2B2419"/>
                </a:solidFill>
                <a:latin typeface="Calibri"/>
              </a:rPr>
              <a:t>Integration</a:t>
            </a:r>
          </a:p>
        </p:txBody>
      </p:sp>
      <p:sp>
        <p:nvSpPr>
          <p:cNvPr id="84" name="Rectangle 83"/>
          <p:cNvSpPr/>
          <p:nvPr/>
        </p:nvSpPr>
        <p:spPr>
          <a:xfrm>
            <a:off x="7" y="4"/>
            <a:ext cx="1" cy="123444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 y="4"/>
            <a:ext cx="1" cy="1234440"/>
          </a:xfrm>
          <a:prstGeom prst="rect">
            <a:avLst/>
          </a:prstGeom>
          <a:noFill/>
        </p:spPr>
        <p:txBody>
          <a:bodyPr wrap="square">
            <a:spAutoFit/>
          </a:bodyPr>
          <a:lstStyle/>
          <a:p>
            <a:pPr algn="ctr"/>
            <a:r>
              <a:rPr sz="600" b="0" i="0">
                <a:solidFill>
                  <a:srgbClr val="FFFFFF"/>
                </a:solidFill>
                <a:latin typeface="Calibri"/>
              </a:rPr>
              <a:t>Bảo</a:t>
            </a:r>
          </a:p>
        </p:txBody>
      </p:sp>
      <p:sp>
        <p:nvSpPr>
          <p:cNvPr id="86" name="TextBox 85"/>
          <p:cNvSpPr txBox="1"/>
          <p:nvPr/>
        </p:nvSpPr>
        <p:spPr>
          <a:xfrm>
            <a:off x="8534186" y="5"/>
            <a:ext cx="6705432" cy="1645920"/>
          </a:xfrm>
          <a:prstGeom prst="rect">
            <a:avLst/>
          </a:prstGeom>
          <a:noFill/>
        </p:spPr>
        <p:txBody>
          <a:bodyPr wrap="square">
            <a:spAutoFit/>
          </a:bodyPr>
          <a:lstStyle/>
          <a:p>
            <a:pPr algn="l"/>
            <a:r>
              <a:rPr sz="700" b="1" i="0">
                <a:solidFill>
                  <a:srgbClr val="8C5A2E"/>
                </a:solidFill>
                <a:latin typeface="Calibri"/>
              </a:rPr>
              <a:t>1.5.1</a:t>
            </a:r>
          </a:p>
        </p:txBody>
      </p:sp>
      <p:sp>
        <p:nvSpPr>
          <p:cNvPr id="87" name="TextBox 86"/>
          <p:cNvSpPr txBox="1"/>
          <p:nvPr/>
        </p:nvSpPr>
        <p:spPr>
          <a:xfrm>
            <a:off x="1" y="5"/>
            <a:ext cx="1" cy="1645920"/>
          </a:xfrm>
          <a:prstGeom prst="rect">
            <a:avLst/>
          </a:prstGeom>
          <a:noFill/>
        </p:spPr>
        <p:txBody>
          <a:bodyPr wrap="square">
            <a:spAutoFit/>
          </a:bodyPr>
          <a:lstStyle/>
          <a:p>
            <a:pPr algn="l"/>
            <a:r>
              <a:rPr sz="700" b="0" i="0">
                <a:solidFill>
                  <a:srgbClr val="2B2419"/>
                </a:solidFill>
                <a:latin typeface="Calibri"/>
              </a:rPr>
              <a:t>Unit Tests</a:t>
            </a:r>
          </a:p>
        </p:txBody>
      </p:sp>
      <p:sp>
        <p:nvSpPr>
          <p:cNvPr id="88" name="Rectangle 87"/>
          <p:cNvSpPr/>
          <p:nvPr/>
        </p:nvSpPr>
        <p:spPr>
          <a:xfrm>
            <a:off x="6" y="5"/>
            <a:ext cx="3"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 y="5"/>
            <a:ext cx="2" cy="1234440"/>
          </a:xfrm>
          <a:prstGeom prst="rect">
            <a:avLst/>
          </a:prstGeom>
          <a:noFill/>
        </p:spPr>
        <p:txBody>
          <a:bodyPr wrap="square">
            <a:spAutoFit/>
          </a:bodyPr>
          <a:lstStyle/>
          <a:p>
            <a:pPr algn="ctr"/>
            <a:r>
              <a:rPr sz="600" b="0" i="0">
                <a:solidFill>
                  <a:srgbClr val="2B2419"/>
                </a:solidFill>
                <a:latin typeface="Calibri"/>
              </a:rPr>
              <a:t>Hiếu</a:t>
            </a:r>
          </a:p>
        </p:txBody>
      </p:sp>
      <p:sp>
        <p:nvSpPr>
          <p:cNvPr id="90" name="TextBox 89"/>
          <p:cNvSpPr txBox="1"/>
          <p:nvPr/>
        </p:nvSpPr>
        <p:spPr>
          <a:xfrm>
            <a:off x="8534186" y="5"/>
            <a:ext cx="6705432" cy="1645920"/>
          </a:xfrm>
          <a:prstGeom prst="rect">
            <a:avLst/>
          </a:prstGeom>
          <a:noFill/>
        </p:spPr>
        <p:txBody>
          <a:bodyPr wrap="square">
            <a:spAutoFit/>
          </a:bodyPr>
          <a:lstStyle/>
          <a:p>
            <a:pPr algn="l"/>
            <a:r>
              <a:rPr sz="700" b="1" i="0">
                <a:solidFill>
                  <a:srgbClr val="8C5A2E"/>
                </a:solidFill>
                <a:latin typeface="Calibri"/>
              </a:rPr>
              <a:t>1.5.2</a:t>
            </a:r>
          </a:p>
        </p:txBody>
      </p:sp>
      <p:sp>
        <p:nvSpPr>
          <p:cNvPr id="91" name="TextBox 90"/>
          <p:cNvSpPr txBox="1"/>
          <p:nvPr/>
        </p:nvSpPr>
        <p:spPr>
          <a:xfrm>
            <a:off x="1" y="5"/>
            <a:ext cx="1" cy="1645920"/>
          </a:xfrm>
          <a:prstGeom prst="rect">
            <a:avLst/>
          </a:prstGeom>
          <a:noFill/>
        </p:spPr>
        <p:txBody>
          <a:bodyPr wrap="square">
            <a:spAutoFit/>
          </a:bodyPr>
          <a:lstStyle/>
          <a:p>
            <a:pPr algn="l"/>
            <a:r>
              <a:rPr sz="700" b="0" i="0">
                <a:solidFill>
                  <a:srgbClr val="2B2419"/>
                </a:solidFill>
                <a:latin typeface="Calibri"/>
              </a:rPr>
              <a:t>Integration Tests</a:t>
            </a:r>
          </a:p>
        </p:txBody>
      </p:sp>
      <p:sp>
        <p:nvSpPr>
          <p:cNvPr id="92" name="Rectangle 91"/>
          <p:cNvSpPr/>
          <p:nvPr/>
        </p:nvSpPr>
        <p:spPr>
          <a:xfrm>
            <a:off x="8" y="5"/>
            <a:ext cx="2"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 y="5"/>
            <a:ext cx="2" cy="1234440"/>
          </a:xfrm>
          <a:prstGeom prst="rect">
            <a:avLst/>
          </a:prstGeom>
          <a:noFill/>
        </p:spPr>
        <p:txBody>
          <a:bodyPr wrap="square">
            <a:spAutoFit/>
          </a:bodyPr>
          <a:lstStyle/>
          <a:p>
            <a:pPr algn="ctr"/>
            <a:r>
              <a:rPr sz="600" b="0" i="0">
                <a:solidFill>
                  <a:srgbClr val="2B2419"/>
                </a:solidFill>
                <a:latin typeface="Calibri"/>
              </a:rPr>
              <a:t>Hiếu</a:t>
            </a:r>
          </a:p>
        </p:txBody>
      </p:sp>
      <p:sp>
        <p:nvSpPr>
          <p:cNvPr id="94" name="TextBox 93"/>
          <p:cNvSpPr txBox="1"/>
          <p:nvPr/>
        </p:nvSpPr>
        <p:spPr>
          <a:xfrm>
            <a:off x="8534186" y="5"/>
            <a:ext cx="6705432" cy="1645920"/>
          </a:xfrm>
          <a:prstGeom prst="rect">
            <a:avLst/>
          </a:prstGeom>
          <a:noFill/>
        </p:spPr>
        <p:txBody>
          <a:bodyPr wrap="square">
            <a:spAutoFit/>
          </a:bodyPr>
          <a:lstStyle/>
          <a:p>
            <a:pPr algn="l"/>
            <a:r>
              <a:rPr sz="700" b="1" i="0">
                <a:solidFill>
                  <a:srgbClr val="8C5A2E"/>
                </a:solidFill>
                <a:latin typeface="Calibri"/>
              </a:rPr>
              <a:t>1.5.3</a:t>
            </a:r>
          </a:p>
        </p:txBody>
      </p:sp>
      <p:sp>
        <p:nvSpPr>
          <p:cNvPr id="95" name="TextBox 94"/>
          <p:cNvSpPr txBox="1"/>
          <p:nvPr/>
        </p:nvSpPr>
        <p:spPr>
          <a:xfrm>
            <a:off x="1" y="5"/>
            <a:ext cx="1" cy="1645920"/>
          </a:xfrm>
          <a:prstGeom prst="rect">
            <a:avLst/>
          </a:prstGeom>
          <a:noFill/>
        </p:spPr>
        <p:txBody>
          <a:bodyPr wrap="square">
            <a:spAutoFit/>
          </a:bodyPr>
          <a:lstStyle/>
          <a:p>
            <a:pPr algn="l"/>
            <a:r>
              <a:rPr sz="700" b="0" i="0">
                <a:solidFill>
                  <a:srgbClr val="2B2419"/>
                </a:solidFill>
                <a:latin typeface="Calibri"/>
              </a:rPr>
              <a:t>UAT</a:t>
            </a:r>
          </a:p>
        </p:txBody>
      </p:sp>
      <p:sp>
        <p:nvSpPr>
          <p:cNvPr id="96" name="Rectangle 95"/>
          <p:cNvSpPr/>
          <p:nvPr/>
        </p:nvSpPr>
        <p:spPr>
          <a:xfrm>
            <a:off x="10" y="5"/>
            <a:ext cx="8778020"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 y="5"/>
            <a:ext cx="8290352" cy="1234440"/>
          </a:xfrm>
          <a:prstGeom prst="rect">
            <a:avLst/>
          </a:prstGeom>
          <a:noFill/>
        </p:spPr>
        <p:txBody>
          <a:bodyPr wrap="square">
            <a:spAutoFit/>
          </a:bodyPr>
          <a:lstStyle/>
          <a:p>
            <a:pPr algn="ctr"/>
            <a:r>
              <a:rPr sz="600" b="0" i="0">
                <a:solidFill>
                  <a:srgbClr val="2B2419"/>
                </a:solidFill>
                <a:latin typeface="Calibri"/>
              </a:rPr>
              <a:t>Hiếu</a:t>
            </a:r>
          </a:p>
        </p:txBody>
      </p:sp>
      <p:sp>
        <p:nvSpPr>
          <p:cNvPr id="98" name="TextBox 97"/>
          <p:cNvSpPr txBox="1"/>
          <p:nvPr/>
        </p:nvSpPr>
        <p:spPr>
          <a:xfrm>
            <a:off x="8534186" y="5"/>
            <a:ext cx="6705432" cy="1645920"/>
          </a:xfrm>
          <a:prstGeom prst="rect">
            <a:avLst/>
          </a:prstGeom>
          <a:noFill/>
        </p:spPr>
        <p:txBody>
          <a:bodyPr wrap="square">
            <a:spAutoFit/>
          </a:bodyPr>
          <a:lstStyle/>
          <a:p>
            <a:pPr algn="l"/>
            <a:r>
              <a:rPr sz="700" b="1" i="0">
                <a:solidFill>
                  <a:srgbClr val="8C5A2E"/>
                </a:solidFill>
                <a:latin typeface="Calibri"/>
              </a:rPr>
              <a:t>1.6.1</a:t>
            </a:r>
          </a:p>
        </p:txBody>
      </p:sp>
      <p:sp>
        <p:nvSpPr>
          <p:cNvPr id="99" name="TextBox 98"/>
          <p:cNvSpPr txBox="1"/>
          <p:nvPr/>
        </p:nvSpPr>
        <p:spPr>
          <a:xfrm>
            <a:off x="1" y="5"/>
            <a:ext cx="1" cy="1645920"/>
          </a:xfrm>
          <a:prstGeom prst="rect">
            <a:avLst/>
          </a:prstGeom>
          <a:noFill/>
        </p:spPr>
        <p:txBody>
          <a:bodyPr wrap="square">
            <a:spAutoFit/>
          </a:bodyPr>
          <a:lstStyle/>
          <a:p>
            <a:pPr algn="l"/>
            <a:r>
              <a:rPr sz="700" b="0" i="0">
                <a:solidFill>
                  <a:srgbClr val="2B2419"/>
                </a:solidFill>
                <a:latin typeface="Calibri"/>
              </a:rPr>
              <a:t>User Guide</a:t>
            </a:r>
          </a:p>
        </p:txBody>
      </p:sp>
      <p:sp>
        <p:nvSpPr>
          <p:cNvPr id="100" name="Rectangle 99"/>
          <p:cNvSpPr/>
          <p:nvPr/>
        </p:nvSpPr>
        <p:spPr>
          <a:xfrm>
            <a:off x="9" y="5"/>
            <a:ext cx="2"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 y="5"/>
            <a:ext cx="2" cy="1234440"/>
          </a:xfrm>
          <a:prstGeom prst="rect">
            <a:avLst/>
          </a:prstGeom>
          <a:noFill/>
        </p:spPr>
        <p:txBody>
          <a:bodyPr wrap="square">
            <a:spAutoFit/>
          </a:bodyPr>
          <a:lstStyle/>
          <a:p>
            <a:pPr algn="ctr"/>
            <a:r>
              <a:rPr sz="600" b="0" i="0">
                <a:solidFill>
                  <a:srgbClr val="2B2419"/>
                </a:solidFill>
                <a:latin typeface="Calibri"/>
              </a:rPr>
              <a:t>Thịnh</a:t>
            </a:r>
          </a:p>
        </p:txBody>
      </p:sp>
      <p:sp>
        <p:nvSpPr>
          <p:cNvPr id="102" name="TextBox 101"/>
          <p:cNvSpPr txBox="1"/>
          <p:nvPr/>
        </p:nvSpPr>
        <p:spPr>
          <a:xfrm>
            <a:off x="8534186" y="6"/>
            <a:ext cx="6705432" cy="1645920"/>
          </a:xfrm>
          <a:prstGeom prst="rect">
            <a:avLst/>
          </a:prstGeom>
          <a:noFill/>
        </p:spPr>
        <p:txBody>
          <a:bodyPr wrap="square">
            <a:spAutoFit/>
          </a:bodyPr>
          <a:lstStyle/>
          <a:p>
            <a:pPr algn="l"/>
            <a:r>
              <a:rPr sz="700" b="1" i="0">
                <a:solidFill>
                  <a:srgbClr val="8C5A2E"/>
                </a:solidFill>
                <a:latin typeface="Calibri"/>
              </a:rPr>
              <a:t>1.6.2</a:t>
            </a:r>
          </a:p>
        </p:txBody>
      </p:sp>
      <p:sp>
        <p:nvSpPr>
          <p:cNvPr id="103" name="TextBox 102"/>
          <p:cNvSpPr txBox="1"/>
          <p:nvPr/>
        </p:nvSpPr>
        <p:spPr>
          <a:xfrm>
            <a:off x="1" y="6"/>
            <a:ext cx="1" cy="1645920"/>
          </a:xfrm>
          <a:prstGeom prst="rect">
            <a:avLst/>
          </a:prstGeom>
          <a:noFill/>
        </p:spPr>
        <p:txBody>
          <a:bodyPr wrap="square">
            <a:spAutoFit/>
          </a:bodyPr>
          <a:lstStyle/>
          <a:p>
            <a:pPr algn="l"/>
            <a:r>
              <a:rPr sz="700" b="0" i="0">
                <a:solidFill>
                  <a:srgbClr val="2B2419"/>
                </a:solidFill>
                <a:latin typeface="Calibri"/>
              </a:rPr>
              <a:t>Tech Docs</a:t>
            </a:r>
          </a:p>
        </p:txBody>
      </p:sp>
      <p:sp>
        <p:nvSpPr>
          <p:cNvPr id="104" name="Rectangle 103"/>
          <p:cNvSpPr/>
          <p:nvPr/>
        </p:nvSpPr>
        <p:spPr>
          <a:xfrm>
            <a:off x="9" y="6"/>
            <a:ext cx="2"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 y="6"/>
            <a:ext cx="2" cy="1234440"/>
          </a:xfrm>
          <a:prstGeom prst="rect">
            <a:avLst/>
          </a:prstGeom>
          <a:noFill/>
        </p:spPr>
        <p:txBody>
          <a:bodyPr wrap="square">
            <a:spAutoFit/>
          </a:bodyPr>
          <a:lstStyle/>
          <a:p>
            <a:pPr algn="ctr"/>
            <a:r>
              <a:rPr sz="600" b="0" i="0">
                <a:solidFill>
                  <a:srgbClr val="2B2419"/>
                </a:solidFill>
                <a:latin typeface="Calibri"/>
              </a:rPr>
              <a:t>Bảo</a:t>
            </a:r>
          </a:p>
        </p:txBody>
      </p:sp>
      <p:sp>
        <p:nvSpPr>
          <p:cNvPr id="106" name="TextBox 105"/>
          <p:cNvSpPr txBox="1"/>
          <p:nvPr/>
        </p:nvSpPr>
        <p:spPr>
          <a:xfrm>
            <a:off x="8534186" y="6"/>
            <a:ext cx="6705432" cy="1645920"/>
          </a:xfrm>
          <a:prstGeom prst="rect">
            <a:avLst/>
          </a:prstGeom>
          <a:noFill/>
        </p:spPr>
        <p:txBody>
          <a:bodyPr wrap="square">
            <a:spAutoFit/>
          </a:bodyPr>
          <a:lstStyle/>
          <a:p>
            <a:pPr algn="l"/>
            <a:r>
              <a:rPr sz="700" b="1" i="0">
                <a:solidFill>
                  <a:srgbClr val="8C5A2E"/>
                </a:solidFill>
                <a:latin typeface="Calibri"/>
              </a:rPr>
              <a:t>1.7.1</a:t>
            </a:r>
          </a:p>
        </p:txBody>
      </p:sp>
      <p:sp>
        <p:nvSpPr>
          <p:cNvPr id="107" name="TextBox 106"/>
          <p:cNvSpPr txBox="1"/>
          <p:nvPr/>
        </p:nvSpPr>
        <p:spPr>
          <a:xfrm>
            <a:off x="1" y="6"/>
            <a:ext cx="1" cy="1645920"/>
          </a:xfrm>
          <a:prstGeom prst="rect">
            <a:avLst/>
          </a:prstGeom>
          <a:noFill/>
        </p:spPr>
        <p:txBody>
          <a:bodyPr wrap="square">
            <a:spAutoFit/>
          </a:bodyPr>
          <a:lstStyle/>
          <a:p>
            <a:pPr algn="l"/>
            <a:r>
              <a:rPr sz="700" b="0" i="0">
                <a:solidFill>
                  <a:srgbClr val="2B2419"/>
                </a:solidFill>
                <a:latin typeface="Calibri"/>
              </a:rPr>
              <a:t>Slide Deck</a:t>
            </a:r>
          </a:p>
        </p:txBody>
      </p:sp>
      <p:sp>
        <p:nvSpPr>
          <p:cNvPr id="108" name="Rectangle 107"/>
          <p:cNvSpPr/>
          <p:nvPr/>
        </p:nvSpPr>
        <p:spPr>
          <a:xfrm>
            <a:off x="10" y="6"/>
            <a:ext cx="1"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 y="6"/>
            <a:ext cx="1" cy="1234440"/>
          </a:xfrm>
          <a:prstGeom prst="rect">
            <a:avLst/>
          </a:prstGeom>
          <a:noFill/>
        </p:spPr>
        <p:txBody>
          <a:bodyPr wrap="square">
            <a:spAutoFit/>
          </a:bodyPr>
          <a:lstStyle/>
          <a:p>
            <a:pPr algn="ctr"/>
            <a:r>
              <a:rPr sz="600" b="0" i="0">
                <a:solidFill>
                  <a:srgbClr val="2B2419"/>
                </a:solidFill>
                <a:latin typeface="Calibri"/>
              </a:rPr>
              <a:t>Thịnh</a:t>
            </a:r>
          </a:p>
        </p:txBody>
      </p:sp>
      <p:sp>
        <p:nvSpPr>
          <p:cNvPr id="110" name="TextBox 109"/>
          <p:cNvSpPr txBox="1"/>
          <p:nvPr/>
        </p:nvSpPr>
        <p:spPr>
          <a:xfrm>
            <a:off x="8534186" y="6"/>
            <a:ext cx="6705432" cy="1645920"/>
          </a:xfrm>
          <a:prstGeom prst="rect">
            <a:avLst/>
          </a:prstGeom>
          <a:noFill/>
        </p:spPr>
        <p:txBody>
          <a:bodyPr wrap="square">
            <a:spAutoFit/>
          </a:bodyPr>
          <a:lstStyle/>
          <a:p>
            <a:pPr algn="l"/>
            <a:r>
              <a:rPr sz="700" b="1" i="0">
                <a:solidFill>
                  <a:srgbClr val="8C5A2E"/>
                </a:solidFill>
                <a:latin typeface="Calibri"/>
              </a:rPr>
              <a:t>1.7.2</a:t>
            </a:r>
          </a:p>
        </p:txBody>
      </p:sp>
      <p:sp>
        <p:nvSpPr>
          <p:cNvPr id="111" name="TextBox 110"/>
          <p:cNvSpPr txBox="1"/>
          <p:nvPr/>
        </p:nvSpPr>
        <p:spPr>
          <a:xfrm>
            <a:off x="1" y="6"/>
            <a:ext cx="1" cy="1645920"/>
          </a:xfrm>
          <a:prstGeom prst="rect">
            <a:avLst/>
          </a:prstGeom>
          <a:noFill/>
        </p:spPr>
        <p:txBody>
          <a:bodyPr wrap="square">
            <a:spAutoFit/>
          </a:bodyPr>
          <a:lstStyle/>
          <a:p>
            <a:pPr algn="l"/>
            <a:r>
              <a:rPr sz="700" b="0" i="0">
                <a:solidFill>
                  <a:srgbClr val="2B2419"/>
                </a:solidFill>
                <a:latin typeface="Calibri"/>
              </a:rPr>
              <a:t>Rehearsal</a:t>
            </a:r>
          </a:p>
        </p:txBody>
      </p:sp>
      <p:sp>
        <p:nvSpPr>
          <p:cNvPr id="112" name="Rectangle 111"/>
          <p:cNvSpPr/>
          <p:nvPr/>
        </p:nvSpPr>
        <p:spPr>
          <a:xfrm>
            <a:off x="11" y="6"/>
            <a:ext cx="1"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1" y="6"/>
            <a:ext cx="1" cy="1234440"/>
          </a:xfrm>
          <a:prstGeom prst="rect">
            <a:avLst/>
          </a:prstGeom>
          <a:noFill/>
        </p:spPr>
        <p:txBody>
          <a:bodyPr wrap="square">
            <a:spAutoFit/>
          </a:bodyPr>
          <a:lstStyle/>
          <a:p>
            <a:pPr algn="ctr"/>
            <a:r>
              <a:rPr sz="600" b="0" i="0">
                <a:solidFill>
                  <a:srgbClr val="2B2419"/>
                </a:solidFill>
                <a:latin typeface="Calibri"/>
              </a:rPr>
              <a:t>Đức</a:t>
            </a:r>
          </a:p>
        </p:txBody>
      </p:sp>
      <p:sp>
        <p:nvSpPr>
          <p:cNvPr id="114" name="Rectangle 113"/>
          <p:cNvSpPr/>
          <p:nvPr/>
        </p:nvSpPr>
        <p:spPr>
          <a:xfrm>
            <a:off x="2" y="6"/>
            <a:ext cx="10" cy="20574"/>
          </a:xfrm>
          <a:prstGeom prst="rect">
            <a:avLst/>
          </a:prstGeom>
          <a:no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gular Pentagon 114"/>
          <p:cNvSpPr/>
          <p:nvPr/>
        </p:nvSpPr>
        <p:spPr>
          <a:xfrm>
            <a:off x="2" y="6"/>
            <a:ext cx="0" cy="0"/>
          </a:xfrm>
          <a:prstGeom prst="pentagon">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 y="7"/>
            <a:ext cx="10362940" cy="3429000"/>
          </a:xfrm>
          <a:prstGeom prst="rect">
            <a:avLst/>
          </a:prstGeom>
          <a:noFill/>
        </p:spPr>
        <p:txBody>
          <a:bodyPr wrap="square">
            <a:spAutoFit/>
          </a:bodyPr>
          <a:lstStyle/>
          <a:p>
            <a:pPr algn="ctr"/>
            <a:r>
              <a:rPr sz="700" b="0" i="1">
                <a:solidFill>
                  <a:srgbClr val="8C5A2E"/>
                </a:solidFill>
                <a:latin typeface="Calibri"/>
              </a:rPr>
              <a:t>M1: Charter
Approved</a:t>
            </a:r>
          </a:p>
        </p:txBody>
      </p:sp>
      <p:sp>
        <p:nvSpPr>
          <p:cNvPr id="117" name="Regular Pentagon 116"/>
          <p:cNvSpPr/>
          <p:nvPr/>
        </p:nvSpPr>
        <p:spPr>
          <a:xfrm>
            <a:off x="4" y="6"/>
            <a:ext cx="0" cy="0"/>
          </a:xfrm>
          <a:prstGeom prst="pentagon">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 y="7"/>
            <a:ext cx="10362940" cy="3429000"/>
          </a:xfrm>
          <a:prstGeom prst="rect">
            <a:avLst/>
          </a:prstGeom>
          <a:noFill/>
        </p:spPr>
        <p:txBody>
          <a:bodyPr wrap="square">
            <a:spAutoFit/>
          </a:bodyPr>
          <a:lstStyle/>
          <a:p>
            <a:pPr algn="ctr"/>
            <a:r>
              <a:rPr sz="700" b="0" i="1">
                <a:solidFill>
                  <a:srgbClr val="8C5A2E"/>
                </a:solidFill>
                <a:latin typeface="Calibri"/>
              </a:rPr>
              <a:t>M2: Req
Sign-off</a:t>
            </a:r>
          </a:p>
        </p:txBody>
      </p:sp>
      <p:sp>
        <p:nvSpPr>
          <p:cNvPr id="119" name="Regular Pentagon 118"/>
          <p:cNvSpPr/>
          <p:nvPr/>
        </p:nvSpPr>
        <p:spPr>
          <a:xfrm>
            <a:off x="5" y="6"/>
            <a:ext cx="0" cy="0"/>
          </a:xfrm>
          <a:prstGeom prst="pentagon">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 y="7"/>
            <a:ext cx="10362940" cy="3429000"/>
          </a:xfrm>
          <a:prstGeom prst="rect">
            <a:avLst/>
          </a:prstGeom>
          <a:noFill/>
        </p:spPr>
        <p:txBody>
          <a:bodyPr wrap="square">
            <a:spAutoFit/>
          </a:bodyPr>
          <a:lstStyle/>
          <a:p>
            <a:pPr algn="ctr"/>
            <a:r>
              <a:rPr sz="700" b="0" i="1">
                <a:solidFill>
                  <a:srgbClr val="8C5A2E"/>
                </a:solidFill>
                <a:latin typeface="Calibri"/>
              </a:rPr>
              <a:t>M3: Design
Review</a:t>
            </a:r>
          </a:p>
        </p:txBody>
      </p:sp>
      <p:sp>
        <p:nvSpPr>
          <p:cNvPr id="121" name="Regular Pentagon 120"/>
          <p:cNvSpPr/>
          <p:nvPr/>
        </p:nvSpPr>
        <p:spPr>
          <a:xfrm>
            <a:off x="9" y="6"/>
            <a:ext cx="0" cy="0"/>
          </a:xfrm>
          <a:prstGeom prst="pentagon">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 y="7"/>
            <a:ext cx="10362940" cy="3429000"/>
          </a:xfrm>
          <a:prstGeom prst="rect">
            <a:avLst/>
          </a:prstGeom>
          <a:noFill/>
        </p:spPr>
        <p:txBody>
          <a:bodyPr wrap="square">
            <a:spAutoFit/>
          </a:bodyPr>
          <a:lstStyle/>
          <a:p>
            <a:pPr algn="ctr"/>
            <a:r>
              <a:rPr sz="700" b="0" i="1">
                <a:solidFill>
                  <a:srgbClr val="8C5A2E"/>
                </a:solidFill>
                <a:latin typeface="Calibri"/>
              </a:rPr>
              <a:t>M4: Proto
Demo</a:t>
            </a:r>
          </a:p>
        </p:txBody>
      </p:sp>
      <p:sp>
        <p:nvSpPr>
          <p:cNvPr id="123" name="Regular Pentagon 122"/>
          <p:cNvSpPr/>
          <p:nvPr/>
        </p:nvSpPr>
        <p:spPr>
          <a:xfrm>
            <a:off x="10" y="6"/>
            <a:ext cx="0" cy="0"/>
          </a:xfrm>
          <a:prstGeom prst="pentagon">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 y="7"/>
            <a:ext cx="10362940" cy="3429000"/>
          </a:xfrm>
          <a:prstGeom prst="rect">
            <a:avLst/>
          </a:prstGeom>
          <a:noFill/>
        </p:spPr>
        <p:txBody>
          <a:bodyPr wrap="square">
            <a:spAutoFit/>
          </a:bodyPr>
          <a:lstStyle/>
          <a:p>
            <a:pPr algn="ctr"/>
            <a:r>
              <a:rPr sz="700" b="0" i="1">
                <a:solidFill>
                  <a:srgbClr val="8C5A2E"/>
                </a:solidFill>
                <a:latin typeface="Calibri"/>
              </a:rPr>
              <a:t>M5: Testing
Complete</a:t>
            </a:r>
          </a:p>
        </p:txBody>
      </p:sp>
      <p:sp>
        <p:nvSpPr>
          <p:cNvPr id="125" name="Regular Pentagon 124"/>
          <p:cNvSpPr/>
          <p:nvPr/>
        </p:nvSpPr>
        <p:spPr>
          <a:xfrm>
            <a:off x="12" y="6"/>
            <a:ext cx="0" cy="0"/>
          </a:xfrm>
          <a:prstGeom prst="pentagon">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2" y="7"/>
            <a:ext cx="10362940" cy="3429000"/>
          </a:xfrm>
          <a:prstGeom prst="rect">
            <a:avLst/>
          </a:prstGeom>
          <a:noFill/>
        </p:spPr>
        <p:txBody>
          <a:bodyPr wrap="square">
            <a:spAutoFit/>
          </a:bodyPr>
          <a:lstStyle/>
          <a:p>
            <a:pPr algn="ctr"/>
            <a:r>
              <a:rPr sz="700" b="0" i="1">
                <a:solidFill>
                  <a:srgbClr val="8C5A2E"/>
                </a:solidFill>
                <a:latin typeface="Calibri"/>
              </a:rPr>
              <a:t>M6: Final
Submission</a:t>
            </a:r>
          </a:p>
        </p:txBody>
      </p:sp>
      <p:sp>
        <p:nvSpPr>
          <p:cNvPr id="127" name="Rectangle 126"/>
          <p:cNvSpPr/>
          <p:nvPr/>
        </p:nvSpPr>
        <p:spPr>
          <a:xfrm>
            <a:off x="8534186" y="7"/>
            <a:ext cx="3657508" cy="123444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 y="7"/>
            <a:ext cx="1" cy="1371600"/>
          </a:xfrm>
          <a:prstGeom prst="rect">
            <a:avLst/>
          </a:prstGeom>
          <a:noFill/>
        </p:spPr>
        <p:txBody>
          <a:bodyPr wrap="square">
            <a:spAutoFit/>
          </a:bodyPr>
          <a:lstStyle/>
          <a:p>
            <a:pPr algn="l"/>
            <a:r>
              <a:rPr sz="900" b="0" i="0">
                <a:solidFill>
                  <a:srgbClr val="2B2419"/>
                </a:solidFill>
                <a:latin typeface="Calibri"/>
              </a:rPr>
              <a:t>Critical path</a:t>
            </a:r>
          </a:p>
        </p:txBody>
      </p:sp>
      <p:sp>
        <p:nvSpPr>
          <p:cNvPr id="129" name="Rectangle 128"/>
          <p:cNvSpPr/>
          <p:nvPr/>
        </p:nvSpPr>
        <p:spPr>
          <a:xfrm>
            <a:off x="3" y="7"/>
            <a:ext cx="3657508" cy="123444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 y="7"/>
            <a:ext cx="1" cy="1371600"/>
          </a:xfrm>
          <a:prstGeom prst="rect">
            <a:avLst/>
          </a:prstGeom>
          <a:noFill/>
        </p:spPr>
        <p:txBody>
          <a:bodyPr wrap="square">
            <a:spAutoFit/>
          </a:bodyPr>
          <a:lstStyle/>
          <a:p>
            <a:pPr algn="l"/>
            <a:r>
              <a:rPr sz="900" b="0" i="0">
                <a:solidFill>
                  <a:srgbClr val="2B2419"/>
                </a:solidFill>
                <a:latin typeface="Calibri"/>
              </a:rPr>
              <a:t>Non-critical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TIMELINE &amp; MILESTONES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PERT Three-Point Estimates</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7 / 24</a:t>
            </a:r>
          </a:p>
        </p:txBody>
      </p:sp>
      <p:graphicFrame>
        <p:nvGraphicFramePr>
          <p:cNvPr id="9" name="Table 8"/>
          <p:cNvGraphicFramePr>
            <a:graphicFrameLocks noGrp="1"/>
          </p:cNvGraphicFramePr>
          <p:nvPr/>
        </p:nvGraphicFramePr>
        <p:xfrm>
          <a:off x="8534186.5" y="10629900.0"/>
          <a:ext cx="149957842" cy="17830800.0"/>
        </p:xfrm>
        <a:graphic>
          <a:graphicData uri="http://schemas.openxmlformats.org/drawingml/2006/table">
            <a:tbl>
              <a:tblPr firstRow="1" bandRow="1">
                <a:tableStyleId>{5C22544A-7EE6-4342-B048-85BDC9FD1C3A}</a:tableStyleId>
              </a:tblPr>
              <a:tblGrid>
                <a:gridCol w="11287149"/>
                <a:gridCol w="27411649"/>
                <a:gridCol w="10480924"/>
                <a:gridCol w="10480924"/>
                <a:gridCol w="10480924"/>
                <a:gridCol w="24992974"/>
                <a:gridCol w="17736949"/>
                <a:gridCol w="37086349"/>
              </a:tblGrid>
              <a:tr h="2547257">
                <a:tc>
                  <a:txBody>
                    <a:bodyPr wrap="square"/>
                    <a:lstStyle/>
                    <a:p>
                      <a:pPr algn="l"/>
                      <a:r>
                        <a:rPr sz="1000">
                          <a:solidFill>
                            <a:srgbClr val="FFFFFF"/>
                          </a:solidFill>
                          <a:latin typeface="Calibri"/>
                        </a:rPr>
                        <a:t>Activity</a:t>
                      </a:r>
                    </a:p>
                  </a:txBody>
                  <a:tcPr>
                    <a:solidFill>
                      <a:srgbClr val="8C5A2E"/>
                    </a:solidFill>
                  </a:tcPr>
                </a:tc>
                <a:tc>
                  <a:txBody>
                    <a:bodyPr wrap="square"/>
                    <a:lstStyle/>
                    <a:p>
                      <a:pPr algn="l"/>
                      <a:r>
                        <a:rPr sz="1000">
                          <a:solidFill>
                            <a:srgbClr val="FFFFFF"/>
                          </a:solidFill>
                          <a:latin typeface="Calibri"/>
                        </a:rPr>
                        <a:t>Description</a:t>
                      </a:r>
                    </a:p>
                  </a:txBody>
                  <a:tcPr>
                    <a:solidFill>
                      <a:srgbClr val="8C5A2E"/>
                    </a:solidFill>
                  </a:tcPr>
                </a:tc>
                <a:tc>
                  <a:txBody>
                    <a:bodyPr wrap="square"/>
                    <a:lstStyle/>
                    <a:p>
                      <a:pPr algn="l"/>
                      <a:r>
                        <a:rPr sz="1000">
                          <a:solidFill>
                            <a:srgbClr val="FFFFFF"/>
                          </a:solidFill>
                          <a:latin typeface="Calibri"/>
                        </a:rPr>
                        <a:t>O (d)</a:t>
                      </a:r>
                    </a:p>
                  </a:txBody>
                  <a:tcPr>
                    <a:solidFill>
                      <a:srgbClr val="8C5A2E"/>
                    </a:solidFill>
                  </a:tcPr>
                </a:tc>
                <a:tc>
                  <a:txBody>
                    <a:bodyPr wrap="square"/>
                    <a:lstStyle/>
                    <a:p>
                      <a:pPr algn="l"/>
                      <a:r>
                        <a:rPr sz="1000">
                          <a:solidFill>
                            <a:srgbClr val="FFFFFF"/>
                          </a:solidFill>
                          <a:latin typeface="Calibri"/>
                        </a:rPr>
                        <a:t>M (d)</a:t>
                      </a:r>
                    </a:p>
                  </a:txBody>
                  <a:tcPr>
                    <a:solidFill>
                      <a:srgbClr val="8C5A2E"/>
                    </a:solidFill>
                  </a:tcPr>
                </a:tc>
                <a:tc>
                  <a:txBody>
                    <a:bodyPr wrap="square"/>
                    <a:lstStyle/>
                    <a:p>
                      <a:pPr algn="l"/>
                      <a:r>
                        <a:rPr sz="1000">
                          <a:solidFill>
                            <a:srgbClr val="FFFFFF"/>
                          </a:solidFill>
                          <a:latin typeface="Calibri"/>
                        </a:rPr>
                        <a:t>P (d)</a:t>
                      </a:r>
                    </a:p>
                  </a:txBody>
                  <a:tcPr>
                    <a:solidFill>
                      <a:srgbClr val="8C5A2E"/>
                    </a:solidFill>
                  </a:tcPr>
                </a:tc>
                <a:tc>
                  <a:txBody>
                    <a:bodyPr wrap="square"/>
                    <a:lstStyle/>
                    <a:p>
                      <a:pPr algn="l"/>
                      <a:r>
                        <a:rPr sz="1000">
                          <a:solidFill>
                            <a:srgbClr val="FFFFFF"/>
                          </a:solidFill>
                          <a:latin typeface="Calibri"/>
                        </a:rPr>
                        <a:t>TE = (O+4M+P)/6</a:t>
                      </a:r>
                    </a:p>
                  </a:txBody>
                  <a:tcPr>
                    <a:solidFill>
                      <a:srgbClr val="8C5A2E"/>
                    </a:solidFill>
                  </a:tcPr>
                </a:tc>
                <a:tc>
                  <a:txBody>
                    <a:bodyPr wrap="square"/>
                    <a:lstStyle/>
                    <a:p>
                      <a:pPr algn="l"/>
                      <a:r>
                        <a:rPr sz="1000">
                          <a:solidFill>
                            <a:srgbClr val="FFFFFF"/>
                          </a:solidFill>
                          <a:latin typeface="Calibri"/>
                        </a:rPr>
                        <a:t>σ = (P−O)/6</a:t>
                      </a:r>
                    </a:p>
                  </a:txBody>
                  <a:tcPr>
                    <a:solidFill>
                      <a:srgbClr val="8C5A2E"/>
                    </a:solidFill>
                  </a:tcPr>
                </a:tc>
                <a:tc>
                  <a:txBody>
                    <a:bodyPr wrap="square"/>
                    <a:lstStyle/>
                    <a:p>
                      <a:pPr algn="l"/>
                      <a:r>
                        <a:rPr sz="1000">
                          <a:solidFill>
                            <a:srgbClr val="FFFFFF"/>
                          </a:solidFill>
                          <a:latin typeface="Calibri"/>
                        </a:rPr>
                        <a:t>Notes</a:t>
                      </a:r>
                    </a:p>
                  </a:txBody>
                  <a:tcPr>
                    <a:solidFill>
                      <a:srgbClr val="8C5A2E"/>
                    </a:solidFill>
                  </a:tcPr>
                </a:tc>
              </a:tr>
              <a:tr h="2547257">
                <a:tc>
                  <a:txBody>
                    <a:bodyPr wrap="square"/>
                    <a:lstStyle/>
                    <a:p>
                      <a:pPr algn="l"/>
                      <a:r>
                        <a:rPr sz="1000">
                          <a:solidFill>
                            <a:srgbClr val="2B2419"/>
                          </a:solidFill>
                          <a:latin typeface="Calibri"/>
                        </a:rPr>
                        <a:t>A</a:t>
                      </a:r>
                    </a:p>
                  </a:txBody>
                  <a:tcPr>
                    <a:solidFill>
                      <a:srgbClr val="F5EFE6"/>
                    </a:solidFill>
                  </a:tcPr>
                </a:tc>
                <a:tc>
                  <a:txBody>
                    <a:bodyPr wrap="square"/>
                    <a:lstStyle/>
                    <a:p>
                      <a:pPr algn="l"/>
                      <a:r>
                        <a:rPr sz="1000">
                          <a:solidFill>
                            <a:srgbClr val="2B2419"/>
                          </a:solidFill>
                          <a:latin typeface="Calibri"/>
                        </a:rPr>
                        <a:t>Requirements</a:t>
                      </a:r>
                    </a:p>
                  </a:txBody>
                  <a:tcPr>
                    <a:solidFill>
                      <a:srgbClr val="F5EFE6"/>
                    </a:solidFill>
                  </a:tcPr>
                </a:tc>
                <a:tc>
                  <a:txBody>
                    <a:bodyPr wrap="square"/>
                    <a:lstStyle/>
                    <a:p>
                      <a:pPr algn="l"/>
                      <a:r>
                        <a:rPr sz="1000">
                          <a:solidFill>
                            <a:srgbClr val="2B2419"/>
                          </a:solidFill>
                          <a:latin typeface="Calibri"/>
                        </a:rPr>
                        <a:t>3</a:t>
                      </a:r>
                    </a:p>
                  </a:txBody>
                  <a:tcPr>
                    <a:solidFill>
                      <a:srgbClr val="F5EFE6"/>
                    </a:solidFill>
                  </a:tcPr>
                </a:tc>
                <a:tc>
                  <a:txBody>
                    <a:bodyPr wrap="square"/>
                    <a:lstStyle/>
                    <a:p>
                      <a:pPr algn="l"/>
                      <a:r>
                        <a:rPr sz="1000">
                          <a:solidFill>
                            <a:srgbClr val="2B2419"/>
                          </a:solidFill>
                          <a:latin typeface="Calibri"/>
                        </a:rPr>
                        <a:t>5</a:t>
                      </a:r>
                    </a:p>
                  </a:txBody>
                  <a:tcPr>
                    <a:solidFill>
                      <a:srgbClr val="F5EFE6"/>
                    </a:solidFill>
                  </a:tcPr>
                </a:tc>
                <a:tc>
                  <a:txBody>
                    <a:bodyPr wrap="square"/>
                    <a:lstStyle/>
                    <a:p>
                      <a:pPr algn="l"/>
                      <a:r>
                        <a:rPr sz="1000">
                          <a:solidFill>
                            <a:srgbClr val="2B2419"/>
                          </a:solidFill>
                          <a:latin typeface="Calibri"/>
                        </a:rPr>
                        <a:t>9</a:t>
                      </a:r>
                    </a:p>
                  </a:txBody>
                  <a:tcPr>
                    <a:solidFill>
                      <a:srgbClr val="F5EFE6"/>
                    </a:solidFill>
                  </a:tcPr>
                </a:tc>
                <a:tc>
                  <a:txBody>
                    <a:bodyPr wrap="square"/>
                    <a:lstStyle/>
                    <a:p>
                      <a:pPr algn="l"/>
                      <a:r>
                        <a:rPr sz="1000">
                          <a:solidFill>
                            <a:srgbClr val="2B2419"/>
                          </a:solidFill>
                          <a:latin typeface="Calibri"/>
                        </a:rPr>
                        <a:t>5.33 d</a:t>
                      </a:r>
                    </a:p>
                  </a:txBody>
                  <a:tcPr>
                    <a:solidFill>
                      <a:srgbClr val="F5EFE6"/>
                    </a:solidFill>
                  </a:tcPr>
                </a:tc>
                <a:tc>
                  <a:txBody>
                    <a:bodyPr wrap="square"/>
                    <a:lstStyle/>
                    <a:p>
                      <a:pPr algn="l"/>
                      <a:r>
                        <a:rPr sz="1000">
                          <a:solidFill>
                            <a:srgbClr val="2B2419"/>
                          </a:solidFill>
                          <a:latin typeface="Calibri"/>
                        </a:rPr>
                        <a:t>1.00 d</a:t>
                      </a:r>
                    </a:p>
                  </a:txBody>
                  <a:tcPr>
                    <a:solidFill>
                      <a:srgbClr val="F5EFE6"/>
                    </a:solidFill>
                  </a:tcPr>
                </a:tc>
                <a:tc>
                  <a:txBody>
                    <a:bodyPr wrap="square"/>
                    <a:lstStyle/>
                    <a:p>
                      <a:pPr algn="l"/>
                      <a:r>
                        <a:rPr sz="1000">
                          <a:solidFill>
                            <a:srgbClr val="2B2419"/>
                          </a:solidFill>
                          <a:latin typeface="Calibri"/>
                        </a:rPr>
                        <a:t>Critical path</a:t>
                      </a:r>
                    </a:p>
                  </a:txBody>
                  <a:tcPr>
                    <a:solidFill>
                      <a:srgbClr val="F5EFE6"/>
                    </a:solidFill>
                  </a:tcPr>
                </a:tc>
              </a:tr>
              <a:tr h="2547257">
                <a:tc>
                  <a:txBody>
                    <a:bodyPr wrap="square"/>
                    <a:lstStyle/>
                    <a:p>
                      <a:pPr algn="l"/>
                      <a:r>
                        <a:rPr sz="1000">
                          <a:solidFill>
                            <a:srgbClr val="2B2419"/>
                          </a:solidFill>
                          <a:latin typeface="Calibri"/>
                        </a:rPr>
                        <a:t>B</a:t>
                      </a:r>
                    </a:p>
                  </a:txBody>
                  <a:tcPr>
                    <a:solidFill>
                      <a:srgbClr val="F5EFE6"/>
                    </a:solidFill>
                  </a:tcPr>
                </a:tc>
                <a:tc>
                  <a:txBody>
                    <a:bodyPr wrap="square"/>
                    <a:lstStyle/>
                    <a:p>
                      <a:pPr algn="l"/>
                      <a:r>
                        <a:rPr sz="1000">
                          <a:solidFill>
                            <a:srgbClr val="2B2419"/>
                          </a:solidFill>
                          <a:latin typeface="Calibri"/>
                        </a:rPr>
                        <a:t>UI/UX Design</a:t>
                      </a:r>
                    </a:p>
                  </a:txBody>
                  <a:tcPr>
                    <a:solidFill>
                      <a:srgbClr val="F5EFE6"/>
                    </a:solidFill>
                  </a:tcPr>
                </a:tc>
                <a:tc>
                  <a:txBody>
                    <a:bodyPr wrap="square"/>
                    <a:lstStyle/>
                    <a:p>
                      <a:pPr algn="l"/>
                      <a:r>
                        <a:rPr sz="1000">
                          <a:solidFill>
                            <a:srgbClr val="2B2419"/>
                          </a:solidFill>
                          <a:latin typeface="Calibri"/>
                        </a:rPr>
                        <a:t>5</a:t>
                      </a:r>
                    </a:p>
                  </a:txBody>
                  <a:tcPr>
                    <a:solidFill>
                      <a:srgbClr val="F5EFE6"/>
                    </a:solidFill>
                  </a:tcPr>
                </a:tc>
                <a:tc>
                  <a:txBody>
                    <a:bodyPr wrap="square"/>
                    <a:lstStyle/>
                    <a:p>
                      <a:pPr algn="l"/>
                      <a:r>
                        <a:rPr sz="1000">
                          <a:solidFill>
                            <a:srgbClr val="2B2419"/>
                          </a:solidFill>
                          <a:latin typeface="Calibri"/>
                        </a:rPr>
                        <a:t>10</a:t>
                      </a:r>
                    </a:p>
                  </a:txBody>
                  <a:tcPr>
                    <a:solidFill>
                      <a:srgbClr val="F5EFE6"/>
                    </a:solidFill>
                  </a:tcPr>
                </a:tc>
                <a:tc>
                  <a:txBody>
                    <a:bodyPr wrap="square"/>
                    <a:lstStyle/>
                    <a:p>
                      <a:pPr algn="l"/>
                      <a:r>
                        <a:rPr sz="1000">
                          <a:solidFill>
                            <a:srgbClr val="2B2419"/>
                          </a:solidFill>
                          <a:latin typeface="Calibri"/>
                        </a:rPr>
                        <a:t>18</a:t>
                      </a:r>
                    </a:p>
                  </a:txBody>
                  <a:tcPr>
                    <a:solidFill>
                      <a:srgbClr val="F5EFE6"/>
                    </a:solidFill>
                  </a:tcPr>
                </a:tc>
                <a:tc>
                  <a:txBody>
                    <a:bodyPr wrap="square"/>
                    <a:lstStyle/>
                    <a:p>
                      <a:pPr algn="l"/>
                      <a:r>
                        <a:rPr sz="1000">
                          <a:solidFill>
                            <a:srgbClr val="2B2419"/>
                          </a:solidFill>
                          <a:latin typeface="Calibri"/>
                        </a:rPr>
                        <a:t>10.50 d</a:t>
                      </a:r>
                    </a:p>
                  </a:txBody>
                  <a:tcPr>
                    <a:solidFill>
                      <a:srgbClr val="F5EFE6"/>
                    </a:solidFill>
                  </a:tcPr>
                </a:tc>
                <a:tc>
                  <a:txBody>
                    <a:bodyPr wrap="square"/>
                    <a:lstStyle/>
                    <a:p>
                      <a:pPr algn="l"/>
                      <a:r>
                        <a:rPr sz="1000">
                          <a:solidFill>
                            <a:srgbClr val="2B2419"/>
                          </a:solidFill>
                          <a:latin typeface="Calibri"/>
                        </a:rPr>
                        <a:t>2.17 d</a:t>
                      </a:r>
                    </a:p>
                  </a:txBody>
                  <a:tcPr>
                    <a:solidFill>
                      <a:srgbClr val="F5EFE6"/>
                    </a:solidFill>
                  </a:tcPr>
                </a:tc>
                <a:tc>
                  <a:txBody>
                    <a:bodyPr wrap="square"/>
                    <a:lstStyle/>
                    <a:p>
                      <a:pPr algn="l"/>
                      <a:r>
                        <a:rPr sz="1000">
                          <a:solidFill>
                            <a:srgbClr val="2B2419"/>
                          </a:solidFill>
                          <a:latin typeface="Calibri"/>
                        </a:rPr>
                        <a:t>Critical path</a:t>
                      </a:r>
                    </a:p>
                  </a:txBody>
                  <a:tcPr>
                    <a:solidFill>
                      <a:srgbClr val="F5EFE6"/>
                    </a:solidFill>
                  </a:tcPr>
                </a:tc>
              </a:tr>
              <a:tr h="2547257">
                <a:tc>
                  <a:txBody>
                    <a:bodyPr wrap="square"/>
                    <a:lstStyle/>
                    <a:p>
                      <a:pPr algn="l"/>
                      <a:r>
                        <a:rPr sz="1000">
                          <a:solidFill>
                            <a:srgbClr val="2B2419"/>
                          </a:solidFill>
                          <a:latin typeface="Calibri"/>
                        </a:rPr>
                        <a:t>E</a:t>
                      </a:r>
                    </a:p>
                  </a:txBody>
                  <a:tcPr>
                    <a:solidFill>
                      <a:srgbClr val="F5EFE6"/>
                    </a:solidFill>
                  </a:tcPr>
                </a:tc>
                <a:tc>
                  <a:txBody>
                    <a:bodyPr wrap="square"/>
                    <a:lstStyle/>
                    <a:p>
                      <a:pPr algn="l"/>
                      <a:r>
                        <a:rPr sz="1000">
                          <a:solidFill>
                            <a:srgbClr val="2B2419"/>
                          </a:solidFill>
                          <a:latin typeface="Calibri"/>
                        </a:rPr>
                        <a:t>Frontend Dev</a:t>
                      </a:r>
                    </a:p>
                  </a:txBody>
                  <a:tcPr>
                    <a:solidFill>
                      <a:srgbClr val="F5EFE6"/>
                    </a:solidFill>
                  </a:tcPr>
                </a:tc>
                <a:tc>
                  <a:txBody>
                    <a:bodyPr wrap="square"/>
                    <a:lstStyle/>
                    <a:p>
                      <a:pPr algn="l"/>
                      <a:r>
                        <a:rPr sz="1000">
                          <a:solidFill>
                            <a:srgbClr val="2B2419"/>
                          </a:solidFill>
                          <a:latin typeface="Calibri"/>
                        </a:rPr>
                        <a:t>10</a:t>
                      </a:r>
                    </a:p>
                  </a:txBody>
                  <a:tcPr>
                    <a:solidFill>
                      <a:srgbClr val="F5EFE6"/>
                    </a:solidFill>
                  </a:tcPr>
                </a:tc>
                <a:tc>
                  <a:txBody>
                    <a:bodyPr wrap="square"/>
                    <a:lstStyle/>
                    <a:p>
                      <a:pPr algn="l"/>
                      <a:r>
                        <a:rPr sz="1000">
                          <a:solidFill>
                            <a:srgbClr val="2B2419"/>
                          </a:solidFill>
                          <a:latin typeface="Calibri"/>
                        </a:rPr>
                        <a:t>15</a:t>
                      </a:r>
                    </a:p>
                  </a:txBody>
                  <a:tcPr>
                    <a:solidFill>
                      <a:srgbClr val="F5EFE6"/>
                    </a:solidFill>
                  </a:tcPr>
                </a:tc>
                <a:tc>
                  <a:txBody>
                    <a:bodyPr wrap="square"/>
                    <a:lstStyle/>
                    <a:p>
                      <a:pPr algn="l"/>
                      <a:r>
                        <a:rPr sz="1000">
                          <a:solidFill>
                            <a:srgbClr val="2B2419"/>
                          </a:solidFill>
                          <a:latin typeface="Calibri"/>
                        </a:rPr>
                        <a:t>22</a:t>
                      </a:r>
                    </a:p>
                  </a:txBody>
                  <a:tcPr>
                    <a:solidFill>
                      <a:srgbClr val="F5EFE6"/>
                    </a:solidFill>
                  </a:tcPr>
                </a:tc>
                <a:tc>
                  <a:txBody>
                    <a:bodyPr wrap="square"/>
                    <a:lstStyle/>
                    <a:p>
                      <a:pPr algn="l"/>
                      <a:r>
                        <a:rPr sz="1000">
                          <a:solidFill>
                            <a:srgbClr val="2B2419"/>
                          </a:solidFill>
                          <a:latin typeface="Calibri"/>
                        </a:rPr>
                        <a:t>15.33 d</a:t>
                      </a:r>
                    </a:p>
                  </a:txBody>
                  <a:tcPr>
                    <a:solidFill>
                      <a:srgbClr val="F5EFE6"/>
                    </a:solidFill>
                  </a:tcPr>
                </a:tc>
                <a:tc>
                  <a:txBody>
                    <a:bodyPr wrap="square"/>
                    <a:lstStyle/>
                    <a:p>
                      <a:pPr algn="l"/>
                      <a:r>
                        <a:rPr sz="1000">
                          <a:solidFill>
                            <a:srgbClr val="2B2419"/>
                          </a:solidFill>
                          <a:latin typeface="Calibri"/>
                        </a:rPr>
                        <a:t>2.00 d</a:t>
                      </a:r>
                    </a:p>
                  </a:txBody>
                  <a:tcPr>
                    <a:solidFill>
                      <a:srgbClr val="F5EFE6"/>
                    </a:solidFill>
                  </a:tcPr>
                </a:tc>
                <a:tc>
                  <a:txBody>
                    <a:bodyPr wrap="square"/>
                    <a:lstStyle/>
                    <a:p>
                      <a:pPr algn="l"/>
                      <a:r>
                        <a:rPr sz="1000">
                          <a:solidFill>
                            <a:srgbClr val="2B2419"/>
                          </a:solidFill>
                          <a:latin typeface="Calibri"/>
                        </a:rPr>
                        <a:t>Critical path</a:t>
                      </a:r>
                    </a:p>
                  </a:txBody>
                  <a:tcPr>
                    <a:solidFill>
                      <a:srgbClr val="F5EFE6"/>
                    </a:solidFill>
                  </a:tcPr>
                </a:tc>
              </a:tr>
              <a:tr h="2547257">
                <a:tc>
                  <a:txBody>
                    <a:bodyPr wrap="square"/>
                    <a:lstStyle/>
                    <a:p>
                      <a:pPr algn="l"/>
                      <a:r>
                        <a:rPr sz="1000">
                          <a:solidFill>
                            <a:srgbClr val="2B2419"/>
                          </a:solidFill>
                          <a:latin typeface="Calibri"/>
                        </a:rPr>
                        <a:t>G</a:t>
                      </a:r>
                    </a:p>
                  </a:txBody>
                  <a:tcPr>
                    <a:solidFill>
                      <a:srgbClr val="F5EFE6"/>
                    </a:solidFill>
                  </a:tcPr>
                </a:tc>
                <a:tc>
                  <a:txBody>
                    <a:bodyPr wrap="square"/>
                    <a:lstStyle/>
                    <a:p>
                      <a:pPr algn="l"/>
                      <a:r>
                        <a:rPr sz="1000">
                          <a:solidFill>
                            <a:srgbClr val="2B2419"/>
                          </a:solidFill>
                          <a:latin typeface="Calibri"/>
                        </a:rPr>
                        <a:t>Integration</a:t>
                      </a:r>
                    </a:p>
                  </a:txBody>
                  <a:tcPr>
                    <a:solidFill>
                      <a:srgbClr val="F5EFE6"/>
                    </a:solidFill>
                  </a:tcPr>
                </a:tc>
                <a:tc>
                  <a:txBody>
                    <a:bodyPr wrap="square"/>
                    <a:lstStyle/>
                    <a:p>
                      <a:pPr algn="l"/>
                      <a:r>
                        <a:rPr sz="1000">
                          <a:solidFill>
                            <a:srgbClr val="2B2419"/>
                          </a:solidFill>
                          <a:latin typeface="Calibri"/>
                        </a:rPr>
                        <a:t>3</a:t>
                      </a:r>
                    </a:p>
                  </a:txBody>
                  <a:tcPr>
                    <a:solidFill>
                      <a:srgbClr val="F5EFE6"/>
                    </a:solidFill>
                  </a:tcPr>
                </a:tc>
                <a:tc>
                  <a:txBody>
                    <a:bodyPr wrap="square"/>
                    <a:lstStyle/>
                    <a:p>
                      <a:pPr algn="l"/>
                      <a:r>
                        <a:rPr sz="1000">
                          <a:solidFill>
                            <a:srgbClr val="2B2419"/>
                          </a:solidFill>
                          <a:latin typeface="Calibri"/>
                        </a:rPr>
                        <a:t>5</a:t>
                      </a:r>
                    </a:p>
                  </a:txBody>
                  <a:tcPr>
                    <a:solidFill>
                      <a:srgbClr val="F5EFE6"/>
                    </a:solidFill>
                  </a:tcPr>
                </a:tc>
                <a:tc>
                  <a:txBody>
                    <a:bodyPr wrap="square"/>
                    <a:lstStyle/>
                    <a:p>
                      <a:pPr algn="l"/>
                      <a:r>
                        <a:rPr sz="1000">
                          <a:solidFill>
                            <a:srgbClr val="2B2419"/>
                          </a:solidFill>
                          <a:latin typeface="Calibri"/>
                        </a:rPr>
                        <a:t>8</a:t>
                      </a:r>
                    </a:p>
                  </a:txBody>
                  <a:tcPr>
                    <a:solidFill>
                      <a:srgbClr val="F5EFE6"/>
                    </a:solidFill>
                  </a:tcPr>
                </a:tc>
                <a:tc>
                  <a:txBody>
                    <a:bodyPr wrap="square"/>
                    <a:lstStyle/>
                    <a:p>
                      <a:pPr algn="l"/>
                      <a:r>
                        <a:rPr sz="1000">
                          <a:solidFill>
                            <a:srgbClr val="2B2419"/>
                          </a:solidFill>
                          <a:latin typeface="Calibri"/>
                        </a:rPr>
                        <a:t>5.17 d</a:t>
                      </a:r>
                    </a:p>
                  </a:txBody>
                  <a:tcPr>
                    <a:solidFill>
                      <a:srgbClr val="F5EFE6"/>
                    </a:solidFill>
                  </a:tcPr>
                </a:tc>
                <a:tc>
                  <a:txBody>
                    <a:bodyPr wrap="square"/>
                    <a:lstStyle/>
                    <a:p>
                      <a:pPr algn="l"/>
                      <a:r>
                        <a:rPr sz="1000">
                          <a:solidFill>
                            <a:srgbClr val="2B2419"/>
                          </a:solidFill>
                          <a:latin typeface="Calibri"/>
                        </a:rPr>
                        <a:t>0.83 d</a:t>
                      </a:r>
                    </a:p>
                  </a:txBody>
                  <a:tcPr>
                    <a:solidFill>
                      <a:srgbClr val="F5EFE6"/>
                    </a:solidFill>
                  </a:tcPr>
                </a:tc>
                <a:tc>
                  <a:txBody>
                    <a:bodyPr wrap="square"/>
                    <a:lstStyle/>
                    <a:p>
                      <a:pPr algn="l"/>
                      <a:r>
                        <a:rPr sz="1000">
                          <a:solidFill>
                            <a:srgbClr val="2B2419"/>
                          </a:solidFill>
                          <a:latin typeface="Calibri"/>
                        </a:rPr>
                        <a:t>Critical path</a:t>
                      </a:r>
                    </a:p>
                  </a:txBody>
                  <a:tcPr>
                    <a:solidFill>
                      <a:srgbClr val="F5EFE6"/>
                    </a:solidFill>
                  </a:tcPr>
                </a:tc>
              </a:tr>
              <a:tr h="2547257">
                <a:tc>
                  <a:txBody>
                    <a:bodyPr wrap="square"/>
                    <a:lstStyle/>
                    <a:p>
                      <a:pPr algn="l"/>
                      <a:r>
                        <a:rPr sz="1000">
                          <a:solidFill>
                            <a:srgbClr val="2B2419"/>
                          </a:solidFill>
                          <a:latin typeface="Calibri"/>
                        </a:rPr>
                        <a:t>H</a:t>
                      </a:r>
                    </a:p>
                  </a:txBody>
                  <a:tcPr>
                    <a:solidFill>
                      <a:srgbClr val="F5EFE6"/>
                    </a:solidFill>
                  </a:tcPr>
                </a:tc>
                <a:tc>
                  <a:txBody>
                    <a:bodyPr wrap="square"/>
                    <a:lstStyle/>
                    <a:p>
                      <a:pPr algn="l"/>
                      <a:r>
                        <a:rPr sz="1000">
                          <a:solidFill>
                            <a:srgbClr val="2B2419"/>
                          </a:solidFill>
                          <a:latin typeface="Calibri"/>
                        </a:rPr>
                        <a:t>Testing</a:t>
                      </a:r>
                    </a:p>
                  </a:txBody>
                  <a:tcPr>
                    <a:solidFill>
                      <a:srgbClr val="F5EFE6"/>
                    </a:solidFill>
                  </a:tcPr>
                </a:tc>
                <a:tc>
                  <a:txBody>
                    <a:bodyPr wrap="square"/>
                    <a:lstStyle/>
                    <a:p>
                      <a:pPr algn="l"/>
                      <a:r>
                        <a:rPr sz="1000">
                          <a:solidFill>
                            <a:srgbClr val="2B2419"/>
                          </a:solidFill>
                          <a:latin typeface="Calibri"/>
                        </a:rPr>
                        <a:t>5</a:t>
                      </a:r>
                    </a:p>
                  </a:txBody>
                  <a:tcPr>
                    <a:solidFill>
                      <a:srgbClr val="F5EFE6"/>
                    </a:solidFill>
                  </a:tcPr>
                </a:tc>
                <a:tc>
                  <a:txBody>
                    <a:bodyPr wrap="square"/>
                    <a:lstStyle/>
                    <a:p>
                      <a:pPr algn="l"/>
                      <a:r>
                        <a:rPr sz="1000">
                          <a:solidFill>
                            <a:srgbClr val="2B2419"/>
                          </a:solidFill>
                          <a:latin typeface="Calibri"/>
                        </a:rPr>
                        <a:t>8</a:t>
                      </a:r>
                    </a:p>
                  </a:txBody>
                  <a:tcPr>
                    <a:solidFill>
                      <a:srgbClr val="F5EFE6"/>
                    </a:solidFill>
                  </a:tcPr>
                </a:tc>
                <a:tc>
                  <a:txBody>
                    <a:bodyPr wrap="square"/>
                    <a:lstStyle/>
                    <a:p>
                      <a:pPr algn="l"/>
                      <a:r>
                        <a:rPr sz="1000">
                          <a:solidFill>
                            <a:srgbClr val="2B2419"/>
                          </a:solidFill>
                          <a:latin typeface="Calibri"/>
                        </a:rPr>
                        <a:t>14</a:t>
                      </a:r>
                    </a:p>
                  </a:txBody>
                  <a:tcPr>
                    <a:solidFill>
                      <a:srgbClr val="F5EFE6"/>
                    </a:solidFill>
                  </a:tcPr>
                </a:tc>
                <a:tc>
                  <a:txBody>
                    <a:bodyPr wrap="square"/>
                    <a:lstStyle/>
                    <a:p>
                      <a:pPr algn="l"/>
                      <a:r>
                        <a:rPr sz="1000">
                          <a:solidFill>
                            <a:srgbClr val="2B2419"/>
                          </a:solidFill>
                          <a:latin typeface="Calibri"/>
                        </a:rPr>
                        <a:t>8.50 d</a:t>
                      </a:r>
                    </a:p>
                  </a:txBody>
                  <a:tcPr>
                    <a:solidFill>
                      <a:srgbClr val="F5EFE6"/>
                    </a:solidFill>
                  </a:tcPr>
                </a:tc>
                <a:tc>
                  <a:txBody>
                    <a:bodyPr wrap="square"/>
                    <a:lstStyle/>
                    <a:p>
                      <a:pPr algn="l"/>
                      <a:r>
                        <a:rPr sz="1000">
                          <a:solidFill>
                            <a:srgbClr val="2B2419"/>
                          </a:solidFill>
                          <a:latin typeface="Calibri"/>
                        </a:rPr>
                        <a:t>1.50 d</a:t>
                      </a:r>
                    </a:p>
                  </a:txBody>
                  <a:tcPr>
                    <a:solidFill>
                      <a:srgbClr val="F5EFE6"/>
                    </a:solidFill>
                  </a:tcPr>
                </a:tc>
                <a:tc>
                  <a:txBody>
                    <a:bodyPr wrap="square"/>
                    <a:lstStyle/>
                    <a:p>
                      <a:pPr algn="l"/>
                      <a:r>
                        <a:rPr sz="1000">
                          <a:solidFill>
                            <a:srgbClr val="2B2419"/>
                          </a:solidFill>
                          <a:latin typeface="Calibri"/>
                        </a:rPr>
                        <a:t>Critical path</a:t>
                      </a:r>
                    </a:p>
                  </a:txBody>
                  <a:tcPr>
                    <a:solidFill>
                      <a:srgbClr val="F5EFE6"/>
                    </a:solidFill>
                  </a:tcPr>
                </a:tc>
              </a:tr>
              <a:tr h="2547258">
                <a:tc>
                  <a:txBody>
                    <a:bodyPr wrap="square"/>
                    <a:lstStyle/>
                    <a:p>
                      <a:pPr algn="l"/>
                      <a:r>
                        <a:rPr sz="1000">
                          <a:solidFill>
                            <a:srgbClr val="2B2419"/>
                          </a:solidFill>
                          <a:latin typeface="Calibri"/>
                        </a:rPr>
                        <a:t>F</a:t>
                      </a:r>
                    </a:p>
                  </a:txBody>
                  <a:tcPr>
                    <a:solidFill>
                      <a:srgbClr val="F5EFE6"/>
                    </a:solidFill>
                  </a:tcPr>
                </a:tc>
                <a:tc>
                  <a:txBody>
                    <a:bodyPr wrap="square"/>
                    <a:lstStyle/>
                    <a:p>
                      <a:pPr algn="l"/>
                      <a:r>
                        <a:rPr sz="1000">
                          <a:solidFill>
                            <a:srgbClr val="2B2419"/>
                          </a:solidFill>
                          <a:latin typeface="Calibri"/>
                        </a:rPr>
                        <a:t>Backend Dev</a:t>
                      </a:r>
                    </a:p>
                  </a:txBody>
                  <a:tcPr>
                    <a:solidFill>
                      <a:srgbClr val="F5EFE6"/>
                    </a:solidFill>
                  </a:tcPr>
                </a:tc>
                <a:tc>
                  <a:txBody>
                    <a:bodyPr wrap="square"/>
                    <a:lstStyle/>
                    <a:p>
                      <a:pPr algn="l"/>
                      <a:r>
                        <a:rPr sz="1000">
                          <a:solidFill>
                            <a:srgbClr val="2B2419"/>
                          </a:solidFill>
                          <a:latin typeface="Calibri"/>
                        </a:rPr>
                        <a:t>8</a:t>
                      </a:r>
                    </a:p>
                  </a:txBody>
                  <a:tcPr>
                    <a:solidFill>
                      <a:srgbClr val="F5EFE6"/>
                    </a:solidFill>
                  </a:tcPr>
                </a:tc>
                <a:tc>
                  <a:txBody>
                    <a:bodyPr wrap="square"/>
                    <a:lstStyle/>
                    <a:p>
                      <a:pPr algn="l"/>
                      <a:r>
                        <a:rPr sz="1000">
                          <a:solidFill>
                            <a:srgbClr val="2B2419"/>
                          </a:solidFill>
                          <a:latin typeface="Calibri"/>
                        </a:rPr>
                        <a:t>12</a:t>
                      </a:r>
                    </a:p>
                  </a:txBody>
                  <a:tcPr>
                    <a:solidFill>
                      <a:srgbClr val="F5EFE6"/>
                    </a:solidFill>
                  </a:tcPr>
                </a:tc>
                <a:tc>
                  <a:txBody>
                    <a:bodyPr wrap="square"/>
                    <a:lstStyle/>
                    <a:p>
                      <a:pPr algn="l"/>
                      <a:r>
                        <a:rPr sz="1000">
                          <a:solidFill>
                            <a:srgbClr val="2B2419"/>
                          </a:solidFill>
                          <a:latin typeface="Calibri"/>
                        </a:rPr>
                        <a:t>20</a:t>
                      </a:r>
                    </a:p>
                  </a:txBody>
                  <a:tcPr>
                    <a:solidFill>
                      <a:srgbClr val="F5EFE6"/>
                    </a:solidFill>
                  </a:tcPr>
                </a:tc>
                <a:tc>
                  <a:txBody>
                    <a:bodyPr wrap="square"/>
                    <a:lstStyle/>
                    <a:p>
                      <a:pPr algn="l"/>
                      <a:r>
                        <a:rPr sz="1000">
                          <a:solidFill>
                            <a:srgbClr val="2B2419"/>
                          </a:solidFill>
                          <a:latin typeface="Calibri"/>
                        </a:rPr>
                        <a:t>12.67 d</a:t>
                      </a:r>
                    </a:p>
                  </a:txBody>
                  <a:tcPr>
                    <a:solidFill>
                      <a:srgbClr val="F5EFE6"/>
                    </a:solidFill>
                  </a:tcPr>
                </a:tc>
                <a:tc>
                  <a:txBody>
                    <a:bodyPr wrap="square"/>
                    <a:lstStyle/>
                    <a:p>
                      <a:pPr algn="l"/>
                      <a:r>
                        <a:rPr sz="1000">
                          <a:solidFill>
                            <a:srgbClr val="2B2419"/>
                          </a:solidFill>
                          <a:latin typeface="Calibri"/>
                        </a:rPr>
                        <a:t>2.00 d</a:t>
                      </a:r>
                    </a:p>
                  </a:txBody>
                  <a:tcPr>
                    <a:solidFill>
                      <a:srgbClr val="F5EFE6"/>
                    </a:solidFill>
                  </a:tcPr>
                </a:tc>
                <a:tc>
                  <a:txBody>
                    <a:bodyPr wrap="square"/>
                    <a:lstStyle/>
                    <a:p>
                      <a:pPr algn="l"/>
                      <a:r>
                        <a:rPr sz="1000">
                          <a:solidFill>
                            <a:srgbClr val="2B2419"/>
                          </a:solidFill>
                          <a:latin typeface="Calibri"/>
                        </a:rPr>
                        <a:t>Non-critical; 8 d float</a:t>
                      </a:r>
                    </a:p>
                  </a:txBody>
                  <a:tcPr>
                    <a:solidFill>
                      <a:srgbClr val="F5EFE6"/>
                    </a:solidFill>
                  </a:tcPr>
                </a:tc>
              </a:tr>
            </a:tbl>
          </a:graphicData>
        </a:graphic>
      </p:graphicFrame>
      <p:sp>
        <p:nvSpPr>
          <p:cNvPr id="10" name="Rectangle 9"/>
          <p:cNvSpPr/>
          <p:nvPr/>
        </p:nvSpPr>
        <p:spPr>
          <a:xfrm>
            <a:off x="8534186" y="4"/>
            <a:ext cx="12" cy="1"/>
          </a:xfrm>
          <a:prstGeom prst="rect">
            <a:avLst/>
          </a:prstGeom>
          <a:solidFill>
            <a:srgbClr val="E8D5BC"/>
          </a:solidFill>
          <a:ln w="9525">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525" y="4"/>
            <a:ext cx="6" cy="2743200"/>
          </a:xfrm>
          <a:prstGeom prst="rect">
            <a:avLst/>
          </a:prstGeom>
          <a:noFill/>
        </p:spPr>
        <p:txBody>
          <a:bodyPr wrap="square">
            <a:spAutoFit/>
          </a:bodyPr>
          <a:lstStyle/>
          <a:p>
            <a:pPr algn="l"/>
            <a:r>
              <a:rPr sz="1300" b="1" i="0">
                <a:solidFill>
                  <a:srgbClr val="8C5A2E"/>
                </a:solidFill>
                <a:latin typeface="Georgia"/>
              </a:rPr>
              <a:t>Worked Example — Activity B (UI/UX Design)</a:t>
            </a:r>
          </a:p>
        </p:txBody>
      </p:sp>
      <p:sp>
        <p:nvSpPr>
          <p:cNvPr id="12" name="TextBox 11"/>
          <p:cNvSpPr txBox="1"/>
          <p:nvPr/>
        </p:nvSpPr>
        <p:spPr>
          <a:xfrm>
            <a:off x="10972525" y="4"/>
            <a:ext cx="11" cy="1"/>
          </a:xfrm>
          <a:prstGeom prst="rect">
            <a:avLst/>
          </a:prstGeom>
          <a:noFill/>
        </p:spPr>
        <p:txBody>
          <a:bodyPr wrap="square">
            <a:spAutoFit/>
          </a:bodyPr>
          <a:lstStyle/>
          <a:p>
            <a:pPr algn="l"/>
            <a:r>
              <a:rPr sz="1100" b="0" i="0">
                <a:solidFill>
                  <a:srgbClr val="2B2419"/>
                </a:solidFill>
                <a:latin typeface="Calibri"/>
              </a:rPr>
              <a:t>O = 5 days, M = 10 days, P = 18 days
TE = (5 + 4×10 + 18) / 6 = 63 / 6 = 10.5 days
σ  = (18 − 5) / 6 = 13 / 6 ≈ 2.17 days
Interpretation: ~68% probability of completing within 10.5 ± 2.17 days.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TIMELINE &amp; MILESTONES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CPM — Forward &amp; Backward Pass</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8 / 24</a:t>
            </a:r>
          </a:p>
        </p:txBody>
      </p:sp>
      <p:graphicFrame>
        <p:nvGraphicFramePr>
          <p:cNvPr id="9" name="Table 8"/>
          <p:cNvGraphicFramePr>
            <a:graphicFrameLocks noGrp="1"/>
          </p:cNvGraphicFramePr>
          <p:nvPr/>
        </p:nvGraphicFramePr>
        <p:xfrm>
          <a:off x="8534186.5" y="10629900.0"/>
          <a:ext cx="149957843" cy="24003000.0"/>
        </p:xfrm>
        <a:graphic>
          <a:graphicData uri="http://schemas.openxmlformats.org/drawingml/2006/table">
            <a:tbl>
              <a:tblPr firstRow="1" bandRow="1">
                <a:tableStyleId>{5C22544A-7EE6-4342-B048-85BDC9FD1C3A}</a:tableStyleId>
              </a:tblPr>
              <a:tblGrid>
                <a:gridCol w="10884037"/>
                <a:gridCol w="36280124"/>
                <a:gridCol w="12093374"/>
                <a:gridCol w="21768074"/>
                <a:gridCol w="10884037"/>
                <a:gridCol w="10884037"/>
                <a:gridCol w="10884037"/>
                <a:gridCol w="10884037"/>
                <a:gridCol w="14512049"/>
                <a:gridCol w="10884037"/>
              </a:tblGrid>
              <a:tr h="2667000">
                <a:tc>
                  <a:txBody>
                    <a:bodyPr wrap="square"/>
                    <a:lstStyle/>
                    <a:p>
                      <a:pPr algn="l"/>
                      <a:r>
                        <a:rPr sz="1000">
                          <a:solidFill>
                            <a:srgbClr val="FFFFFF"/>
                          </a:solidFill>
                          <a:latin typeface="Calibri"/>
                        </a:rPr>
                        <a:t>Act.</a:t>
                      </a:r>
                    </a:p>
                  </a:txBody>
                  <a:tcPr>
                    <a:solidFill>
                      <a:srgbClr val="8C5A2E"/>
                    </a:solidFill>
                  </a:tcPr>
                </a:tc>
                <a:tc>
                  <a:txBody>
                    <a:bodyPr wrap="square"/>
                    <a:lstStyle/>
                    <a:p>
                      <a:pPr algn="l"/>
                      <a:r>
                        <a:rPr sz="1000">
                          <a:solidFill>
                            <a:srgbClr val="FFFFFF"/>
                          </a:solidFill>
                          <a:latin typeface="Calibri"/>
                        </a:rPr>
                        <a:t>Desc.</a:t>
                      </a:r>
                    </a:p>
                  </a:txBody>
                  <a:tcPr>
                    <a:solidFill>
                      <a:srgbClr val="8C5A2E"/>
                    </a:solidFill>
                  </a:tcPr>
                </a:tc>
                <a:tc>
                  <a:txBody>
                    <a:bodyPr wrap="square"/>
                    <a:lstStyle/>
                    <a:p>
                      <a:pPr algn="l"/>
                      <a:r>
                        <a:rPr sz="1000">
                          <a:solidFill>
                            <a:srgbClr val="FFFFFF"/>
                          </a:solidFill>
                          <a:latin typeface="Calibri"/>
                        </a:rPr>
                        <a:t>Dur.</a:t>
                      </a:r>
                    </a:p>
                  </a:txBody>
                  <a:tcPr>
                    <a:solidFill>
                      <a:srgbClr val="8C5A2E"/>
                    </a:solidFill>
                  </a:tcPr>
                </a:tc>
                <a:tc>
                  <a:txBody>
                    <a:bodyPr wrap="square"/>
                    <a:lstStyle/>
                    <a:p>
                      <a:pPr algn="l"/>
                      <a:r>
                        <a:rPr sz="1000">
                          <a:solidFill>
                            <a:srgbClr val="FFFFFF"/>
                          </a:solidFill>
                          <a:latin typeface="Calibri"/>
                        </a:rPr>
                        <a:t>Predecessors</a:t>
                      </a:r>
                    </a:p>
                  </a:txBody>
                  <a:tcPr>
                    <a:solidFill>
                      <a:srgbClr val="8C5A2E"/>
                    </a:solidFill>
                  </a:tcPr>
                </a:tc>
                <a:tc>
                  <a:txBody>
                    <a:bodyPr wrap="square"/>
                    <a:lstStyle/>
                    <a:p>
                      <a:pPr algn="l"/>
                      <a:r>
                        <a:rPr sz="1000">
                          <a:solidFill>
                            <a:srgbClr val="FFFFFF"/>
                          </a:solidFill>
                          <a:latin typeface="Calibri"/>
                        </a:rPr>
                        <a:t>ES</a:t>
                      </a:r>
                    </a:p>
                  </a:txBody>
                  <a:tcPr>
                    <a:solidFill>
                      <a:srgbClr val="8C5A2E"/>
                    </a:solidFill>
                  </a:tcPr>
                </a:tc>
                <a:tc>
                  <a:txBody>
                    <a:bodyPr wrap="square"/>
                    <a:lstStyle/>
                    <a:p>
                      <a:pPr algn="l"/>
                      <a:r>
                        <a:rPr sz="1000">
                          <a:solidFill>
                            <a:srgbClr val="FFFFFF"/>
                          </a:solidFill>
                          <a:latin typeface="Calibri"/>
                        </a:rPr>
                        <a:t>EF</a:t>
                      </a:r>
                    </a:p>
                  </a:txBody>
                  <a:tcPr>
                    <a:solidFill>
                      <a:srgbClr val="8C5A2E"/>
                    </a:solidFill>
                  </a:tcPr>
                </a:tc>
                <a:tc>
                  <a:txBody>
                    <a:bodyPr wrap="square"/>
                    <a:lstStyle/>
                    <a:p>
                      <a:pPr algn="l"/>
                      <a:r>
                        <a:rPr sz="1000">
                          <a:solidFill>
                            <a:srgbClr val="FFFFFF"/>
                          </a:solidFill>
                          <a:latin typeface="Calibri"/>
                        </a:rPr>
                        <a:t>LS</a:t>
                      </a:r>
                    </a:p>
                  </a:txBody>
                  <a:tcPr>
                    <a:solidFill>
                      <a:srgbClr val="8C5A2E"/>
                    </a:solidFill>
                  </a:tcPr>
                </a:tc>
                <a:tc>
                  <a:txBody>
                    <a:bodyPr wrap="square"/>
                    <a:lstStyle/>
                    <a:p>
                      <a:pPr algn="l"/>
                      <a:r>
                        <a:rPr sz="1000">
                          <a:solidFill>
                            <a:srgbClr val="FFFFFF"/>
                          </a:solidFill>
                          <a:latin typeface="Calibri"/>
                        </a:rPr>
                        <a:t>LF</a:t>
                      </a:r>
                    </a:p>
                  </a:txBody>
                  <a:tcPr>
                    <a:solidFill>
                      <a:srgbClr val="8C5A2E"/>
                    </a:solidFill>
                  </a:tcPr>
                </a:tc>
                <a:tc>
                  <a:txBody>
                    <a:bodyPr wrap="square"/>
                    <a:lstStyle/>
                    <a:p>
                      <a:pPr algn="l"/>
                      <a:r>
                        <a:rPr sz="1000">
                          <a:solidFill>
                            <a:srgbClr val="FFFFFF"/>
                          </a:solidFill>
                          <a:latin typeface="Calibri"/>
                        </a:rPr>
                        <a:t>Slack</a:t>
                      </a:r>
                    </a:p>
                  </a:txBody>
                  <a:tcPr>
                    <a:solidFill>
                      <a:srgbClr val="8C5A2E"/>
                    </a:solidFill>
                  </a:tcPr>
                </a:tc>
                <a:tc>
                  <a:txBody>
                    <a:bodyPr wrap="square"/>
                    <a:lstStyle/>
                    <a:p>
                      <a:pPr algn="l"/>
                      <a:r>
                        <a:rPr sz="1000">
                          <a:solidFill>
                            <a:srgbClr val="FFFFFF"/>
                          </a:solidFill>
                          <a:latin typeface="Calibri"/>
                        </a:rPr>
                        <a:t>CP?</a:t>
                      </a:r>
                    </a:p>
                  </a:txBody>
                  <a:tcPr>
                    <a:solidFill>
                      <a:srgbClr val="8C5A2E"/>
                    </a:solidFill>
                  </a:tcPr>
                </a:tc>
              </a:tr>
              <a:tr h="2667000">
                <a:tc>
                  <a:txBody>
                    <a:bodyPr wrap="square"/>
                    <a:lstStyle/>
                    <a:p>
                      <a:pPr algn="l"/>
                      <a:r>
                        <a:rPr sz="1000">
                          <a:solidFill>
                            <a:srgbClr val="2B2419"/>
                          </a:solidFill>
                          <a:latin typeface="Calibri"/>
                        </a:rPr>
                        <a:t>A</a:t>
                      </a:r>
                    </a:p>
                  </a:txBody>
                  <a:tcPr>
                    <a:solidFill>
                      <a:srgbClr val="E8D5BC"/>
                    </a:solidFill>
                  </a:tcPr>
                </a:tc>
                <a:tc>
                  <a:txBody>
                    <a:bodyPr wrap="square"/>
                    <a:lstStyle/>
                    <a:p>
                      <a:pPr algn="l"/>
                      <a:r>
                        <a:rPr sz="1000">
                          <a:solidFill>
                            <a:srgbClr val="2B2419"/>
                          </a:solidFill>
                          <a:latin typeface="Calibri"/>
                        </a:rPr>
                        <a:t>Requirements</a:t>
                      </a:r>
                    </a:p>
                  </a:txBody>
                  <a:tcPr>
                    <a:solidFill>
                      <a:srgbClr val="E8D5BC"/>
                    </a:solidFill>
                  </a:tcPr>
                </a:tc>
                <a:tc>
                  <a:txBody>
                    <a:bodyPr wrap="square"/>
                    <a:lstStyle/>
                    <a:p>
                      <a:pPr algn="l"/>
                      <a:r>
                        <a:rPr sz="1000">
                          <a:solidFill>
                            <a:srgbClr val="2B2419"/>
                          </a:solidFill>
                          <a:latin typeface="Calibri"/>
                        </a:rPr>
                        <a:t>5 d</a:t>
                      </a:r>
                    </a:p>
                  </a:txBody>
                  <a:tcPr>
                    <a:solidFill>
                      <a:srgbClr val="E8D5BC"/>
                    </a:solidFill>
                  </a:tcPr>
                </a:tc>
                <a:tc>
                  <a:txBody>
                    <a:bodyPr wrap="square"/>
                    <a:lstStyle/>
                    <a:p>
                      <a:pPr algn="l"/>
                      <a:r>
                        <a:rPr sz="1000">
                          <a:solidFill>
                            <a:srgbClr val="2B2419"/>
                          </a:solidFill>
                          <a:latin typeface="Calibri"/>
                        </a:rPr>
                        <a:t>—</a:t>
                      </a:r>
                    </a:p>
                  </a:txBody>
                  <a:tcPr>
                    <a:solidFill>
                      <a:srgbClr val="E8D5BC"/>
                    </a:solidFill>
                  </a:tcPr>
                </a:tc>
                <a:tc>
                  <a:txBody>
                    <a:bodyPr wrap="square"/>
                    <a:lstStyle/>
                    <a:p>
                      <a:pPr algn="l"/>
                      <a:r>
                        <a:rPr sz="1000">
                          <a:solidFill>
                            <a:srgbClr val="2B2419"/>
                          </a:solidFill>
                          <a:latin typeface="Calibri"/>
                        </a:rPr>
                        <a:t>0</a:t>
                      </a:r>
                    </a:p>
                  </a:txBody>
                  <a:tcPr>
                    <a:solidFill>
                      <a:srgbClr val="E8D5BC"/>
                    </a:solidFill>
                  </a:tcPr>
                </a:tc>
                <a:tc>
                  <a:txBody>
                    <a:bodyPr wrap="square"/>
                    <a:lstStyle/>
                    <a:p>
                      <a:pPr algn="l"/>
                      <a:r>
                        <a:rPr sz="1000">
                          <a:solidFill>
                            <a:srgbClr val="2B2419"/>
                          </a:solidFill>
                          <a:latin typeface="Calibri"/>
                        </a:rPr>
                        <a:t>5</a:t>
                      </a:r>
                    </a:p>
                  </a:txBody>
                  <a:tcPr>
                    <a:solidFill>
                      <a:srgbClr val="E8D5BC"/>
                    </a:solidFill>
                  </a:tcPr>
                </a:tc>
                <a:tc>
                  <a:txBody>
                    <a:bodyPr wrap="square"/>
                    <a:lstStyle/>
                    <a:p>
                      <a:pPr algn="l"/>
                      <a:r>
                        <a:rPr sz="1000">
                          <a:solidFill>
                            <a:srgbClr val="2B2419"/>
                          </a:solidFill>
                          <a:latin typeface="Calibri"/>
                        </a:rPr>
                        <a:t>0</a:t>
                      </a:r>
                    </a:p>
                  </a:txBody>
                  <a:tcPr>
                    <a:solidFill>
                      <a:srgbClr val="E8D5BC"/>
                    </a:solidFill>
                  </a:tcPr>
                </a:tc>
                <a:tc>
                  <a:txBody>
                    <a:bodyPr wrap="square"/>
                    <a:lstStyle/>
                    <a:p>
                      <a:pPr algn="l"/>
                      <a:r>
                        <a:rPr sz="1000">
                          <a:solidFill>
                            <a:srgbClr val="2B2419"/>
                          </a:solidFill>
                          <a:latin typeface="Calibri"/>
                        </a:rPr>
                        <a:t>5</a:t>
                      </a:r>
                    </a:p>
                  </a:txBody>
                  <a:tcPr>
                    <a:solidFill>
                      <a:srgbClr val="E8D5BC"/>
                    </a:solidFill>
                  </a:tcPr>
                </a:tc>
                <a:tc>
                  <a:txBody>
                    <a:bodyPr wrap="square"/>
                    <a:lstStyle/>
                    <a:p>
                      <a:pPr algn="l"/>
                      <a:r>
                        <a:rPr sz="1000">
                          <a:solidFill>
                            <a:srgbClr val="2B2419"/>
                          </a:solidFill>
                          <a:latin typeface="Calibri"/>
                        </a:rPr>
                        <a:t>0</a:t>
                      </a:r>
                    </a:p>
                  </a:txBody>
                  <a:tcPr>
                    <a:solidFill>
                      <a:srgbClr val="E8D5BC"/>
                    </a:solidFill>
                  </a:tcPr>
                </a:tc>
                <a:tc>
                  <a:txBody>
                    <a:bodyPr wrap="square"/>
                    <a:lstStyle/>
                    <a:p>
                      <a:pPr algn="l"/>
                      <a:r>
                        <a:rPr sz="1000">
                          <a:solidFill>
                            <a:srgbClr val="2B2419"/>
                          </a:solidFill>
                          <a:latin typeface="Calibri"/>
                        </a:rPr>
                        <a:t>★</a:t>
                      </a:r>
                    </a:p>
                  </a:txBody>
                  <a:tcPr>
                    <a:solidFill>
                      <a:srgbClr val="E8D5BC"/>
                    </a:solidFill>
                  </a:tcPr>
                </a:tc>
              </a:tr>
              <a:tr h="2667000">
                <a:tc>
                  <a:txBody>
                    <a:bodyPr wrap="square"/>
                    <a:lstStyle/>
                    <a:p>
                      <a:pPr algn="l"/>
                      <a:r>
                        <a:rPr sz="1000">
                          <a:solidFill>
                            <a:srgbClr val="2B2419"/>
                          </a:solidFill>
                          <a:latin typeface="Calibri"/>
                        </a:rPr>
                        <a:t>B</a:t>
                      </a:r>
                    </a:p>
                  </a:txBody>
                  <a:tcPr>
                    <a:solidFill>
                      <a:srgbClr val="F5EFE6"/>
                    </a:solidFill>
                  </a:tcPr>
                </a:tc>
                <a:tc>
                  <a:txBody>
                    <a:bodyPr wrap="square"/>
                    <a:lstStyle/>
                    <a:p>
                      <a:pPr algn="l"/>
                      <a:r>
                        <a:rPr sz="1000">
                          <a:solidFill>
                            <a:srgbClr val="2B2419"/>
                          </a:solidFill>
                          <a:latin typeface="Calibri"/>
                        </a:rPr>
                        <a:t>UI/UX Design</a:t>
                      </a:r>
                    </a:p>
                  </a:txBody>
                  <a:tcPr>
                    <a:solidFill>
                      <a:srgbClr val="F5EFE6"/>
                    </a:solidFill>
                  </a:tcPr>
                </a:tc>
                <a:tc>
                  <a:txBody>
                    <a:bodyPr wrap="square"/>
                    <a:lstStyle/>
                    <a:p>
                      <a:pPr algn="l"/>
                      <a:r>
                        <a:rPr sz="1000">
                          <a:solidFill>
                            <a:srgbClr val="2B2419"/>
                          </a:solidFill>
                          <a:latin typeface="Calibri"/>
                        </a:rPr>
                        <a:t>10 d</a:t>
                      </a:r>
                    </a:p>
                  </a:txBody>
                  <a:tcPr>
                    <a:solidFill>
                      <a:srgbClr val="F5EFE6"/>
                    </a:solidFill>
                  </a:tcPr>
                </a:tc>
                <a:tc>
                  <a:txBody>
                    <a:bodyPr wrap="square"/>
                    <a:lstStyle/>
                    <a:p>
                      <a:pPr algn="l"/>
                      <a:r>
                        <a:rPr sz="1000">
                          <a:solidFill>
                            <a:srgbClr val="2B2419"/>
                          </a:solidFill>
                          <a:latin typeface="Calibri"/>
                        </a:rPr>
                        <a:t>A</a:t>
                      </a:r>
                    </a:p>
                  </a:txBody>
                  <a:tcPr>
                    <a:solidFill>
                      <a:srgbClr val="F5EFE6"/>
                    </a:solidFill>
                  </a:tcPr>
                </a:tc>
                <a:tc>
                  <a:txBody>
                    <a:bodyPr wrap="square"/>
                    <a:lstStyle/>
                    <a:p>
                      <a:pPr algn="l"/>
                      <a:r>
                        <a:rPr sz="1000">
                          <a:solidFill>
                            <a:srgbClr val="2B2419"/>
                          </a:solidFill>
                          <a:latin typeface="Calibri"/>
                        </a:rPr>
                        <a:t>5</a:t>
                      </a:r>
                    </a:p>
                  </a:txBody>
                  <a:tcPr>
                    <a:solidFill>
                      <a:srgbClr val="F5EFE6"/>
                    </a:solidFill>
                  </a:tcPr>
                </a:tc>
                <a:tc>
                  <a:txBody>
                    <a:bodyPr wrap="square"/>
                    <a:lstStyle/>
                    <a:p>
                      <a:pPr algn="l"/>
                      <a:r>
                        <a:rPr sz="1000">
                          <a:solidFill>
                            <a:srgbClr val="2B2419"/>
                          </a:solidFill>
                          <a:latin typeface="Calibri"/>
                        </a:rPr>
                        <a:t>15</a:t>
                      </a:r>
                    </a:p>
                  </a:txBody>
                  <a:tcPr>
                    <a:solidFill>
                      <a:srgbClr val="F5EFE6"/>
                    </a:solidFill>
                  </a:tcPr>
                </a:tc>
                <a:tc>
                  <a:txBody>
                    <a:bodyPr wrap="square"/>
                    <a:lstStyle/>
                    <a:p>
                      <a:pPr algn="l"/>
                      <a:r>
                        <a:rPr sz="1000">
                          <a:solidFill>
                            <a:srgbClr val="2B2419"/>
                          </a:solidFill>
                          <a:latin typeface="Calibri"/>
                        </a:rPr>
                        <a:t>5</a:t>
                      </a:r>
                    </a:p>
                  </a:txBody>
                  <a:tcPr>
                    <a:solidFill>
                      <a:srgbClr val="F5EFE6"/>
                    </a:solidFill>
                  </a:tcPr>
                </a:tc>
                <a:tc>
                  <a:txBody>
                    <a:bodyPr wrap="square"/>
                    <a:lstStyle/>
                    <a:p>
                      <a:pPr algn="l"/>
                      <a:r>
                        <a:rPr sz="1000">
                          <a:solidFill>
                            <a:srgbClr val="2B2419"/>
                          </a:solidFill>
                          <a:latin typeface="Calibri"/>
                        </a:rPr>
                        <a:t>15</a:t>
                      </a:r>
                    </a:p>
                  </a:txBody>
                  <a:tcPr>
                    <a:solidFill>
                      <a:srgbClr val="F5EFE6"/>
                    </a:solidFill>
                  </a:tcPr>
                </a:tc>
                <a:tc>
                  <a:txBody>
                    <a:bodyPr wrap="square"/>
                    <a:lstStyle/>
                    <a:p>
                      <a:pPr algn="l"/>
                      <a:r>
                        <a:rPr sz="1000">
                          <a:solidFill>
                            <a:srgbClr val="2B2419"/>
                          </a:solidFill>
                          <a:latin typeface="Calibri"/>
                        </a:rPr>
                        <a:t>0</a:t>
                      </a:r>
                    </a:p>
                  </a:txBody>
                  <a:tcPr>
                    <a:solidFill>
                      <a:srgbClr val="F5EFE6"/>
                    </a:solidFill>
                  </a:tcPr>
                </a:tc>
                <a:tc>
                  <a:txBody>
                    <a:bodyPr wrap="square"/>
                    <a:lstStyle/>
                    <a:p>
                      <a:pPr algn="l"/>
                      <a:r>
                        <a:rPr sz="1000">
                          <a:solidFill>
                            <a:srgbClr val="2B2419"/>
                          </a:solidFill>
                          <a:latin typeface="Calibri"/>
                        </a:rPr>
                        <a:t>★</a:t>
                      </a:r>
                    </a:p>
                  </a:txBody>
                  <a:tcPr>
                    <a:solidFill>
                      <a:srgbClr val="F5EFE6"/>
                    </a:solidFill>
                  </a:tcPr>
                </a:tc>
              </a:tr>
              <a:tr h="2667000">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DB Schema</a:t>
                      </a:r>
                    </a:p>
                  </a:txBody>
                  <a:tcPr>
                    <a:solidFill>
                      <a:srgbClr val="F5EFE6"/>
                    </a:solidFill>
                  </a:tcPr>
                </a:tc>
                <a:tc>
                  <a:txBody>
                    <a:bodyPr wrap="square"/>
                    <a:lstStyle/>
                    <a:p>
                      <a:pPr algn="l"/>
                      <a:r>
                        <a:rPr sz="1000">
                          <a:solidFill>
                            <a:srgbClr val="2B2419"/>
                          </a:solidFill>
                          <a:latin typeface="Calibri"/>
                        </a:rPr>
                        <a:t>4 d</a:t>
                      </a:r>
                    </a:p>
                  </a:txBody>
                  <a:tcPr>
                    <a:solidFill>
                      <a:srgbClr val="F5EFE6"/>
                    </a:solidFill>
                  </a:tcPr>
                </a:tc>
                <a:tc>
                  <a:txBody>
                    <a:bodyPr wrap="square"/>
                    <a:lstStyle/>
                    <a:p>
                      <a:pPr algn="l"/>
                      <a:r>
                        <a:rPr sz="1000">
                          <a:solidFill>
                            <a:srgbClr val="2B2419"/>
                          </a:solidFill>
                          <a:latin typeface="Calibri"/>
                        </a:rPr>
                        <a:t>A</a:t>
                      </a:r>
                    </a:p>
                  </a:txBody>
                  <a:tcPr>
                    <a:solidFill>
                      <a:srgbClr val="F5EFE6"/>
                    </a:solidFill>
                  </a:tcPr>
                </a:tc>
                <a:tc>
                  <a:txBody>
                    <a:bodyPr wrap="square"/>
                    <a:lstStyle/>
                    <a:p>
                      <a:pPr algn="l"/>
                      <a:r>
                        <a:rPr sz="1000">
                          <a:solidFill>
                            <a:srgbClr val="2B2419"/>
                          </a:solidFill>
                          <a:latin typeface="Calibri"/>
                        </a:rPr>
                        <a:t>5</a:t>
                      </a:r>
                    </a:p>
                  </a:txBody>
                  <a:tcPr>
                    <a:solidFill>
                      <a:srgbClr val="F5EFE6"/>
                    </a:solidFill>
                  </a:tcPr>
                </a:tc>
                <a:tc>
                  <a:txBody>
                    <a:bodyPr wrap="square"/>
                    <a:lstStyle/>
                    <a:p>
                      <a:pPr algn="l"/>
                      <a:r>
                        <a:rPr sz="1000">
                          <a:solidFill>
                            <a:srgbClr val="2B2419"/>
                          </a:solidFill>
                          <a:latin typeface="Calibri"/>
                        </a:rPr>
                        <a:t>9</a:t>
                      </a:r>
                    </a:p>
                  </a:txBody>
                  <a:tcPr>
                    <a:solidFill>
                      <a:srgbClr val="F5EFE6"/>
                    </a:solidFill>
                  </a:tcPr>
                </a:tc>
                <a:tc>
                  <a:txBody>
                    <a:bodyPr wrap="square"/>
                    <a:lstStyle/>
                    <a:p>
                      <a:pPr algn="l"/>
                      <a:r>
                        <a:rPr sz="1000">
                          <a:solidFill>
                            <a:srgbClr val="2B2419"/>
                          </a:solidFill>
                          <a:latin typeface="Calibri"/>
                        </a:rPr>
                        <a:t>14</a:t>
                      </a:r>
                    </a:p>
                  </a:txBody>
                  <a:tcPr>
                    <a:solidFill>
                      <a:srgbClr val="F5EFE6"/>
                    </a:solidFill>
                  </a:tcPr>
                </a:tc>
                <a:tc>
                  <a:txBody>
                    <a:bodyPr wrap="square"/>
                    <a:lstStyle/>
                    <a:p>
                      <a:pPr algn="l"/>
                      <a:r>
                        <a:rPr sz="1000">
                          <a:solidFill>
                            <a:srgbClr val="2B2419"/>
                          </a:solidFill>
                          <a:latin typeface="Calibri"/>
                        </a:rPr>
                        <a:t>18</a:t>
                      </a:r>
                    </a:p>
                  </a:txBody>
                  <a:tcPr>
                    <a:solidFill>
                      <a:srgbClr val="F5EFE6"/>
                    </a:solidFill>
                  </a:tcPr>
                </a:tc>
                <a:tc>
                  <a:txBody>
                    <a:bodyPr wrap="square"/>
                    <a:lstStyle/>
                    <a:p>
                      <a:pPr algn="l"/>
                      <a:r>
                        <a:rPr sz="1000">
                          <a:solidFill>
                            <a:srgbClr val="2B2419"/>
                          </a:solidFill>
                          <a:latin typeface="Calibri"/>
                        </a:rPr>
                        <a:t>9</a:t>
                      </a:r>
                    </a:p>
                  </a:txBody>
                  <a:tcPr>
                    <a:solidFill>
                      <a:srgbClr val="F5EFE6"/>
                    </a:solidFill>
                  </a:tcPr>
                </a:tc>
                <a:tc>
                  <a:txBody>
                    <a:bodyPr wrap="square"/>
                    <a:lstStyle/>
                    <a:p>
                      <a:pPr algn="l"/>
                      <a:r>
                        <a:rPr sz="1000">
                          <a:solidFill>
                            <a:srgbClr val="2B2419"/>
                          </a:solidFill>
                          <a:latin typeface="Calibri"/>
                        </a:rPr>
                        <a:t/>
                      </a:r>
                    </a:p>
                  </a:txBody>
                  <a:tcPr>
                    <a:solidFill>
                      <a:srgbClr val="F5EFE6"/>
                    </a:solidFill>
                  </a:tcPr>
                </a:tc>
              </a:tr>
              <a:tr h="2667000">
                <a:tc>
                  <a:txBody>
                    <a:bodyPr wrap="square"/>
                    <a:lstStyle/>
                    <a:p>
                      <a:pPr algn="l"/>
                      <a:r>
                        <a:rPr sz="1000">
                          <a:solidFill>
                            <a:srgbClr val="2B2419"/>
                          </a:solidFill>
                          <a:latin typeface="Calibri"/>
                        </a:rPr>
                        <a:t>D</a:t>
                      </a:r>
                    </a:p>
                  </a:txBody>
                  <a:tcPr>
                    <a:solidFill>
                      <a:srgbClr val="E8D5BC"/>
                    </a:solidFill>
                  </a:tcPr>
                </a:tc>
                <a:tc>
                  <a:txBody>
                    <a:bodyPr wrap="square"/>
                    <a:lstStyle/>
                    <a:p>
                      <a:pPr algn="l"/>
                      <a:r>
                        <a:rPr sz="1000">
                          <a:solidFill>
                            <a:srgbClr val="2B2419"/>
                          </a:solidFill>
                          <a:latin typeface="Calibri"/>
                        </a:rPr>
                        <a:t>API Design</a:t>
                      </a:r>
                    </a:p>
                  </a:txBody>
                  <a:tcPr>
                    <a:solidFill>
                      <a:srgbClr val="E8D5BC"/>
                    </a:solidFill>
                  </a:tcPr>
                </a:tc>
                <a:tc>
                  <a:txBody>
                    <a:bodyPr wrap="square"/>
                    <a:lstStyle/>
                    <a:p>
                      <a:pPr algn="l"/>
                      <a:r>
                        <a:rPr sz="1000">
                          <a:solidFill>
                            <a:srgbClr val="2B2419"/>
                          </a:solidFill>
                          <a:latin typeface="Calibri"/>
                        </a:rPr>
                        <a:t>5 d</a:t>
                      </a:r>
                    </a:p>
                  </a:txBody>
                  <a:tcPr>
                    <a:solidFill>
                      <a:srgbClr val="E8D5BC"/>
                    </a:solidFill>
                  </a:tcPr>
                </a:tc>
                <a:tc>
                  <a:txBody>
                    <a:bodyPr wrap="square"/>
                    <a:lstStyle/>
                    <a:p>
                      <a:pPr algn="l"/>
                      <a:r>
                        <a:rPr sz="1000">
                          <a:solidFill>
                            <a:srgbClr val="2B2419"/>
                          </a:solidFill>
                          <a:latin typeface="Calibri"/>
                        </a:rPr>
                        <a:t>A</a:t>
                      </a:r>
                    </a:p>
                  </a:txBody>
                  <a:tcPr>
                    <a:solidFill>
                      <a:srgbClr val="E8D5BC"/>
                    </a:solidFill>
                  </a:tcPr>
                </a:tc>
                <a:tc>
                  <a:txBody>
                    <a:bodyPr wrap="square"/>
                    <a:lstStyle/>
                    <a:p>
                      <a:pPr algn="l"/>
                      <a:r>
                        <a:rPr sz="1000">
                          <a:solidFill>
                            <a:srgbClr val="2B2419"/>
                          </a:solidFill>
                          <a:latin typeface="Calibri"/>
                        </a:rPr>
                        <a:t>5</a:t>
                      </a:r>
                    </a:p>
                  </a:txBody>
                  <a:tcPr>
                    <a:solidFill>
                      <a:srgbClr val="E8D5BC"/>
                    </a:solidFill>
                  </a:tcPr>
                </a:tc>
                <a:tc>
                  <a:txBody>
                    <a:bodyPr wrap="square"/>
                    <a:lstStyle/>
                    <a:p>
                      <a:pPr algn="l"/>
                      <a:r>
                        <a:rPr sz="1000">
                          <a:solidFill>
                            <a:srgbClr val="2B2419"/>
                          </a:solidFill>
                          <a:latin typeface="Calibri"/>
                        </a:rPr>
                        <a:t>10</a:t>
                      </a:r>
                    </a:p>
                  </a:txBody>
                  <a:tcPr>
                    <a:solidFill>
                      <a:srgbClr val="E8D5BC"/>
                    </a:solidFill>
                  </a:tcPr>
                </a:tc>
                <a:tc>
                  <a:txBody>
                    <a:bodyPr wrap="square"/>
                    <a:lstStyle/>
                    <a:p>
                      <a:pPr algn="l"/>
                      <a:r>
                        <a:rPr sz="1000">
                          <a:solidFill>
                            <a:srgbClr val="2B2419"/>
                          </a:solidFill>
                          <a:latin typeface="Calibri"/>
                        </a:rPr>
                        <a:t>13</a:t>
                      </a:r>
                    </a:p>
                  </a:txBody>
                  <a:tcPr>
                    <a:solidFill>
                      <a:srgbClr val="E8D5BC"/>
                    </a:solidFill>
                  </a:tcPr>
                </a:tc>
                <a:tc>
                  <a:txBody>
                    <a:bodyPr wrap="square"/>
                    <a:lstStyle/>
                    <a:p>
                      <a:pPr algn="l"/>
                      <a:r>
                        <a:rPr sz="1000">
                          <a:solidFill>
                            <a:srgbClr val="2B2419"/>
                          </a:solidFill>
                          <a:latin typeface="Calibri"/>
                        </a:rPr>
                        <a:t>18</a:t>
                      </a:r>
                    </a:p>
                  </a:txBody>
                  <a:tcPr>
                    <a:solidFill>
                      <a:srgbClr val="E8D5BC"/>
                    </a:solidFill>
                  </a:tcPr>
                </a:tc>
                <a:tc>
                  <a:txBody>
                    <a:bodyPr wrap="square"/>
                    <a:lstStyle/>
                    <a:p>
                      <a:pPr algn="l"/>
                      <a:r>
                        <a:rPr sz="1000">
                          <a:solidFill>
                            <a:srgbClr val="2B2419"/>
                          </a:solidFill>
                          <a:latin typeface="Calibri"/>
                        </a:rPr>
                        <a:t>8</a:t>
                      </a:r>
                    </a:p>
                  </a:txBody>
                  <a:tcPr>
                    <a:solidFill>
                      <a:srgbClr val="E8D5BC"/>
                    </a:solidFill>
                  </a:tcPr>
                </a:tc>
                <a:tc>
                  <a:txBody>
                    <a:bodyPr wrap="square"/>
                    <a:lstStyle/>
                    <a:p>
                      <a:pPr algn="l"/>
                      <a:r>
                        <a:rPr sz="1000">
                          <a:solidFill>
                            <a:srgbClr val="2B2419"/>
                          </a:solidFill>
                          <a:latin typeface="Calibri"/>
                        </a:rPr>
                        <a:t/>
                      </a:r>
                    </a:p>
                  </a:txBody>
                  <a:tcPr>
                    <a:solidFill>
                      <a:srgbClr val="E8D5BC"/>
                    </a:solidFill>
                  </a:tcPr>
                </a:tc>
              </a:tr>
              <a:tr h="2667000">
                <a:tc>
                  <a:txBody>
                    <a:bodyPr wrap="square"/>
                    <a:lstStyle/>
                    <a:p>
                      <a:pPr algn="l"/>
                      <a:r>
                        <a:rPr sz="1000">
                          <a:solidFill>
                            <a:srgbClr val="2B2419"/>
                          </a:solidFill>
                          <a:latin typeface="Calibri"/>
                        </a:rPr>
                        <a:t>E</a:t>
                      </a:r>
                    </a:p>
                  </a:txBody>
                  <a:tcPr>
                    <a:solidFill>
                      <a:srgbClr val="F5EFE6"/>
                    </a:solidFill>
                  </a:tcPr>
                </a:tc>
                <a:tc>
                  <a:txBody>
                    <a:bodyPr wrap="square"/>
                    <a:lstStyle/>
                    <a:p>
                      <a:pPr algn="l"/>
                      <a:r>
                        <a:rPr sz="1000">
                          <a:solidFill>
                            <a:srgbClr val="2B2419"/>
                          </a:solidFill>
                          <a:latin typeface="Calibri"/>
                        </a:rPr>
                        <a:t>Frontend Dev</a:t>
                      </a:r>
                    </a:p>
                  </a:txBody>
                  <a:tcPr>
                    <a:solidFill>
                      <a:srgbClr val="F5EFE6"/>
                    </a:solidFill>
                  </a:tcPr>
                </a:tc>
                <a:tc>
                  <a:txBody>
                    <a:bodyPr wrap="square"/>
                    <a:lstStyle/>
                    <a:p>
                      <a:pPr algn="l"/>
                      <a:r>
                        <a:rPr sz="1000">
                          <a:solidFill>
                            <a:srgbClr val="2B2419"/>
                          </a:solidFill>
                          <a:latin typeface="Calibri"/>
                        </a:rPr>
                        <a:t>15 d</a:t>
                      </a:r>
                    </a:p>
                  </a:txBody>
                  <a:tcPr>
                    <a:solidFill>
                      <a:srgbClr val="F5EFE6"/>
                    </a:solidFill>
                  </a:tcPr>
                </a:tc>
                <a:tc>
                  <a:txBody>
                    <a:bodyPr wrap="square"/>
                    <a:lstStyle/>
                    <a:p>
                      <a:pPr algn="l"/>
                      <a:r>
                        <a:rPr sz="1000">
                          <a:solidFill>
                            <a:srgbClr val="2B2419"/>
                          </a:solidFill>
                          <a:latin typeface="Calibri"/>
                        </a:rPr>
                        <a:t>B</a:t>
                      </a:r>
                    </a:p>
                  </a:txBody>
                  <a:tcPr>
                    <a:solidFill>
                      <a:srgbClr val="F5EFE6"/>
                    </a:solidFill>
                  </a:tcPr>
                </a:tc>
                <a:tc>
                  <a:txBody>
                    <a:bodyPr wrap="square"/>
                    <a:lstStyle/>
                    <a:p>
                      <a:pPr algn="l"/>
                      <a:r>
                        <a:rPr sz="1000">
                          <a:solidFill>
                            <a:srgbClr val="2B2419"/>
                          </a:solidFill>
                          <a:latin typeface="Calibri"/>
                        </a:rPr>
                        <a:t>15</a:t>
                      </a:r>
                    </a:p>
                  </a:txBody>
                  <a:tcPr>
                    <a:solidFill>
                      <a:srgbClr val="F5EFE6"/>
                    </a:solidFill>
                  </a:tcPr>
                </a:tc>
                <a:tc>
                  <a:txBody>
                    <a:bodyPr wrap="square"/>
                    <a:lstStyle/>
                    <a:p>
                      <a:pPr algn="l"/>
                      <a:r>
                        <a:rPr sz="1000">
                          <a:solidFill>
                            <a:srgbClr val="2B2419"/>
                          </a:solidFill>
                          <a:latin typeface="Calibri"/>
                        </a:rPr>
                        <a:t>30</a:t>
                      </a:r>
                    </a:p>
                  </a:txBody>
                  <a:tcPr>
                    <a:solidFill>
                      <a:srgbClr val="F5EFE6"/>
                    </a:solidFill>
                  </a:tcPr>
                </a:tc>
                <a:tc>
                  <a:txBody>
                    <a:bodyPr wrap="square"/>
                    <a:lstStyle/>
                    <a:p>
                      <a:pPr algn="l"/>
                      <a:r>
                        <a:rPr sz="1000">
                          <a:solidFill>
                            <a:srgbClr val="2B2419"/>
                          </a:solidFill>
                          <a:latin typeface="Calibri"/>
                        </a:rPr>
                        <a:t>15</a:t>
                      </a:r>
                    </a:p>
                  </a:txBody>
                  <a:tcPr>
                    <a:solidFill>
                      <a:srgbClr val="F5EFE6"/>
                    </a:solidFill>
                  </a:tcPr>
                </a:tc>
                <a:tc>
                  <a:txBody>
                    <a:bodyPr wrap="square"/>
                    <a:lstStyle/>
                    <a:p>
                      <a:pPr algn="l"/>
                      <a:r>
                        <a:rPr sz="1000">
                          <a:solidFill>
                            <a:srgbClr val="2B2419"/>
                          </a:solidFill>
                          <a:latin typeface="Calibri"/>
                        </a:rPr>
                        <a:t>30</a:t>
                      </a:r>
                    </a:p>
                  </a:txBody>
                  <a:tcPr>
                    <a:solidFill>
                      <a:srgbClr val="F5EFE6"/>
                    </a:solidFill>
                  </a:tcPr>
                </a:tc>
                <a:tc>
                  <a:txBody>
                    <a:bodyPr wrap="square"/>
                    <a:lstStyle/>
                    <a:p>
                      <a:pPr algn="l"/>
                      <a:r>
                        <a:rPr sz="1000">
                          <a:solidFill>
                            <a:srgbClr val="2B2419"/>
                          </a:solidFill>
                          <a:latin typeface="Calibri"/>
                        </a:rPr>
                        <a:t>0</a:t>
                      </a:r>
                    </a:p>
                  </a:txBody>
                  <a:tcPr>
                    <a:solidFill>
                      <a:srgbClr val="F5EFE6"/>
                    </a:solidFill>
                  </a:tcPr>
                </a:tc>
                <a:tc>
                  <a:txBody>
                    <a:bodyPr wrap="square"/>
                    <a:lstStyle/>
                    <a:p>
                      <a:pPr algn="l"/>
                      <a:r>
                        <a:rPr sz="1000">
                          <a:solidFill>
                            <a:srgbClr val="2B2419"/>
                          </a:solidFill>
                          <a:latin typeface="Calibri"/>
                        </a:rPr>
                        <a:t>★</a:t>
                      </a:r>
                    </a:p>
                  </a:txBody>
                  <a:tcPr>
                    <a:solidFill>
                      <a:srgbClr val="F5EFE6"/>
                    </a:solidFill>
                  </a:tcPr>
                </a:tc>
              </a:tr>
              <a:tr h="2667000">
                <a:tc>
                  <a:txBody>
                    <a:bodyPr wrap="square"/>
                    <a:lstStyle/>
                    <a:p>
                      <a:pPr algn="l"/>
                      <a:r>
                        <a:rPr sz="1000">
                          <a:solidFill>
                            <a:srgbClr val="2B2419"/>
                          </a:solidFill>
                          <a:latin typeface="Calibri"/>
                        </a:rPr>
                        <a:t>F</a:t>
                      </a:r>
                    </a:p>
                  </a:txBody>
                  <a:tcPr>
                    <a:solidFill>
                      <a:srgbClr val="E8D5BC"/>
                    </a:solidFill>
                  </a:tcPr>
                </a:tc>
                <a:tc>
                  <a:txBody>
                    <a:bodyPr wrap="square"/>
                    <a:lstStyle/>
                    <a:p>
                      <a:pPr algn="l"/>
                      <a:r>
                        <a:rPr sz="1000">
                          <a:solidFill>
                            <a:srgbClr val="2B2419"/>
                          </a:solidFill>
                          <a:latin typeface="Calibri"/>
                        </a:rPr>
                        <a:t>Backend Dev</a:t>
                      </a:r>
                    </a:p>
                  </a:txBody>
                  <a:tcPr>
                    <a:solidFill>
                      <a:srgbClr val="E8D5BC"/>
                    </a:solidFill>
                  </a:tcPr>
                </a:tc>
                <a:tc>
                  <a:txBody>
                    <a:bodyPr wrap="square"/>
                    <a:lstStyle/>
                    <a:p>
                      <a:pPr algn="l"/>
                      <a:r>
                        <a:rPr sz="1000">
                          <a:solidFill>
                            <a:srgbClr val="2B2419"/>
                          </a:solidFill>
                          <a:latin typeface="Calibri"/>
                        </a:rPr>
                        <a:t>12 d</a:t>
                      </a:r>
                    </a:p>
                  </a:txBody>
                  <a:tcPr>
                    <a:solidFill>
                      <a:srgbClr val="E8D5BC"/>
                    </a:solidFill>
                  </a:tcPr>
                </a:tc>
                <a:tc>
                  <a:txBody>
                    <a:bodyPr wrap="square"/>
                    <a:lstStyle/>
                    <a:p>
                      <a:pPr algn="l"/>
                      <a:r>
                        <a:rPr sz="1000">
                          <a:solidFill>
                            <a:srgbClr val="2B2419"/>
                          </a:solidFill>
                          <a:latin typeface="Calibri"/>
                        </a:rPr>
                        <a:t>C, D</a:t>
                      </a:r>
                    </a:p>
                  </a:txBody>
                  <a:tcPr>
                    <a:solidFill>
                      <a:srgbClr val="E8D5BC"/>
                    </a:solidFill>
                  </a:tcPr>
                </a:tc>
                <a:tc>
                  <a:txBody>
                    <a:bodyPr wrap="square"/>
                    <a:lstStyle/>
                    <a:p>
                      <a:pPr algn="l"/>
                      <a:r>
                        <a:rPr sz="1000">
                          <a:solidFill>
                            <a:srgbClr val="2B2419"/>
                          </a:solidFill>
                          <a:latin typeface="Calibri"/>
                        </a:rPr>
                        <a:t>10</a:t>
                      </a:r>
                    </a:p>
                  </a:txBody>
                  <a:tcPr>
                    <a:solidFill>
                      <a:srgbClr val="E8D5BC"/>
                    </a:solidFill>
                  </a:tcPr>
                </a:tc>
                <a:tc>
                  <a:txBody>
                    <a:bodyPr wrap="square"/>
                    <a:lstStyle/>
                    <a:p>
                      <a:pPr algn="l"/>
                      <a:r>
                        <a:rPr sz="1000">
                          <a:solidFill>
                            <a:srgbClr val="2B2419"/>
                          </a:solidFill>
                          <a:latin typeface="Calibri"/>
                        </a:rPr>
                        <a:t>22</a:t>
                      </a:r>
                    </a:p>
                  </a:txBody>
                  <a:tcPr>
                    <a:solidFill>
                      <a:srgbClr val="E8D5BC"/>
                    </a:solidFill>
                  </a:tcPr>
                </a:tc>
                <a:tc>
                  <a:txBody>
                    <a:bodyPr wrap="square"/>
                    <a:lstStyle/>
                    <a:p>
                      <a:pPr algn="l"/>
                      <a:r>
                        <a:rPr sz="1000">
                          <a:solidFill>
                            <a:srgbClr val="2B2419"/>
                          </a:solidFill>
                          <a:latin typeface="Calibri"/>
                        </a:rPr>
                        <a:t>18</a:t>
                      </a:r>
                    </a:p>
                  </a:txBody>
                  <a:tcPr>
                    <a:solidFill>
                      <a:srgbClr val="E8D5BC"/>
                    </a:solidFill>
                  </a:tcPr>
                </a:tc>
                <a:tc>
                  <a:txBody>
                    <a:bodyPr wrap="square"/>
                    <a:lstStyle/>
                    <a:p>
                      <a:pPr algn="l"/>
                      <a:r>
                        <a:rPr sz="1000">
                          <a:solidFill>
                            <a:srgbClr val="2B2419"/>
                          </a:solidFill>
                          <a:latin typeface="Calibri"/>
                        </a:rPr>
                        <a:t>30</a:t>
                      </a:r>
                    </a:p>
                  </a:txBody>
                  <a:tcPr>
                    <a:solidFill>
                      <a:srgbClr val="E8D5BC"/>
                    </a:solidFill>
                  </a:tcPr>
                </a:tc>
                <a:tc>
                  <a:txBody>
                    <a:bodyPr wrap="square"/>
                    <a:lstStyle/>
                    <a:p>
                      <a:pPr algn="l"/>
                      <a:r>
                        <a:rPr sz="1000">
                          <a:solidFill>
                            <a:srgbClr val="2B2419"/>
                          </a:solidFill>
                          <a:latin typeface="Calibri"/>
                        </a:rPr>
                        <a:t>8</a:t>
                      </a:r>
                    </a:p>
                  </a:txBody>
                  <a:tcPr>
                    <a:solidFill>
                      <a:srgbClr val="E8D5BC"/>
                    </a:solidFill>
                  </a:tcPr>
                </a:tc>
                <a:tc>
                  <a:txBody>
                    <a:bodyPr wrap="square"/>
                    <a:lstStyle/>
                    <a:p>
                      <a:pPr algn="l"/>
                      <a:r>
                        <a:rPr sz="1000">
                          <a:solidFill>
                            <a:srgbClr val="2B2419"/>
                          </a:solidFill>
                          <a:latin typeface="Calibri"/>
                        </a:rPr>
                        <a:t/>
                      </a:r>
                    </a:p>
                  </a:txBody>
                  <a:tcPr>
                    <a:solidFill>
                      <a:srgbClr val="E8D5BC"/>
                    </a:solidFill>
                  </a:tcPr>
                </a:tc>
              </a:tr>
              <a:tr h="2667000">
                <a:tc>
                  <a:txBody>
                    <a:bodyPr wrap="square"/>
                    <a:lstStyle/>
                    <a:p>
                      <a:pPr algn="l"/>
                      <a:r>
                        <a:rPr sz="1000">
                          <a:solidFill>
                            <a:srgbClr val="2B2419"/>
                          </a:solidFill>
                          <a:latin typeface="Calibri"/>
                        </a:rPr>
                        <a:t>G</a:t>
                      </a:r>
                    </a:p>
                  </a:txBody>
                  <a:tcPr>
                    <a:solidFill>
                      <a:srgbClr val="E8D5BC"/>
                    </a:solidFill>
                  </a:tcPr>
                </a:tc>
                <a:tc>
                  <a:txBody>
                    <a:bodyPr wrap="square"/>
                    <a:lstStyle/>
                    <a:p>
                      <a:pPr algn="l"/>
                      <a:r>
                        <a:rPr sz="1000">
                          <a:solidFill>
                            <a:srgbClr val="2B2419"/>
                          </a:solidFill>
                          <a:latin typeface="Calibri"/>
                        </a:rPr>
                        <a:t>Integration</a:t>
                      </a:r>
                    </a:p>
                  </a:txBody>
                  <a:tcPr>
                    <a:solidFill>
                      <a:srgbClr val="E8D5BC"/>
                    </a:solidFill>
                  </a:tcPr>
                </a:tc>
                <a:tc>
                  <a:txBody>
                    <a:bodyPr wrap="square"/>
                    <a:lstStyle/>
                    <a:p>
                      <a:pPr algn="l"/>
                      <a:r>
                        <a:rPr sz="1000">
                          <a:solidFill>
                            <a:srgbClr val="2B2419"/>
                          </a:solidFill>
                          <a:latin typeface="Calibri"/>
                        </a:rPr>
                        <a:t>5 d</a:t>
                      </a:r>
                    </a:p>
                  </a:txBody>
                  <a:tcPr>
                    <a:solidFill>
                      <a:srgbClr val="E8D5BC"/>
                    </a:solidFill>
                  </a:tcPr>
                </a:tc>
                <a:tc>
                  <a:txBody>
                    <a:bodyPr wrap="square"/>
                    <a:lstStyle/>
                    <a:p>
                      <a:pPr algn="l"/>
                      <a:r>
                        <a:rPr sz="1000">
                          <a:solidFill>
                            <a:srgbClr val="2B2419"/>
                          </a:solidFill>
                          <a:latin typeface="Calibri"/>
                        </a:rPr>
                        <a:t>E, F</a:t>
                      </a:r>
                    </a:p>
                  </a:txBody>
                  <a:tcPr>
                    <a:solidFill>
                      <a:srgbClr val="E8D5BC"/>
                    </a:solidFill>
                  </a:tcPr>
                </a:tc>
                <a:tc>
                  <a:txBody>
                    <a:bodyPr wrap="square"/>
                    <a:lstStyle/>
                    <a:p>
                      <a:pPr algn="l"/>
                      <a:r>
                        <a:rPr sz="1000">
                          <a:solidFill>
                            <a:srgbClr val="2B2419"/>
                          </a:solidFill>
                          <a:latin typeface="Calibri"/>
                        </a:rPr>
                        <a:t>30</a:t>
                      </a:r>
                    </a:p>
                  </a:txBody>
                  <a:tcPr>
                    <a:solidFill>
                      <a:srgbClr val="E8D5BC"/>
                    </a:solidFill>
                  </a:tcPr>
                </a:tc>
                <a:tc>
                  <a:txBody>
                    <a:bodyPr wrap="square"/>
                    <a:lstStyle/>
                    <a:p>
                      <a:pPr algn="l"/>
                      <a:r>
                        <a:rPr sz="1000">
                          <a:solidFill>
                            <a:srgbClr val="2B2419"/>
                          </a:solidFill>
                          <a:latin typeface="Calibri"/>
                        </a:rPr>
                        <a:t>35</a:t>
                      </a:r>
                    </a:p>
                  </a:txBody>
                  <a:tcPr>
                    <a:solidFill>
                      <a:srgbClr val="E8D5BC"/>
                    </a:solidFill>
                  </a:tcPr>
                </a:tc>
                <a:tc>
                  <a:txBody>
                    <a:bodyPr wrap="square"/>
                    <a:lstStyle/>
                    <a:p>
                      <a:pPr algn="l"/>
                      <a:r>
                        <a:rPr sz="1000">
                          <a:solidFill>
                            <a:srgbClr val="2B2419"/>
                          </a:solidFill>
                          <a:latin typeface="Calibri"/>
                        </a:rPr>
                        <a:t>30</a:t>
                      </a:r>
                    </a:p>
                  </a:txBody>
                  <a:tcPr>
                    <a:solidFill>
                      <a:srgbClr val="E8D5BC"/>
                    </a:solidFill>
                  </a:tcPr>
                </a:tc>
                <a:tc>
                  <a:txBody>
                    <a:bodyPr wrap="square"/>
                    <a:lstStyle/>
                    <a:p>
                      <a:pPr algn="l"/>
                      <a:r>
                        <a:rPr sz="1000">
                          <a:solidFill>
                            <a:srgbClr val="2B2419"/>
                          </a:solidFill>
                          <a:latin typeface="Calibri"/>
                        </a:rPr>
                        <a:t>35</a:t>
                      </a:r>
                    </a:p>
                  </a:txBody>
                  <a:tcPr>
                    <a:solidFill>
                      <a:srgbClr val="E8D5BC"/>
                    </a:solidFill>
                  </a:tcPr>
                </a:tc>
                <a:tc>
                  <a:txBody>
                    <a:bodyPr wrap="square"/>
                    <a:lstStyle/>
                    <a:p>
                      <a:pPr algn="l"/>
                      <a:r>
                        <a:rPr sz="1000">
                          <a:solidFill>
                            <a:srgbClr val="2B2419"/>
                          </a:solidFill>
                          <a:latin typeface="Calibri"/>
                        </a:rPr>
                        <a:t>0</a:t>
                      </a:r>
                    </a:p>
                  </a:txBody>
                  <a:tcPr>
                    <a:solidFill>
                      <a:srgbClr val="E8D5BC"/>
                    </a:solidFill>
                  </a:tcPr>
                </a:tc>
                <a:tc>
                  <a:txBody>
                    <a:bodyPr wrap="square"/>
                    <a:lstStyle/>
                    <a:p>
                      <a:pPr algn="l"/>
                      <a:r>
                        <a:rPr sz="1000">
                          <a:solidFill>
                            <a:srgbClr val="2B2419"/>
                          </a:solidFill>
                          <a:latin typeface="Calibri"/>
                        </a:rPr>
                        <a:t>★</a:t>
                      </a:r>
                    </a:p>
                  </a:txBody>
                  <a:tcPr>
                    <a:solidFill>
                      <a:srgbClr val="E8D5BC"/>
                    </a:solidFill>
                  </a:tcPr>
                </a:tc>
              </a:tr>
              <a:tr h="2667000">
                <a:tc>
                  <a:txBody>
                    <a:bodyPr wrap="square"/>
                    <a:lstStyle/>
                    <a:p>
                      <a:pPr algn="l"/>
                      <a:r>
                        <a:rPr sz="1000">
                          <a:solidFill>
                            <a:srgbClr val="2B2419"/>
                          </a:solidFill>
                          <a:latin typeface="Calibri"/>
                        </a:rPr>
                        <a:t>H</a:t>
                      </a:r>
                    </a:p>
                  </a:txBody>
                  <a:tcPr>
                    <a:solidFill>
                      <a:srgbClr val="F5EFE6"/>
                    </a:solidFill>
                  </a:tcPr>
                </a:tc>
                <a:tc>
                  <a:txBody>
                    <a:bodyPr wrap="square"/>
                    <a:lstStyle/>
                    <a:p>
                      <a:pPr algn="l"/>
                      <a:r>
                        <a:rPr sz="1000">
                          <a:solidFill>
                            <a:srgbClr val="2B2419"/>
                          </a:solidFill>
                          <a:latin typeface="Calibri"/>
                        </a:rPr>
                        <a:t>Testing</a:t>
                      </a:r>
                    </a:p>
                  </a:txBody>
                  <a:tcPr>
                    <a:solidFill>
                      <a:srgbClr val="F5EFE6"/>
                    </a:solidFill>
                  </a:tcPr>
                </a:tc>
                <a:tc>
                  <a:txBody>
                    <a:bodyPr wrap="square"/>
                    <a:lstStyle/>
                    <a:p>
                      <a:pPr algn="l"/>
                      <a:r>
                        <a:rPr sz="1000">
                          <a:solidFill>
                            <a:srgbClr val="2B2419"/>
                          </a:solidFill>
                          <a:latin typeface="Calibri"/>
                        </a:rPr>
                        <a:t>8 d</a:t>
                      </a:r>
                    </a:p>
                  </a:txBody>
                  <a:tcPr>
                    <a:solidFill>
                      <a:srgbClr val="F5EFE6"/>
                    </a:solidFill>
                  </a:tcPr>
                </a:tc>
                <a:tc>
                  <a:txBody>
                    <a:bodyPr wrap="square"/>
                    <a:lstStyle/>
                    <a:p>
                      <a:pPr algn="l"/>
                      <a:r>
                        <a:rPr sz="1000">
                          <a:solidFill>
                            <a:srgbClr val="2B2419"/>
                          </a:solidFill>
                          <a:latin typeface="Calibri"/>
                        </a:rPr>
                        <a:t>G</a:t>
                      </a:r>
                    </a:p>
                  </a:txBody>
                  <a:tcPr>
                    <a:solidFill>
                      <a:srgbClr val="F5EFE6"/>
                    </a:solidFill>
                  </a:tcPr>
                </a:tc>
                <a:tc>
                  <a:txBody>
                    <a:bodyPr wrap="square"/>
                    <a:lstStyle/>
                    <a:p>
                      <a:pPr algn="l"/>
                      <a:r>
                        <a:rPr sz="1000">
                          <a:solidFill>
                            <a:srgbClr val="2B2419"/>
                          </a:solidFill>
                          <a:latin typeface="Calibri"/>
                        </a:rPr>
                        <a:t>35</a:t>
                      </a:r>
                    </a:p>
                  </a:txBody>
                  <a:tcPr>
                    <a:solidFill>
                      <a:srgbClr val="F5EFE6"/>
                    </a:solidFill>
                  </a:tcPr>
                </a:tc>
                <a:tc>
                  <a:txBody>
                    <a:bodyPr wrap="square"/>
                    <a:lstStyle/>
                    <a:p>
                      <a:pPr algn="l"/>
                      <a:r>
                        <a:rPr sz="1000">
                          <a:solidFill>
                            <a:srgbClr val="2B2419"/>
                          </a:solidFill>
                          <a:latin typeface="Calibri"/>
                        </a:rPr>
                        <a:t>43</a:t>
                      </a:r>
                    </a:p>
                  </a:txBody>
                  <a:tcPr>
                    <a:solidFill>
                      <a:srgbClr val="F5EFE6"/>
                    </a:solidFill>
                  </a:tcPr>
                </a:tc>
                <a:tc>
                  <a:txBody>
                    <a:bodyPr wrap="square"/>
                    <a:lstStyle/>
                    <a:p>
                      <a:pPr algn="l"/>
                      <a:r>
                        <a:rPr sz="1000">
                          <a:solidFill>
                            <a:srgbClr val="2B2419"/>
                          </a:solidFill>
                          <a:latin typeface="Calibri"/>
                        </a:rPr>
                        <a:t>35</a:t>
                      </a:r>
                    </a:p>
                  </a:txBody>
                  <a:tcPr>
                    <a:solidFill>
                      <a:srgbClr val="F5EFE6"/>
                    </a:solidFill>
                  </a:tcPr>
                </a:tc>
                <a:tc>
                  <a:txBody>
                    <a:bodyPr wrap="square"/>
                    <a:lstStyle/>
                    <a:p>
                      <a:pPr algn="l"/>
                      <a:r>
                        <a:rPr sz="1000">
                          <a:solidFill>
                            <a:srgbClr val="2B2419"/>
                          </a:solidFill>
                          <a:latin typeface="Calibri"/>
                        </a:rPr>
                        <a:t>43</a:t>
                      </a:r>
                    </a:p>
                  </a:txBody>
                  <a:tcPr>
                    <a:solidFill>
                      <a:srgbClr val="F5EFE6"/>
                    </a:solidFill>
                  </a:tcPr>
                </a:tc>
                <a:tc>
                  <a:txBody>
                    <a:bodyPr wrap="square"/>
                    <a:lstStyle/>
                    <a:p>
                      <a:pPr algn="l"/>
                      <a:r>
                        <a:rPr sz="1000">
                          <a:solidFill>
                            <a:srgbClr val="2B2419"/>
                          </a:solidFill>
                          <a:latin typeface="Calibri"/>
                        </a:rPr>
                        <a:t>0</a:t>
                      </a:r>
                    </a:p>
                  </a:txBody>
                  <a:tcPr>
                    <a:solidFill>
                      <a:srgbClr val="F5EFE6"/>
                    </a:solidFill>
                  </a:tcPr>
                </a:tc>
                <a:tc>
                  <a:txBody>
                    <a:bodyPr wrap="square"/>
                    <a:lstStyle/>
                    <a:p>
                      <a:pPr algn="l"/>
                      <a:r>
                        <a:rPr sz="1000">
                          <a:solidFill>
                            <a:srgbClr val="2B2419"/>
                          </a:solidFill>
                          <a:latin typeface="Calibri"/>
                        </a:rPr>
                        <a:t>★</a:t>
                      </a:r>
                    </a:p>
                  </a:txBody>
                  <a:tcPr>
                    <a:solidFill>
                      <a:srgbClr val="F5EFE6"/>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TIMELINE &amp; MILESTONES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8C5A2E"/>
                </a:solidFill>
                <a:latin typeface="Georgia"/>
              </a:rPr>
              <a:t>The Critical Path</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9 / 24</a:t>
            </a:r>
          </a:p>
        </p:txBody>
      </p:sp>
      <p:sp>
        <p:nvSpPr>
          <p:cNvPr id="9" name="Rectangle 8"/>
          <p:cNvSpPr/>
          <p:nvPr/>
        </p:nvSpPr>
        <p:spPr>
          <a:xfrm>
            <a:off x="8534186" y="1"/>
            <a:ext cx="12"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34186" y="2"/>
            <a:ext cx="2" cy="1"/>
          </a:xfrm>
          <a:prstGeom prst="rect">
            <a:avLst/>
          </a:prstGeom>
          <a:solidFill>
            <a:srgbClr val="8C5A2E"/>
          </a:solidFill>
          <a:ln w="12700">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34186" y="2"/>
            <a:ext cx="2" cy="4800600"/>
          </a:xfrm>
          <a:prstGeom prst="rect">
            <a:avLst/>
          </a:prstGeom>
          <a:noFill/>
        </p:spPr>
        <p:txBody>
          <a:bodyPr wrap="square">
            <a:spAutoFit/>
          </a:bodyPr>
          <a:lstStyle/>
          <a:p>
            <a:pPr algn="ctr"/>
            <a:r>
              <a:rPr sz="3600" b="1" i="0">
                <a:solidFill>
                  <a:srgbClr val="FFFFFF"/>
                </a:solidFill>
                <a:latin typeface="Georgia"/>
              </a:rPr>
              <a:t>A</a:t>
            </a:r>
          </a:p>
        </p:txBody>
      </p:sp>
      <p:sp>
        <p:nvSpPr>
          <p:cNvPr id="12" name="TextBox 11"/>
          <p:cNvSpPr txBox="1"/>
          <p:nvPr/>
        </p:nvSpPr>
        <p:spPr>
          <a:xfrm>
            <a:off x="9143771" y="2"/>
            <a:ext cx="2" cy="4114800"/>
          </a:xfrm>
          <a:prstGeom prst="rect">
            <a:avLst/>
          </a:prstGeom>
          <a:noFill/>
        </p:spPr>
        <p:txBody>
          <a:bodyPr wrap="square">
            <a:spAutoFit/>
          </a:bodyPr>
          <a:lstStyle/>
          <a:p>
            <a:pPr algn="ctr"/>
            <a:r>
              <a:rPr sz="1100" b="0" i="0">
                <a:solidFill>
                  <a:srgbClr val="FFFFFF"/>
                </a:solidFill>
                <a:latin typeface="Calibri"/>
              </a:rPr>
              <a:t>Requirements
5 days</a:t>
            </a:r>
          </a:p>
        </p:txBody>
      </p:sp>
      <p:sp>
        <p:nvSpPr>
          <p:cNvPr id="13" name="TextBox 12"/>
          <p:cNvSpPr txBox="1"/>
          <p:nvPr/>
        </p:nvSpPr>
        <p:spPr>
          <a:xfrm>
            <a:off x="2" y="2"/>
            <a:ext cx="4876678" cy="4114800"/>
          </a:xfrm>
          <a:prstGeom prst="rect">
            <a:avLst/>
          </a:prstGeom>
          <a:noFill/>
        </p:spPr>
        <p:txBody>
          <a:bodyPr wrap="square">
            <a:spAutoFit/>
          </a:bodyPr>
          <a:lstStyle/>
          <a:p>
            <a:pPr algn="l"/>
            <a:r>
              <a:rPr sz="2800" b="0" i="0">
                <a:solidFill>
                  <a:srgbClr val="8C5A2E"/>
                </a:solidFill>
                <a:latin typeface="Calibri"/>
              </a:rPr>
              <a:t>→</a:t>
            </a:r>
          </a:p>
        </p:txBody>
      </p:sp>
      <p:sp>
        <p:nvSpPr>
          <p:cNvPr id="14" name="Rectangle 13"/>
          <p:cNvSpPr/>
          <p:nvPr/>
        </p:nvSpPr>
        <p:spPr>
          <a:xfrm>
            <a:off x="3" y="2"/>
            <a:ext cx="2" cy="1"/>
          </a:xfrm>
          <a:prstGeom prst="rect">
            <a:avLst/>
          </a:prstGeom>
          <a:solidFill>
            <a:srgbClr val="8C5A2E"/>
          </a:solidFill>
          <a:ln w="12700">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 y="2"/>
            <a:ext cx="2" cy="4800600"/>
          </a:xfrm>
          <a:prstGeom prst="rect">
            <a:avLst/>
          </a:prstGeom>
          <a:noFill/>
        </p:spPr>
        <p:txBody>
          <a:bodyPr wrap="square">
            <a:spAutoFit/>
          </a:bodyPr>
          <a:lstStyle/>
          <a:p>
            <a:pPr algn="ctr"/>
            <a:r>
              <a:rPr sz="3600" b="1" i="0">
                <a:solidFill>
                  <a:srgbClr val="FFFFFF"/>
                </a:solidFill>
                <a:latin typeface="Georgia"/>
              </a:rPr>
              <a:t>B</a:t>
            </a:r>
          </a:p>
        </p:txBody>
      </p:sp>
      <p:sp>
        <p:nvSpPr>
          <p:cNvPr id="16" name="TextBox 15"/>
          <p:cNvSpPr txBox="1"/>
          <p:nvPr/>
        </p:nvSpPr>
        <p:spPr>
          <a:xfrm>
            <a:off x="3" y="2"/>
            <a:ext cx="2" cy="4114800"/>
          </a:xfrm>
          <a:prstGeom prst="rect">
            <a:avLst/>
          </a:prstGeom>
          <a:noFill/>
        </p:spPr>
        <p:txBody>
          <a:bodyPr wrap="square">
            <a:spAutoFit/>
          </a:bodyPr>
          <a:lstStyle/>
          <a:p>
            <a:pPr algn="ctr"/>
            <a:r>
              <a:rPr sz="1100" b="0" i="0">
                <a:solidFill>
                  <a:srgbClr val="FFFFFF"/>
                </a:solidFill>
                <a:latin typeface="Calibri"/>
              </a:rPr>
              <a:t>UI/UX Design
10 days</a:t>
            </a:r>
          </a:p>
        </p:txBody>
      </p:sp>
      <p:sp>
        <p:nvSpPr>
          <p:cNvPr id="17" name="TextBox 16"/>
          <p:cNvSpPr txBox="1"/>
          <p:nvPr/>
        </p:nvSpPr>
        <p:spPr>
          <a:xfrm>
            <a:off x="5" y="2"/>
            <a:ext cx="4876678" cy="4114800"/>
          </a:xfrm>
          <a:prstGeom prst="rect">
            <a:avLst/>
          </a:prstGeom>
          <a:noFill/>
        </p:spPr>
        <p:txBody>
          <a:bodyPr wrap="square">
            <a:spAutoFit/>
          </a:bodyPr>
          <a:lstStyle/>
          <a:p>
            <a:pPr algn="l"/>
            <a:r>
              <a:rPr sz="2800" b="0" i="0">
                <a:solidFill>
                  <a:srgbClr val="8C5A2E"/>
                </a:solidFill>
                <a:latin typeface="Calibri"/>
              </a:rPr>
              <a:t>→</a:t>
            </a:r>
          </a:p>
        </p:txBody>
      </p:sp>
      <p:sp>
        <p:nvSpPr>
          <p:cNvPr id="18" name="Rectangle 17"/>
          <p:cNvSpPr/>
          <p:nvPr/>
        </p:nvSpPr>
        <p:spPr>
          <a:xfrm>
            <a:off x="5" y="2"/>
            <a:ext cx="2" cy="1"/>
          </a:xfrm>
          <a:prstGeom prst="rect">
            <a:avLst/>
          </a:prstGeom>
          <a:solidFill>
            <a:srgbClr val="8C5A2E"/>
          </a:solidFill>
          <a:ln w="12700">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 y="2"/>
            <a:ext cx="2" cy="4800600"/>
          </a:xfrm>
          <a:prstGeom prst="rect">
            <a:avLst/>
          </a:prstGeom>
          <a:noFill/>
        </p:spPr>
        <p:txBody>
          <a:bodyPr wrap="square">
            <a:spAutoFit/>
          </a:bodyPr>
          <a:lstStyle/>
          <a:p>
            <a:pPr algn="ctr"/>
            <a:r>
              <a:rPr sz="3600" b="1" i="0">
                <a:solidFill>
                  <a:srgbClr val="FFFFFF"/>
                </a:solidFill>
                <a:latin typeface="Georgia"/>
              </a:rPr>
              <a:t>E</a:t>
            </a:r>
          </a:p>
        </p:txBody>
      </p:sp>
      <p:sp>
        <p:nvSpPr>
          <p:cNvPr id="20" name="TextBox 19"/>
          <p:cNvSpPr txBox="1"/>
          <p:nvPr/>
        </p:nvSpPr>
        <p:spPr>
          <a:xfrm>
            <a:off x="5" y="2"/>
            <a:ext cx="2" cy="4114800"/>
          </a:xfrm>
          <a:prstGeom prst="rect">
            <a:avLst/>
          </a:prstGeom>
          <a:noFill/>
        </p:spPr>
        <p:txBody>
          <a:bodyPr wrap="square">
            <a:spAutoFit/>
          </a:bodyPr>
          <a:lstStyle/>
          <a:p>
            <a:pPr algn="ctr"/>
            <a:r>
              <a:rPr sz="1100" b="0" i="0">
                <a:solidFill>
                  <a:srgbClr val="FFFFFF"/>
                </a:solidFill>
                <a:latin typeface="Calibri"/>
              </a:rPr>
              <a:t>Frontend Dev
15 days</a:t>
            </a:r>
          </a:p>
        </p:txBody>
      </p:sp>
      <p:sp>
        <p:nvSpPr>
          <p:cNvPr id="21" name="TextBox 20"/>
          <p:cNvSpPr txBox="1"/>
          <p:nvPr/>
        </p:nvSpPr>
        <p:spPr>
          <a:xfrm>
            <a:off x="7" y="2"/>
            <a:ext cx="4876678" cy="4114800"/>
          </a:xfrm>
          <a:prstGeom prst="rect">
            <a:avLst/>
          </a:prstGeom>
          <a:noFill/>
        </p:spPr>
        <p:txBody>
          <a:bodyPr wrap="square">
            <a:spAutoFit/>
          </a:bodyPr>
          <a:lstStyle/>
          <a:p>
            <a:pPr algn="l"/>
            <a:r>
              <a:rPr sz="2800" b="0" i="0">
                <a:solidFill>
                  <a:srgbClr val="8C5A2E"/>
                </a:solidFill>
                <a:latin typeface="Calibri"/>
              </a:rPr>
              <a:t>→</a:t>
            </a:r>
          </a:p>
        </p:txBody>
      </p:sp>
      <p:sp>
        <p:nvSpPr>
          <p:cNvPr id="22" name="Rectangle 21"/>
          <p:cNvSpPr/>
          <p:nvPr/>
        </p:nvSpPr>
        <p:spPr>
          <a:xfrm>
            <a:off x="8" y="2"/>
            <a:ext cx="2" cy="1"/>
          </a:xfrm>
          <a:prstGeom prst="rect">
            <a:avLst/>
          </a:prstGeom>
          <a:solidFill>
            <a:srgbClr val="8C5A2E"/>
          </a:solidFill>
          <a:ln w="12700">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 y="2"/>
            <a:ext cx="2" cy="4800600"/>
          </a:xfrm>
          <a:prstGeom prst="rect">
            <a:avLst/>
          </a:prstGeom>
          <a:noFill/>
        </p:spPr>
        <p:txBody>
          <a:bodyPr wrap="square">
            <a:spAutoFit/>
          </a:bodyPr>
          <a:lstStyle/>
          <a:p>
            <a:pPr algn="ctr"/>
            <a:r>
              <a:rPr sz="3600" b="1" i="0">
                <a:solidFill>
                  <a:srgbClr val="FFFFFF"/>
                </a:solidFill>
                <a:latin typeface="Georgia"/>
              </a:rPr>
              <a:t>G</a:t>
            </a:r>
          </a:p>
        </p:txBody>
      </p:sp>
      <p:sp>
        <p:nvSpPr>
          <p:cNvPr id="24" name="TextBox 23"/>
          <p:cNvSpPr txBox="1"/>
          <p:nvPr/>
        </p:nvSpPr>
        <p:spPr>
          <a:xfrm>
            <a:off x="8" y="2"/>
            <a:ext cx="2" cy="4114800"/>
          </a:xfrm>
          <a:prstGeom prst="rect">
            <a:avLst/>
          </a:prstGeom>
          <a:noFill/>
        </p:spPr>
        <p:txBody>
          <a:bodyPr wrap="square">
            <a:spAutoFit/>
          </a:bodyPr>
          <a:lstStyle/>
          <a:p>
            <a:pPr algn="ctr"/>
            <a:r>
              <a:rPr sz="1100" b="0" i="0">
                <a:solidFill>
                  <a:srgbClr val="FFFFFF"/>
                </a:solidFill>
                <a:latin typeface="Calibri"/>
              </a:rPr>
              <a:t>Integration
5 days</a:t>
            </a:r>
          </a:p>
        </p:txBody>
      </p:sp>
      <p:sp>
        <p:nvSpPr>
          <p:cNvPr id="25" name="TextBox 24"/>
          <p:cNvSpPr txBox="1"/>
          <p:nvPr/>
        </p:nvSpPr>
        <p:spPr>
          <a:xfrm>
            <a:off x="10" y="2"/>
            <a:ext cx="4876678" cy="4114800"/>
          </a:xfrm>
          <a:prstGeom prst="rect">
            <a:avLst/>
          </a:prstGeom>
          <a:noFill/>
        </p:spPr>
        <p:txBody>
          <a:bodyPr wrap="square">
            <a:spAutoFit/>
          </a:bodyPr>
          <a:lstStyle/>
          <a:p>
            <a:pPr algn="l"/>
            <a:r>
              <a:rPr sz="2800" b="0" i="0">
                <a:solidFill>
                  <a:srgbClr val="8C5A2E"/>
                </a:solidFill>
                <a:latin typeface="Calibri"/>
              </a:rPr>
              <a:t>→</a:t>
            </a:r>
          </a:p>
        </p:txBody>
      </p:sp>
      <p:sp>
        <p:nvSpPr>
          <p:cNvPr id="26" name="Rectangle 25"/>
          <p:cNvSpPr/>
          <p:nvPr/>
        </p:nvSpPr>
        <p:spPr>
          <a:xfrm>
            <a:off x="10" y="2"/>
            <a:ext cx="2" cy="1"/>
          </a:xfrm>
          <a:prstGeom prst="rect">
            <a:avLst/>
          </a:prstGeom>
          <a:solidFill>
            <a:srgbClr val="8C5A2E"/>
          </a:solidFill>
          <a:ln w="12700">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 y="2"/>
            <a:ext cx="2" cy="4800600"/>
          </a:xfrm>
          <a:prstGeom prst="rect">
            <a:avLst/>
          </a:prstGeom>
          <a:noFill/>
        </p:spPr>
        <p:txBody>
          <a:bodyPr wrap="square">
            <a:spAutoFit/>
          </a:bodyPr>
          <a:lstStyle/>
          <a:p>
            <a:pPr algn="ctr"/>
            <a:r>
              <a:rPr sz="3600" b="1" i="0">
                <a:solidFill>
                  <a:srgbClr val="FFFFFF"/>
                </a:solidFill>
                <a:latin typeface="Georgia"/>
              </a:rPr>
              <a:t>H</a:t>
            </a:r>
          </a:p>
        </p:txBody>
      </p:sp>
      <p:sp>
        <p:nvSpPr>
          <p:cNvPr id="28" name="TextBox 27"/>
          <p:cNvSpPr txBox="1"/>
          <p:nvPr/>
        </p:nvSpPr>
        <p:spPr>
          <a:xfrm>
            <a:off x="10" y="2"/>
            <a:ext cx="2" cy="4114800"/>
          </a:xfrm>
          <a:prstGeom prst="rect">
            <a:avLst/>
          </a:prstGeom>
          <a:noFill/>
        </p:spPr>
        <p:txBody>
          <a:bodyPr wrap="square">
            <a:spAutoFit/>
          </a:bodyPr>
          <a:lstStyle/>
          <a:p>
            <a:pPr algn="ctr"/>
            <a:r>
              <a:rPr sz="1100" b="0" i="0">
                <a:solidFill>
                  <a:srgbClr val="FFFFFF"/>
                </a:solidFill>
                <a:latin typeface="Calibri"/>
              </a:rPr>
              <a:t>Testing
8 days</a:t>
            </a:r>
          </a:p>
        </p:txBody>
      </p:sp>
      <p:sp>
        <p:nvSpPr>
          <p:cNvPr id="29" name="Rectangle 28"/>
          <p:cNvSpPr/>
          <p:nvPr/>
        </p:nvSpPr>
        <p:spPr>
          <a:xfrm>
            <a:off x="8534186" y="3"/>
            <a:ext cx="12"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34186" y="3"/>
            <a:ext cx="12" cy="4114800"/>
          </a:xfrm>
          <a:prstGeom prst="rect">
            <a:avLst/>
          </a:prstGeom>
          <a:noFill/>
        </p:spPr>
        <p:txBody>
          <a:bodyPr wrap="square">
            <a:spAutoFit/>
          </a:bodyPr>
          <a:lstStyle/>
          <a:p>
            <a:pPr algn="ctr"/>
            <a:r>
              <a:rPr sz="2200" b="1" i="0">
                <a:solidFill>
                  <a:srgbClr val="8C5A2E"/>
                </a:solidFill>
                <a:latin typeface="Georgia"/>
              </a:rPr>
              <a:t>A → B → E → G → H  =  5 + 10 + 15 + 5 + 8  =  43 working days</a:t>
            </a:r>
          </a:p>
        </p:txBody>
      </p:sp>
      <p:sp>
        <p:nvSpPr>
          <p:cNvPr id="31" name="TextBox 30"/>
          <p:cNvSpPr txBox="1"/>
          <p:nvPr/>
        </p:nvSpPr>
        <p:spPr>
          <a:xfrm>
            <a:off x="8534186" y="4"/>
            <a:ext cx="12" cy="2743200"/>
          </a:xfrm>
          <a:prstGeom prst="rect">
            <a:avLst/>
          </a:prstGeom>
          <a:noFill/>
        </p:spPr>
        <p:txBody>
          <a:bodyPr wrap="square">
            <a:spAutoFit/>
          </a:bodyPr>
          <a:lstStyle/>
          <a:p>
            <a:pPr algn="ctr"/>
            <a:r>
              <a:rPr sz="1400" b="0" i="1">
                <a:solidFill>
                  <a:srgbClr val="5C4F3F"/>
                </a:solidFill>
                <a:latin typeface="Calibri"/>
              </a:rPr>
              <a:t>≈ 9 calendar weeks  ·  Activity F (Backend Dev) has 8 days of float</a:t>
            </a:r>
          </a:p>
        </p:txBody>
      </p:sp>
      <p:graphicFrame>
        <p:nvGraphicFramePr>
          <p:cNvPr id="32" name="Table 31"/>
          <p:cNvGraphicFramePr>
            <a:graphicFrameLocks noGrp="1"/>
          </p:cNvGraphicFramePr>
          <p:nvPr/>
        </p:nvGraphicFramePr>
        <p:xfrm>
          <a:off x="8534186.5" y="34290000.0"/>
          <a:ext cx="97533560" cy="10287000.0"/>
        </p:xfrm>
        <a:graphic>
          <a:graphicData uri="http://schemas.openxmlformats.org/drawingml/2006/table">
            <a:tbl>
              <a:tblPr firstRow="1" bandRow="1">
                <a:tableStyleId>{5C22544A-7EE6-4342-B048-85BDC9FD1C3A}</a:tableStyleId>
              </a:tblPr>
              <a:tblGrid>
                <a:gridCol w="24383390"/>
                <a:gridCol w="12191695"/>
                <a:gridCol w="60958475"/>
              </a:tblGrid>
              <a:tr h="2571750">
                <a:tc>
                  <a:txBody>
                    <a:bodyPr wrap="square"/>
                    <a:lstStyle/>
                    <a:p>
                      <a:pPr algn="l"/>
                      <a:r>
                        <a:rPr sz="1000">
                          <a:solidFill>
                            <a:srgbClr val="FFFFFF"/>
                          </a:solidFill>
                          <a:latin typeface="Calibri"/>
                        </a:rPr>
                        <a:t>Activity</a:t>
                      </a:r>
                    </a:p>
                  </a:txBody>
                  <a:tcPr>
                    <a:solidFill>
                      <a:srgbClr val="8C5A2E"/>
                    </a:solidFill>
                  </a:tcPr>
                </a:tc>
                <a:tc>
                  <a:txBody>
                    <a:bodyPr wrap="square"/>
                    <a:lstStyle/>
                    <a:p>
                      <a:pPr algn="l"/>
                      <a:r>
                        <a:rPr sz="1000">
                          <a:solidFill>
                            <a:srgbClr val="FFFFFF"/>
                          </a:solidFill>
                          <a:latin typeface="Calibri"/>
                        </a:rPr>
                        <a:t>Slack</a:t>
                      </a:r>
                    </a:p>
                  </a:txBody>
                  <a:tcPr>
                    <a:solidFill>
                      <a:srgbClr val="8C5A2E"/>
                    </a:solidFill>
                  </a:tcPr>
                </a:tc>
                <a:tc>
                  <a:txBody>
                    <a:bodyPr wrap="square"/>
                    <a:lstStyle/>
                    <a:p>
                      <a:pPr algn="l"/>
                      <a:r>
                        <a:rPr sz="1000">
                          <a:solidFill>
                            <a:srgbClr val="FFFFFF"/>
                          </a:solidFill>
                          <a:latin typeface="Calibri"/>
                        </a:rPr>
                        <a:t>Interpretation</a:t>
                      </a:r>
                    </a:p>
                  </a:txBody>
                  <a:tcPr>
                    <a:solidFill>
                      <a:srgbClr val="8C5A2E"/>
                    </a:solidFill>
                  </a:tcPr>
                </a:tc>
              </a:tr>
              <a:tr h="2571750">
                <a:tc>
                  <a:txBody>
                    <a:bodyPr wrap="square"/>
                    <a:lstStyle/>
                    <a:p>
                      <a:pPr algn="l"/>
                      <a:r>
                        <a:rPr sz="1000">
                          <a:solidFill>
                            <a:srgbClr val="2B2419"/>
                          </a:solidFill>
                          <a:latin typeface="Calibri"/>
                        </a:rPr>
                        <a:t>F — Backend Dev</a:t>
                      </a:r>
                    </a:p>
                  </a:txBody>
                  <a:tcPr>
                    <a:solidFill>
                      <a:srgbClr val="F5EFE6"/>
                    </a:solidFill>
                  </a:tcPr>
                </a:tc>
                <a:tc>
                  <a:txBody>
                    <a:bodyPr wrap="square"/>
                    <a:lstStyle/>
                    <a:p>
                      <a:pPr algn="l"/>
                      <a:r>
                        <a:rPr sz="1000">
                          <a:solidFill>
                            <a:srgbClr val="2B2419"/>
                          </a:solidFill>
                          <a:latin typeface="Calibri"/>
                        </a:rPr>
                        <a:t>8 days</a:t>
                      </a:r>
                    </a:p>
                  </a:txBody>
                  <a:tcPr>
                    <a:solidFill>
                      <a:srgbClr val="F5EFE6"/>
                    </a:solidFill>
                  </a:tcPr>
                </a:tc>
                <a:tc>
                  <a:txBody>
                    <a:bodyPr wrap="square"/>
                    <a:lstStyle/>
                    <a:p>
                      <a:pPr algn="l"/>
                      <a:r>
                        <a:rPr sz="1000">
                          <a:solidFill>
                            <a:srgbClr val="2B2419"/>
                          </a:solidFill>
                          <a:latin typeface="Calibri"/>
                        </a:rPr>
                        <a:t>Can slip up to 8 days without delaying project</a:t>
                      </a:r>
                    </a:p>
                  </a:txBody>
                  <a:tcPr>
                    <a:solidFill>
                      <a:srgbClr val="F5EFE6"/>
                    </a:solidFill>
                  </a:tcPr>
                </a:tc>
              </a:tr>
              <a:tr h="2571750">
                <a:tc>
                  <a:txBody>
                    <a:bodyPr wrap="square"/>
                    <a:lstStyle/>
                    <a:p>
                      <a:pPr algn="l"/>
                      <a:r>
                        <a:rPr sz="1000">
                          <a:solidFill>
                            <a:srgbClr val="2B2419"/>
                          </a:solidFill>
                          <a:latin typeface="Calibri"/>
                        </a:rPr>
                        <a:t>D — API Design</a:t>
                      </a:r>
                    </a:p>
                  </a:txBody>
                  <a:tcPr>
                    <a:solidFill>
                      <a:srgbClr val="F5EFE6"/>
                    </a:solidFill>
                  </a:tcPr>
                </a:tc>
                <a:tc>
                  <a:txBody>
                    <a:bodyPr wrap="square"/>
                    <a:lstStyle/>
                    <a:p>
                      <a:pPr algn="l"/>
                      <a:r>
                        <a:rPr sz="1000">
                          <a:solidFill>
                            <a:srgbClr val="2B2419"/>
                          </a:solidFill>
                          <a:latin typeface="Calibri"/>
                        </a:rPr>
                        <a:t>8 days</a:t>
                      </a:r>
                    </a:p>
                  </a:txBody>
                  <a:tcPr>
                    <a:solidFill>
                      <a:srgbClr val="F5EFE6"/>
                    </a:solidFill>
                  </a:tcPr>
                </a:tc>
                <a:tc>
                  <a:txBody>
                    <a:bodyPr wrap="square"/>
                    <a:lstStyle/>
                    <a:p>
                      <a:pPr algn="l"/>
                      <a:r>
                        <a:rPr sz="1000">
                          <a:solidFill>
                            <a:srgbClr val="2B2419"/>
                          </a:solidFill>
                          <a:latin typeface="Calibri"/>
                        </a:rPr>
                        <a:t>Can slip up to 8 days</a:t>
                      </a:r>
                    </a:p>
                  </a:txBody>
                  <a:tcPr>
                    <a:solidFill>
                      <a:srgbClr val="F5EFE6"/>
                    </a:solidFill>
                  </a:tcPr>
                </a:tc>
              </a:tr>
              <a:tr h="2571750">
                <a:tc>
                  <a:txBody>
                    <a:bodyPr wrap="square"/>
                    <a:lstStyle/>
                    <a:p>
                      <a:pPr algn="l"/>
                      <a:r>
                        <a:rPr sz="1000">
                          <a:solidFill>
                            <a:srgbClr val="2B2419"/>
                          </a:solidFill>
                          <a:latin typeface="Calibri"/>
                        </a:rPr>
                        <a:t>C — DB Schema</a:t>
                      </a:r>
                    </a:p>
                  </a:txBody>
                  <a:tcPr>
                    <a:solidFill>
                      <a:srgbClr val="F5EFE6"/>
                    </a:solidFill>
                  </a:tcPr>
                </a:tc>
                <a:tc>
                  <a:txBody>
                    <a:bodyPr wrap="square"/>
                    <a:lstStyle/>
                    <a:p>
                      <a:pPr algn="l"/>
                      <a:r>
                        <a:rPr sz="1000">
                          <a:solidFill>
                            <a:srgbClr val="2B2419"/>
                          </a:solidFill>
                          <a:latin typeface="Calibri"/>
                        </a:rPr>
                        <a:t>9 days</a:t>
                      </a:r>
                    </a:p>
                  </a:txBody>
                  <a:tcPr>
                    <a:solidFill>
                      <a:srgbClr val="F5EFE6"/>
                    </a:solidFill>
                  </a:tcPr>
                </a:tc>
                <a:tc>
                  <a:txBody>
                    <a:bodyPr wrap="square"/>
                    <a:lstStyle/>
                    <a:p>
                      <a:pPr algn="l"/>
                      <a:r>
                        <a:rPr sz="1000">
                          <a:solidFill>
                            <a:srgbClr val="2B2419"/>
                          </a:solidFill>
                          <a:latin typeface="Calibri"/>
                        </a:rPr>
                        <a:t>Can slip up to 9 days</a:t>
                      </a:r>
                    </a:p>
                  </a:txBody>
                  <a:tcPr>
                    <a:solidFill>
                      <a:srgbClr val="F5EFE6"/>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356" y="1"/>
            <a:ext cx="2" cy="1"/>
          </a:xfrm>
          <a:prstGeom prst="rect">
            <a:avLst/>
          </a:prstGeom>
          <a:noFill/>
        </p:spPr>
        <p:txBody>
          <a:bodyPr wrap="square">
            <a:spAutoFit/>
          </a:bodyPr>
          <a:lstStyle/>
          <a:p>
            <a:pPr algn="l"/>
            <a:r>
              <a:rPr sz="12000" b="0" i="1">
                <a:solidFill>
                  <a:srgbClr val="8C5A2E"/>
                </a:solidFill>
                <a:latin typeface="Georgia"/>
              </a:rPr>
              <a:t>§</a:t>
            </a:r>
          </a:p>
        </p:txBody>
      </p:sp>
      <p:sp>
        <p:nvSpPr>
          <p:cNvPr id="6" name="TextBox 5"/>
          <p:cNvSpPr txBox="1"/>
          <p:nvPr/>
        </p:nvSpPr>
        <p:spPr>
          <a:xfrm>
            <a:off x="2" y="1"/>
            <a:ext cx="2" cy="1"/>
          </a:xfrm>
          <a:prstGeom prst="rect">
            <a:avLst/>
          </a:prstGeom>
          <a:noFill/>
        </p:spPr>
        <p:txBody>
          <a:bodyPr wrap="square">
            <a:spAutoFit/>
          </a:bodyPr>
          <a:lstStyle/>
          <a:p>
            <a:pPr algn="l"/>
            <a:r>
              <a:rPr sz="4800" b="0" i="1">
                <a:solidFill>
                  <a:srgbClr val="E8D5BC"/>
                </a:solidFill>
                <a:latin typeface="Georgia"/>
              </a:rPr>
              <a:t>IV</a:t>
            </a:r>
          </a:p>
        </p:txBody>
      </p:sp>
      <p:sp>
        <p:nvSpPr>
          <p:cNvPr id="7" name="TextBox 6"/>
          <p:cNvSpPr txBox="1"/>
          <p:nvPr/>
        </p:nvSpPr>
        <p:spPr>
          <a:xfrm>
            <a:off x="9753356" y="3"/>
            <a:ext cx="11" cy="1"/>
          </a:xfrm>
          <a:prstGeom prst="rect">
            <a:avLst/>
          </a:prstGeom>
          <a:noFill/>
        </p:spPr>
        <p:txBody>
          <a:bodyPr wrap="square">
            <a:spAutoFit/>
          </a:bodyPr>
          <a:lstStyle/>
          <a:p>
            <a:pPr algn="l"/>
            <a:r>
              <a:rPr sz="4400" b="1" i="0">
                <a:solidFill>
                  <a:srgbClr val="2B2419"/>
                </a:solidFill>
                <a:latin typeface="Georgia"/>
              </a:rPr>
              <a:t>Resource Management</a:t>
            </a:r>
          </a:p>
        </p:txBody>
      </p:sp>
      <p:sp>
        <p:nvSpPr>
          <p:cNvPr id="8" name="TextBox 7"/>
          <p:cNvSpPr txBox="1"/>
          <p:nvPr/>
        </p:nvSpPr>
        <p:spPr>
          <a:xfrm>
            <a:off x="9753356" y="4"/>
            <a:ext cx="10" cy="3429000"/>
          </a:xfrm>
          <a:prstGeom prst="rect">
            <a:avLst/>
          </a:prstGeom>
          <a:noFill/>
        </p:spPr>
        <p:txBody>
          <a:bodyPr wrap="square">
            <a:spAutoFit/>
          </a:bodyPr>
          <a:lstStyle/>
          <a:p>
            <a:pPr algn="l"/>
            <a:r>
              <a:rPr sz="1400" b="0" i="1">
                <a:solidFill>
                  <a:srgbClr val="8A7A66"/>
                </a:solidFill>
                <a:latin typeface="Calibri"/>
              </a:rPr>
              <a:t>CLO 2, 8, 9 · Ch. 5, 11, 12</a:t>
            </a:r>
          </a:p>
        </p:txBody>
      </p:sp>
      <p:sp>
        <p:nvSpPr>
          <p:cNvPr id="9" name="Rectangle 8"/>
          <p:cNvSpPr/>
          <p:nvPr/>
        </p:nvSpPr>
        <p:spPr>
          <a:xfrm>
            <a:off x="975335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RESOURCE MANAGEMENT</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RACI Matrix — Responsibility Assignment</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10 / 24</a:t>
            </a:r>
          </a:p>
        </p:txBody>
      </p:sp>
      <p:graphicFrame>
        <p:nvGraphicFramePr>
          <p:cNvPr id="9" name="Table 8"/>
          <p:cNvGraphicFramePr>
            <a:graphicFrameLocks noGrp="1"/>
          </p:cNvGraphicFramePr>
          <p:nvPr/>
        </p:nvGraphicFramePr>
        <p:xfrm>
          <a:off x="8534186.5" y="10629900.0"/>
          <a:ext cx="149957844" cy="28803600.0"/>
        </p:xfrm>
        <a:graphic>
          <a:graphicData uri="http://schemas.openxmlformats.org/drawingml/2006/table">
            <a:tbl>
              <a:tblPr firstRow="1" bandRow="1">
                <a:tableStyleId>{5C22544A-7EE6-4342-B048-85BDC9FD1C3A}</a:tableStyleId>
              </a:tblPr>
              <a:tblGrid>
                <a:gridCol w="34990164"/>
                <a:gridCol w="9164090"/>
                <a:gridCol w="25826073"/>
                <a:gridCol w="25826073"/>
                <a:gridCol w="28325371"/>
                <a:gridCol w="25826073"/>
              </a:tblGrid>
              <a:tr h="2618509">
                <a:tc>
                  <a:txBody>
                    <a:bodyPr wrap="square"/>
                    <a:lstStyle/>
                    <a:p>
                      <a:pPr algn="l"/>
                      <a:r>
                        <a:rPr sz="1000">
                          <a:solidFill>
                            <a:srgbClr val="FFFFFF"/>
                          </a:solidFill>
                          <a:latin typeface="Calibri"/>
                        </a:rPr>
                        <a:t>Work Package</a:t>
                      </a:r>
                    </a:p>
                  </a:txBody>
                  <a:tcPr>
                    <a:solidFill>
                      <a:srgbClr val="8C5A2E"/>
                    </a:solidFill>
                  </a:tcPr>
                </a:tc>
                <a:tc>
                  <a:txBody>
                    <a:bodyPr wrap="square"/>
                    <a:lstStyle/>
                    <a:p>
                      <a:pPr algn="l"/>
                      <a:r>
                        <a:rPr sz="1000">
                          <a:solidFill>
                            <a:srgbClr val="FFFFFF"/>
                          </a:solidFill>
                          <a:latin typeface="Calibri"/>
                        </a:rPr>
                        <a:t>WBS</a:t>
                      </a:r>
                    </a:p>
                  </a:txBody>
                  <a:tcPr>
                    <a:solidFill>
                      <a:srgbClr val="8C5A2E"/>
                    </a:solidFill>
                  </a:tcPr>
                </a:tc>
                <a:tc>
                  <a:txBody>
                    <a:bodyPr wrap="square"/>
                    <a:lstStyle/>
                    <a:p>
                      <a:pPr algn="l"/>
                      <a:r>
                        <a:rPr sz="1000">
                          <a:solidFill>
                            <a:srgbClr val="FFFFFF"/>
                          </a:solidFill>
                          <a:latin typeface="Calibri"/>
                        </a:rPr>
                        <a:t>Đức
(PM)</a:t>
                      </a:r>
                    </a:p>
                  </a:txBody>
                  <a:tcPr>
                    <a:solidFill>
                      <a:srgbClr val="8C5A2E"/>
                    </a:solidFill>
                  </a:tcPr>
                </a:tc>
                <a:tc>
                  <a:txBody>
                    <a:bodyPr wrap="square"/>
                    <a:lstStyle/>
                    <a:p>
                      <a:pPr algn="l"/>
                      <a:r>
                        <a:rPr sz="1000">
                          <a:solidFill>
                            <a:srgbClr val="FFFFFF"/>
                          </a:solidFill>
                          <a:latin typeface="Calibri"/>
                        </a:rPr>
                        <a:t>Bảo
(Dev)</a:t>
                      </a:r>
                    </a:p>
                  </a:txBody>
                  <a:tcPr>
                    <a:solidFill>
                      <a:srgbClr val="8C5A2E"/>
                    </a:solidFill>
                  </a:tcPr>
                </a:tc>
                <a:tc>
                  <a:txBody>
                    <a:bodyPr wrap="square"/>
                    <a:lstStyle/>
                    <a:p>
                      <a:pPr algn="l"/>
                      <a:r>
                        <a:rPr sz="1000">
                          <a:solidFill>
                            <a:srgbClr val="FFFFFF"/>
                          </a:solidFill>
                          <a:latin typeface="Calibri"/>
                        </a:rPr>
                        <a:t>Thịnh
(UI/UX)</a:t>
                      </a:r>
                    </a:p>
                  </a:txBody>
                  <a:tcPr>
                    <a:solidFill>
                      <a:srgbClr val="8C5A2E"/>
                    </a:solidFill>
                  </a:tcPr>
                </a:tc>
                <a:tc>
                  <a:txBody>
                    <a:bodyPr wrap="square"/>
                    <a:lstStyle/>
                    <a:p>
                      <a:pPr algn="l"/>
                      <a:r>
                        <a:rPr sz="1000">
                          <a:solidFill>
                            <a:srgbClr val="FFFFFF"/>
                          </a:solidFill>
                          <a:latin typeface="Calibri"/>
                        </a:rPr>
                        <a:t>Hiếu
(QA)</a:t>
                      </a:r>
                    </a:p>
                  </a:txBody>
                  <a:tcPr>
                    <a:solidFill>
                      <a:srgbClr val="8C5A2E"/>
                    </a:solidFill>
                  </a:tcPr>
                </a:tc>
              </a:tr>
              <a:tr h="2618509">
                <a:tc>
                  <a:txBody>
                    <a:bodyPr wrap="square"/>
                    <a:lstStyle/>
                    <a:p>
                      <a:pPr algn="l"/>
                      <a:r>
                        <a:rPr sz="1000">
                          <a:solidFill>
                            <a:srgbClr val="2B2419"/>
                          </a:solidFill>
                          <a:latin typeface="Calibri"/>
                        </a:rPr>
                        <a:t>Project Planning</a:t>
                      </a:r>
                    </a:p>
                  </a:txBody>
                  <a:tcPr>
                    <a:solidFill>
                      <a:srgbClr val="F5EFE6"/>
                    </a:solidFill>
                  </a:tcPr>
                </a:tc>
                <a:tc>
                  <a:txBody>
                    <a:bodyPr wrap="square"/>
                    <a:lstStyle/>
                    <a:p>
                      <a:pPr algn="l"/>
                      <a:r>
                        <a:rPr sz="1000">
                          <a:solidFill>
                            <a:srgbClr val="2B2419"/>
                          </a:solidFill>
                          <a:latin typeface="Calibri"/>
                        </a:rPr>
                        <a:t>1.1.1</a:t>
                      </a:r>
                    </a:p>
                  </a:txBody>
                  <a:tcPr>
                    <a:solidFill>
                      <a:srgbClr val="F5EFE6"/>
                    </a:solidFill>
                  </a:tcPr>
                </a:tc>
                <a:tc>
                  <a:txBody>
                    <a:bodyPr wrap="square"/>
                    <a:lstStyle/>
                    <a:p>
                      <a:pPr algn="l"/>
                      <a:r>
                        <a:rPr sz="1000">
                          <a:solidFill>
                            <a:srgbClr val="2B2419"/>
                          </a:solidFill>
                          <a:latin typeface="Calibri"/>
                        </a:rPr>
                        <a:t>A</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r>
              <a:tr h="2618509">
                <a:tc>
                  <a:txBody>
                    <a:bodyPr wrap="square"/>
                    <a:lstStyle/>
                    <a:p>
                      <a:pPr algn="l"/>
                      <a:r>
                        <a:rPr sz="1000">
                          <a:solidFill>
                            <a:srgbClr val="2B2419"/>
                          </a:solidFill>
                          <a:latin typeface="Calibri"/>
                        </a:rPr>
                        <a:t>Requirements</a:t>
                      </a:r>
                    </a:p>
                  </a:txBody>
                  <a:tcPr>
                    <a:solidFill>
                      <a:srgbClr val="F5EFE6"/>
                    </a:solidFill>
                  </a:tcPr>
                </a:tc>
                <a:tc>
                  <a:txBody>
                    <a:bodyPr wrap="square"/>
                    <a:lstStyle/>
                    <a:p>
                      <a:pPr algn="l"/>
                      <a:r>
                        <a:rPr sz="1000">
                          <a:solidFill>
                            <a:srgbClr val="2B2419"/>
                          </a:solidFill>
                          <a:latin typeface="Calibri"/>
                        </a:rPr>
                        <a:t>1.2</a:t>
                      </a:r>
                    </a:p>
                  </a:txBody>
                  <a:tcPr>
                    <a:solidFill>
                      <a:srgbClr val="F5EFE6"/>
                    </a:solidFill>
                  </a:tcPr>
                </a:tc>
                <a:tc>
                  <a:txBody>
                    <a:bodyPr wrap="square"/>
                    <a:lstStyle/>
                    <a:p>
                      <a:pPr algn="l"/>
                      <a:r>
                        <a:rPr sz="1000">
                          <a:solidFill>
                            <a:srgbClr val="2B2419"/>
                          </a:solidFill>
                          <a:latin typeface="Calibri"/>
                        </a:rPr>
                        <a:t>A</a:t>
                      </a:r>
                    </a:p>
                  </a:txBody>
                  <a:tcPr>
                    <a:solidFill>
                      <a:srgbClr val="F5EFE6"/>
                    </a:solidFill>
                  </a:tcPr>
                </a:tc>
                <a:tc>
                  <a:txBody>
                    <a:bodyPr wrap="square"/>
                    <a:lstStyle/>
                    <a:p>
                      <a:pPr algn="l"/>
                      <a:r>
                        <a:rPr sz="1000">
                          <a:solidFill>
                            <a:srgbClr val="2B2419"/>
                          </a:solidFill>
                          <a:latin typeface="Calibri"/>
                        </a:rPr>
                        <a:t>R</a:t>
                      </a:r>
                    </a:p>
                  </a:txBody>
                  <a:tcPr>
                    <a:solidFill>
                      <a:srgbClr val="F5EFE6"/>
                    </a:solidFill>
                  </a:tcPr>
                </a:tc>
                <a:tc>
                  <a:txBody>
                    <a:bodyPr wrap="square"/>
                    <a:lstStyle/>
                    <a:p>
                      <a:pPr algn="l"/>
                      <a:r>
                        <a:rPr sz="1000">
                          <a:solidFill>
                            <a:srgbClr val="2B2419"/>
                          </a:solidFill>
                          <a:latin typeface="Calibri"/>
                        </a:rPr>
                        <a:t>R</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r>
              <a:tr h="2618509">
                <a:tc>
                  <a:txBody>
                    <a:bodyPr wrap="square"/>
                    <a:lstStyle/>
                    <a:p>
                      <a:pPr algn="l"/>
                      <a:r>
                        <a:rPr sz="1000">
                          <a:solidFill>
                            <a:srgbClr val="2B2419"/>
                          </a:solidFill>
                          <a:latin typeface="Calibri"/>
                        </a:rPr>
                        <a:t>UI/UX Design</a:t>
                      </a:r>
                    </a:p>
                  </a:txBody>
                  <a:tcPr>
                    <a:solidFill>
                      <a:srgbClr val="F5EFE6"/>
                    </a:solidFill>
                  </a:tcPr>
                </a:tc>
                <a:tc>
                  <a:txBody>
                    <a:bodyPr wrap="square"/>
                    <a:lstStyle/>
                    <a:p>
                      <a:pPr algn="l"/>
                      <a:r>
                        <a:rPr sz="1000">
                          <a:solidFill>
                            <a:srgbClr val="2B2419"/>
                          </a:solidFill>
                          <a:latin typeface="Calibri"/>
                        </a:rPr>
                        <a:t>1.3.1</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A/R</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r>
              <a:tr h="2618509">
                <a:tc>
                  <a:txBody>
                    <a:bodyPr wrap="square"/>
                    <a:lstStyle/>
                    <a:p>
                      <a:pPr algn="l"/>
                      <a:r>
                        <a:rPr sz="1000">
                          <a:solidFill>
                            <a:srgbClr val="2B2419"/>
                          </a:solidFill>
                          <a:latin typeface="Calibri"/>
                        </a:rPr>
                        <a:t>DB Schema</a:t>
                      </a:r>
                    </a:p>
                  </a:txBody>
                  <a:tcPr>
                    <a:solidFill>
                      <a:srgbClr val="F5EFE6"/>
                    </a:solidFill>
                  </a:tcPr>
                </a:tc>
                <a:tc>
                  <a:txBody>
                    <a:bodyPr wrap="square"/>
                    <a:lstStyle/>
                    <a:p>
                      <a:pPr algn="l"/>
                      <a:r>
                        <a:rPr sz="1000">
                          <a:solidFill>
                            <a:srgbClr val="2B2419"/>
                          </a:solidFill>
                          <a:latin typeface="Calibri"/>
                        </a:rPr>
                        <a:t>1.3.2</a:t>
                      </a:r>
                    </a:p>
                  </a:txBody>
                  <a:tcPr>
                    <a:solidFill>
                      <a:srgbClr val="F5EFE6"/>
                    </a:solidFill>
                  </a:tcPr>
                </a:tc>
                <a:tc>
                  <a:txBody>
                    <a:bodyPr wrap="square"/>
                    <a:lstStyle/>
                    <a:p>
                      <a:pPr algn="l"/>
                      <a:r>
                        <a:rPr sz="1000">
                          <a:solidFill>
                            <a:srgbClr val="2B2419"/>
                          </a:solidFill>
                          <a:latin typeface="Calibri"/>
                        </a:rPr>
                        <a:t>A</a:t>
                      </a:r>
                    </a:p>
                  </a:txBody>
                  <a:tcPr>
                    <a:solidFill>
                      <a:srgbClr val="F5EFE6"/>
                    </a:solidFill>
                  </a:tcPr>
                </a:tc>
                <a:tc>
                  <a:txBody>
                    <a:bodyPr wrap="square"/>
                    <a:lstStyle/>
                    <a:p>
                      <a:pPr algn="l"/>
                      <a:r>
                        <a:rPr sz="1000">
                          <a:solidFill>
                            <a:srgbClr val="2B2419"/>
                          </a:solidFill>
                          <a:latin typeface="Calibri"/>
                        </a:rPr>
                        <a:t>R</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r>
              <a:tr h="2618509">
                <a:tc>
                  <a:txBody>
                    <a:bodyPr wrap="square"/>
                    <a:lstStyle/>
                    <a:p>
                      <a:pPr algn="l"/>
                      <a:r>
                        <a:rPr sz="1000">
                          <a:solidFill>
                            <a:srgbClr val="2B2419"/>
                          </a:solidFill>
                          <a:latin typeface="Calibri"/>
                        </a:rPr>
                        <a:t>API Design</a:t>
                      </a:r>
                    </a:p>
                  </a:txBody>
                  <a:tcPr>
                    <a:solidFill>
                      <a:srgbClr val="F5EFE6"/>
                    </a:solidFill>
                  </a:tcPr>
                </a:tc>
                <a:tc>
                  <a:txBody>
                    <a:bodyPr wrap="square"/>
                    <a:lstStyle/>
                    <a:p>
                      <a:pPr algn="l"/>
                      <a:r>
                        <a:rPr sz="1000">
                          <a:solidFill>
                            <a:srgbClr val="2B2419"/>
                          </a:solidFill>
                          <a:latin typeface="Calibri"/>
                        </a:rPr>
                        <a:t>1.3.3</a:t>
                      </a:r>
                    </a:p>
                  </a:txBody>
                  <a:tcPr>
                    <a:solidFill>
                      <a:srgbClr val="F5EFE6"/>
                    </a:solidFill>
                  </a:tcPr>
                </a:tc>
                <a:tc>
                  <a:txBody>
                    <a:bodyPr wrap="square"/>
                    <a:lstStyle/>
                    <a:p>
                      <a:pPr algn="l"/>
                      <a:r>
                        <a:rPr sz="1000">
                          <a:solidFill>
                            <a:srgbClr val="2B2419"/>
                          </a:solidFill>
                          <a:latin typeface="Calibri"/>
                        </a:rPr>
                        <a:t>A</a:t>
                      </a:r>
                    </a:p>
                  </a:txBody>
                  <a:tcPr>
                    <a:solidFill>
                      <a:srgbClr val="F5EFE6"/>
                    </a:solidFill>
                  </a:tcPr>
                </a:tc>
                <a:tc>
                  <a:txBody>
                    <a:bodyPr wrap="square"/>
                    <a:lstStyle/>
                    <a:p>
                      <a:pPr algn="l"/>
                      <a:r>
                        <a:rPr sz="1000">
                          <a:solidFill>
                            <a:srgbClr val="2B2419"/>
                          </a:solidFill>
                          <a:latin typeface="Calibri"/>
                        </a:rPr>
                        <a:t>R</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r>
              <a:tr h="2618509">
                <a:tc>
                  <a:txBody>
                    <a:bodyPr wrap="square"/>
                    <a:lstStyle/>
                    <a:p>
                      <a:pPr algn="l"/>
                      <a:r>
                        <a:rPr sz="1000">
                          <a:solidFill>
                            <a:srgbClr val="2B2419"/>
                          </a:solidFill>
                          <a:latin typeface="Calibri"/>
                        </a:rPr>
                        <a:t>Frontend Dev</a:t>
                      </a:r>
                    </a:p>
                  </a:txBody>
                  <a:tcPr>
                    <a:solidFill>
                      <a:srgbClr val="F5EFE6"/>
                    </a:solidFill>
                  </a:tcPr>
                </a:tc>
                <a:tc>
                  <a:txBody>
                    <a:bodyPr wrap="square"/>
                    <a:lstStyle/>
                    <a:p>
                      <a:pPr algn="l"/>
                      <a:r>
                        <a:rPr sz="1000">
                          <a:solidFill>
                            <a:srgbClr val="2B2419"/>
                          </a:solidFill>
                          <a:latin typeface="Calibri"/>
                        </a:rPr>
                        <a:t>1.4.1</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A/R</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r>
              <a:tr h="2618509">
                <a:tc>
                  <a:txBody>
                    <a:bodyPr wrap="square"/>
                    <a:lstStyle/>
                    <a:p>
                      <a:pPr algn="l"/>
                      <a:r>
                        <a:rPr sz="1000">
                          <a:solidFill>
                            <a:srgbClr val="2B2419"/>
                          </a:solidFill>
                          <a:latin typeface="Calibri"/>
                        </a:rPr>
                        <a:t>Backend Dev</a:t>
                      </a:r>
                    </a:p>
                  </a:txBody>
                  <a:tcPr>
                    <a:solidFill>
                      <a:srgbClr val="F5EFE6"/>
                    </a:solidFill>
                  </a:tcPr>
                </a:tc>
                <a:tc>
                  <a:txBody>
                    <a:bodyPr wrap="square"/>
                    <a:lstStyle/>
                    <a:p>
                      <a:pPr algn="l"/>
                      <a:r>
                        <a:rPr sz="1000">
                          <a:solidFill>
                            <a:srgbClr val="2B2419"/>
                          </a:solidFill>
                          <a:latin typeface="Calibri"/>
                        </a:rPr>
                        <a:t>1.4.2</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c>
                  <a:txBody>
                    <a:bodyPr wrap="square"/>
                    <a:lstStyle/>
                    <a:p>
                      <a:pPr algn="l"/>
                      <a:r>
                        <a:rPr sz="1000">
                          <a:solidFill>
                            <a:srgbClr val="2B2419"/>
                          </a:solidFill>
                          <a:latin typeface="Calibri"/>
                        </a:rPr>
                        <a:t>A/R</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r>
              <a:tr h="2618509">
                <a:tc>
                  <a:txBody>
                    <a:bodyPr wrap="square"/>
                    <a:lstStyle/>
                    <a:p>
                      <a:pPr algn="l"/>
                      <a:r>
                        <a:rPr sz="1000">
                          <a:solidFill>
                            <a:srgbClr val="2B2419"/>
                          </a:solidFill>
                          <a:latin typeface="Calibri"/>
                        </a:rPr>
                        <a:t>Unit Testing</a:t>
                      </a:r>
                    </a:p>
                  </a:txBody>
                  <a:tcPr>
                    <a:solidFill>
                      <a:srgbClr val="F5EFE6"/>
                    </a:solidFill>
                  </a:tcPr>
                </a:tc>
                <a:tc>
                  <a:txBody>
                    <a:bodyPr wrap="square"/>
                    <a:lstStyle/>
                    <a:p>
                      <a:pPr algn="l"/>
                      <a:r>
                        <a:rPr sz="1000">
                          <a:solidFill>
                            <a:srgbClr val="2B2419"/>
                          </a:solidFill>
                          <a:latin typeface="Calibri"/>
                        </a:rPr>
                        <a:t>1.5.1</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I</a:t>
                      </a:r>
                    </a:p>
                  </a:txBody>
                  <a:tcPr>
                    <a:solidFill>
                      <a:srgbClr val="F5EFE6"/>
                    </a:solidFill>
                  </a:tcPr>
                </a:tc>
                <a:tc>
                  <a:txBody>
                    <a:bodyPr wrap="square"/>
                    <a:lstStyle/>
                    <a:p>
                      <a:pPr algn="l"/>
                      <a:r>
                        <a:rPr sz="1000">
                          <a:solidFill>
                            <a:srgbClr val="2B2419"/>
                          </a:solidFill>
                          <a:latin typeface="Calibri"/>
                        </a:rPr>
                        <a:t>A/R</a:t>
                      </a:r>
                    </a:p>
                  </a:txBody>
                  <a:tcPr>
                    <a:solidFill>
                      <a:srgbClr val="F5EFE6"/>
                    </a:solidFill>
                  </a:tcPr>
                </a:tc>
              </a:tr>
              <a:tr h="2618509">
                <a:tc>
                  <a:txBody>
                    <a:bodyPr wrap="square"/>
                    <a:lstStyle/>
                    <a:p>
                      <a:pPr algn="l"/>
                      <a:r>
                        <a:rPr sz="1000">
                          <a:solidFill>
                            <a:srgbClr val="2B2419"/>
                          </a:solidFill>
                          <a:latin typeface="Calibri"/>
                        </a:rPr>
                        <a:t>Documentation</a:t>
                      </a:r>
                    </a:p>
                  </a:txBody>
                  <a:tcPr>
                    <a:solidFill>
                      <a:srgbClr val="F5EFE6"/>
                    </a:solidFill>
                  </a:tcPr>
                </a:tc>
                <a:tc>
                  <a:txBody>
                    <a:bodyPr wrap="square"/>
                    <a:lstStyle/>
                    <a:p>
                      <a:pPr algn="l"/>
                      <a:r>
                        <a:rPr sz="1000">
                          <a:solidFill>
                            <a:srgbClr val="2B2419"/>
                          </a:solidFill>
                          <a:latin typeface="Calibri"/>
                        </a:rPr>
                        <a:t>1.6</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C</a:t>
                      </a:r>
                    </a:p>
                  </a:txBody>
                  <a:tcPr>
                    <a:solidFill>
                      <a:srgbClr val="F5EFE6"/>
                    </a:solidFill>
                  </a:tcPr>
                </a:tc>
                <a:tc>
                  <a:txBody>
                    <a:bodyPr wrap="square"/>
                    <a:lstStyle/>
                    <a:p>
                      <a:pPr algn="l"/>
                      <a:r>
                        <a:rPr sz="1000">
                          <a:solidFill>
                            <a:srgbClr val="2B2419"/>
                          </a:solidFill>
                          <a:latin typeface="Calibri"/>
                        </a:rPr>
                        <a:t>A/R</a:t>
                      </a:r>
                    </a:p>
                  </a:txBody>
                  <a:tcPr>
                    <a:solidFill>
                      <a:srgbClr val="F5EFE6"/>
                    </a:solidFill>
                  </a:tcPr>
                </a:tc>
              </a:tr>
              <a:tr h="2618510">
                <a:tc>
                  <a:txBody>
                    <a:bodyPr wrap="square"/>
                    <a:lstStyle/>
                    <a:p>
                      <a:pPr algn="l"/>
                      <a:r>
                        <a:rPr sz="1000">
                          <a:solidFill>
                            <a:srgbClr val="2B2419"/>
                          </a:solidFill>
                          <a:latin typeface="Calibri"/>
                        </a:rPr>
                        <a:t>Presentation</a:t>
                      </a:r>
                    </a:p>
                  </a:txBody>
                  <a:tcPr>
                    <a:solidFill>
                      <a:srgbClr val="F5EFE6"/>
                    </a:solidFill>
                  </a:tcPr>
                </a:tc>
                <a:tc>
                  <a:txBody>
                    <a:bodyPr wrap="square"/>
                    <a:lstStyle/>
                    <a:p>
                      <a:pPr algn="l"/>
                      <a:r>
                        <a:rPr sz="1000">
                          <a:solidFill>
                            <a:srgbClr val="2B2419"/>
                          </a:solidFill>
                          <a:latin typeface="Calibri"/>
                        </a:rPr>
                        <a:t>1.7</a:t>
                      </a:r>
                    </a:p>
                  </a:txBody>
                  <a:tcPr>
                    <a:solidFill>
                      <a:srgbClr val="F5EFE6"/>
                    </a:solidFill>
                  </a:tcPr>
                </a:tc>
                <a:tc>
                  <a:txBody>
                    <a:bodyPr wrap="square"/>
                    <a:lstStyle/>
                    <a:p>
                      <a:pPr algn="l"/>
                      <a:r>
                        <a:rPr sz="1000">
                          <a:solidFill>
                            <a:srgbClr val="2B2419"/>
                          </a:solidFill>
                          <a:latin typeface="Calibri"/>
                        </a:rPr>
                        <a:t>A</a:t>
                      </a:r>
                    </a:p>
                  </a:txBody>
                  <a:tcPr>
                    <a:solidFill>
                      <a:srgbClr val="F5EFE6"/>
                    </a:solidFill>
                  </a:tcPr>
                </a:tc>
                <a:tc>
                  <a:txBody>
                    <a:bodyPr wrap="square"/>
                    <a:lstStyle/>
                    <a:p>
                      <a:pPr algn="l"/>
                      <a:r>
                        <a:rPr sz="1000">
                          <a:solidFill>
                            <a:srgbClr val="2B2419"/>
                          </a:solidFill>
                          <a:latin typeface="Calibri"/>
                        </a:rPr>
                        <a:t>R</a:t>
                      </a:r>
                    </a:p>
                  </a:txBody>
                  <a:tcPr>
                    <a:solidFill>
                      <a:srgbClr val="F5EFE6"/>
                    </a:solidFill>
                  </a:tcPr>
                </a:tc>
                <a:tc>
                  <a:txBody>
                    <a:bodyPr wrap="square"/>
                    <a:lstStyle/>
                    <a:p>
                      <a:pPr algn="l"/>
                      <a:r>
                        <a:rPr sz="1000">
                          <a:solidFill>
                            <a:srgbClr val="2B2419"/>
                          </a:solidFill>
                          <a:latin typeface="Calibri"/>
                        </a:rPr>
                        <a:t>R</a:t>
                      </a:r>
                    </a:p>
                  </a:txBody>
                  <a:tcPr>
                    <a:solidFill>
                      <a:srgbClr val="F5EFE6"/>
                    </a:solidFill>
                  </a:tcPr>
                </a:tc>
                <a:tc>
                  <a:txBody>
                    <a:bodyPr wrap="square"/>
                    <a:lstStyle/>
                    <a:p>
                      <a:pPr algn="l"/>
                      <a:r>
                        <a:rPr sz="1000">
                          <a:solidFill>
                            <a:srgbClr val="2B2419"/>
                          </a:solidFill>
                          <a:latin typeface="Calibri"/>
                        </a:rPr>
                        <a:t>R</a:t>
                      </a:r>
                    </a:p>
                  </a:txBody>
                  <a:tcPr>
                    <a:solidFill>
                      <a:srgbClr val="F5EFE6"/>
                    </a:solidFill>
                  </a:tcPr>
                </a:tc>
              </a:tr>
            </a:tbl>
          </a:graphicData>
        </a:graphic>
      </p:graphicFrame>
      <p:sp>
        <p:nvSpPr>
          <p:cNvPr id="10" name="TextBox 9"/>
          <p:cNvSpPr txBox="1"/>
          <p:nvPr/>
        </p:nvSpPr>
        <p:spPr>
          <a:xfrm>
            <a:off x="8534186" y="5"/>
            <a:ext cx="12" cy="2057400"/>
          </a:xfrm>
          <a:prstGeom prst="rect">
            <a:avLst/>
          </a:prstGeom>
          <a:noFill/>
        </p:spPr>
        <p:txBody>
          <a:bodyPr wrap="square">
            <a:spAutoFit/>
          </a:bodyPr>
          <a:lstStyle/>
          <a:p>
            <a:pPr algn="l"/>
            <a:r>
              <a:rPr sz="1000" b="0" i="1">
                <a:solidFill>
                  <a:srgbClr val="8A7A66"/>
                </a:solidFill>
                <a:latin typeface="Calibri"/>
              </a:rPr>
              <a:t>R = Responsible  ·  A = Accountable  ·  C = Consulted  ·  I = Informed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RESOURCE MANAGEMENT</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8C5A2E"/>
                </a:solidFill>
                <a:latin typeface="Georgia"/>
              </a:rPr>
              <a:t>Bottom-Up Budget Rollup</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11 / 24</a:t>
            </a:r>
          </a:p>
        </p:txBody>
      </p:sp>
      <p:graphicFrame>
        <p:nvGraphicFramePr>
          <p:cNvPr id="9" name="Table 8"/>
          <p:cNvGraphicFramePr>
            <a:graphicFrameLocks noGrp="1"/>
          </p:cNvGraphicFramePr>
          <p:nvPr/>
        </p:nvGraphicFramePr>
        <p:xfrm>
          <a:off x="8534186.5" y="10629900.0"/>
          <a:ext cx="103629406" cy="36347400.0"/>
        </p:xfrm>
        <a:graphic>
          <a:graphicData uri="http://schemas.openxmlformats.org/drawingml/2006/table">
            <a:tbl>
              <a:tblPr firstRow="1" bandRow="1">
                <a:tableStyleId>{5C22544A-7EE6-4342-B048-85BDC9FD1C3A}</a:tableStyleId>
              </a:tblPr>
              <a:tblGrid>
                <a:gridCol w="9280245"/>
                <a:gridCol w="52588057"/>
                <a:gridCol w="10826953"/>
                <a:gridCol w="30934151"/>
              </a:tblGrid>
              <a:tr h="2596242">
                <a:tc>
                  <a:txBody>
                    <a:bodyPr wrap="square"/>
                    <a:lstStyle/>
                    <a:p>
                      <a:pPr algn="l"/>
                      <a:r>
                        <a:rPr sz="1000">
                          <a:solidFill>
                            <a:srgbClr val="FFFFFF"/>
                          </a:solidFill>
                          <a:latin typeface="Calibri"/>
                        </a:rPr>
                        <a:t>WBS</a:t>
                      </a:r>
                    </a:p>
                  </a:txBody>
                  <a:tcPr>
                    <a:solidFill>
                      <a:srgbClr val="8C5A2E"/>
                    </a:solidFill>
                  </a:tcPr>
                </a:tc>
                <a:tc>
                  <a:txBody>
                    <a:bodyPr wrap="square"/>
                    <a:lstStyle/>
                    <a:p>
                      <a:pPr algn="l"/>
                      <a:r>
                        <a:rPr sz="1000">
                          <a:solidFill>
                            <a:srgbClr val="FFFFFF"/>
                          </a:solidFill>
                          <a:latin typeface="Calibri"/>
                        </a:rPr>
                        <a:t>Work Package</a:t>
                      </a:r>
                    </a:p>
                  </a:txBody>
                  <a:tcPr>
                    <a:solidFill>
                      <a:srgbClr val="8C5A2E"/>
                    </a:solidFill>
                  </a:tcPr>
                </a:tc>
                <a:tc>
                  <a:txBody>
                    <a:bodyPr wrap="square"/>
                    <a:lstStyle/>
                    <a:p>
                      <a:pPr algn="l"/>
                      <a:r>
                        <a:rPr sz="1000">
                          <a:solidFill>
                            <a:srgbClr val="FFFFFF"/>
                          </a:solidFill>
                          <a:latin typeface="Calibri"/>
                        </a:rPr>
                        <a:t>Hours</a:t>
                      </a:r>
                    </a:p>
                  </a:txBody>
                  <a:tcPr>
                    <a:solidFill>
                      <a:srgbClr val="8C5A2E"/>
                    </a:solidFill>
                  </a:tcPr>
                </a:tc>
                <a:tc>
                  <a:txBody>
                    <a:bodyPr wrap="square"/>
                    <a:lstStyle/>
                    <a:p>
                      <a:pPr algn="l"/>
                      <a:r>
                        <a:rPr sz="1000">
                          <a:solidFill>
                            <a:srgbClr val="FFFFFF"/>
                          </a:solidFill>
                          <a:latin typeface="Calibri"/>
                        </a:rPr>
                        <a:t>Cost (VND)</a:t>
                      </a:r>
                    </a:p>
                  </a:txBody>
                  <a:tcPr>
                    <a:solidFill>
                      <a:srgbClr val="8C5A2E"/>
                    </a:solidFill>
                  </a:tcPr>
                </a:tc>
              </a:tr>
              <a:tr h="2596242">
                <a:tc>
                  <a:txBody>
                    <a:bodyPr wrap="square"/>
                    <a:lstStyle/>
                    <a:p>
                      <a:pPr algn="l"/>
                      <a:r>
                        <a:rPr sz="1000">
                          <a:solidFill>
                            <a:srgbClr val="2B2419"/>
                          </a:solidFill>
                          <a:latin typeface="Calibri"/>
                        </a:rPr>
                        <a:t>1.1</a:t>
                      </a:r>
                    </a:p>
                  </a:txBody>
                  <a:tcPr>
                    <a:solidFill>
                      <a:srgbClr val="F5EFE6"/>
                    </a:solidFill>
                  </a:tcPr>
                </a:tc>
                <a:tc>
                  <a:txBody>
                    <a:bodyPr wrap="square"/>
                    <a:lstStyle/>
                    <a:p>
                      <a:pPr algn="l"/>
                      <a:r>
                        <a:rPr sz="1000">
                          <a:solidFill>
                            <a:srgbClr val="2B2419"/>
                          </a:solidFill>
                          <a:latin typeface="Calibri"/>
                        </a:rPr>
                        <a:t>Project Management</a:t>
                      </a:r>
                    </a:p>
                  </a:txBody>
                  <a:tcPr>
                    <a:solidFill>
                      <a:srgbClr val="F5EFE6"/>
                    </a:solidFill>
                  </a:tcPr>
                </a:tc>
                <a:tc>
                  <a:txBody>
                    <a:bodyPr wrap="square"/>
                    <a:lstStyle/>
                    <a:p>
                      <a:pPr algn="l"/>
                      <a:r>
                        <a:rPr sz="1000">
                          <a:solidFill>
                            <a:srgbClr val="2B2419"/>
                          </a:solidFill>
                          <a:latin typeface="Calibri"/>
                        </a:rPr>
                        <a:t>60</a:t>
                      </a:r>
                    </a:p>
                  </a:txBody>
                  <a:tcPr>
                    <a:solidFill>
                      <a:srgbClr val="F5EFE6"/>
                    </a:solidFill>
                  </a:tcPr>
                </a:tc>
                <a:tc>
                  <a:txBody>
                    <a:bodyPr wrap="square"/>
                    <a:lstStyle/>
                    <a:p>
                      <a:pPr algn="l"/>
                      <a:r>
                        <a:rPr sz="1000">
                          <a:solidFill>
                            <a:srgbClr val="2B2419"/>
                          </a:solidFill>
                          <a:latin typeface="Calibri"/>
                        </a:rPr>
                        <a:t>3,000,000</a:t>
                      </a:r>
                    </a:p>
                  </a:txBody>
                  <a:tcPr>
                    <a:solidFill>
                      <a:srgbClr val="F5EFE6"/>
                    </a:solidFill>
                  </a:tcPr>
                </a:tc>
              </a:tr>
              <a:tr h="2596242">
                <a:tc>
                  <a:txBody>
                    <a:bodyPr wrap="square"/>
                    <a:lstStyle/>
                    <a:p>
                      <a:pPr algn="l"/>
                      <a:r>
                        <a:rPr sz="1000">
                          <a:solidFill>
                            <a:srgbClr val="2B2419"/>
                          </a:solidFill>
                          <a:latin typeface="Calibri"/>
                        </a:rPr>
                        <a:t>1.2</a:t>
                      </a:r>
                    </a:p>
                  </a:txBody>
                  <a:tcPr>
                    <a:solidFill>
                      <a:srgbClr val="F5EFE6"/>
                    </a:solidFill>
                  </a:tcPr>
                </a:tc>
                <a:tc>
                  <a:txBody>
                    <a:bodyPr wrap="square"/>
                    <a:lstStyle/>
                    <a:p>
                      <a:pPr algn="l"/>
                      <a:r>
                        <a:rPr sz="1000">
                          <a:solidFill>
                            <a:srgbClr val="2B2419"/>
                          </a:solidFill>
                          <a:latin typeface="Calibri"/>
                        </a:rPr>
                        <a:t>Requirements &amp; Analysis</a:t>
                      </a:r>
                    </a:p>
                  </a:txBody>
                  <a:tcPr>
                    <a:solidFill>
                      <a:srgbClr val="F5EFE6"/>
                    </a:solidFill>
                  </a:tcPr>
                </a:tc>
                <a:tc>
                  <a:txBody>
                    <a:bodyPr wrap="square"/>
                    <a:lstStyle/>
                    <a:p>
                      <a:pPr algn="l"/>
                      <a:r>
                        <a:rPr sz="1000">
                          <a:solidFill>
                            <a:srgbClr val="2B2419"/>
                          </a:solidFill>
                          <a:latin typeface="Calibri"/>
                        </a:rPr>
                        <a:t>50</a:t>
                      </a:r>
                    </a:p>
                  </a:txBody>
                  <a:tcPr>
                    <a:solidFill>
                      <a:srgbClr val="F5EFE6"/>
                    </a:solidFill>
                  </a:tcPr>
                </a:tc>
                <a:tc>
                  <a:txBody>
                    <a:bodyPr wrap="square"/>
                    <a:lstStyle/>
                    <a:p>
                      <a:pPr algn="l"/>
                      <a:r>
                        <a:rPr sz="1000">
                          <a:solidFill>
                            <a:srgbClr val="2B2419"/>
                          </a:solidFill>
                          <a:latin typeface="Calibri"/>
                        </a:rPr>
                        <a:t>2,500,000</a:t>
                      </a:r>
                    </a:p>
                  </a:txBody>
                  <a:tcPr>
                    <a:solidFill>
                      <a:srgbClr val="F5EFE6"/>
                    </a:solidFill>
                  </a:tcPr>
                </a:tc>
              </a:tr>
              <a:tr h="2596242">
                <a:tc>
                  <a:txBody>
                    <a:bodyPr wrap="square"/>
                    <a:lstStyle/>
                    <a:p>
                      <a:pPr algn="l"/>
                      <a:r>
                        <a:rPr sz="1000">
                          <a:solidFill>
                            <a:srgbClr val="2B2419"/>
                          </a:solidFill>
                          <a:latin typeface="Calibri"/>
                        </a:rPr>
                        <a:t>1.3</a:t>
                      </a:r>
                    </a:p>
                  </a:txBody>
                  <a:tcPr>
                    <a:solidFill>
                      <a:srgbClr val="F5EFE6"/>
                    </a:solidFill>
                  </a:tcPr>
                </a:tc>
                <a:tc>
                  <a:txBody>
                    <a:bodyPr wrap="square"/>
                    <a:lstStyle/>
                    <a:p>
                      <a:pPr algn="l"/>
                      <a:r>
                        <a:rPr sz="1000">
                          <a:solidFill>
                            <a:srgbClr val="2B2419"/>
                          </a:solidFill>
                          <a:latin typeface="Calibri"/>
                        </a:rPr>
                        <a:t>System Design</a:t>
                      </a:r>
                    </a:p>
                  </a:txBody>
                  <a:tcPr>
                    <a:solidFill>
                      <a:srgbClr val="F5EFE6"/>
                    </a:solidFill>
                  </a:tcPr>
                </a:tc>
                <a:tc>
                  <a:txBody>
                    <a:bodyPr wrap="square"/>
                    <a:lstStyle/>
                    <a:p>
                      <a:pPr algn="l"/>
                      <a:r>
                        <a:rPr sz="1000">
                          <a:solidFill>
                            <a:srgbClr val="2B2419"/>
                          </a:solidFill>
                          <a:latin typeface="Calibri"/>
                        </a:rPr>
                        <a:t>80</a:t>
                      </a:r>
                    </a:p>
                  </a:txBody>
                  <a:tcPr>
                    <a:solidFill>
                      <a:srgbClr val="F5EFE6"/>
                    </a:solidFill>
                  </a:tcPr>
                </a:tc>
                <a:tc>
                  <a:txBody>
                    <a:bodyPr wrap="square"/>
                    <a:lstStyle/>
                    <a:p>
                      <a:pPr algn="l"/>
                      <a:r>
                        <a:rPr sz="1000">
                          <a:solidFill>
                            <a:srgbClr val="2B2419"/>
                          </a:solidFill>
                          <a:latin typeface="Calibri"/>
                        </a:rPr>
                        <a:t>4,000,000</a:t>
                      </a:r>
                    </a:p>
                  </a:txBody>
                  <a:tcPr>
                    <a:solidFill>
                      <a:srgbClr val="F5EFE6"/>
                    </a:solidFill>
                  </a:tcPr>
                </a:tc>
              </a:tr>
              <a:tr h="2596242">
                <a:tc>
                  <a:txBody>
                    <a:bodyPr wrap="square"/>
                    <a:lstStyle/>
                    <a:p>
                      <a:pPr algn="l"/>
                      <a:r>
                        <a:rPr sz="1000">
                          <a:solidFill>
                            <a:srgbClr val="2B2419"/>
                          </a:solidFill>
                          <a:latin typeface="Calibri"/>
                        </a:rPr>
                        <a:t>1.4</a:t>
                      </a:r>
                    </a:p>
                  </a:txBody>
                  <a:tcPr>
                    <a:solidFill>
                      <a:srgbClr val="F5EFE6"/>
                    </a:solidFill>
                  </a:tcPr>
                </a:tc>
                <a:tc>
                  <a:txBody>
                    <a:bodyPr wrap="square"/>
                    <a:lstStyle/>
                    <a:p>
                      <a:pPr algn="l"/>
                      <a:r>
                        <a:rPr sz="1000">
                          <a:solidFill>
                            <a:srgbClr val="2B2419"/>
                          </a:solidFill>
                          <a:latin typeface="Calibri"/>
                        </a:rPr>
                        <a:t>Development</a:t>
                      </a:r>
                    </a:p>
                  </a:txBody>
                  <a:tcPr>
                    <a:solidFill>
                      <a:srgbClr val="F5EFE6"/>
                    </a:solidFill>
                  </a:tcPr>
                </a:tc>
                <a:tc>
                  <a:txBody>
                    <a:bodyPr wrap="square"/>
                    <a:lstStyle/>
                    <a:p>
                      <a:pPr algn="l"/>
                      <a:r>
                        <a:rPr sz="1000">
                          <a:solidFill>
                            <a:srgbClr val="2B2419"/>
                          </a:solidFill>
                          <a:latin typeface="Calibri"/>
                        </a:rPr>
                        <a:t>180</a:t>
                      </a:r>
                    </a:p>
                  </a:txBody>
                  <a:tcPr>
                    <a:solidFill>
                      <a:srgbClr val="F5EFE6"/>
                    </a:solidFill>
                  </a:tcPr>
                </a:tc>
                <a:tc>
                  <a:txBody>
                    <a:bodyPr wrap="square"/>
                    <a:lstStyle/>
                    <a:p>
                      <a:pPr algn="l"/>
                      <a:r>
                        <a:rPr sz="1000">
                          <a:solidFill>
                            <a:srgbClr val="2B2419"/>
                          </a:solidFill>
                          <a:latin typeface="Calibri"/>
                        </a:rPr>
                        <a:t>9,000,000</a:t>
                      </a:r>
                    </a:p>
                  </a:txBody>
                  <a:tcPr>
                    <a:solidFill>
                      <a:srgbClr val="F5EFE6"/>
                    </a:solidFill>
                  </a:tcPr>
                </a:tc>
              </a:tr>
              <a:tr h="2596242">
                <a:tc>
                  <a:txBody>
                    <a:bodyPr wrap="square"/>
                    <a:lstStyle/>
                    <a:p>
                      <a:pPr algn="l"/>
                      <a:r>
                        <a:rPr sz="1000">
                          <a:solidFill>
                            <a:srgbClr val="2B2419"/>
                          </a:solidFill>
                          <a:latin typeface="Calibri"/>
                        </a:rPr>
                        <a:t>1.5</a:t>
                      </a:r>
                    </a:p>
                  </a:txBody>
                  <a:tcPr>
                    <a:solidFill>
                      <a:srgbClr val="F5EFE6"/>
                    </a:solidFill>
                  </a:tcPr>
                </a:tc>
                <a:tc>
                  <a:txBody>
                    <a:bodyPr wrap="square"/>
                    <a:lstStyle/>
                    <a:p>
                      <a:pPr algn="l"/>
                      <a:r>
                        <a:rPr sz="1000">
                          <a:solidFill>
                            <a:srgbClr val="2B2419"/>
                          </a:solidFill>
                          <a:latin typeface="Calibri"/>
                        </a:rPr>
                        <a:t>Testing &amp; QA</a:t>
                      </a:r>
                    </a:p>
                  </a:txBody>
                  <a:tcPr>
                    <a:solidFill>
                      <a:srgbClr val="F5EFE6"/>
                    </a:solidFill>
                  </a:tcPr>
                </a:tc>
                <a:tc>
                  <a:txBody>
                    <a:bodyPr wrap="square"/>
                    <a:lstStyle/>
                    <a:p>
                      <a:pPr algn="l"/>
                      <a:r>
                        <a:rPr sz="1000">
                          <a:solidFill>
                            <a:srgbClr val="2B2419"/>
                          </a:solidFill>
                          <a:latin typeface="Calibri"/>
                        </a:rPr>
                        <a:t>60</a:t>
                      </a:r>
                    </a:p>
                  </a:txBody>
                  <a:tcPr>
                    <a:solidFill>
                      <a:srgbClr val="F5EFE6"/>
                    </a:solidFill>
                  </a:tcPr>
                </a:tc>
                <a:tc>
                  <a:txBody>
                    <a:bodyPr wrap="square"/>
                    <a:lstStyle/>
                    <a:p>
                      <a:pPr algn="l"/>
                      <a:r>
                        <a:rPr sz="1000">
                          <a:solidFill>
                            <a:srgbClr val="2B2419"/>
                          </a:solidFill>
                          <a:latin typeface="Calibri"/>
                        </a:rPr>
                        <a:t>3,000,000</a:t>
                      </a:r>
                    </a:p>
                  </a:txBody>
                  <a:tcPr>
                    <a:solidFill>
                      <a:srgbClr val="F5EFE6"/>
                    </a:solidFill>
                  </a:tcPr>
                </a:tc>
              </a:tr>
              <a:tr h="2596242">
                <a:tc>
                  <a:txBody>
                    <a:bodyPr wrap="square"/>
                    <a:lstStyle/>
                    <a:p>
                      <a:pPr algn="l"/>
                      <a:r>
                        <a:rPr sz="1000">
                          <a:solidFill>
                            <a:srgbClr val="2B2419"/>
                          </a:solidFill>
                          <a:latin typeface="Calibri"/>
                        </a:rPr>
                        <a:t>1.6</a:t>
                      </a:r>
                    </a:p>
                  </a:txBody>
                  <a:tcPr>
                    <a:solidFill>
                      <a:srgbClr val="F5EFE6"/>
                    </a:solidFill>
                  </a:tcPr>
                </a:tc>
                <a:tc>
                  <a:txBody>
                    <a:bodyPr wrap="square"/>
                    <a:lstStyle/>
                    <a:p>
                      <a:pPr algn="l"/>
                      <a:r>
                        <a:rPr sz="1000">
                          <a:solidFill>
                            <a:srgbClr val="2B2419"/>
                          </a:solidFill>
                          <a:latin typeface="Calibri"/>
                        </a:rPr>
                        <a:t>Documentation</a:t>
                      </a:r>
                    </a:p>
                  </a:txBody>
                  <a:tcPr>
                    <a:solidFill>
                      <a:srgbClr val="F5EFE6"/>
                    </a:solidFill>
                  </a:tcPr>
                </a:tc>
                <a:tc>
                  <a:txBody>
                    <a:bodyPr wrap="square"/>
                    <a:lstStyle/>
                    <a:p>
                      <a:pPr algn="l"/>
                      <a:r>
                        <a:rPr sz="1000">
                          <a:solidFill>
                            <a:srgbClr val="2B2419"/>
                          </a:solidFill>
                          <a:latin typeface="Calibri"/>
                        </a:rPr>
                        <a:t>30</a:t>
                      </a:r>
                    </a:p>
                  </a:txBody>
                  <a:tcPr>
                    <a:solidFill>
                      <a:srgbClr val="F5EFE6"/>
                    </a:solidFill>
                  </a:tcPr>
                </a:tc>
                <a:tc>
                  <a:txBody>
                    <a:bodyPr wrap="square"/>
                    <a:lstStyle/>
                    <a:p>
                      <a:pPr algn="l"/>
                      <a:r>
                        <a:rPr sz="1000">
                          <a:solidFill>
                            <a:srgbClr val="2B2419"/>
                          </a:solidFill>
                          <a:latin typeface="Calibri"/>
                        </a:rPr>
                        <a:t>1,500,000</a:t>
                      </a:r>
                    </a:p>
                  </a:txBody>
                  <a:tcPr>
                    <a:solidFill>
                      <a:srgbClr val="F5EFE6"/>
                    </a:solidFill>
                  </a:tcPr>
                </a:tc>
              </a:tr>
              <a:tr h="2596242">
                <a:tc>
                  <a:txBody>
                    <a:bodyPr wrap="square"/>
                    <a:lstStyle/>
                    <a:p>
                      <a:pPr algn="l"/>
                      <a:r>
                        <a:rPr sz="1000">
                          <a:solidFill>
                            <a:srgbClr val="2B2419"/>
                          </a:solidFill>
                          <a:latin typeface="Calibri"/>
                        </a:rPr>
                        <a:t>1.7</a:t>
                      </a:r>
                    </a:p>
                  </a:txBody>
                  <a:tcPr>
                    <a:solidFill>
                      <a:srgbClr val="F5EFE6"/>
                    </a:solidFill>
                  </a:tcPr>
                </a:tc>
                <a:tc>
                  <a:txBody>
                    <a:bodyPr wrap="square"/>
                    <a:lstStyle/>
                    <a:p>
                      <a:pPr algn="l"/>
                      <a:r>
                        <a:rPr sz="1000">
                          <a:solidFill>
                            <a:srgbClr val="2B2419"/>
                          </a:solidFill>
                          <a:latin typeface="Calibri"/>
                        </a:rPr>
                        <a:t>Presentation &amp; Submission</a:t>
                      </a:r>
                    </a:p>
                  </a:txBody>
                  <a:tcPr>
                    <a:solidFill>
                      <a:srgbClr val="F5EFE6"/>
                    </a:solidFill>
                  </a:tcPr>
                </a:tc>
                <a:tc>
                  <a:txBody>
                    <a:bodyPr wrap="square"/>
                    <a:lstStyle/>
                    <a:p>
                      <a:pPr algn="l"/>
                      <a:r>
                        <a:rPr sz="1000">
                          <a:solidFill>
                            <a:srgbClr val="2B2419"/>
                          </a:solidFill>
                          <a:latin typeface="Calibri"/>
                        </a:rPr>
                        <a:t>20</a:t>
                      </a:r>
                    </a:p>
                  </a:txBody>
                  <a:tcPr>
                    <a:solidFill>
                      <a:srgbClr val="F5EFE6"/>
                    </a:solidFill>
                  </a:tcPr>
                </a:tc>
                <a:tc>
                  <a:txBody>
                    <a:bodyPr wrap="square"/>
                    <a:lstStyle/>
                    <a:p>
                      <a:pPr algn="l"/>
                      <a:r>
                        <a:rPr sz="1000">
                          <a:solidFill>
                            <a:srgbClr val="2B2419"/>
                          </a:solidFill>
                          <a:latin typeface="Calibri"/>
                        </a:rPr>
                        <a:t>1,000,000</a:t>
                      </a:r>
                    </a:p>
                  </a:txBody>
                  <a:tcPr>
                    <a:solidFill>
                      <a:srgbClr val="F5EFE6"/>
                    </a:solidFill>
                  </a:tcPr>
                </a:tc>
              </a:tr>
              <a:tr h="2596242">
                <a:tc>
                  <a:txBody>
                    <a:bodyPr wrap="square"/>
                    <a:lstStyle/>
                    <a:p>
                      <a:pPr algn="l"/>
                      <a:r>
                        <a:rPr sz="1000">
                          <a:solidFill>
                            <a:srgbClr val="2B2419"/>
                          </a:solidFill>
                          <a:latin typeface="Calibri"/>
                        </a:rPr>
                        <a:t>LABOR</a:t>
                      </a:r>
                    </a:p>
                  </a:txBody>
                  <a:tcPr>
                    <a:solidFill>
                      <a:srgbClr val="EDE4D3"/>
                    </a:solidFill>
                  </a:tcPr>
                </a:tc>
                <a:tc>
                  <a:txBody>
                    <a:bodyPr wrap="square"/>
                    <a:lstStyle/>
                    <a:p>
                      <a:pPr algn="l"/>
                      <a:r>
                        <a:rPr sz="1000">
                          <a:solidFill>
                            <a:srgbClr val="2B2419"/>
                          </a:solidFill>
                          <a:latin typeface="Calibri"/>
                        </a:rPr>
                        <a:t>Subtotal (480 h × 50K)</a:t>
                      </a:r>
                    </a:p>
                  </a:txBody>
                  <a:tcPr>
                    <a:solidFill>
                      <a:srgbClr val="EDE4D3"/>
                    </a:solidFill>
                  </a:tcPr>
                </a:tc>
                <a:tc>
                  <a:txBody>
                    <a:bodyPr wrap="square"/>
                    <a:lstStyle/>
                    <a:p>
                      <a:pPr algn="l"/>
                      <a:r>
                        <a:rPr sz="1000">
                          <a:solidFill>
                            <a:srgbClr val="2B2419"/>
                          </a:solidFill>
                          <a:latin typeface="Calibri"/>
                        </a:rPr>
                        <a:t>480</a:t>
                      </a:r>
                    </a:p>
                  </a:txBody>
                  <a:tcPr>
                    <a:solidFill>
                      <a:srgbClr val="EDE4D3"/>
                    </a:solidFill>
                  </a:tcPr>
                </a:tc>
                <a:tc>
                  <a:txBody>
                    <a:bodyPr wrap="square"/>
                    <a:lstStyle/>
                    <a:p>
                      <a:pPr algn="l"/>
                      <a:r>
                        <a:rPr sz="1000">
                          <a:solidFill>
                            <a:srgbClr val="2B2419"/>
                          </a:solidFill>
                          <a:latin typeface="Calibri"/>
                        </a:rPr>
                        <a:t>24,000,000</a:t>
                      </a:r>
                    </a:p>
                  </a:txBody>
                  <a:tcPr>
                    <a:solidFill>
                      <a:srgbClr val="EDE4D3"/>
                    </a:solidFill>
                  </a:tcPr>
                </a:tc>
              </a:tr>
              <a:tr h="2596242">
                <a:tc>
                  <a:txBody>
                    <a:bodyPr wrap="square"/>
                    <a:lstStyle/>
                    <a:p>
                      <a:pPr algn="l"/>
                      <a:r>
                        <a:rPr sz="1000">
                          <a:solidFill>
                            <a:srgbClr val="2B2419"/>
                          </a:solidFill>
                          <a:latin typeface="Calibri"/>
                        </a:rPr>
                        <a:t/>
                      </a:r>
                    </a:p>
                  </a:txBody>
                  <a:tcPr>
                    <a:solidFill>
                      <a:srgbClr val="F5EFE6"/>
                    </a:solidFill>
                  </a:tcPr>
                </a:tc>
                <a:tc>
                  <a:txBody>
                    <a:bodyPr wrap="square"/>
                    <a:lstStyle/>
                    <a:p>
                      <a:pPr algn="l"/>
                      <a:r>
                        <a:rPr sz="1000">
                          <a:solidFill>
                            <a:srgbClr val="2B2419"/>
                          </a:solidFill>
                          <a:latin typeface="Calibri"/>
                        </a:rPr>
                        <a:t>+ Overhead 20%</a:t>
                      </a:r>
                    </a:p>
                  </a:txBody>
                  <a:tcPr>
                    <a:solidFill>
                      <a:srgbClr val="F5EFE6"/>
                    </a:solidFill>
                  </a:tcPr>
                </a:tc>
                <a:tc>
                  <a:txBody>
                    <a:bodyPr wrap="square"/>
                    <a:lstStyle/>
                    <a:p>
                      <a:pPr algn="l"/>
                      <a:r>
                        <a:rPr sz="1000">
                          <a:solidFill>
                            <a:srgbClr val="2B2419"/>
                          </a:solidFill>
                          <a:latin typeface="Calibri"/>
                        </a:rPr>
                        <a:t/>
                      </a:r>
                    </a:p>
                  </a:txBody>
                  <a:tcPr>
                    <a:solidFill>
                      <a:srgbClr val="F5EFE6"/>
                    </a:solidFill>
                  </a:tcPr>
                </a:tc>
                <a:tc>
                  <a:txBody>
                    <a:bodyPr wrap="square"/>
                    <a:lstStyle/>
                    <a:p>
                      <a:pPr algn="l"/>
                      <a:r>
                        <a:rPr sz="1000">
                          <a:solidFill>
                            <a:srgbClr val="2B2419"/>
                          </a:solidFill>
                          <a:latin typeface="Calibri"/>
                        </a:rPr>
                        <a:t>4,800,000</a:t>
                      </a:r>
                    </a:p>
                  </a:txBody>
                  <a:tcPr>
                    <a:solidFill>
                      <a:srgbClr val="F5EFE6"/>
                    </a:solidFill>
                  </a:tcPr>
                </a:tc>
              </a:tr>
              <a:tr h="2596242">
                <a:tc>
                  <a:txBody>
                    <a:bodyPr wrap="square"/>
                    <a:lstStyle/>
                    <a:p>
                      <a:pPr algn="l"/>
                      <a:r>
                        <a:rPr sz="1000">
                          <a:solidFill>
                            <a:srgbClr val="2B2419"/>
                          </a:solidFill>
                          <a:latin typeface="Calibri"/>
                        </a:rPr>
                        <a:t/>
                      </a:r>
                    </a:p>
                  </a:txBody>
                  <a:tcPr>
                    <a:solidFill>
                      <a:srgbClr val="F5EFE6"/>
                    </a:solidFill>
                  </a:tcPr>
                </a:tc>
                <a:tc>
                  <a:txBody>
                    <a:bodyPr wrap="square"/>
                    <a:lstStyle/>
                    <a:p>
                      <a:pPr algn="l"/>
                      <a:r>
                        <a:rPr sz="1000">
                          <a:solidFill>
                            <a:srgbClr val="2B2419"/>
                          </a:solidFill>
                          <a:latin typeface="Calibri"/>
                        </a:rPr>
                        <a:t>+ G&amp;A 10% (reallocated)</a:t>
                      </a:r>
                    </a:p>
                  </a:txBody>
                  <a:tcPr>
                    <a:solidFill>
                      <a:srgbClr val="F5EFE6"/>
                    </a:solidFill>
                  </a:tcPr>
                </a:tc>
                <a:tc>
                  <a:txBody>
                    <a:bodyPr wrap="square"/>
                    <a:lstStyle/>
                    <a:p>
                      <a:pPr algn="l"/>
                      <a:r>
                        <a:rPr sz="1000">
                          <a:solidFill>
                            <a:srgbClr val="2B2419"/>
                          </a:solidFill>
                          <a:latin typeface="Calibri"/>
                        </a:rPr>
                        <a:t/>
                      </a:r>
                    </a:p>
                  </a:txBody>
                  <a:tcPr>
                    <a:solidFill>
                      <a:srgbClr val="F5EFE6"/>
                    </a:solidFill>
                  </a:tcPr>
                </a:tc>
                <a:tc>
                  <a:txBody>
                    <a:bodyPr wrap="square"/>
                    <a:lstStyle/>
                    <a:p>
                      <a:pPr algn="l"/>
                      <a:r>
                        <a:rPr sz="1000">
                          <a:solidFill>
                            <a:srgbClr val="2B2419"/>
                          </a:solidFill>
                          <a:latin typeface="Calibri"/>
                        </a:rPr>
                        <a:t>1,720,000</a:t>
                      </a:r>
                    </a:p>
                  </a:txBody>
                  <a:tcPr>
                    <a:solidFill>
                      <a:srgbClr val="F5EFE6"/>
                    </a:solidFill>
                  </a:tcPr>
                </a:tc>
              </a:tr>
              <a:tr h="2596242">
                <a:tc>
                  <a:txBody>
                    <a:bodyPr wrap="square"/>
                    <a:lstStyle/>
                    <a:p>
                      <a:pPr algn="l"/>
                      <a:r>
                        <a:rPr sz="1000">
                          <a:solidFill>
                            <a:srgbClr val="2B2419"/>
                          </a:solidFill>
                          <a:latin typeface="Calibri"/>
                        </a:rPr>
                        <a:t/>
                      </a:r>
                    </a:p>
                  </a:txBody>
                  <a:tcPr>
                    <a:solidFill>
                      <a:srgbClr val="F5EFE6"/>
                    </a:solidFill>
                  </a:tcPr>
                </a:tc>
                <a:tc>
                  <a:txBody>
                    <a:bodyPr wrap="square"/>
                    <a:lstStyle/>
                    <a:p>
                      <a:pPr algn="l"/>
                      <a:r>
                        <a:rPr sz="1000">
                          <a:solidFill>
                            <a:srgbClr val="2B2419"/>
                          </a:solidFill>
                          <a:latin typeface="Calibri"/>
                        </a:rPr>
                        <a:t>+ Contingency 10%</a:t>
                      </a:r>
                    </a:p>
                  </a:txBody>
                  <a:tcPr>
                    <a:solidFill>
                      <a:srgbClr val="F5EFE6"/>
                    </a:solidFill>
                  </a:tcPr>
                </a:tc>
                <a:tc>
                  <a:txBody>
                    <a:bodyPr wrap="square"/>
                    <a:lstStyle/>
                    <a:p>
                      <a:pPr algn="l"/>
                      <a:r>
                        <a:rPr sz="1000">
                          <a:solidFill>
                            <a:srgbClr val="2B2419"/>
                          </a:solidFill>
                          <a:latin typeface="Calibri"/>
                        </a:rPr>
                        <a:t/>
                      </a:r>
                    </a:p>
                  </a:txBody>
                  <a:tcPr>
                    <a:solidFill>
                      <a:srgbClr val="F5EFE6"/>
                    </a:solidFill>
                  </a:tcPr>
                </a:tc>
                <a:tc>
                  <a:txBody>
                    <a:bodyPr wrap="square"/>
                    <a:lstStyle/>
                    <a:p>
                      <a:pPr algn="l"/>
                      <a:r>
                        <a:rPr sz="1000">
                          <a:solidFill>
                            <a:srgbClr val="2B2419"/>
                          </a:solidFill>
                          <a:latin typeface="Calibri"/>
                        </a:rPr>
                        <a:t>2,400,000</a:t>
                      </a:r>
                    </a:p>
                  </a:txBody>
                  <a:tcPr>
                    <a:solidFill>
                      <a:srgbClr val="F5EFE6"/>
                    </a:solidFill>
                  </a:tcPr>
                </a:tc>
              </a:tr>
              <a:tr h="2596242">
                <a:tc>
                  <a:txBody>
                    <a:bodyPr wrap="square"/>
                    <a:lstStyle/>
                    <a:p>
                      <a:pPr algn="l"/>
                      <a:r>
                        <a:rPr sz="1000">
                          <a:solidFill>
                            <a:srgbClr val="2B2419"/>
                          </a:solidFill>
                          <a:latin typeface="Calibri"/>
                        </a:rPr>
                        <a:t/>
                      </a:r>
                    </a:p>
                  </a:txBody>
                  <a:tcPr>
                    <a:solidFill>
                      <a:srgbClr val="F5EFE6"/>
                    </a:solidFill>
                  </a:tcPr>
                </a:tc>
                <a:tc>
                  <a:txBody>
                    <a:bodyPr wrap="square"/>
                    <a:lstStyle/>
                    <a:p>
                      <a:pPr algn="l"/>
                      <a:r>
                        <a:rPr sz="1000">
                          <a:solidFill>
                            <a:srgbClr val="2B2419"/>
                          </a:solidFill>
                          <a:latin typeface="Calibri"/>
                        </a:rPr>
                        <a:t>+ Management Reserve</a:t>
                      </a:r>
                    </a:p>
                  </a:txBody>
                  <a:tcPr>
                    <a:solidFill>
                      <a:srgbClr val="F5EFE6"/>
                    </a:solidFill>
                  </a:tcPr>
                </a:tc>
                <a:tc>
                  <a:txBody>
                    <a:bodyPr wrap="square"/>
                    <a:lstStyle/>
                    <a:p>
                      <a:pPr algn="l"/>
                      <a:r>
                        <a:rPr sz="1000">
                          <a:solidFill>
                            <a:srgbClr val="2B2419"/>
                          </a:solidFill>
                          <a:latin typeface="Calibri"/>
                        </a:rPr>
                        <a:t/>
                      </a:r>
                    </a:p>
                  </a:txBody>
                  <a:tcPr>
                    <a:solidFill>
                      <a:srgbClr val="F5EFE6"/>
                    </a:solidFill>
                  </a:tcPr>
                </a:tc>
                <a:tc>
                  <a:txBody>
                    <a:bodyPr wrap="square"/>
                    <a:lstStyle/>
                    <a:p>
                      <a:pPr algn="l"/>
                      <a:r>
                        <a:rPr sz="1000">
                          <a:solidFill>
                            <a:srgbClr val="2B2419"/>
                          </a:solidFill>
                          <a:latin typeface="Calibri"/>
                        </a:rPr>
                        <a:t>680,000</a:t>
                      </a:r>
                    </a:p>
                  </a:txBody>
                  <a:tcPr>
                    <a:solidFill>
                      <a:srgbClr val="F5EFE6"/>
                    </a:solidFill>
                  </a:tcPr>
                </a:tc>
              </a:tr>
              <a:tr h="2596254">
                <a:tc>
                  <a:txBody>
                    <a:bodyPr wrap="square"/>
                    <a:lstStyle/>
                    <a:p>
                      <a:pPr algn="l"/>
                      <a:r>
                        <a:rPr sz="1000">
                          <a:solidFill>
                            <a:srgbClr val="2B2419"/>
                          </a:solidFill>
                          <a:latin typeface="Calibri"/>
                        </a:rPr>
                        <a:t>BAC</a:t>
                      </a:r>
                    </a:p>
                  </a:txBody>
                  <a:tcPr>
                    <a:solidFill>
                      <a:srgbClr val="E8D5BC"/>
                    </a:solidFill>
                  </a:tcPr>
                </a:tc>
                <a:tc>
                  <a:txBody>
                    <a:bodyPr wrap="square"/>
                    <a:lstStyle/>
                    <a:p>
                      <a:pPr algn="l"/>
                      <a:r>
                        <a:rPr sz="1000">
                          <a:solidFill>
                            <a:srgbClr val="2B2419"/>
                          </a:solidFill>
                          <a:latin typeface="Calibri"/>
                        </a:rPr>
                        <a:t>Budget at Completion</a:t>
                      </a:r>
                    </a:p>
                  </a:txBody>
                  <a:tcPr>
                    <a:solidFill>
                      <a:srgbClr val="E8D5BC"/>
                    </a:solidFill>
                  </a:tcPr>
                </a:tc>
                <a:tc>
                  <a:txBody>
                    <a:bodyPr wrap="square"/>
                    <a:lstStyle/>
                    <a:p>
                      <a:pPr algn="l"/>
                      <a:r>
                        <a:rPr sz="1000">
                          <a:solidFill>
                            <a:srgbClr val="2B2419"/>
                          </a:solidFill>
                          <a:latin typeface="Calibri"/>
                        </a:rPr>
                        <a:t/>
                      </a:r>
                    </a:p>
                  </a:txBody>
                  <a:tcPr>
                    <a:solidFill>
                      <a:srgbClr val="E8D5BC"/>
                    </a:solidFill>
                  </a:tcPr>
                </a:tc>
                <a:tc>
                  <a:txBody>
                    <a:bodyPr wrap="square"/>
                    <a:lstStyle/>
                    <a:p>
                      <a:pPr algn="l"/>
                      <a:r>
                        <a:rPr sz="1000">
                          <a:solidFill>
                            <a:srgbClr val="2B2419"/>
                          </a:solidFill>
                          <a:latin typeface="Calibri"/>
                        </a:rPr>
                        <a:t>33,600,000 VND</a:t>
                      </a:r>
                    </a:p>
                  </a:txBody>
                  <a:tcPr>
                    <a:solidFill>
                      <a:srgbClr val="E8D5BC"/>
                    </a:solidFill>
                  </a:tcPr>
                </a:tc>
              </a:tr>
            </a:tbl>
          </a:graphicData>
        </a:graphic>
      </p:graphicFrame>
      <p:sp>
        <p:nvSpPr>
          <p:cNvPr id="10" name="Rectangle 9"/>
          <p:cNvSpPr/>
          <p:nvPr/>
        </p:nvSpPr>
        <p:spPr>
          <a:xfrm>
            <a:off x="9" y="1"/>
            <a:ext cx="3" cy="2"/>
          </a:xfrm>
          <a:prstGeom prst="rect">
            <a:avLst/>
          </a:prstGeom>
          <a:solidFill>
            <a:srgbClr val="8C5A2E"/>
          </a:solidFill>
          <a:ln w="12700">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 y="1"/>
            <a:ext cx="3" cy="3429000"/>
          </a:xfrm>
          <a:prstGeom prst="rect">
            <a:avLst/>
          </a:prstGeom>
          <a:noFill/>
        </p:spPr>
        <p:txBody>
          <a:bodyPr wrap="square">
            <a:spAutoFit/>
          </a:bodyPr>
          <a:lstStyle/>
          <a:p>
            <a:pPr algn="ctr"/>
            <a:r>
              <a:rPr sz="1600" b="1" i="0">
                <a:solidFill>
                  <a:srgbClr val="FFFFFF"/>
                </a:solidFill>
                <a:latin typeface="Georgia"/>
              </a:rPr>
              <a:t>BAC</a:t>
            </a:r>
          </a:p>
        </p:txBody>
      </p:sp>
      <p:sp>
        <p:nvSpPr>
          <p:cNvPr id="12" name="TextBox 11"/>
          <p:cNvSpPr txBox="1"/>
          <p:nvPr/>
        </p:nvSpPr>
        <p:spPr>
          <a:xfrm>
            <a:off x="9" y="2"/>
            <a:ext cx="3" cy="5486400"/>
          </a:xfrm>
          <a:prstGeom prst="rect">
            <a:avLst/>
          </a:prstGeom>
          <a:noFill/>
        </p:spPr>
        <p:txBody>
          <a:bodyPr wrap="square">
            <a:spAutoFit/>
          </a:bodyPr>
          <a:lstStyle/>
          <a:p>
            <a:pPr algn="ctr"/>
            <a:r>
              <a:rPr sz="3000" b="1" i="0">
                <a:solidFill>
                  <a:srgbClr val="FFFFFF"/>
                </a:solidFill>
                <a:latin typeface="Georgia"/>
              </a:rPr>
              <a:t>33,600,000</a:t>
            </a:r>
          </a:p>
        </p:txBody>
      </p:sp>
      <p:sp>
        <p:nvSpPr>
          <p:cNvPr id="13" name="TextBox 12"/>
          <p:cNvSpPr txBox="1"/>
          <p:nvPr/>
        </p:nvSpPr>
        <p:spPr>
          <a:xfrm>
            <a:off x="9" y="2"/>
            <a:ext cx="3" cy="2743200"/>
          </a:xfrm>
          <a:prstGeom prst="rect">
            <a:avLst/>
          </a:prstGeom>
          <a:noFill/>
        </p:spPr>
        <p:txBody>
          <a:bodyPr wrap="square">
            <a:spAutoFit/>
          </a:bodyPr>
          <a:lstStyle/>
          <a:p>
            <a:pPr algn="ctr"/>
            <a:r>
              <a:rPr sz="1400" b="0" i="0">
                <a:solidFill>
                  <a:srgbClr val="FFFFFF"/>
                </a:solidFill>
                <a:latin typeface="Calibri"/>
              </a:rPr>
              <a:t>VND</a:t>
            </a:r>
          </a:p>
        </p:txBody>
      </p:sp>
      <p:sp>
        <p:nvSpPr>
          <p:cNvPr id="14" name="TextBox 13"/>
          <p:cNvSpPr txBox="1"/>
          <p:nvPr/>
        </p:nvSpPr>
        <p:spPr>
          <a:xfrm>
            <a:off x="9" y="3"/>
            <a:ext cx="3" cy="2400300"/>
          </a:xfrm>
          <a:prstGeom prst="rect">
            <a:avLst/>
          </a:prstGeom>
          <a:noFill/>
        </p:spPr>
        <p:txBody>
          <a:bodyPr wrap="square">
            <a:spAutoFit/>
          </a:bodyPr>
          <a:lstStyle/>
          <a:p>
            <a:pPr algn="ctr"/>
            <a:r>
              <a:rPr sz="900" b="0" i="1">
                <a:solidFill>
                  <a:srgbClr val="FFFFFF"/>
                </a:solidFill>
                <a:latin typeface="Calibri"/>
              </a:rPr>
              <a:t>480 hours × 50,000/h
+ overhead + contingency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RESOURCE MANAGEMENT</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Time-Phased Budget — Planned Value Curve</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12 / 24</a:t>
            </a:r>
          </a:p>
        </p:txBody>
      </p:sp>
      <p:sp>
        <p:nvSpPr>
          <p:cNvPr id="9" name="Rectangle 8"/>
          <p:cNvSpPr/>
          <p:nvPr/>
        </p:nvSpPr>
        <p:spPr>
          <a:xfrm>
            <a:off x="1" y="5"/>
            <a:ext cx="8" cy="20574"/>
          </a:xfrm>
          <a:prstGeom prst="rect">
            <a:avLst/>
          </a:prstGeom>
          <a:noFill/>
          <a:ln w="9525">
            <a:solidFill>
              <a:srgbClr val="2B2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 y="5"/>
            <a:ext cx="36575" cy="-28117799"/>
          </a:xfrm>
          <a:prstGeom prst="rect">
            <a:avLst/>
          </a:prstGeom>
          <a:noFill/>
          <a:ln w="9525">
            <a:solidFill>
              <a:srgbClr val="2B2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3771" y="5"/>
            <a:ext cx="5120511" cy="1645920"/>
          </a:xfrm>
          <a:prstGeom prst="rect">
            <a:avLst/>
          </a:prstGeom>
          <a:noFill/>
        </p:spPr>
        <p:txBody>
          <a:bodyPr wrap="square">
            <a:spAutoFit/>
          </a:bodyPr>
          <a:lstStyle/>
          <a:p>
            <a:pPr algn="r"/>
            <a:r>
              <a:rPr sz="900" b="0" i="0">
                <a:solidFill>
                  <a:srgbClr val="8A7A66"/>
                </a:solidFill>
                <a:latin typeface="Calibri"/>
              </a:rPr>
              <a:t>0%</a:t>
            </a:r>
          </a:p>
        </p:txBody>
      </p:sp>
      <p:sp>
        <p:nvSpPr>
          <p:cNvPr id="12" name="Rectangle 11"/>
          <p:cNvSpPr/>
          <p:nvPr/>
        </p:nvSpPr>
        <p:spPr>
          <a:xfrm>
            <a:off x="1" y="5"/>
            <a:ext cx="8" cy="20574"/>
          </a:xfrm>
          <a:prstGeom prst="rect">
            <a:avLst/>
          </a:prstGeom>
          <a:noFill/>
          <a:ln w="381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3771" y="4"/>
            <a:ext cx="5120511" cy="1645920"/>
          </a:xfrm>
          <a:prstGeom prst="rect">
            <a:avLst/>
          </a:prstGeom>
          <a:noFill/>
        </p:spPr>
        <p:txBody>
          <a:bodyPr wrap="square">
            <a:spAutoFit/>
          </a:bodyPr>
          <a:lstStyle/>
          <a:p>
            <a:pPr algn="r"/>
            <a:r>
              <a:rPr sz="900" b="0" i="0">
                <a:solidFill>
                  <a:srgbClr val="8A7A66"/>
                </a:solidFill>
                <a:latin typeface="Calibri"/>
              </a:rPr>
              <a:t>25%</a:t>
            </a:r>
          </a:p>
        </p:txBody>
      </p:sp>
      <p:sp>
        <p:nvSpPr>
          <p:cNvPr id="14" name="Rectangle 13"/>
          <p:cNvSpPr/>
          <p:nvPr/>
        </p:nvSpPr>
        <p:spPr>
          <a:xfrm>
            <a:off x="1" y="4"/>
            <a:ext cx="8" cy="20574"/>
          </a:xfrm>
          <a:prstGeom prst="rect">
            <a:avLst/>
          </a:prstGeom>
          <a:noFill/>
          <a:ln w="381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3771" y="3"/>
            <a:ext cx="5120511" cy="1645920"/>
          </a:xfrm>
          <a:prstGeom prst="rect">
            <a:avLst/>
          </a:prstGeom>
          <a:noFill/>
        </p:spPr>
        <p:txBody>
          <a:bodyPr wrap="square">
            <a:spAutoFit/>
          </a:bodyPr>
          <a:lstStyle/>
          <a:p>
            <a:pPr algn="r"/>
            <a:r>
              <a:rPr sz="900" b="0" i="0">
                <a:solidFill>
                  <a:srgbClr val="8A7A66"/>
                </a:solidFill>
                <a:latin typeface="Calibri"/>
              </a:rPr>
              <a:t>50%</a:t>
            </a:r>
          </a:p>
        </p:txBody>
      </p:sp>
      <p:sp>
        <p:nvSpPr>
          <p:cNvPr id="16" name="Rectangle 15"/>
          <p:cNvSpPr/>
          <p:nvPr/>
        </p:nvSpPr>
        <p:spPr>
          <a:xfrm>
            <a:off x="1" y="3"/>
            <a:ext cx="8" cy="20574"/>
          </a:xfrm>
          <a:prstGeom prst="rect">
            <a:avLst/>
          </a:prstGeom>
          <a:noFill/>
          <a:ln w="381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3771" y="2"/>
            <a:ext cx="5120511" cy="1645920"/>
          </a:xfrm>
          <a:prstGeom prst="rect">
            <a:avLst/>
          </a:prstGeom>
          <a:noFill/>
        </p:spPr>
        <p:txBody>
          <a:bodyPr wrap="square">
            <a:spAutoFit/>
          </a:bodyPr>
          <a:lstStyle/>
          <a:p>
            <a:pPr algn="r"/>
            <a:r>
              <a:rPr sz="900" b="0" i="0">
                <a:solidFill>
                  <a:srgbClr val="8A7A66"/>
                </a:solidFill>
                <a:latin typeface="Calibri"/>
              </a:rPr>
              <a:t>75%</a:t>
            </a:r>
          </a:p>
        </p:txBody>
      </p:sp>
      <p:sp>
        <p:nvSpPr>
          <p:cNvPr id="18" name="Rectangle 17"/>
          <p:cNvSpPr/>
          <p:nvPr/>
        </p:nvSpPr>
        <p:spPr>
          <a:xfrm>
            <a:off x="1" y="2"/>
            <a:ext cx="8" cy="20574"/>
          </a:xfrm>
          <a:prstGeom prst="rect">
            <a:avLst/>
          </a:prstGeom>
          <a:noFill/>
          <a:ln w="381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3771" y="1"/>
            <a:ext cx="5120511" cy="1645920"/>
          </a:xfrm>
          <a:prstGeom prst="rect">
            <a:avLst/>
          </a:prstGeom>
          <a:noFill/>
        </p:spPr>
        <p:txBody>
          <a:bodyPr wrap="square">
            <a:spAutoFit/>
          </a:bodyPr>
          <a:lstStyle/>
          <a:p>
            <a:pPr algn="r"/>
            <a:r>
              <a:rPr sz="900" b="0" i="0">
                <a:solidFill>
                  <a:srgbClr val="8A7A66"/>
                </a:solidFill>
                <a:latin typeface="Calibri"/>
              </a:rPr>
              <a:t>100%</a:t>
            </a:r>
          </a:p>
        </p:txBody>
      </p:sp>
      <p:sp>
        <p:nvSpPr>
          <p:cNvPr id="20" name="Rectangle 19"/>
          <p:cNvSpPr/>
          <p:nvPr/>
        </p:nvSpPr>
        <p:spPr>
          <a:xfrm>
            <a:off x="1" y="1"/>
            <a:ext cx="8" cy="20574"/>
          </a:xfrm>
          <a:prstGeom prst="rect">
            <a:avLst/>
          </a:prstGeom>
          <a:noFill/>
          <a:ln w="381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3771" y="1"/>
            <a:ext cx="5120511" cy="1645920"/>
          </a:xfrm>
          <a:prstGeom prst="rect">
            <a:avLst/>
          </a:prstGeom>
          <a:noFill/>
        </p:spPr>
        <p:txBody>
          <a:bodyPr wrap="square">
            <a:spAutoFit/>
          </a:bodyPr>
          <a:lstStyle/>
          <a:p>
            <a:pPr algn="r"/>
            <a:r>
              <a:rPr sz="900" b="0" i="0">
                <a:solidFill>
                  <a:srgbClr val="8A7A66"/>
                </a:solidFill>
                <a:latin typeface="Calibri"/>
              </a:rPr>
              <a:t>VND</a:t>
            </a:r>
          </a:p>
        </p:txBody>
      </p:sp>
      <p:sp>
        <p:nvSpPr>
          <p:cNvPr id="22" name="Rectangle 21"/>
          <p:cNvSpPr/>
          <p:nvPr/>
        </p:nvSpPr>
        <p:spPr>
          <a:xfrm>
            <a:off x="1" y="5"/>
            <a:ext cx="11963100" cy="2249423"/>
          </a:xfrm>
          <a:prstGeom prst="rect">
            <a:avLst/>
          </a:prstGeom>
          <a:solidFill>
            <a:srgbClr val="5C4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 y="5"/>
            <a:ext cx="11963100" cy="2057400"/>
          </a:xfrm>
          <a:prstGeom prst="rect">
            <a:avLst/>
          </a:prstGeom>
          <a:noFill/>
        </p:spPr>
        <p:txBody>
          <a:bodyPr wrap="square">
            <a:spAutoFit/>
          </a:bodyPr>
          <a:lstStyle/>
          <a:p>
            <a:pPr algn="ctr"/>
            <a:r>
              <a:rPr sz="800" b="0" i="0">
                <a:solidFill>
                  <a:srgbClr val="2B2419"/>
                </a:solidFill>
                <a:latin typeface="Calibri"/>
              </a:rPr>
              <a:t>2,688K</a:t>
            </a:r>
          </a:p>
        </p:txBody>
      </p:sp>
      <p:sp>
        <p:nvSpPr>
          <p:cNvPr id="24" name="TextBox 23"/>
          <p:cNvSpPr txBox="1"/>
          <p:nvPr/>
        </p:nvSpPr>
        <p:spPr>
          <a:xfrm>
            <a:off x="1" y="5"/>
            <a:ext cx="11963100" cy="1645920"/>
          </a:xfrm>
          <a:prstGeom prst="rect">
            <a:avLst/>
          </a:prstGeom>
          <a:noFill/>
        </p:spPr>
        <p:txBody>
          <a:bodyPr wrap="square">
            <a:spAutoFit/>
          </a:bodyPr>
          <a:lstStyle/>
          <a:p>
            <a:pPr algn="ctr"/>
            <a:r>
              <a:rPr sz="900" b="0" i="0">
                <a:solidFill>
                  <a:srgbClr val="2B2419"/>
                </a:solidFill>
                <a:latin typeface="Calibri"/>
              </a:rPr>
              <a:t>M1</a:t>
            </a:r>
          </a:p>
        </p:txBody>
      </p:sp>
      <p:sp>
        <p:nvSpPr>
          <p:cNvPr id="25" name="Rectangle 24"/>
          <p:cNvSpPr/>
          <p:nvPr/>
        </p:nvSpPr>
        <p:spPr>
          <a:xfrm>
            <a:off x="2" y="5"/>
            <a:ext cx="11963100" cy="4217669"/>
          </a:xfrm>
          <a:prstGeom prst="rect">
            <a:avLst/>
          </a:prstGeom>
          <a:solidFill>
            <a:srgbClr val="5C4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 y="4"/>
            <a:ext cx="11963100" cy="2057400"/>
          </a:xfrm>
          <a:prstGeom prst="rect">
            <a:avLst/>
          </a:prstGeom>
          <a:noFill/>
        </p:spPr>
        <p:txBody>
          <a:bodyPr wrap="square">
            <a:spAutoFit/>
          </a:bodyPr>
          <a:lstStyle/>
          <a:p>
            <a:pPr algn="ctr"/>
            <a:r>
              <a:rPr sz="800" b="0" i="0">
                <a:solidFill>
                  <a:srgbClr val="2B2419"/>
                </a:solidFill>
                <a:latin typeface="Calibri"/>
              </a:rPr>
              <a:t>5,040K</a:t>
            </a:r>
          </a:p>
        </p:txBody>
      </p:sp>
      <p:sp>
        <p:nvSpPr>
          <p:cNvPr id="27" name="TextBox 26"/>
          <p:cNvSpPr txBox="1"/>
          <p:nvPr/>
        </p:nvSpPr>
        <p:spPr>
          <a:xfrm>
            <a:off x="2" y="5"/>
            <a:ext cx="11963100" cy="1645920"/>
          </a:xfrm>
          <a:prstGeom prst="rect">
            <a:avLst/>
          </a:prstGeom>
          <a:noFill/>
        </p:spPr>
        <p:txBody>
          <a:bodyPr wrap="square">
            <a:spAutoFit/>
          </a:bodyPr>
          <a:lstStyle/>
          <a:p>
            <a:pPr algn="ctr"/>
            <a:r>
              <a:rPr sz="900" b="0" i="0">
                <a:solidFill>
                  <a:srgbClr val="2B2419"/>
                </a:solidFill>
                <a:latin typeface="Calibri"/>
              </a:rPr>
              <a:t>M2</a:t>
            </a:r>
          </a:p>
        </p:txBody>
      </p:sp>
      <p:sp>
        <p:nvSpPr>
          <p:cNvPr id="28" name="Rectangle 27"/>
          <p:cNvSpPr/>
          <p:nvPr/>
        </p:nvSpPr>
        <p:spPr>
          <a:xfrm>
            <a:off x="3" y="4"/>
            <a:ext cx="11963100" cy="1"/>
          </a:xfrm>
          <a:prstGeom prst="rect">
            <a:avLst/>
          </a:prstGeom>
          <a:solidFill>
            <a:srgbClr val="5C4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 y="4"/>
            <a:ext cx="11963100" cy="2057400"/>
          </a:xfrm>
          <a:prstGeom prst="rect">
            <a:avLst/>
          </a:prstGeom>
          <a:noFill/>
        </p:spPr>
        <p:txBody>
          <a:bodyPr wrap="square">
            <a:spAutoFit/>
          </a:bodyPr>
          <a:lstStyle/>
          <a:p>
            <a:pPr algn="ctr"/>
            <a:r>
              <a:rPr sz="800" b="0" i="0">
                <a:solidFill>
                  <a:srgbClr val="2B2419"/>
                </a:solidFill>
                <a:latin typeface="Calibri"/>
              </a:rPr>
              <a:t>8,400K</a:t>
            </a:r>
          </a:p>
        </p:txBody>
      </p:sp>
      <p:sp>
        <p:nvSpPr>
          <p:cNvPr id="30" name="TextBox 29"/>
          <p:cNvSpPr txBox="1"/>
          <p:nvPr/>
        </p:nvSpPr>
        <p:spPr>
          <a:xfrm>
            <a:off x="3" y="5"/>
            <a:ext cx="11963100" cy="1645920"/>
          </a:xfrm>
          <a:prstGeom prst="rect">
            <a:avLst/>
          </a:prstGeom>
          <a:noFill/>
        </p:spPr>
        <p:txBody>
          <a:bodyPr wrap="square">
            <a:spAutoFit/>
          </a:bodyPr>
          <a:lstStyle/>
          <a:p>
            <a:pPr algn="ctr"/>
            <a:r>
              <a:rPr sz="900" b="0" i="0">
                <a:solidFill>
                  <a:srgbClr val="2B2419"/>
                </a:solidFill>
                <a:latin typeface="Calibri"/>
              </a:rPr>
              <a:t>M3</a:t>
            </a:r>
          </a:p>
        </p:txBody>
      </p:sp>
      <p:sp>
        <p:nvSpPr>
          <p:cNvPr id="31" name="Rectangle 30"/>
          <p:cNvSpPr/>
          <p:nvPr/>
        </p:nvSpPr>
        <p:spPr>
          <a:xfrm>
            <a:off x="4" y="4"/>
            <a:ext cx="11963100" cy="1"/>
          </a:xfrm>
          <a:prstGeom prst="rect">
            <a:avLst/>
          </a:prstGeom>
          <a:solidFill>
            <a:srgbClr val="5C4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 y="3"/>
            <a:ext cx="11963100" cy="2057400"/>
          </a:xfrm>
          <a:prstGeom prst="rect">
            <a:avLst/>
          </a:prstGeom>
          <a:noFill/>
        </p:spPr>
        <p:txBody>
          <a:bodyPr wrap="square">
            <a:spAutoFit/>
          </a:bodyPr>
          <a:lstStyle/>
          <a:p>
            <a:pPr algn="ctr"/>
            <a:r>
              <a:rPr sz="800" b="0" i="0">
                <a:solidFill>
                  <a:srgbClr val="2B2419"/>
                </a:solidFill>
                <a:latin typeface="Calibri"/>
              </a:rPr>
              <a:t>13,440K</a:t>
            </a:r>
          </a:p>
        </p:txBody>
      </p:sp>
      <p:sp>
        <p:nvSpPr>
          <p:cNvPr id="33" name="TextBox 32"/>
          <p:cNvSpPr txBox="1"/>
          <p:nvPr/>
        </p:nvSpPr>
        <p:spPr>
          <a:xfrm>
            <a:off x="4" y="5"/>
            <a:ext cx="11963100" cy="1645920"/>
          </a:xfrm>
          <a:prstGeom prst="rect">
            <a:avLst/>
          </a:prstGeom>
          <a:noFill/>
        </p:spPr>
        <p:txBody>
          <a:bodyPr wrap="square">
            <a:spAutoFit/>
          </a:bodyPr>
          <a:lstStyle/>
          <a:p>
            <a:pPr algn="ctr"/>
            <a:r>
              <a:rPr sz="900" b="0" i="0">
                <a:solidFill>
                  <a:srgbClr val="2B2419"/>
                </a:solidFill>
                <a:latin typeface="Calibri"/>
              </a:rPr>
              <a:t>M4</a:t>
            </a:r>
          </a:p>
        </p:txBody>
      </p:sp>
      <p:sp>
        <p:nvSpPr>
          <p:cNvPr id="34" name="Rectangle 33"/>
          <p:cNvSpPr/>
          <p:nvPr/>
        </p:nvSpPr>
        <p:spPr>
          <a:xfrm>
            <a:off x="5" y="3"/>
            <a:ext cx="11963100" cy="2"/>
          </a:xfrm>
          <a:prstGeom prst="rect">
            <a:avLst/>
          </a:prstGeom>
          <a:solidFill>
            <a:srgbClr val="5C4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 y="3"/>
            <a:ext cx="11963100" cy="2057400"/>
          </a:xfrm>
          <a:prstGeom prst="rect">
            <a:avLst/>
          </a:prstGeom>
          <a:noFill/>
        </p:spPr>
        <p:txBody>
          <a:bodyPr wrap="square">
            <a:spAutoFit/>
          </a:bodyPr>
          <a:lstStyle/>
          <a:p>
            <a:pPr algn="ctr"/>
            <a:r>
              <a:rPr sz="800" b="0" i="0">
                <a:solidFill>
                  <a:srgbClr val="2B2419"/>
                </a:solidFill>
                <a:latin typeface="Calibri"/>
              </a:rPr>
              <a:t>18,480K</a:t>
            </a:r>
          </a:p>
        </p:txBody>
      </p:sp>
      <p:sp>
        <p:nvSpPr>
          <p:cNvPr id="36" name="TextBox 35"/>
          <p:cNvSpPr txBox="1"/>
          <p:nvPr/>
        </p:nvSpPr>
        <p:spPr>
          <a:xfrm>
            <a:off x="5" y="5"/>
            <a:ext cx="11963100" cy="1645920"/>
          </a:xfrm>
          <a:prstGeom prst="rect">
            <a:avLst/>
          </a:prstGeom>
          <a:noFill/>
        </p:spPr>
        <p:txBody>
          <a:bodyPr wrap="square">
            <a:spAutoFit/>
          </a:bodyPr>
          <a:lstStyle/>
          <a:p>
            <a:pPr algn="ctr"/>
            <a:r>
              <a:rPr sz="900" b="0" i="0">
                <a:solidFill>
                  <a:srgbClr val="2B2419"/>
                </a:solidFill>
                <a:latin typeface="Calibri"/>
              </a:rPr>
              <a:t>M5</a:t>
            </a:r>
          </a:p>
        </p:txBody>
      </p:sp>
      <p:sp>
        <p:nvSpPr>
          <p:cNvPr id="37" name="Rectangle 36"/>
          <p:cNvSpPr/>
          <p:nvPr/>
        </p:nvSpPr>
        <p:spPr>
          <a:xfrm>
            <a:off x="6" y="2"/>
            <a:ext cx="11963100" cy="2"/>
          </a:xfrm>
          <a:prstGeom prst="rect">
            <a:avLst/>
          </a:prstGeom>
          <a:solidFill>
            <a:srgbClr val="5C4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 y="2"/>
            <a:ext cx="11963100" cy="2057400"/>
          </a:xfrm>
          <a:prstGeom prst="rect">
            <a:avLst/>
          </a:prstGeom>
          <a:noFill/>
        </p:spPr>
        <p:txBody>
          <a:bodyPr wrap="square">
            <a:spAutoFit/>
          </a:bodyPr>
          <a:lstStyle/>
          <a:p>
            <a:pPr algn="ctr"/>
            <a:r>
              <a:rPr sz="800" b="0" i="0">
                <a:solidFill>
                  <a:srgbClr val="2B2419"/>
                </a:solidFill>
                <a:latin typeface="Calibri"/>
              </a:rPr>
              <a:t>23,520K</a:t>
            </a:r>
          </a:p>
        </p:txBody>
      </p:sp>
      <p:sp>
        <p:nvSpPr>
          <p:cNvPr id="39" name="TextBox 38"/>
          <p:cNvSpPr txBox="1"/>
          <p:nvPr/>
        </p:nvSpPr>
        <p:spPr>
          <a:xfrm>
            <a:off x="6" y="5"/>
            <a:ext cx="11963100" cy="1645920"/>
          </a:xfrm>
          <a:prstGeom prst="rect">
            <a:avLst/>
          </a:prstGeom>
          <a:noFill/>
        </p:spPr>
        <p:txBody>
          <a:bodyPr wrap="square">
            <a:spAutoFit/>
          </a:bodyPr>
          <a:lstStyle/>
          <a:p>
            <a:pPr algn="ctr"/>
            <a:r>
              <a:rPr sz="900" b="0" i="0">
                <a:solidFill>
                  <a:srgbClr val="2B2419"/>
                </a:solidFill>
                <a:latin typeface="Calibri"/>
              </a:rPr>
              <a:t>M6</a:t>
            </a:r>
          </a:p>
        </p:txBody>
      </p:sp>
      <p:sp>
        <p:nvSpPr>
          <p:cNvPr id="40" name="Rectangle 39"/>
          <p:cNvSpPr/>
          <p:nvPr/>
        </p:nvSpPr>
        <p:spPr>
          <a:xfrm>
            <a:off x="7" y="2"/>
            <a:ext cx="11963100" cy="3"/>
          </a:xfrm>
          <a:prstGeom prst="rect">
            <a:avLst/>
          </a:prstGeom>
          <a:solidFill>
            <a:srgbClr val="5C4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 y="2"/>
            <a:ext cx="11963100" cy="2057400"/>
          </a:xfrm>
          <a:prstGeom prst="rect">
            <a:avLst/>
          </a:prstGeom>
          <a:noFill/>
        </p:spPr>
        <p:txBody>
          <a:bodyPr wrap="square">
            <a:spAutoFit/>
          </a:bodyPr>
          <a:lstStyle/>
          <a:p>
            <a:pPr algn="ctr"/>
            <a:r>
              <a:rPr sz="800" b="0" i="0">
                <a:solidFill>
                  <a:srgbClr val="2B2419"/>
                </a:solidFill>
                <a:latin typeface="Calibri"/>
              </a:rPr>
              <a:t>28,560K</a:t>
            </a:r>
          </a:p>
        </p:txBody>
      </p:sp>
      <p:sp>
        <p:nvSpPr>
          <p:cNvPr id="42" name="TextBox 41"/>
          <p:cNvSpPr txBox="1"/>
          <p:nvPr/>
        </p:nvSpPr>
        <p:spPr>
          <a:xfrm>
            <a:off x="7" y="5"/>
            <a:ext cx="11963100" cy="1645920"/>
          </a:xfrm>
          <a:prstGeom prst="rect">
            <a:avLst/>
          </a:prstGeom>
          <a:noFill/>
        </p:spPr>
        <p:txBody>
          <a:bodyPr wrap="square">
            <a:spAutoFit/>
          </a:bodyPr>
          <a:lstStyle/>
          <a:p>
            <a:pPr algn="ctr"/>
            <a:r>
              <a:rPr sz="900" b="0" i="0">
                <a:solidFill>
                  <a:srgbClr val="2B2419"/>
                </a:solidFill>
                <a:latin typeface="Calibri"/>
              </a:rPr>
              <a:t>M7</a:t>
            </a:r>
          </a:p>
        </p:txBody>
      </p:sp>
      <p:sp>
        <p:nvSpPr>
          <p:cNvPr id="43" name="Rectangle 42"/>
          <p:cNvSpPr/>
          <p:nvPr/>
        </p:nvSpPr>
        <p:spPr>
          <a:xfrm>
            <a:off x="9" y="1"/>
            <a:ext cx="11963100" cy="4"/>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 y="1"/>
            <a:ext cx="11963100" cy="2057400"/>
          </a:xfrm>
          <a:prstGeom prst="rect">
            <a:avLst/>
          </a:prstGeom>
          <a:noFill/>
        </p:spPr>
        <p:txBody>
          <a:bodyPr wrap="square">
            <a:spAutoFit/>
          </a:bodyPr>
          <a:lstStyle/>
          <a:p>
            <a:pPr algn="ctr"/>
            <a:r>
              <a:rPr sz="800" b="0" i="0">
                <a:solidFill>
                  <a:srgbClr val="2B2419"/>
                </a:solidFill>
                <a:latin typeface="Calibri"/>
              </a:rPr>
              <a:t>33,600K</a:t>
            </a:r>
          </a:p>
        </p:txBody>
      </p:sp>
      <p:sp>
        <p:nvSpPr>
          <p:cNvPr id="45" name="TextBox 44"/>
          <p:cNvSpPr txBox="1"/>
          <p:nvPr/>
        </p:nvSpPr>
        <p:spPr>
          <a:xfrm>
            <a:off x="9" y="5"/>
            <a:ext cx="11963100" cy="1645920"/>
          </a:xfrm>
          <a:prstGeom prst="rect">
            <a:avLst/>
          </a:prstGeom>
          <a:noFill/>
        </p:spPr>
        <p:txBody>
          <a:bodyPr wrap="square">
            <a:spAutoFit/>
          </a:bodyPr>
          <a:lstStyle/>
          <a:p>
            <a:pPr algn="ctr"/>
            <a:r>
              <a:rPr sz="900" b="0" i="0">
                <a:solidFill>
                  <a:srgbClr val="2B2419"/>
                </a:solidFill>
                <a:latin typeface="Calibri"/>
              </a:rPr>
              <a:t>M8</a:t>
            </a:r>
          </a:p>
        </p:txBody>
      </p:sp>
      <p:graphicFrame>
        <p:nvGraphicFramePr>
          <p:cNvPr id="46" name="Table 45"/>
          <p:cNvGraphicFramePr>
            <a:graphicFrameLocks noGrp="1"/>
          </p:cNvGraphicFramePr>
          <p:nvPr/>
        </p:nvGraphicFramePr>
        <p:xfrm>
          <a:off x="126793628.0" y="10629900.0"/>
          <a:ext cx="31698406" cy="20574000.0"/>
        </p:xfrm>
        <a:graphic>
          <a:graphicData uri="http://schemas.openxmlformats.org/drawingml/2006/table">
            <a:tbl>
              <a:tblPr firstRow="1" bandRow="1">
                <a:tableStyleId>{5C22544A-7EE6-4342-B048-85BDC9FD1C3A}</a:tableStyleId>
              </a:tblPr>
              <a:tblGrid>
                <a:gridCol w="7315017"/>
                <a:gridCol w="14020449"/>
                <a:gridCol w="10362940"/>
              </a:tblGrid>
              <a:tr h="2286000">
                <a:tc>
                  <a:txBody>
                    <a:bodyPr wrap="square"/>
                    <a:lstStyle/>
                    <a:p>
                      <a:pPr algn="l"/>
                      <a:r>
                        <a:rPr sz="900">
                          <a:solidFill>
                            <a:srgbClr val="FFFFFF"/>
                          </a:solidFill>
                          <a:latin typeface="Calibri"/>
                        </a:rPr>
                        <a:t>Month</a:t>
                      </a:r>
                    </a:p>
                  </a:txBody>
                  <a:tcPr>
                    <a:solidFill>
                      <a:srgbClr val="8C5A2E"/>
                    </a:solidFill>
                  </a:tcPr>
                </a:tc>
                <a:tc>
                  <a:txBody>
                    <a:bodyPr wrap="square"/>
                    <a:lstStyle/>
                    <a:p>
                      <a:pPr algn="l"/>
                      <a:r>
                        <a:rPr sz="900">
                          <a:solidFill>
                            <a:srgbClr val="FFFFFF"/>
                          </a:solidFill>
                          <a:latin typeface="Calibri"/>
                        </a:rPr>
                        <a:t>PV (VND)</a:t>
                      </a:r>
                    </a:p>
                  </a:txBody>
                  <a:tcPr>
                    <a:solidFill>
                      <a:srgbClr val="8C5A2E"/>
                    </a:solidFill>
                  </a:tcPr>
                </a:tc>
                <a:tc>
                  <a:txBody>
                    <a:bodyPr wrap="square"/>
                    <a:lstStyle/>
                    <a:p>
                      <a:pPr algn="l"/>
                      <a:r>
                        <a:rPr sz="900">
                          <a:solidFill>
                            <a:srgbClr val="FFFFFF"/>
                          </a:solidFill>
                          <a:latin typeface="Calibri"/>
                        </a:rPr>
                        <a:t>%</a:t>
                      </a:r>
                    </a:p>
                  </a:txBody>
                  <a:tcPr>
                    <a:solidFill>
                      <a:srgbClr val="8C5A2E"/>
                    </a:solidFill>
                  </a:tcPr>
                </a:tc>
              </a:tr>
              <a:tr h="2286000">
                <a:tc>
                  <a:txBody>
                    <a:bodyPr wrap="square"/>
                    <a:lstStyle/>
                    <a:p>
                      <a:pPr algn="l"/>
                      <a:r>
                        <a:rPr sz="900">
                          <a:solidFill>
                            <a:srgbClr val="2B2419"/>
                          </a:solidFill>
                          <a:latin typeface="Calibri"/>
                        </a:rPr>
                        <a:t>M1</a:t>
                      </a:r>
                    </a:p>
                  </a:txBody>
                  <a:tcPr>
                    <a:solidFill>
                      <a:srgbClr val="F5EFE6"/>
                    </a:solidFill>
                  </a:tcPr>
                </a:tc>
                <a:tc>
                  <a:txBody>
                    <a:bodyPr wrap="square"/>
                    <a:lstStyle/>
                    <a:p>
                      <a:pPr algn="l"/>
                      <a:r>
                        <a:rPr sz="900">
                          <a:solidFill>
                            <a:srgbClr val="2B2419"/>
                          </a:solidFill>
                          <a:latin typeface="Calibri"/>
                        </a:rPr>
                        <a:t>2,688,000</a:t>
                      </a:r>
                    </a:p>
                  </a:txBody>
                  <a:tcPr>
                    <a:solidFill>
                      <a:srgbClr val="F5EFE6"/>
                    </a:solidFill>
                  </a:tcPr>
                </a:tc>
                <a:tc>
                  <a:txBody>
                    <a:bodyPr wrap="square"/>
                    <a:lstStyle/>
                    <a:p>
                      <a:pPr algn="l"/>
                      <a:r>
                        <a:rPr sz="900">
                          <a:solidFill>
                            <a:srgbClr val="2B2419"/>
                          </a:solidFill>
                          <a:latin typeface="Calibri"/>
                        </a:rPr>
                        <a:t>8%</a:t>
                      </a:r>
                    </a:p>
                  </a:txBody>
                  <a:tcPr>
                    <a:solidFill>
                      <a:srgbClr val="F5EFE6"/>
                    </a:solidFill>
                  </a:tcPr>
                </a:tc>
              </a:tr>
              <a:tr h="2286000">
                <a:tc>
                  <a:txBody>
                    <a:bodyPr wrap="square"/>
                    <a:lstStyle/>
                    <a:p>
                      <a:pPr algn="l"/>
                      <a:r>
                        <a:rPr sz="900">
                          <a:solidFill>
                            <a:srgbClr val="2B2419"/>
                          </a:solidFill>
                          <a:latin typeface="Calibri"/>
                        </a:rPr>
                        <a:t>M2</a:t>
                      </a:r>
                    </a:p>
                  </a:txBody>
                  <a:tcPr>
                    <a:solidFill>
                      <a:srgbClr val="F5EFE6"/>
                    </a:solidFill>
                  </a:tcPr>
                </a:tc>
                <a:tc>
                  <a:txBody>
                    <a:bodyPr wrap="square"/>
                    <a:lstStyle/>
                    <a:p>
                      <a:pPr algn="l"/>
                      <a:r>
                        <a:rPr sz="900">
                          <a:solidFill>
                            <a:srgbClr val="2B2419"/>
                          </a:solidFill>
                          <a:latin typeface="Calibri"/>
                        </a:rPr>
                        <a:t>5,040,000</a:t>
                      </a:r>
                    </a:p>
                  </a:txBody>
                  <a:tcPr>
                    <a:solidFill>
                      <a:srgbClr val="F5EFE6"/>
                    </a:solidFill>
                  </a:tcPr>
                </a:tc>
                <a:tc>
                  <a:txBody>
                    <a:bodyPr wrap="square"/>
                    <a:lstStyle/>
                    <a:p>
                      <a:pPr algn="l"/>
                      <a:r>
                        <a:rPr sz="900">
                          <a:solidFill>
                            <a:srgbClr val="2B2419"/>
                          </a:solidFill>
                          <a:latin typeface="Calibri"/>
                        </a:rPr>
                        <a:t>15%</a:t>
                      </a:r>
                    </a:p>
                  </a:txBody>
                  <a:tcPr>
                    <a:solidFill>
                      <a:srgbClr val="F5EFE6"/>
                    </a:solidFill>
                  </a:tcPr>
                </a:tc>
              </a:tr>
              <a:tr h="2286000">
                <a:tc>
                  <a:txBody>
                    <a:bodyPr wrap="square"/>
                    <a:lstStyle/>
                    <a:p>
                      <a:pPr algn="l"/>
                      <a:r>
                        <a:rPr sz="900">
                          <a:solidFill>
                            <a:srgbClr val="2B2419"/>
                          </a:solidFill>
                          <a:latin typeface="Calibri"/>
                        </a:rPr>
                        <a:t>M3</a:t>
                      </a:r>
                    </a:p>
                  </a:txBody>
                  <a:tcPr>
                    <a:solidFill>
                      <a:srgbClr val="F5EFE6"/>
                    </a:solidFill>
                  </a:tcPr>
                </a:tc>
                <a:tc>
                  <a:txBody>
                    <a:bodyPr wrap="square"/>
                    <a:lstStyle/>
                    <a:p>
                      <a:pPr algn="l"/>
                      <a:r>
                        <a:rPr sz="900">
                          <a:solidFill>
                            <a:srgbClr val="2B2419"/>
                          </a:solidFill>
                          <a:latin typeface="Calibri"/>
                        </a:rPr>
                        <a:t>8,400,000</a:t>
                      </a:r>
                    </a:p>
                  </a:txBody>
                  <a:tcPr>
                    <a:solidFill>
                      <a:srgbClr val="F5EFE6"/>
                    </a:solidFill>
                  </a:tcPr>
                </a:tc>
                <a:tc>
                  <a:txBody>
                    <a:bodyPr wrap="square"/>
                    <a:lstStyle/>
                    <a:p>
                      <a:pPr algn="l"/>
                      <a:r>
                        <a:rPr sz="900">
                          <a:solidFill>
                            <a:srgbClr val="2B2419"/>
                          </a:solidFill>
                          <a:latin typeface="Calibri"/>
                        </a:rPr>
                        <a:t>25%</a:t>
                      </a:r>
                    </a:p>
                  </a:txBody>
                  <a:tcPr>
                    <a:solidFill>
                      <a:srgbClr val="F5EFE6"/>
                    </a:solidFill>
                  </a:tcPr>
                </a:tc>
              </a:tr>
              <a:tr h="2286000">
                <a:tc>
                  <a:txBody>
                    <a:bodyPr wrap="square"/>
                    <a:lstStyle/>
                    <a:p>
                      <a:pPr algn="l"/>
                      <a:r>
                        <a:rPr sz="900">
                          <a:solidFill>
                            <a:srgbClr val="2B2419"/>
                          </a:solidFill>
                          <a:latin typeface="Calibri"/>
                        </a:rPr>
                        <a:t>M4</a:t>
                      </a:r>
                    </a:p>
                  </a:txBody>
                  <a:tcPr>
                    <a:solidFill>
                      <a:srgbClr val="F5EFE6"/>
                    </a:solidFill>
                  </a:tcPr>
                </a:tc>
                <a:tc>
                  <a:txBody>
                    <a:bodyPr wrap="square"/>
                    <a:lstStyle/>
                    <a:p>
                      <a:pPr algn="l"/>
                      <a:r>
                        <a:rPr sz="900">
                          <a:solidFill>
                            <a:srgbClr val="2B2419"/>
                          </a:solidFill>
                          <a:latin typeface="Calibri"/>
                        </a:rPr>
                        <a:t>13,440,000</a:t>
                      </a:r>
                    </a:p>
                  </a:txBody>
                  <a:tcPr>
                    <a:solidFill>
                      <a:srgbClr val="F5EFE6"/>
                    </a:solidFill>
                  </a:tcPr>
                </a:tc>
                <a:tc>
                  <a:txBody>
                    <a:bodyPr wrap="square"/>
                    <a:lstStyle/>
                    <a:p>
                      <a:pPr algn="l"/>
                      <a:r>
                        <a:rPr sz="900">
                          <a:solidFill>
                            <a:srgbClr val="2B2419"/>
                          </a:solidFill>
                          <a:latin typeface="Calibri"/>
                        </a:rPr>
                        <a:t>40%</a:t>
                      </a:r>
                    </a:p>
                  </a:txBody>
                  <a:tcPr>
                    <a:solidFill>
                      <a:srgbClr val="F5EFE6"/>
                    </a:solidFill>
                  </a:tcPr>
                </a:tc>
              </a:tr>
              <a:tr h="2286000">
                <a:tc>
                  <a:txBody>
                    <a:bodyPr wrap="square"/>
                    <a:lstStyle/>
                    <a:p>
                      <a:pPr algn="l"/>
                      <a:r>
                        <a:rPr sz="900">
                          <a:solidFill>
                            <a:srgbClr val="2B2419"/>
                          </a:solidFill>
                          <a:latin typeface="Calibri"/>
                        </a:rPr>
                        <a:t>M5</a:t>
                      </a:r>
                    </a:p>
                  </a:txBody>
                  <a:tcPr>
                    <a:solidFill>
                      <a:srgbClr val="F5EFE6"/>
                    </a:solidFill>
                  </a:tcPr>
                </a:tc>
                <a:tc>
                  <a:txBody>
                    <a:bodyPr wrap="square"/>
                    <a:lstStyle/>
                    <a:p>
                      <a:pPr algn="l"/>
                      <a:r>
                        <a:rPr sz="900">
                          <a:solidFill>
                            <a:srgbClr val="2B2419"/>
                          </a:solidFill>
                          <a:latin typeface="Calibri"/>
                        </a:rPr>
                        <a:t>18,480,000</a:t>
                      </a:r>
                    </a:p>
                  </a:txBody>
                  <a:tcPr>
                    <a:solidFill>
                      <a:srgbClr val="F5EFE6"/>
                    </a:solidFill>
                  </a:tcPr>
                </a:tc>
                <a:tc>
                  <a:txBody>
                    <a:bodyPr wrap="square"/>
                    <a:lstStyle/>
                    <a:p>
                      <a:pPr algn="l"/>
                      <a:r>
                        <a:rPr sz="900">
                          <a:solidFill>
                            <a:srgbClr val="2B2419"/>
                          </a:solidFill>
                          <a:latin typeface="Calibri"/>
                        </a:rPr>
                        <a:t>55%</a:t>
                      </a:r>
                    </a:p>
                  </a:txBody>
                  <a:tcPr>
                    <a:solidFill>
                      <a:srgbClr val="F5EFE6"/>
                    </a:solidFill>
                  </a:tcPr>
                </a:tc>
              </a:tr>
              <a:tr h="2286000">
                <a:tc>
                  <a:txBody>
                    <a:bodyPr wrap="square"/>
                    <a:lstStyle/>
                    <a:p>
                      <a:pPr algn="l"/>
                      <a:r>
                        <a:rPr sz="900">
                          <a:solidFill>
                            <a:srgbClr val="2B2419"/>
                          </a:solidFill>
                          <a:latin typeface="Calibri"/>
                        </a:rPr>
                        <a:t>M6</a:t>
                      </a:r>
                    </a:p>
                  </a:txBody>
                  <a:tcPr>
                    <a:solidFill>
                      <a:srgbClr val="F5EFE6"/>
                    </a:solidFill>
                  </a:tcPr>
                </a:tc>
                <a:tc>
                  <a:txBody>
                    <a:bodyPr wrap="square"/>
                    <a:lstStyle/>
                    <a:p>
                      <a:pPr algn="l"/>
                      <a:r>
                        <a:rPr sz="900">
                          <a:solidFill>
                            <a:srgbClr val="2B2419"/>
                          </a:solidFill>
                          <a:latin typeface="Calibri"/>
                        </a:rPr>
                        <a:t>23,520,000</a:t>
                      </a:r>
                    </a:p>
                  </a:txBody>
                  <a:tcPr>
                    <a:solidFill>
                      <a:srgbClr val="F5EFE6"/>
                    </a:solidFill>
                  </a:tcPr>
                </a:tc>
                <a:tc>
                  <a:txBody>
                    <a:bodyPr wrap="square"/>
                    <a:lstStyle/>
                    <a:p>
                      <a:pPr algn="l"/>
                      <a:r>
                        <a:rPr sz="900">
                          <a:solidFill>
                            <a:srgbClr val="2B2419"/>
                          </a:solidFill>
                          <a:latin typeface="Calibri"/>
                        </a:rPr>
                        <a:t>70%</a:t>
                      </a:r>
                    </a:p>
                  </a:txBody>
                  <a:tcPr>
                    <a:solidFill>
                      <a:srgbClr val="F5EFE6"/>
                    </a:solidFill>
                  </a:tcPr>
                </a:tc>
              </a:tr>
              <a:tr h="2286000">
                <a:tc>
                  <a:txBody>
                    <a:bodyPr wrap="square"/>
                    <a:lstStyle/>
                    <a:p>
                      <a:pPr algn="l"/>
                      <a:r>
                        <a:rPr sz="900">
                          <a:solidFill>
                            <a:srgbClr val="2B2419"/>
                          </a:solidFill>
                          <a:latin typeface="Calibri"/>
                        </a:rPr>
                        <a:t>M7</a:t>
                      </a:r>
                    </a:p>
                  </a:txBody>
                  <a:tcPr>
                    <a:solidFill>
                      <a:srgbClr val="F5EFE6"/>
                    </a:solidFill>
                  </a:tcPr>
                </a:tc>
                <a:tc>
                  <a:txBody>
                    <a:bodyPr wrap="square"/>
                    <a:lstStyle/>
                    <a:p>
                      <a:pPr algn="l"/>
                      <a:r>
                        <a:rPr sz="900">
                          <a:solidFill>
                            <a:srgbClr val="2B2419"/>
                          </a:solidFill>
                          <a:latin typeface="Calibri"/>
                        </a:rPr>
                        <a:t>28,560,000</a:t>
                      </a:r>
                    </a:p>
                  </a:txBody>
                  <a:tcPr>
                    <a:solidFill>
                      <a:srgbClr val="F5EFE6"/>
                    </a:solidFill>
                  </a:tcPr>
                </a:tc>
                <a:tc>
                  <a:txBody>
                    <a:bodyPr wrap="square"/>
                    <a:lstStyle/>
                    <a:p>
                      <a:pPr algn="l"/>
                      <a:r>
                        <a:rPr sz="900">
                          <a:solidFill>
                            <a:srgbClr val="2B2419"/>
                          </a:solidFill>
                          <a:latin typeface="Calibri"/>
                        </a:rPr>
                        <a:t>85%</a:t>
                      </a:r>
                    </a:p>
                  </a:txBody>
                  <a:tcPr>
                    <a:solidFill>
                      <a:srgbClr val="F5EFE6"/>
                    </a:solidFill>
                  </a:tcPr>
                </a:tc>
              </a:tr>
              <a:tr h="2286000">
                <a:tc>
                  <a:txBody>
                    <a:bodyPr wrap="square"/>
                    <a:lstStyle/>
                    <a:p>
                      <a:pPr algn="l"/>
                      <a:r>
                        <a:rPr sz="900">
                          <a:solidFill>
                            <a:srgbClr val="2B2419"/>
                          </a:solidFill>
                          <a:latin typeface="Calibri"/>
                        </a:rPr>
                        <a:t>M8</a:t>
                      </a:r>
                    </a:p>
                  </a:txBody>
                  <a:tcPr>
                    <a:solidFill>
                      <a:srgbClr val="F5EFE6"/>
                    </a:solidFill>
                  </a:tcPr>
                </a:tc>
                <a:tc>
                  <a:txBody>
                    <a:bodyPr wrap="square"/>
                    <a:lstStyle/>
                    <a:p>
                      <a:pPr algn="l"/>
                      <a:r>
                        <a:rPr sz="900">
                          <a:solidFill>
                            <a:srgbClr val="2B2419"/>
                          </a:solidFill>
                          <a:latin typeface="Calibri"/>
                        </a:rPr>
                        <a:t>33,600,000</a:t>
                      </a:r>
                    </a:p>
                  </a:txBody>
                  <a:tcPr>
                    <a:solidFill>
                      <a:srgbClr val="F5EFE6"/>
                    </a:solidFill>
                  </a:tcPr>
                </a:tc>
                <a:tc>
                  <a:txBody>
                    <a:bodyPr wrap="square"/>
                    <a:lstStyle/>
                    <a:p>
                      <a:pPr algn="l"/>
                      <a:r>
                        <a:rPr sz="900">
                          <a:solidFill>
                            <a:srgbClr val="2B2419"/>
                          </a:solidFill>
                          <a:latin typeface="Calibri"/>
                        </a:rPr>
                        <a:t>100%</a:t>
                      </a:r>
                    </a:p>
                  </a:txBody>
                  <a:tcPr>
                    <a:solidFill>
                      <a:srgbClr val="F5EFE6"/>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356" y="1"/>
            <a:ext cx="2" cy="1"/>
          </a:xfrm>
          <a:prstGeom prst="rect">
            <a:avLst/>
          </a:prstGeom>
          <a:noFill/>
        </p:spPr>
        <p:txBody>
          <a:bodyPr wrap="square">
            <a:spAutoFit/>
          </a:bodyPr>
          <a:lstStyle/>
          <a:p>
            <a:pPr algn="l"/>
            <a:r>
              <a:rPr sz="12000" b="0" i="1">
                <a:solidFill>
                  <a:srgbClr val="8C5A2E"/>
                </a:solidFill>
                <a:latin typeface="Georgia"/>
              </a:rPr>
              <a:t>§</a:t>
            </a:r>
          </a:p>
        </p:txBody>
      </p:sp>
      <p:sp>
        <p:nvSpPr>
          <p:cNvPr id="6" name="TextBox 5"/>
          <p:cNvSpPr txBox="1"/>
          <p:nvPr/>
        </p:nvSpPr>
        <p:spPr>
          <a:xfrm>
            <a:off x="2" y="1"/>
            <a:ext cx="2" cy="1"/>
          </a:xfrm>
          <a:prstGeom prst="rect">
            <a:avLst/>
          </a:prstGeom>
          <a:noFill/>
        </p:spPr>
        <p:txBody>
          <a:bodyPr wrap="square">
            <a:spAutoFit/>
          </a:bodyPr>
          <a:lstStyle/>
          <a:p>
            <a:pPr algn="l"/>
            <a:r>
              <a:rPr sz="4800" b="0" i="1">
                <a:solidFill>
                  <a:srgbClr val="E8D5BC"/>
                </a:solidFill>
                <a:latin typeface="Georgia"/>
              </a:rPr>
              <a:t>V</a:t>
            </a:r>
          </a:p>
        </p:txBody>
      </p:sp>
      <p:sp>
        <p:nvSpPr>
          <p:cNvPr id="7" name="TextBox 6"/>
          <p:cNvSpPr txBox="1"/>
          <p:nvPr/>
        </p:nvSpPr>
        <p:spPr>
          <a:xfrm>
            <a:off x="9753356" y="3"/>
            <a:ext cx="11" cy="1"/>
          </a:xfrm>
          <a:prstGeom prst="rect">
            <a:avLst/>
          </a:prstGeom>
          <a:noFill/>
        </p:spPr>
        <p:txBody>
          <a:bodyPr wrap="square">
            <a:spAutoFit/>
          </a:bodyPr>
          <a:lstStyle/>
          <a:p>
            <a:pPr algn="l"/>
            <a:r>
              <a:rPr sz="4400" b="1" i="0">
                <a:solidFill>
                  <a:srgbClr val="2B2419"/>
                </a:solidFill>
                <a:latin typeface="Georgia"/>
              </a:rPr>
              <a:t>Risk Management</a:t>
            </a:r>
          </a:p>
        </p:txBody>
      </p:sp>
      <p:sp>
        <p:nvSpPr>
          <p:cNvPr id="8" name="TextBox 7"/>
          <p:cNvSpPr txBox="1"/>
          <p:nvPr/>
        </p:nvSpPr>
        <p:spPr>
          <a:xfrm>
            <a:off x="9753356" y="4"/>
            <a:ext cx="10" cy="3429000"/>
          </a:xfrm>
          <a:prstGeom prst="rect">
            <a:avLst/>
          </a:prstGeom>
          <a:noFill/>
        </p:spPr>
        <p:txBody>
          <a:bodyPr wrap="square">
            <a:spAutoFit/>
          </a:bodyPr>
          <a:lstStyle/>
          <a:p>
            <a:pPr algn="l"/>
            <a:r>
              <a:rPr sz="1400" b="0" i="1">
                <a:solidFill>
                  <a:srgbClr val="8A7A66"/>
                </a:solidFill>
                <a:latin typeface="Calibri"/>
              </a:rPr>
              <a:t>CLO 3, 6 · Ch. 7</a:t>
            </a:r>
          </a:p>
        </p:txBody>
      </p:sp>
      <p:sp>
        <p:nvSpPr>
          <p:cNvPr id="9" name="Rectangle 8"/>
          <p:cNvSpPr/>
          <p:nvPr/>
        </p:nvSpPr>
        <p:spPr>
          <a:xfrm>
            <a:off x="975335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RISK MANAGEMENT</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Risk Register — 6 Risks with EMV</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13 / 24</a:t>
            </a:r>
          </a:p>
        </p:txBody>
      </p:sp>
      <p:graphicFrame>
        <p:nvGraphicFramePr>
          <p:cNvPr id="9" name="Table 8"/>
          <p:cNvGraphicFramePr>
            <a:graphicFrameLocks noGrp="1"/>
          </p:cNvGraphicFramePr>
          <p:nvPr/>
        </p:nvGraphicFramePr>
        <p:xfrm>
          <a:off x="8534186.5" y="10629900.0"/>
          <a:ext cx="149957845" cy="21945600.0"/>
        </p:xfrm>
        <a:graphic>
          <a:graphicData uri="http://schemas.openxmlformats.org/drawingml/2006/table">
            <a:tbl>
              <a:tblPr firstRow="1" bandRow="1">
                <a:tableStyleId>{5C22544A-7EE6-4342-B048-85BDC9FD1C3A}</a:tableStyleId>
              </a:tblPr>
              <a:tblGrid>
                <a:gridCol w="6032787"/>
                <a:gridCol w="39644028"/>
                <a:gridCol w="10341920"/>
                <a:gridCol w="6894613"/>
                <a:gridCol w="14651054"/>
                <a:gridCol w="11203747"/>
                <a:gridCol w="14651054"/>
                <a:gridCol w="11203747"/>
                <a:gridCol w="24131148"/>
                <a:gridCol w="11203747"/>
              </a:tblGrid>
              <a:tr h="2743200">
                <a:tc>
                  <a:txBody>
                    <a:bodyPr wrap="square"/>
                    <a:lstStyle/>
                    <a:p>
                      <a:pPr algn="l"/>
                      <a:r>
                        <a:rPr sz="900">
                          <a:solidFill>
                            <a:srgbClr val="FFFFFF"/>
                          </a:solidFill>
                          <a:latin typeface="Calibri"/>
                        </a:rPr>
                        <a:t>ID</a:t>
                      </a:r>
                    </a:p>
                  </a:txBody>
                  <a:tcPr>
                    <a:solidFill>
                      <a:srgbClr val="8C5A2E"/>
                    </a:solidFill>
                  </a:tcPr>
                </a:tc>
                <a:tc>
                  <a:txBody>
                    <a:bodyPr wrap="square"/>
                    <a:lstStyle/>
                    <a:p>
                      <a:pPr algn="l"/>
                      <a:r>
                        <a:rPr sz="900">
                          <a:solidFill>
                            <a:srgbClr val="FFFFFF"/>
                          </a:solidFill>
                          <a:latin typeface="Calibri"/>
                        </a:rPr>
                        <a:t>Risk Description</a:t>
                      </a:r>
                    </a:p>
                  </a:txBody>
                  <a:tcPr>
                    <a:solidFill>
                      <a:srgbClr val="8C5A2E"/>
                    </a:solidFill>
                  </a:tcPr>
                </a:tc>
                <a:tc>
                  <a:txBody>
                    <a:bodyPr wrap="square"/>
                    <a:lstStyle/>
                    <a:p>
                      <a:pPr algn="l"/>
                      <a:r>
                        <a:rPr sz="900">
                          <a:solidFill>
                            <a:srgbClr val="FFFFFF"/>
                          </a:solidFill>
                          <a:latin typeface="Calibri"/>
                        </a:rPr>
                        <a:t>Cat.</a:t>
                      </a:r>
                    </a:p>
                  </a:txBody>
                  <a:tcPr>
                    <a:solidFill>
                      <a:srgbClr val="8C5A2E"/>
                    </a:solidFill>
                  </a:tcPr>
                </a:tc>
                <a:tc>
                  <a:txBody>
                    <a:bodyPr wrap="square"/>
                    <a:lstStyle/>
                    <a:p>
                      <a:pPr algn="l"/>
                      <a:r>
                        <a:rPr sz="900">
                          <a:solidFill>
                            <a:srgbClr val="FFFFFF"/>
                          </a:solidFill>
                          <a:latin typeface="Calibri"/>
                        </a:rPr>
                        <a:t>L</a:t>
                      </a:r>
                    </a:p>
                  </a:txBody>
                  <a:tcPr>
                    <a:solidFill>
                      <a:srgbClr val="8C5A2E"/>
                    </a:solidFill>
                  </a:tcPr>
                </a:tc>
                <a:tc>
                  <a:txBody>
                    <a:bodyPr wrap="square"/>
                    <a:lstStyle/>
                    <a:p>
                      <a:pPr algn="l"/>
                      <a:r>
                        <a:rPr sz="900">
                          <a:solidFill>
                            <a:srgbClr val="FFFFFF"/>
                          </a:solidFill>
                          <a:latin typeface="Calibri"/>
                        </a:rPr>
                        <a:t>Cost
Impact</a:t>
                      </a:r>
                    </a:p>
                  </a:txBody>
                  <a:tcPr>
                    <a:solidFill>
                      <a:srgbClr val="8C5A2E"/>
                    </a:solidFill>
                  </a:tcPr>
                </a:tc>
                <a:tc>
                  <a:txBody>
                    <a:bodyPr wrap="square"/>
                    <a:lstStyle/>
                    <a:p>
                      <a:pPr algn="l"/>
                      <a:r>
                        <a:rPr sz="900">
                          <a:solidFill>
                            <a:srgbClr val="FFFFFF"/>
                          </a:solidFill>
                          <a:latin typeface="Calibri"/>
                        </a:rPr>
                        <a:t>Time
Impact</a:t>
                      </a:r>
                    </a:p>
                  </a:txBody>
                  <a:tcPr>
                    <a:solidFill>
                      <a:srgbClr val="8C5A2E"/>
                    </a:solidFill>
                  </a:tcPr>
                </a:tc>
                <a:tc>
                  <a:txBody>
                    <a:bodyPr wrap="square"/>
                    <a:lstStyle/>
                    <a:p>
                      <a:pPr algn="l"/>
                      <a:r>
                        <a:rPr sz="900">
                          <a:solidFill>
                            <a:srgbClr val="FFFFFF"/>
                          </a:solidFill>
                          <a:latin typeface="Calibri"/>
                        </a:rPr>
                        <a:t>EMV Cost</a:t>
                      </a:r>
                    </a:p>
                  </a:txBody>
                  <a:tcPr>
                    <a:solidFill>
                      <a:srgbClr val="8C5A2E"/>
                    </a:solidFill>
                  </a:tcPr>
                </a:tc>
                <a:tc>
                  <a:txBody>
                    <a:bodyPr wrap="square"/>
                    <a:lstStyle/>
                    <a:p>
                      <a:pPr algn="l"/>
                      <a:r>
                        <a:rPr sz="900">
                          <a:solidFill>
                            <a:srgbClr val="FFFFFF"/>
                          </a:solidFill>
                          <a:latin typeface="Calibri"/>
                        </a:rPr>
                        <a:t>EMV Time</a:t>
                      </a:r>
                    </a:p>
                  </a:txBody>
                  <a:tcPr>
                    <a:solidFill>
                      <a:srgbClr val="8C5A2E"/>
                    </a:solidFill>
                  </a:tcPr>
                </a:tc>
                <a:tc>
                  <a:txBody>
                    <a:bodyPr wrap="square"/>
                    <a:lstStyle/>
                    <a:p>
                      <a:pPr algn="l"/>
                      <a:r>
                        <a:rPr sz="900">
                          <a:solidFill>
                            <a:srgbClr val="FFFFFF"/>
                          </a:solidFill>
                          <a:latin typeface="Calibri"/>
                        </a:rPr>
                        <a:t>Strategy</a:t>
                      </a:r>
                    </a:p>
                  </a:txBody>
                  <a:tcPr>
                    <a:solidFill>
                      <a:srgbClr val="8C5A2E"/>
                    </a:solidFill>
                  </a:tcPr>
                </a:tc>
                <a:tc>
                  <a:txBody>
                    <a:bodyPr wrap="square"/>
                    <a:lstStyle/>
                    <a:p>
                      <a:pPr algn="l"/>
                      <a:r>
                        <a:rPr sz="900">
                          <a:solidFill>
                            <a:srgbClr val="FFFFFF"/>
                          </a:solidFill>
                          <a:latin typeface="Calibri"/>
                        </a:rPr>
                        <a:t>Owner</a:t>
                      </a:r>
                    </a:p>
                  </a:txBody>
                  <a:tcPr>
                    <a:solidFill>
                      <a:srgbClr val="8C5A2E"/>
                    </a:solidFill>
                  </a:tcPr>
                </a:tc>
              </a:tr>
              <a:tr h="2743200">
                <a:tc>
                  <a:txBody>
                    <a:bodyPr wrap="square"/>
                    <a:lstStyle/>
                    <a:p>
                      <a:pPr algn="l"/>
                      <a:r>
                        <a:rPr sz="900">
                          <a:solidFill>
                            <a:srgbClr val="2B2419"/>
                          </a:solidFill>
                          <a:latin typeface="Calibri"/>
                        </a:rPr>
                        <a:t>R1</a:t>
                      </a:r>
                    </a:p>
                  </a:txBody>
                  <a:tcPr>
                    <a:solidFill>
                      <a:srgbClr val="F5EFE6"/>
                    </a:solidFill>
                  </a:tcPr>
                </a:tc>
                <a:tc>
                  <a:txBody>
                    <a:bodyPr wrap="square"/>
                    <a:lstStyle/>
                    <a:p>
                      <a:pPr algn="l"/>
                      <a:r>
                        <a:rPr sz="900">
                          <a:solidFill>
                            <a:srgbClr val="2B2419"/>
                          </a:solidFill>
                          <a:latin typeface="Calibri"/>
                        </a:rPr>
                        <a:t>Member unavailable (illness/conflict)</a:t>
                      </a:r>
                    </a:p>
                  </a:txBody>
                  <a:tcPr>
                    <a:solidFill>
                      <a:srgbClr val="F5EFE6"/>
                    </a:solidFill>
                  </a:tcPr>
                </a:tc>
                <a:tc>
                  <a:txBody>
                    <a:bodyPr wrap="square"/>
                    <a:lstStyle/>
                    <a:p>
                      <a:pPr algn="l"/>
                      <a:r>
                        <a:rPr sz="900">
                          <a:solidFill>
                            <a:srgbClr val="2B2419"/>
                          </a:solidFill>
                          <a:latin typeface="Calibri"/>
                        </a:rPr>
                        <a:t>People</a:t>
                      </a:r>
                    </a:p>
                  </a:txBody>
                  <a:tcPr>
                    <a:solidFill>
                      <a:srgbClr val="F5EFE6"/>
                    </a:solidFill>
                  </a:tcPr>
                </a:tc>
                <a:tc>
                  <a:txBody>
                    <a:bodyPr wrap="square"/>
                    <a:lstStyle/>
                    <a:p>
                      <a:pPr algn="l"/>
                      <a:r>
                        <a:rPr sz="900">
                          <a:solidFill>
                            <a:srgbClr val="2B2419"/>
                          </a:solidFill>
                          <a:latin typeface="Calibri"/>
                        </a:rPr>
                        <a:t>0.30</a:t>
                      </a:r>
                    </a:p>
                  </a:txBody>
                  <a:tcPr>
                    <a:solidFill>
                      <a:srgbClr val="F5EFE6"/>
                    </a:solidFill>
                  </a:tcPr>
                </a:tc>
                <a:tc>
                  <a:txBody>
                    <a:bodyPr wrap="square"/>
                    <a:lstStyle/>
                    <a:p>
                      <a:pPr algn="l"/>
                      <a:r>
                        <a:rPr sz="900">
                          <a:solidFill>
                            <a:srgbClr val="2B2419"/>
                          </a:solidFill>
                          <a:latin typeface="Calibri"/>
                        </a:rPr>
                        <a:t>1,000,000</a:t>
                      </a:r>
                    </a:p>
                  </a:txBody>
                  <a:tcPr>
                    <a:solidFill>
                      <a:srgbClr val="F5EFE6"/>
                    </a:solidFill>
                  </a:tcPr>
                </a:tc>
                <a:tc>
                  <a:txBody>
                    <a:bodyPr wrap="square"/>
                    <a:lstStyle/>
                    <a:p>
                      <a:pPr algn="l"/>
                      <a:r>
                        <a:rPr sz="900">
                          <a:solidFill>
                            <a:srgbClr val="2B2419"/>
                          </a:solidFill>
                          <a:latin typeface="Calibri"/>
                        </a:rPr>
                        <a:t>5 d</a:t>
                      </a:r>
                    </a:p>
                  </a:txBody>
                  <a:tcPr>
                    <a:solidFill>
                      <a:srgbClr val="F5EFE6"/>
                    </a:solidFill>
                  </a:tcPr>
                </a:tc>
                <a:tc>
                  <a:txBody>
                    <a:bodyPr wrap="square"/>
                    <a:lstStyle/>
                    <a:p>
                      <a:pPr algn="l"/>
                      <a:r>
                        <a:rPr sz="900">
                          <a:solidFill>
                            <a:srgbClr val="2B2419"/>
                          </a:solidFill>
                          <a:latin typeface="Calibri"/>
                        </a:rPr>
                        <a:t>300,000</a:t>
                      </a:r>
                    </a:p>
                  </a:txBody>
                  <a:tcPr>
                    <a:solidFill>
                      <a:srgbClr val="F5EFE6"/>
                    </a:solidFill>
                  </a:tcPr>
                </a:tc>
                <a:tc>
                  <a:txBody>
                    <a:bodyPr wrap="square"/>
                    <a:lstStyle/>
                    <a:p>
                      <a:pPr algn="l"/>
                      <a:r>
                        <a:rPr sz="900">
                          <a:solidFill>
                            <a:srgbClr val="2B2419"/>
                          </a:solidFill>
                          <a:latin typeface="Calibri"/>
                        </a:rPr>
                        <a:t>1.50 d</a:t>
                      </a:r>
                    </a:p>
                  </a:txBody>
                  <a:tcPr>
                    <a:solidFill>
                      <a:srgbClr val="F5EFE6"/>
                    </a:solidFill>
                  </a:tcPr>
                </a:tc>
                <a:tc>
                  <a:txBody>
                    <a:bodyPr wrap="square"/>
                    <a:lstStyle/>
                    <a:p>
                      <a:pPr algn="l"/>
                      <a:r>
                        <a:rPr sz="900">
                          <a:solidFill>
                            <a:srgbClr val="2B2419"/>
                          </a:solidFill>
                          <a:latin typeface="Calibri"/>
                        </a:rPr>
                        <a:t>Contingency / Accept</a:t>
                      </a:r>
                    </a:p>
                  </a:txBody>
                  <a:tcPr>
                    <a:solidFill>
                      <a:srgbClr val="F5EFE6"/>
                    </a:solidFill>
                  </a:tcPr>
                </a:tc>
                <a:tc>
                  <a:txBody>
                    <a:bodyPr wrap="square"/>
                    <a:lstStyle/>
                    <a:p>
                      <a:pPr algn="l"/>
                      <a:r>
                        <a:rPr sz="900">
                          <a:solidFill>
                            <a:srgbClr val="2B2419"/>
                          </a:solidFill>
                          <a:latin typeface="Calibri"/>
                        </a:rPr>
                        <a:t>Đức</a:t>
                      </a:r>
                    </a:p>
                  </a:txBody>
                  <a:tcPr>
                    <a:solidFill>
                      <a:srgbClr val="F5EFE6"/>
                    </a:solidFill>
                  </a:tcPr>
                </a:tc>
              </a:tr>
              <a:tr h="2743200">
                <a:tc>
                  <a:txBody>
                    <a:bodyPr wrap="square"/>
                    <a:lstStyle/>
                    <a:p>
                      <a:pPr algn="l"/>
                      <a:r>
                        <a:rPr sz="900">
                          <a:solidFill>
                            <a:srgbClr val="2B2419"/>
                          </a:solidFill>
                          <a:latin typeface="Calibri"/>
                        </a:rPr>
                        <a:t>R2</a:t>
                      </a:r>
                    </a:p>
                  </a:txBody>
                  <a:tcPr>
                    <a:solidFill>
                      <a:srgbClr val="F5EFE6"/>
                    </a:solidFill>
                  </a:tcPr>
                </a:tc>
                <a:tc>
                  <a:txBody>
                    <a:bodyPr wrap="square"/>
                    <a:lstStyle/>
                    <a:p>
                      <a:pPr algn="l"/>
                      <a:r>
                        <a:rPr sz="900">
                          <a:solidFill>
                            <a:srgbClr val="2B2419"/>
                          </a:solidFill>
                          <a:latin typeface="Calibri"/>
                        </a:rPr>
                        <a:t>Scope creep — new requirements added</a:t>
                      </a:r>
                    </a:p>
                  </a:txBody>
                  <a:tcPr>
                    <a:solidFill>
                      <a:srgbClr val="F5EFE6"/>
                    </a:solidFill>
                  </a:tcPr>
                </a:tc>
                <a:tc>
                  <a:txBody>
                    <a:bodyPr wrap="square"/>
                    <a:lstStyle/>
                    <a:p>
                      <a:pPr algn="l"/>
                      <a:r>
                        <a:rPr sz="900">
                          <a:solidFill>
                            <a:srgbClr val="2B2419"/>
                          </a:solidFill>
                          <a:latin typeface="Calibri"/>
                        </a:rPr>
                        <a:t>Scope</a:t>
                      </a:r>
                    </a:p>
                  </a:txBody>
                  <a:tcPr>
                    <a:solidFill>
                      <a:srgbClr val="F5EFE6"/>
                    </a:solidFill>
                  </a:tcPr>
                </a:tc>
                <a:tc>
                  <a:txBody>
                    <a:bodyPr wrap="square"/>
                    <a:lstStyle/>
                    <a:p>
                      <a:pPr algn="l"/>
                      <a:r>
                        <a:rPr sz="900">
                          <a:solidFill>
                            <a:srgbClr val="2B2419"/>
                          </a:solidFill>
                          <a:latin typeface="Calibri"/>
                        </a:rPr>
                        <a:t>0.50</a:t>
                      </a:r>
                    </a:p>
                  </a:txBody>
                  <a:tcPr>
                    <a:solidFill>
                      <a:srgbClr val="F5EFE6"/>
                    </a:solidFill>
                  </a:tcPr>
                </a:tc>
                <a:tc>
                  <a:txBody>
                    <a:bodyPr wrap="square"/>
                    <a:lstStyle/>
                    <a:p>
                      <a:pPr algn="l"/>
                      <a:r>
                        <a:rPr sz="900">
                          <a:solidFill>
                            <a:srgbClr val="2B2419"/>
                          </a:solidFill>
                          <a:latin typeface="Calibri"/>
                        </a:rPr>
                        <a:t>3,000,000</a:t>
                      </a:r>
                    </a:p>
                  </a:txBody>
                  <a:tcPr>
                    <a:solidFill>
                      <a:srgbClr val="F5EFE6"/>
                    </a:solidFill>
                  </a:tcPr>
                </a:tc>
                <a:tc>
                  <a:txBody>
                    <a:bodyPr wrap="square"/>
                    <a:lstStyle/>
                    <a:p>
                      <a:pPr algn="l"/>
                      <a:r>
                        <a:rPr sz="900">
                          <a:solidFill>
                            <a:srgbClr val="2B2419"/>
                          </a:solidFill>
                          <a:latin typeface="Calibri"/>
                        </a:rPr>
                        <a:t>10 d</a:t>
                      </a:r>
                    </a:p>
                  </a:txBody>
                  <a:tcPr>
                    <a:solidFill>
                      <a:srgbClr val="F5EFE6"/>
                    </a:solidFill>
                  </a:tcPr>
                </a:tc>
                <a:tc>
                  <a:txBody>
                    <a:bodyPr wrap="square"/>
                    <a:lstStyle/>
                    <a:p>
                      <a:pPr algn="l"/>
                      <a:r>
                        <a:rPr sz="900">
                          <a:solidFill>
                            <a:srgbClr val="2B2419"/>
                          </a:solidFill>
                          <a:latin typeface="Calibri"/>
                        </a:rPr>
                        <a:t>1,500,000</a:t>
                      </a:r>
                    </a:p>
                  </a:txBody>
                  <a:tcPr>
                    <a:solidFill>
                      <a:srgbClr val="F5EFE6"/>
                    </a:solidFill>
                  </a:tcPr>
                </a:tc>
                <a:tc>
                  <a:txBody>
                    <a:bodyPr wrap="square"/>
                    <a:lstStyle/>
                    <a:p>
                      <a:pPr algn="l"/>
                      <a:r>
                        <a:rPr sz="900">
                          <a:solidFill>
                            <a:srgbClr val="2B2419"/>
                          </a:solidFill>
                          <a:latin typeface="Calibri"/>
                        </a:rPr>
                        <a:t>5.00 d</a:t>
                      </a:r>
                    </a:p>
                  </a:txBody>
                  <a:tcPr>
                    <a:solidFill>
                      <a:srgbClr val="F5EFE6"/>
                    </a:solidFill>
                  </a:tcPr>
                </a:tc>
                <a:tc>
                  <a:txBody>
                    <a:bodyPr wrap="square"/>
                    <a:lstStyle/>
                    <a:p>
                      <a:pPr algn="l"/>
                      <a:r>
                        <a:rPr sz="900">
                          <a:solidFill>
                            <a:srgbClr val="2B2419"/>
                          </a:solidFill>
                          <a:latin typeface="Calibri"/>
                        </a:rPr>
                        <a:t>Avoid + Reduce</a:t>
                      </a:r>
                    </a:p>
                  </a:txBody>
                  <a:tcPr>
                    <a:solidFill>
                      <a:srgbClr val="F5EFE6"/>
                    </a:solidFill>
                  </a:tcPr>
                </a:tc>
                <a:tc>
                  <a:txBody>
                    <a:bodyPr wrap="square"/>
                    <a:lstStyle/>
                    <a:p>
                      <a:pPr algn="l"/>
                      <a:r>
                        <a:rPr sz="900">
                          <a:solidFill>
                            <a:srgbClr val="2B2419"/>
                          </a:solidFill>
                          <a:latin typeface="Calibri"/>
                        </a:rPr>
                        <a:t>Đức</a:t>
                      </a:r>
                    </a:p>
                  </a:txBody>
                  <a:tcPr>
                    <a:solidFill>
                      <a:srgbClr val="F5EFE6"/>
                    </a:solidFill>
                  </a:tcPr>
                </a:tc>
              </a:tr>
              <a:tr h="2743200">
                <a:tc>
                  <a:txBody>
                    <a:bodyPr wrap="square"/>
                    <a:lstStyle/>
                    <a:p>
                      <a:pPr algn="l"/>
                      <a:r>
                        <a:rPr sz="900">
                          <a:solidFill>
                            <a:srgbClr val="2B2419"/>
                          </a:solidFill>
                          <a:latin typeface="Calibri"/>
                        </a:rPr>
                        <a:t>R3</a:t>
                      </a:r>
                    </a:p>
                  </a:txBody>
                  <a:tcPr>
                    <a:solidFill>
                      <a:srgbClr val="F5EFE6"/>
                    </a:solidFill>
                  </a:tcPr>
                </a:tc>
                <a:tc>
                  <a:txBody>
                    <a:bodyPr wrap="square"/>
                    <a:lstStyle/>
                    <a:p>
                      <a:pPr algn="l"/>
                      <a:r>
                        <a:rPr sz="900">
                          <a:solidFill>
                            <a:srgbClr val="2B2419"/>
                          </a:solidFill>
                          <a:latin typeface="Calibri"/>
                        </a:rPr>
                        <a:t>Stack unfamiliarity (React 19, TS)</a:t>
                      </a:r>
                    </a:p>
                  </a:txBody>
                  <a:tcPr>
                    <a:solidFill>
                      <a:srgbClr val="F5EFE6"/>
                    </a:solidFill>
                  </a:tcPr>
                </a:tc>
                <a:tc>
                  <a:txBody>
                    <a:bodyPr wrap="square"/>
                    <a:lstStyle/>
                    <a:p>
                      <a:pPr algn="l"/>
                      <a:r>
                        <a:rPr sz="900">
                          <a:solidFill>
                            <a:srgbClr val="2B2419"/>
                          </a:solidFill>
                          <a:latin typeface="Calibri"/>
                        </a:rPr>
                        <a:t>Tech</a:t>
                      </a:r>
                    </a:p>
                  </a:txBody>
                  <a:tcPr>
                    <a:solidFill>
                      <a:srgbClr val="F5EFE6"/>
                    </a:solidFill>
                  </a:tcPr>
                </a:tc>
                <a:tc>
                  <a:txBody>
                    <a:bodyPr wrap="square"/>
                    <a:lstStyle/>
                    <a:p>
                      <a:pPr algn="l"/>
                      <a:r>
                        <a:rPr sz="900">
                          <a:solidFill>
                            <a:srgbClr val="2B2419"/>
                          </a:solidFill>
                          <a:latin typeface="Calibri"/>
                        </a:rPr>
                        <a:t>0.40</a:t>
                      </a:r>
                    </a:p>
                  </a:txBody>
                  <a:tcPr>
                    <a:solidFill>
                      <a:srgbClr val="F5EFE6"/>
                    </a:solidFill>
                  </a:tcPr>
                </a:tc>
                <a:tc>
                  <a:txBody>
                    <a:bodyPr wrap="square"/>
                    <a:lstStyle/>
                    <a:p>
                      <a:pPr algn="l"/>
                      <a:r>
                        <a:rPr sz="900">
                          <a:solidFill>
                            <a:srgbClr val="2B2419"/>
                          </a:solidFill>
                          <a:latin typeface="Calibri"/>
                        </a:rPr>
                        <a:t>500,000</a:t>
                      </a:r>
                    </a:p>
                  </a:txBody>
                  <a:tcPr>
                    <a:solidFill>
                      <a:srgbClr val="F5EFE6"/>
                    </a:solidFill>
                  </a:tcPr>
                </a:tc>
                <a:tc>
                  <a:txBody>
                    <a:bodyPr wrap="square"/>
                    <a:lstStyle/>
                    <a:p>
                      <a:pPr algn="l"/>
                      <a:r>
                        <a:rPr sz="900">
                          <a:solidFill>
                            <a:srgbClr val="2B2419"/>
                          </a:solidFill>
                          <a:latin typeface="Calibri"/>
                        </a:rPr>
                        <a:t>7 d</a:t>
                      </a:r>
                    </a:p>
                  </a:txBody>
                  <a:tcPr>
                    <a:solidFill>
                      <a:srgbClr val="F5EFE6"/>
                    </a:solidFill>
                  </a:tcPr>
                </a:tc>
                <a:tc>
                  <a:txBody>
                    <a:bodyPr wrap="square"/>
                    <a:lstStyle/>
                    <a:p>
                      <a:pPr algn="l"/>
                      <a:r>
                        <a:rPr sz="900">
                          <a:solidFill>
                            <a:srgbClr val="2B2419"/>
                          </a:solidFill>
                          <a:latin typeface="Calibri"/>
                        </a:rPr>
                        <a:t>200,000</a:t>
                      </a:r>
                    </a:p>
                  </a:txBody>
                  <a:tcPr>
                    <a:solidFill>
                      <a:srgbClr val="F5EFE6"/>
                    </a:solidFill>
                  </a:tcPr>
                </a:tc>
                <a:tc>
                  <a:txBody>
                    <a:bodyPr wrap="square"/>
                    <a:lstStyle/>
                    <a:p>
                      <a:pPr algn="l"/>
                      <a:r>
                        <a:rPr sz="900">
                          <a:solidFill>
                            <a:srgbClr val="2B2419"/>
                          </a:solidFill>
                          <a:latin typeface="Calibri"/>
                        </a:rPr>
                        <a:t>2.80 d</a:t>
                      </a:r>
                    </a:p>
                  </a:txBody>
                  <a:tcPr>
                    <a:solidFill>
                      <a:srgbClr val="F5EFE6"/>
                    </a:solidFill>
                  </a:tcPr>
                </a:tc>
                <a:tc>
                  <a:txBody>
                    <a:bodyPr wrap="square"/>
                    <a:lstStyle/>
                    <a:p>
                      <a:pPr algn="l"/>
                      <a:r>
                        <a:rPr sz="900">
                          <a:solidFill>
                            <a:srgbClr val="2B2419"/>
                          </a:solidFill>
                          <a:latin typeface="Calibri"/>
                        </a:rPr>
                        <a:t>Reduce</a:t>
                      </a:r>
                    </a:p>
                  </a:txBody>
                  <a:tcPr>
                    <a:solidFill>
                      <a:srgbClr val="F5EFE6"/>
                    </a:solidFill>
                  </a:tcPr>
                </a:tc>
                <a:tc>
                  <a:txBody>
                    <a:bodyPr wrap="square"/>
                    <a:lstStyle/>
                    <a:p>
                      <a:pPr algn="l"/>
                      <a:r>
                        <a:rPr sz="900">
                          <a:solidFill>
                            <a:srgbClr val="2B2419"/>
                          </a:solidFill>
                          <a:latin typeface="Calibri"/>
                        </a:rPr>
                        <a:t>Bảo</a:t>
                      </a:r>
                    </a:p>
                  </a:txBody>
                  <a:tcPr>
                    <a:solidFill>
                      <a:srgbClr val="F5EFE6"/>
                    </a:solidFill>
                  </a:tcPr>
                </a:tc>
              </a:tr>
              <a:tr h="2743200">
                <a:tc>
                  <a:txBody>
                    <a:bodyPr wrap="square"/>
                    <a:lstStyle/>
                    <a:p>
                      <a:pPr algn="l"/>
                      <a:r>
                        <a:rPr sz="900">
                          <a:solidFill>
                            <a:srgbClr val="2B2419"/>
                          </a:solidFill>
                          <a:latin typeface="Calibri"/>
                        </a:rPr>
                        <a:t>R4</a:t>
                      </a:r>
                    </a:p>
                  </a:txBody>
                  <a:tcPr>
                    <a:solidFill>
                      <a:srgbClr val="F5EFE6"/>
                    </a:solidFill>
                  </a:tcPr>
                </a:tc>
                <a:tc>
                  <a:txBody>
                    <a:bodyPr wrap="square"/>
                    <a:lstStyle/>
                    <a:p>
                      <a:pPr algn="l"/>
                      <a:r>
                        <a:rPr sz="900">
                          <a:solidFill>
                            <a:srgbClr val="2B2419"/>
                          </a:solidFill>
                          <a:latin typeface="Calibri"/>
                        </a:rPr>
                        <a:t>Data loss / version control failure</a:t>
                      </a:r>
                    </a:p>
                  </a:txBody>
                  <a:tcPr>
                    <a:solidFill>
                      <a:srgbClr val="F5EFE6"/>
                    </a:solidFill>
                  </a:tcPr>
                </a:tc>
                <a:tc>
                  <a:txBody>
                    <a:bodyPr wrap="square"/>
                    <a:lstStyle/>
                    <a:p>
                      <a:pPr algn="l"/>
                      <a:r>
                        <a:rPr sz="900">
                          <a:solidFill>
                            <a:srgbClr val="2B2419"/>
                          </a:solidFill>
                          <a:latin typeface="Calibri"/>
                        </a:rPr>
                        <a:t>Tech</a:t>
                      </a:r>
                    </a:p>
                  </a:txBody>
                  <a:tcPr>
                    <a:solidFill>
                      <a:srgbClr val="F5EFE6"/>
                    </a:solidFill>
                  </a:tcPr>
                </a:tc>
                <a:tc>
                  <a:txBody>
                    <a:bodyPr wrap="square"/>
                    <a:lstStyle/>
                    <a:p>
                      <a:pPr algn="l"/>
                      <a:r>
                        <a:rPr sz="900">
                          <a:solidFill>
                            <a:srgbClr val="2B2419"/>
                          </a:solidFill>
                          <a:latin typeface="Calibri"/>
                        </a:rPr>
                        <a:t>0.15</a:t>
                      </a:r>
                    </a:p>
                  </a:txBody>
                  <a:tcPr>
                    <a:solidFill>
                      <a:srgbClr val="F5EFE6"/>
                    </a:solidFill>
                  </a:tcPr>
                </a:tc>
                <a:tc>
                  <a:txBody>
                    <a:bodyPr wrap="square"/>
                    <a:lstStyle/>
                    <a:p>
                      <a:pPr algn="l"/>
                      <a:r>
                        <a:rPr sz="900">
                          <a:solidFill>
                            <a:srgbClr val="2B2419"/>
                          </a:solidFill>
                          <a:latin typeface="Calibri"/>
                        </a:rPr>
                        <a:t>2,000,000</a:t>
                      </a:r>
                    </a:p>
                  </a:txBody>
                  <a:tcPr>
                    <a:solidFill>
                      <a:srgbClr val="F5EFE6"/>
                    </a:solidFill>
                  </a:tcPr>
                </a:tc>
                <a:tc>
                  <a:txBody>
                    <a:bodyPr wrap="square"/>
                    <a:lstStyle/>
                    <a:p>
                      <a:pPr algn="l"/>
                      <a:r>
                        <a:rPr sz="900">
                          <a:solidFill>
                            <a:srgbClr val="2B2419"/>
                          </a:solidFill>
                          <a:latin typeface="Calibri"/>
                        </a:rPr>
                        <a:t>3 d</a:t>
                      </a:r>
                    </a:p>
                  </a:txBody>
                  <a:tcPr>
                    <a:solidFill>
                      <a:srgbClr val="F5EFE6"/>
                    </a:solidFill>
                  </a:tcPr>
                </a:tc>
                <a:tc>
                  <a:txBody>
                    <a:bodyPr wrap="square"/>
                    <a:lstStyle/>
                    <a:p>
                      <a:pPr algn="l"/>
                      <a:r>
                        <a:rPr sz="900">
                          <a:solidFill>
                            <a:srgbClr val="2B2419"/>
                          </a:solidFill>
                          <a:latin typeface="Calibri"/>
                        </a:rPr>
                        <a:t>300,000</a:t>
                      </a:r>
                    </a:p>
                  </a:txBody>
                  <a:tcPr>
                    <a:solidFill>
                      <a:srgbClr val="F5EFE6"/>
                    </a:solidFill>
                  </a:tcPr>
                </a:tc>
                <a:tc>
                  <a:txBody>
                    <a:bodyPr wrap="square"/>
                    <a:lstStyle/>
                    <a:p>
                      <a:pPr algn="l"/>
                      <a:r>
                        <a:rPr sz="900">
                          <a:solidFill>
                            <a:srgbClr val="2B2419"/>
                          </a:solidFill>
                          <a:latin typeface="Calibri"/>
                        </a:rPr>
                        <a:t>0.45 d</a:t>
                      </a:r>
                    </a:p>
                  </a:txBody>
                  <a:tcPr>
                    <a:solidFill>
                      <a:srgbClr val="F5EFE6"/>
                    </a:solidFill>
                  </a:tcPr>
                </a:tc>
                <a:tc>
                  <a:txBody>
                    <a:bodyPr wrap="square"/>
                    <a:lstStyle/>
                    <a:p>
                      <a:pPr algn="l"/>
                      <a:r>
                        <a:rPr sz="900">
                          <a:solidFill>
                            <a:srgbClr val="2B2419"/>
                          </a:solidFill>
                          <a:latin typeface="Calibri"/>
                        </a:rPr>
                        <a:t>Reduce</a:t>
                      </a:r>
                    </a:p>
                  </a:txBody>
                  <a:tcPr>
                    <a:solidFill>
                      <a:srgbClr val="F5EFE6"/>
                    </a:solidFill>
                  </a:tcPr>
                </a:tc>
                <a:tc>
                  <a:txBody>
                    <a:bodyPr wrap="square"/>
                    <a:lstStyle/>
                    <a:p>
                      <a:pPr algn="l"/>
                      <a:r>
                        <a:rPr sz="900">
                          <a:solidFill>
                            <a:srgbClr val="2B2419"/>
                          </a:solidFill>
                          <a:latin typeface="Calibri"/>
                        </a:rPr>
                        <a:t>Thịnh</a:t>
                      </a:r>
                    </a:p>
                  </a:txBody>
                  <a:tcPr>
                    <a:solidFill>
                      <a:srgbClr val="F5EFE6"/>
                    </a:solidFill>
                  </a:tcPr>
                </a:tc>
              </a:tr>
              <a:tr h="2743200">
                <a:tc>
                  <a:txBody>
                    <a:bodyPr wrap="square"/>
                    <a:lstStyle/>
                    <a:p>
                      <a:pPr algn="l"/>
                      <a:r>
                        <a:rPr sz="900">
                          <a:solidFill>
                            <a:srgbClr val="2B2419"/>
                          </a:solidFill>
                          <a:latin typeface="Calibri"/>
                        </a:rPr>
                        <a:t>R5</a:t>
                      </a:r>
                    </a:p>
                  </a:txBody>
                  <a:tcPr>
                    <a:solidFill>
                      <a:srgbClr val="F5EFE6"/>
                    </a:solidFill>
                  </a:tcPr>
                </a:tc>
                <a:tc>
                  <a:txBody>
                    <a:bodyPr wrap="square"/>
                    <a:lstStyle/>
                    <a:p>
                      <a:pPr algn="l"/>
                      <a:r>
                        <a:rPr sz="900">
                          <a:solidFill>
                            <a:srgbClr val="2B2419"/>
                          </a:solidFill>
                          <a:latin typeface="Calibri"/>
                        </a:rPr>
                        <a:t>FE/BE integration failure at W7</a:t>
                      </a:r>
                    </a:p>
                  </a:txBody>
                  <a:tcPr>
                    <a:solidFill>
                      <a:srgbClr val="F5EFE6"/>
                    </a:solidFill>
                  </a:tcPr>
                </a:tc>
                <a:tc>
                  <a:txBody>
                    <a:bodyPr wrap="square"/>
                    <a:lstStyle/>
                    <a:p>
                      <a:pPr algn="l"/>
                      <a:r>
                        <a:rPr sz="900">
                          <a:solidFill>
                            <a:srgbClr val="2B2419"/>
                          </a:solidFill>
                          <a:latin typeface="Calibri"/>
                        </a:rPr>
                        <a:t>Tech</a:t>
                      </a:r>
                    </a:p>
                  </a:txBody>
                  <a:tcPr>
                    <a:solidFill>
                      <a:srgbClr val="F5EFE6"/>
                    </a:solidFill>
                  </a:tcPr>
                </a:tc>
                <a:tc>
                  <a:txBody>
                    <a:bodyPr wrap="square"/>
                    <a:lstStyle/>
                    <a:p>
                      <a:pPr algn="l"/>
                      <a:r>
                        <a:rPr sz="900">
                          <a:solidFill>
                            <a:srgbClr val="2B2419"/>
                          </a:solidFill>
                          <a:latin typeface="Calibri"/>
                        </a:rPr>
                        <a:t>0.35</a:t>
                      </a:r>
                    </a:p>
                  </a:txBody>
                  <a:tcPr>
                    <a:solidFill>
                      <a:srgbClr val="F5EFE6"/>
                    </a:solidFill>
                  </a:tcPr>
                </a:tc>
                <a:tc>
                  <a:txBody>
                    <a:bodyPr wrap="square"/>
                    <a:lstStyle/>
                    <a:p>
                      <a:pPr algn="l"/>
                      <a:r>
                        <a:rPr sz="900">
                          <a:solidFill>
                            <a:srgbClr val="2B2419"/>
                          </a:solidFill>
                          <a:latin typeface="Calibri"/>
                        </a:rPr>
                        <a:t>2,000,000</a:t>
                      </a:r>
                    </a:p>
                  </a:txBody>
                  <a:tcPr>
                    <a:solidFill>
                      <a:srgbClr val="F5EFE6"/>
                    </a:solidFill>
                  </a:tcPr>
                </a:tc>
                <a:tc>
                  <a:txBody>
                    <a:bodyPr wrap="square"/>
                    <a:lstStyle/>
                    <a:p>
                      <a:pPr algn="l"/>
                      <a:r>
                        <a:rPr sz="900">
                          <a:solidFill>
                            <a:srgbClr val="2B2419"/>
                          </a:solidFill>
                          <a:latin typeface="Calibri"/>
                        </a:rPr>
                        <a:t>8 d</a:t>
                      </a:r>
                    </a:p>
                  </a:txBody>
                  <a:tcPr>
                    <a:solidFill>
                      <a:srgbClr val="F5EFE6"/>
                    </a:solidFill>
                  </a:tcPr>
                </a:tc>
                <a:tc>
                  <a:txBody>
                    <a:bodyPr wrap="square"/>
                    <a:lstStyle/>
                    <a:p>
                      <a:pPr algn="l"/>
                      <a:r>
                        <a:rPr sz="900">
                          <a:solidFill>
                            <a:srgbClr val="2B2419"/>
                          </a:solidFill>
                          <a:latin typeface="Calibri"/>
                        </a:rPr>
                        <a:t>700,000</a:t>
                      </a:r>
                    </a:p>
                  </a:txBody>
                  <a:tcPr>
                    <a:solidFill>
                      <a:srgbClr val="F5EFE6"/>
                    </a:solidFill>
                  </a:tcPr>
                </a:tc>
                <a:tc>
                  <a:txBody>
                    <a:bodyPr wrap="square"/>
                    <a:lstStyle/>
                    <a:p>
                      <a:pPr algn="l"/>
                      <a:r>
                        <a:rPr sz="900">
                          <a:solidFill>
                            <a:srgbClr val="2B2419"/>
                          </a:solidFill>
                          <a:latin typeface="Calibri"/>
                        </a:rPr>
                        <a:t>2.80 d</a:t>
                      </a:r>
                    </a:p>
                  </a:txBody>
                  <a:tcPr>
                    <a:solidFill>
                      <a:srgbClr val="F5EFE6"/>
                    </a:solidFill>
                  </a:tcPr>
                </a:tc>
                <a:tc>
                  <a:txBody>
                    <a:bodyPr wrap="square"/>
                    <a:lstStyle/>
                    <a:p>
                      <a:pPr algn="l"/>
                      <a:r>
                        <a:rPr sz="900">
                          <a:solidFill>
                            <a:srgbClr val="2B2419"/>
                          </a:solidFill>
                          <a:latin typeface="Calibri"/>
                        </a:rPr>
                        <a:t>Reduce</a:t>
                      </a:r>
                    </a:p>
                  </a:txBody>
                  <a:tcPr>
                    <a:solidFill>
                      <a:srgbClr val="F5EFE6"/>
                    </a:solidFill>
                  </a:tcPr>
                </a:tc>
                <a:tc>
                  <a:txBody>
                    <a:bodyPr wrap="square"/>
                    <a:lstStyle/>
                    <a:p>
                      <a:pPr algn="l"/>
                      <a:r>
                        <a:rPr sz="900">
                          <a:solidFill>
                            <a:srgbClr val="2B2419"/>
                          </a:solidFill>
                          <a:latin typeface="Calibri"/>
                        </a:rPr>
                        <a:t>Hiếu</a:t>
                      </a:r>
                    </a:p>
                  </a:txBody>
                  <a:tcPr>
                    <a:solidFill>
                      <a:srgbClr val="F5EFE6"/>
                    </a:solidFill>
                  </a:tcPr>
                </a:tc>
              </a:tr>
              <a:tr h="2743200">
                <a:tc>
                  <a:txBody>
                    <a:bodyPr wrap="square"/>
                    <a:lstStyle/>
                    <a:p>
                      <a:pPr algn="l"/>
                      <a:r>
                        <a:rPr sz="900">
                          <a:solidFill>
                            <a:srgbClr val="2B2419"/>
                          </a:solidFill>
                          <a:latin typeface="Calibri"/>
                        </a:rPr>
                        <a:t>R6</a:t>
                      </a:r>
                    </a:p>
                  </a:txBody>
                  <a:tcPr>
                    <a:solidFill>
                      <a:srgbClr val="EDE4D3"/>
                    </a:solidFill>
                  </a:tcPr>
                </a:tc>
                <a:tc>
                  <a:txBody>
                    <a:bodyPr wrap="square"/>
                    <a:lstStyle/>
                    <a:p>
                      <a:pPr algn="l"/>
                      <a:r>
                        <a:rPr sz="900">
                          <a:solidFill>
                            <a:srgbClr val="2B2419"/>
                          </a:solidFill>
                          <a:latin typeface="Calibri"/>
                        </a:rPr>
                        <a:t>Meeting coordination issues</a:t>
                      </a:r>
                    </a:p>
                  </a:txBody>
                  <a:tcPr>
                    <a:solidFill>
                      <a:srgbClr val="EDE4D3"/>
                    </a:solidFill>
                  </a:tcPr>
                </a:tc>
                <a:tc>
                  <a:txBody>
                    <a:bodyPr wrap="square"/>
                    <a:lstStyle/>
                    <a:p>
                      <a:pPr algn="l"/>
                      <a:r>
                        <a:rPr sz="900">
                          <a:solidFill>
                            <a:srgbClr val="2B2419"/>
                          </a:solidFill>
                          <a:latin typeface="Calibri"/>
                        </a:rPr>
                        <a:t>People</a:t>
                      </a:r>
                    </a:p>
                  </a:txBody>
                  <a:tcPr>
                    <a:solidFill>
                      <a:srgbClr val="EDE4D3"/>
                    </a:solidFill>
                  </a:tcPr>
                </a:tc>
                <a:tc>
                  <a:txBody>
                    <a:bodyPr wrap="square"/>
                    <a:lstStyle/>
                    <a:p>
                      <a:pPr algn="l"/>
                      <a:r>
                        <a:rPr sz="900">
                          <a:solidFill>
                            <a:srgbClr val="2B2419"/>
                          </a:solidFill>
                          <a:latin typeface="Calibri"/>
                        </a:rPr>
                        <a:t>0.40</a:t>
                      </a:r>
                    </a:p>
                  </a:txBody>
                  <a:tcPr>
                    <a:solidFill>
                      <a:srgbClr val="EDE4D3"/>
                    </a:solidFill>
                  </a:tcPr>
                </a:tc>
                <a:tc>
                  <a:txBody>
                    <a:bodyPr wrap="square"/>
                    <a:lstStyle/>
                    <a:p>
                      <a:pPr algn="l"/>
                      <a:r>
                        <a:rPr sz="900">
                          <a:solidFill>
                            <a:srgbClr val="2B2419"/>
                          </a:solidFill>
                          <a:latin typeface="Calibri"/>
                        </a:rPr>
                        <a:t>200,000</a:t>
                      </a:r>
                    </a:p>
                  </a:txBody>
                  <a:tcPr>
                    <a:solidFill>
                      <a:srgbClr val="EDE4D3"/>
                    </a:solidFill>
                  </a:tcPr>
                </a:tc>
                <a:tc>
                  <a:txBody>
                    <a:bodyPr wrap="square"/>
                    <a:lstStyle/>
                    <a:p>
                      <a:pPr algn="l"/>
                      <a:r>
                        <a:rPr sz="900">
                          <a:solidFill>
                            <a:srgbClr val="2B2419"/>
                          </a:solidFill>
                          <a:latin typeface="Calibri"/>
                        </a:rPr>
                        <a:t>2 d</a:t>
                      </a:r>
                    </a:p>
                  </a:txBody>
                  <a:tcPr>
                    <a:solidFill>
                      <a:srgbClr val="EDE4D3"/>
                    </a:solidFill>
                  </a:tcPr>
                </a:tc>
                <a:tc>
                  <a:txBody>
                    <a:bodyPr wrap="square"/>
                    <a:lstStyle/>
                    <a:p>
                      <a:pPr algn="l"/>
                      <a:r>
                        <a:rPr sz="900">
                          <a:solidFill>
                            <a:srgbClr val="2B2419"/>
                          </a:solidFill>
                          <a:latin typeface="Calibri"/>
                        </a:rPr>
                        <a:t>80,000</a:t>
                      </a:r>
                    </a:p>
                  </a:txBody>
                  <a:tcPr>
                    <a:solidFill>
                      <a:srgbClr val="EDE4D3"/>
                    </a:solidFill>
                  </a:tcPr>
                </a:tc>
                <a:tc>
                  <a:txBody>
                    <a:bodyPr wrap="square"/>
                    <a:lstStyle/>
                    <a:p>
                      <a:pPr algn="l"/>
                      <a:r>
                        <a:rPr sz="900">
                          <a:solidFill>
                            <a:srgbClr val="2B2419"/>
                          </a:solidFill>
                          <a:latin typeface="Calibri"/>
                        </a:rPr>
                        <a:t>0.80 d</a:t>
                      </a:r>
                    </a:p>
                  </a:txBody>
                  <a:tcPr>
                    <a:solidFill>
                      <a:srgbClr val="EDE4D3"/>
                    </a:solidFill>
                  </a:tcPr>
                </a:tc>
                <a:tc>
                  <a:txBody>
                    <a:bodyPr wrap="square"/>
                    <a:lstStyle/>
                    <a:p>
                      <a:pPr algn="l"/>
                      <a:r>
                        <a:rPr sz="900">
                          <a:solidFill>
                            <a:srgbClr val="2B2419"/>
                          </a:solidFill>
                          <a:latin typeface="Calibri"/>
                        </a:rPr>
                        <a:t>Accept</a:t>
                      </a:r>
                    </a:p>
                  </a:txBody>
                  <a:tcPr>
                    <a:solidFill>
                      <a:srgbClr val="EDE4D3"/>
                    </a:solidFill>
                  </a:tcPr>
                </a:tc>
                <a:tc>
                  <a:txBody>
                    <a:bodyPr wrap="square"/>
                    <a:lstStyle/>
                    <a:p>
                      <a:pPr algn="l"/>
                      <a:r>
                        <a:rPr sz="900">
                          <a:solidFill>
                            <a:srgbClr val="2B2419"/>
                          </a:solidFill>
                          <a:latin typeface="Calibri"/>
                        </a:rPr>
                        <a:t>Đức</a:t>
                      </a:r>
                    </a:p>
                  </a:txBody>
                  <a:tcPr>
                    <a:solidFill>
                      <a:srgbClr val="EDE4D3"/>
                    </a:solidFill>
                  </a:tcPr>
                </a:tc>
              </a:tr>
              <a:tr h="2743200">
                <a:tc>
                  <a:txBody>
                    <a:bodyPr wrap="square"/>
                    <a:lstStyle/>
                    <a:p>
                      <a:pPr algn="l"/>
                      <a:r>
                        <a:rPr sz="900">
                          <a:solidFill>
                            <a:srgbClr val="2B2419"/>
                          </a:solidFill>
                          <a:latin typeface="Calibri"/>
                        </a:rPr>
                        <a:t/>
                      </a:r>
                    </a:p>
                  </a:txBody>
                  <a:tcPr>
                    <a:solidFill>
                      <a:srgbClr val="E8D5BC"/>
                    </a:solidFill>
                  </a:tcPr>
                </a:tc>
                <a:tc>
                  <a:txBody>
                    <a:bodyPr wrap="square"/>
                    <a:lstStyle/>
                    <a:p>
                      <a:pPr algn="l"/>
                      <a:r>
                        <a:rPr sz="900">
                          <a:solidFill>
                            <a:srgbClr val="2B2419"/>
                          </a:solidFill>
                          <a:latin typeface="Calibri"/>
                        </a:rPr>
                        <a:t>TOTAL EMV</a:t>
                      </a:r>
                    </a:p>
                  </a:txBody>
                  <a:tcPr>
                    <a:solidFill>
                      <a:srgbClr val="E8D5BC"/>
                    </a:solidFill>
                  </a:tcPr>
                </a:tc>
                <a:tc>
                  <a:txBody>
                    <a:bodyPr wrap="square"/>
                    <a:lstStyle/>
                    <a:p>
                      <a:pPr algn="l"/>
                      <a:r>
                        <a:rPr sz="900">
                          <a:solidFill>
                            <a:srgbClr val="2B2419"/>
                          </a:solidFill>
                          <a:latin typeface="Calibri"/>
                        </a:rPr>
                        <a:t/>
                      </a:r>
                    </a:p>
                  </a:txBody>
                  <a:tcPr>
                    <a:solidFill>
                      <a:srgbClr val="E8D5BC"/>
                    </a:solidFill>
                  </a:tcPr>
                </a:tc>
                <a:tc>
                  <a:txBody>
                    <a:bodyPr wrap="square"/>
                    <a:lstStyle/>
                    <a:p>
                      <a:pPr algn="l"/>
                      <a:r>
                        <a:rPr sz="900">
                          <a:solidFill>
                            <a:srgbClr val="2B2419"/>
                          </a:solidFill>
                          <a:latin typeface="Calibri"/>
                        </a:rPr>
                        <a:t/>
                      </a:r>
                    </a:p>
                  </a:txBody>
                  <a:tcPr>
                    <a:solidFill>
                      <a:srgbClr val="E8D5BC"/>
                    </a:solidFill>
                  </a:tcPr>
                </a:tc>
                <a:tc>
                  <a:txBody>
                    <a:bodyPr wrap="square"/>
                    <a:lstStyle/>
                    <a:p>
                      <a:pPr algn="l"/>
                      <a:r>
                        <a:rPr sz="900">
                          <a:solidFill>
                            <a:srgbClr val="2B2419"/>
                          </a:solidFill>
                          <a:latin typeface="Calibri"/>
                        </a:rPr>
                        <a:t/>
                      </a:r>
                    </a:p>
                  </a:txBody>
                  <a:tcPr>
                    <a:solidFill>
                      <a:srgbClr val="E8D5BC"/>
                    </a:solidFill>
                  </a:tcPr>
                </a:tc>
                <a:tc>
                  <a:txBody>
                    <a:bodyPr wrap="square"/>
                    <a:lstStyle/>
                    <a:p>
                      <a:pPr algn="l"/>
                      <a:r>
                        <a:rPr sz="900">
                          <a:solidFill>
                            <a:srgbClr val="2B2419"/>
                          </a:solidFill>
                          <a:latin typeface="Calibri"/>
                        </a:rPr>
                        <a:t/>
                      </a:r>
                    </a:p>
                  </a:txBody>
                  <a:tcPr>
                    <a:solidFill>
                      <a:srgbClr val="E8D5BC"/>
                    </a:solidFill>
                  </a:tcPr>
                </a:tc>
                <a:tc>
                  <a:txBody>
                    <a:bodyPr wrap="square"/>
                    <a:lstStyle/>
                    <a:p>
                      <a:pPr algn="l"/>
                      <a:r>
                        <a:rPr sz="900">
                          <a:solidFill>
                            <a:srgbClr val="2B2419"/>
                          </a:solidFill>
                          <a:latin typeface="Calibri"/>
                        </a:rPr>
                        <a:t>3,080,000 VND</a:t>
                      </a:r>
                    </a:p>
                  </a:txBody>
                  <a:tcPr>
                    <a:solidFill>
                      <a:srgbClr val="E8D5BC"/>
                    </a:solidFill>
                  </a:tcPr>
                </a:tc>
                <a:tc>
                  <a:txBody>
                    <a:bodyPr wrap="square"/>
                    <a:lstStyle/>
                    <a:p>
                      <a:pPr algn="l"/>
                      <a:r>
                        <a:rPr sz="900">
                          <a:solidFill>
                            <a:srgbClr val="2B2419"/>
                          </a:solidFill>
                          <a:latin typeface="Calibri"/>
                        </a:rPr>
                        <a:t>13.35 d</a:t>
                      </a:r>
                    </a:p>
                  </a:txBody>
                  <a:tcPr>
                    <a:solidFill>
                      <a:srgbClr val="E8D5BC"/>
                    </a:solidFill>
                  </a:tcPr>
                </a:tc>
                <a:tc>
                  <a:txBody>
                    <a:bodyPr wrap="square"/>
                    <a:lstStyle/>
                    <a:p>
                      <a:pPr algn="l"/>
                      <a:r>
                        <a:rPr sz="900">
                          <a:solidFill>
                            <a:srgbClr val="2B2419"/>
                          </a:solidFill>
                          <a:latin typeface="Calibri"/>
                        </a:rPr>
                        <a:t/>
                      </a:r>
                    </a:p>
                  </a:txBody>
                  <a:tcPr>
                    <a:solidFill>
                      <a:srgbClr val="E8D5BC"/>
                    </a:solidFill>
                  </a:tcPr>
                </a:tc>
                <a:tc>
                  <a:txBody>
                    <a:bodyPr wrap="square"/>
                    <a:lstStyle/>
                    <a:p>
                      <a:pPr algn="l"/>
                      <a:r>
                        <a:rPr sz="900">
                          <a:solidFill>
                            <a:srgbClr val="2B2419"/>
                          </a:solidFill>
                          <a:latin typeface="Calibri"/>
                        </a:rPr>
                        <a:t/>
                      </a:r>
                    </a:p>
                  </a:txBody>
                  <a:tcPr>
                    <a:solidFill>
                      <a:srgbClr val="E8D5BC"/>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RISK MANAGEMENT</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Risk Heatmap — Likelihood × Impact</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14 / 24</a:t>
            </a:r>
          </a:p>
        </p:txBody>
      </p:sp>
      <p:sp>
        <p:nvSpPr>
          <p:cNvPr id="9" name="TextBox 8"/>
          <p:cNvSpPr txBox="1"/>
          <p:nvPr/>
        </p:nvSpPr>
        <p:spPr>
          <a:xfrm>
            <a:off x="6095847" y="3"/>
            <a:ext cx="10972525" cy="2057400"/>
          </a:xfrm>
          <a:prstGeom prst="rect">
            <a:avLst/>
          </a:prstGeom>
          <a:noFill/>
        </p:spPr>
        <p:txBody>
          <a:bodyPr wrap="square">
            <a:spAutoFit/>
          </a:bodyPr>
          <a:lstStyle/>
          <a:p>
            <a:pPr algn="ctr"/>
            <a:r>
              <a:rPr sz="900" b="1" i="0">
                <a:solidFill>
                  <a:srgbClr val="8A7A66"/>
                </a:solidFill>
                <a:latin typeface="Calibri"/>
              </a:rPr>
              <a:t>LIKELIHOOD →</a:t>
            </a:r>
          </a:p>
        </p:txBody>
      </p:sp>
      <p:sp>
        <p:nvSpPr>
          <p:cNvPr id="10" name="TextBox 9"/>
          <p:cNvSpPr txBox="1"/>
          <p:nvPr/>
        </p:nvSpPr>
        <p:spPr>
          <a:xfrm>
            <a:off x="3" y="6"/>
            <a:ext cx="2" cy="2057400"/>
          </a:xfrm>
          <a:prstGeom prst="rect">
            <a:avLst/>
          </a:prstGeom>
          <a:noFill/>
        </p:spPr>
        <p:txBody>
          <a:bodyPr wrap="square">
            <a:spAutoFit/>
          </a:bodyPr>
          <a:lstStyle/>
          <a:p>
            <a:pPr algn="ctr"/>
            <a:r>
              <a:rPr sz="900" b="1" i="0">
                <a:solidFill>
                  <a:srgbClr val="8A7A66"/>
                </a:solidFill>
                <a:latin typeface="Calibri"/>
              </a:rPr>
              <a:t>IMPACT →</a:t>
            </a:r>
          </a:p>
        </p:txBody>
      </p:sp>
      <p:sp>
        <p:nvSpPr>
          <p:cNvPr id="11" name="Rectangle 10"/>
          <p:cNvSpPr/>
          <p:nvPr/>
        </p:nvSpPr>
        <p:spPr>
          <a:xfrm>
            <a:off x="1" y="3"/>
            <a:ext cx="2" cy="1"/>
          </a:xfrm>
          <a:prstGeom prst="rect">
            <a:avLst/>
          </a:prstGeom>
          <a:solidFill>
            <a:srgbClr val="F5EFE6"/>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 y="3"/>
            <a:ext cx="2" cy="1"/>
          </a:xfrm>
          <a:prstGeom prst="rect">
            <a:avLst/>
          </a:prstGeom>
          <a:solidFill>
            <a:srgbClr val="F0E9DD"/>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 y="3"/>
            <a:ext cx="2" cy="1"/>
          </a:xfrm>
          <a:prstGeom prst="rect">
            <a:avLst/>
          </a:prstGeom>
          <a:solidFill>
            <a:srgbClr val="E8D5BC"/>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 y="2"/>
            <a:ext cx="2" cy="1"/>
          </a:xfrm>
          <a:prstGeom prst="rect">
            <a:avLst/>
          </a:prstGeom>
          <a:solidFill>
            <a:srgbClr val="F0E9DD"/>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 y="2"/>
            <a:ext cx="2" cy="1"/>
          </a:xfrm>
          <a:prstGeom prst="rect">
            <a:avLst/>
          </a:prstGeom>
          <a:solidFill>
            <a:srgbClr val="D9CDB8"/>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 y="2"/>
            <a:ext cx="2" cy="1"/>
          </a:xfrm>
          <a:prstGeom prst="rect">
            <a:avLst/>
          </a:prstGeom>
          <a:solidFill>
            <a:srgbClr val="C49A7A"/>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 y="1"/>
            <a:ext cx="2" cy="1"/>
          </a:xfrm>
          <a:prstGeom prst="rect">
            <a:avLst/>
          </a:prstGeom>
          <a:solidFill>
            <a:srgbClr val="E8D5BC"/>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 y="1"/>
            <a:ext cx="2" cy="1"/>
          </a:xfrm>
          <a:prstGeom prst="rect">
            <a:avLst/>
          </a:prstGeom>
          <a:solidFill>
            <a:srgbClr val="C49A7A"/>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 y="1"/>
            <a:ext cx="2" cy="1"/>
          </a:xfrm>
          <a:prstGeom prst="rect">
            <a:avLst/>
          </a:prstGeom>
          <a:solidFill>
            <a:srgbClr val="A65D3F"/>
          </a:solidFill>
          <a:ln w="635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1449" y="13373100"/>
            <a:ext cx="347472" cy="347472"/>
          </a:xfrm>
          <a:prstGeom prst="ellipse">
            <a:avLst/>
          </a:prstGeom>
          <a:solidFill>
            <a:srgbClr val="8C5A2E"/>
          </a:solidFill>
          <a:ln w="12700">
            <a:solidFill>
              <a:srgbClr val="F5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 y="1"/>
            <a:ext cx="4632844" cy="2606040"/>
          </a:xfrm>
          <a:prstGeom prst="rect">
            <a:avLst/>
          </a:prstGeom>
          <a:noFill/>
        </p:spPr>
        <p:txBody>
          <a:bodyPr wrap="square">
            <a:spAutoFit/>
          </a:bodyPr>
          <a:lstStyle/>
          <a:p>
            <a:pPr algn="ctr"/>
            <a:r>
              <a:rPr sz="1000" b="1" i="0">
                <a:solidFill>
                  <a:srgbClr val="FFFFFF"/>
                </a:solidFill>
                <a:latin typeface="Calibri"/>
              </a:rPr>
              <a:t>R2</a:t>
            </a:r>
          </a:p>
        </p:txBody>
      </p:sp>
      <p:sp>
        <p:nvSpPr>
          <p:cNvPr id="22" name="Oval 21"/>
          <p:cNvSpPr/>
          <p:nvPr/>
        </p:nvSpPr>
        <p:spPr>
          <a:xfrm>
            <a:off x="57910551" y="13373100"/>
            <a:ext cx="347472" cy="347472"/>
          </a:xfrm>
          <a:prstGeom prst="ellipse">
            <a:avLst/>
          </a:prstGeom>
          <a:solidFill>
            <a:srgbClr val="8C5A2E"/>
          </a:solidFill>
          <a:ln w="12700">
            <a:solidFill>
              <a:srgbClr val="F5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 y="1"/>
            <a:ext cx="4632844" cy="2606040"/>
          </a:xfrm>
          <a:prstGeom prst="rect">
            <a:avLst/>
          </a:prstGeom>
          <a:noFill/>
        </p:spPr>
        <p:txBody>
          <a:bodyPr wrap="square">
            <a:spAutoFit/>
          </a:bodyPr>
          <a:lstStyle/>
          <a:p>
            <a:pPr algn="ctr"/>
            <a:r>
              <a:rPr sz="1000" b="1" i="0">
                <a:solidFill>
                  <a:srgbClr val="FFFFFF"/>
                </a:solidFill>
                <a:latin typeface="Calibri"/>
              </a:rPr>
              <a:t>R3</a:t>
            </a:r>
          </a:p>
        </p:txBody>
      </p:sp>
      <p:sp>
        <p:nvSpPr>
          <p:cNvPr id="24" name="Oval 23"/>
          <p:cNvSpPr/>
          <p:nvPr/>
        </p:nvSpPr>
        <p:spPr>
          <a:xfrm>
            <a:off x="85951449" y="21602700"/>
            <a:ext cx="347472" cy="347472"/>
          </a:xfrm>
          <a:prstGeom prst="ellipse">
            <a:avLst/>
          </a:prstGeom>
          <a:solidFill>
            <a:srgbClr val="8C5A2E"/>
          </a:solidFill>
          <a:ln w="12700">
            <a:solidFill>
              <a:srgbClr val="F5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 y="3"/>
            <a:ext cx="4632844" cy="2606040"/>
          </a:xfrm>
          <a:prstGeom prst="rect">
            <a:avLst/>
          </a:prstGeom>
          <a:noFill/>
        </p:spPr>
        <p:txBody>
          <a:bodyPr wrap="square">
            <a:spAutoFit/>
          </a:bodyPr>
          <a:lstStyle/>
          <a:p>
            <a:pPr algn="ctr"/>
            <a:r>
              <a:rPr sz="1000" b="1" i="0">
                <a:solidFill>
                  <a:srgbClr val="FFFFFF"/>
                </a:solidFill>
                <a:latin typeface="Calibri"/>
              </a:rPr>
              <a:t>R5</a:t>
            </a:r>
          </a:p>
        </p:txBody>
      </p:sp>
      <p:sp>
        <p:nvSpPr>
          <p:cNvPr id="26" name="Oval 25"/>
          <p:cNvSpPr/>
          <p:nvPr/>
        </p:nvSpPr>
        <p:spPr>
          <a:xfrm>
            <a:off x="57910551" y="21602700"/>
            <a:ext cx="347472" cy="347472"/>
          </a:xfrm>
          <a:prstGeom prst="ellipse">
            <a:avLst/>
          </a:prstGeom>
          <a:solidFill>
            <a:srgbClr val="5C4F3F"/>
          </a:solidFill>
          <a:ln w="12700">
            <a:solidFill>
              <a:srgbClr val="F5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 y="3"/>
            <a:ext cx="4632844" cy="2606040"/>
          </a:xfrm>
          <a:prstGeom prst="rect">
            <a:avLst/>
          </a:prstGeom>
          <a:noFill/>
        </p:spPr>
        <p:txBody>
          <a:bodyPr wrap="square">
            <a:spAutoFit/>
          </a:bodyPr>
          <a:lstStyle/>
          <a:p>
            <a:pPr algn="ctr"/>
            <a:r>
              <a:rPr sz="1000" b="1" i="0">
                <a:solidFill>
                  <a:srgbClr val="FFFFFF"/>
                </a:solidFill>
                <a:latin typeface="Calibri"/>
              </a:rPr>
              <a:t>R1</a:t>
            </a:r>
          </a:p>
        </p:txBody>
      </p:sp>
      <p:sp>
        <p:nvSpPr>
          <p:cNvPr id="28" name="Oval 27"/>
          <p:cNvSpPr/>
          <p:nvPr/>
        </p:nvSpPr>
        <p:spPr>
          <a:xfrm>
            <a:off x="57910551" y="21602700"/>
            <a:ext cx="347472" cy="347472"/>
          </a:xfrm>
          <a:prstGeom prst="ellipse">
            <a:avLst/>
          </a:prstGeom>
          <a:solidFill>
            <a:srgbClr val="5C4F3F"/>
          </a:solidFill>
          <a:ln w="12700">
            <a:solidFill>
              <a:srgbClr val="F5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 y="3"/>
            <a:ext cx="4632844" cy="2606040"/>
          </a:xfrm>
          <a:prstGeom prst="rect">
            <a:avLst/>
          </a:prstGeom>
          <a:noFill/>
        </p:spPr>
        <p:txBody>
          <a:bodyPr wrap="square">
            <a:spAutoFit/>
          </a:bodyPr>
          <a:lstStyle/>
          <a:p>
            <a:pPr algn="ctr"/>
            <a:r>
              <a:rPr sz="1000" b="1" i="0">
                <a:solidFill>
                  <a:srgbClr val="FFFFFF"/>
                </a:solidFill>
                <a:latin typeface="Calibri"/>
              </a:rPr>
              <a:t>R6</a:t>
            </a:r>
          </a:p>
        </p:txBody>
      </p:sp>
      <p:sp>
        <p:nvSpPr>
          <p:cNvPr id="30" name="Oval 29"/>
          <p:cNvSpPr/>
          <p:nvPr/>
        </p:nvSpPr>
        <p:spPr>
          <a:xfrm>
            <a:off x="29869652" y="29832299"/>
            <a:ext cx="347472" cy="347472"/>
          </a:xfrm>
          <a:prstGeom prst="ellipse">
            <a:avLst/>
          </a:prstGeom>
          <a:solidFill>
            <a:srgbClr val="8A7A66"/>
          </a:solidFill>
          <a:ln w="12700">
            <a:solidFill>
              <a:srgbClr val="F5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 y="4"/>
            <a:ext cx="4632844" cy="2606040"/>
          </a:xfrm>
          <a:prstGeom prst="rect">
            <a:avLst/>
          </a:prstGeom>
          <a:noFill/>
        </p:spPr>
        <p:txBody>
          <a:bodyPr wrap="square">
            <a:spAutoFit/>
          </a:bodyPr>
          <a:lstStyle/>
          <a:p>
            <a:pPr algn="ctr"/>
            <a:r>
              <a:rPr sz="1000" b="1" i="0">
                <a:solidFill>
                  <a:srgbClr val="FFFFFF"/>
                </a:solidFill>
                <a:latin typeface="Calibri"/>
              </a:rPr>
              <a:t>R4</a:t>
            </a:r>
          </a:p>
        </p:txBody>
      </p:sp>
      <p:sp>
        <p:nvSpPr>
          <p:cNvPr id="32" name="TextBox 31"/>
          <p:cNvSpPr txBox="1"/>
          <p:nvPr/>
        </p:nvSpPr>
        <p:spPr>
          <a:xfrm>
            <a:off x="3" y="4"/>
            <a:ext cx="2" cy="2057400"/>
          </a:xfrm>
          <a:prstGeom prst="rect">
            <a:avLst/>
          </a:prstGeom>
          <a:noFill/>
        </p:spPr>
        <p:txBody>
          <a:bodyPr wrap="square">
            <a:spAutoFit/>
          </a:bodyPr>
          <a:lstStyle/>
          <a:p>
            <a:pPr algn="ctr"/>
            <a:r>
              <a:rPr sz="900" b="1" i="0">
                <a:solidFill>
                  <a:srgbClr val="A65D3F"/>
                </a:solidFill>
                <a:latin typeface="Calibri"/>
              </a:rPr>
              <a:t>HIGH RISK</a:t>
            </a:r>
          </a:p>
        </p:txBody>
      </p:sp>
      <p:sp>
        <p:nvSpPr>
          <p:cNvPr id="33" name="TextBox 32"/>
          <p:cNvSpPr txBox="1"/>
          <p:nvPr/>
        </p:nvSpPr>
        <p:spPr>
          <a:xfrm>
            <a:off x="3" y="2"/>
            <a:ext cx="2" cy="2057400"/>
          </a:xfrm>
          <a:prstGeom prst="rect">
            <a:avLst/>
          </a:prstGeom>
          <a:noFill/>
        </p:spPr>
        <p:txBody>
          <a:bodyPr wrap="square">
            <a:spAutoFit/>
          </a:bodyPr>
          <a:lstStyle/>
          <a:p>
            <a:pPr algn="ctr"/>
            <a:r>
              <a:rPr sz="900" b="0" i="0">
                <a:solidFill>
                  <a:srgbClr val="8A7A66"/>
                </a:solidFill>
                <a:latin typeface="Calibri"/>
              </a:rPr>
              <a:t>MEDIUM</a:t>
            </a:r>
          </a:p>
        </p:txBody>
      </p:sp>
      <p:sp>
        <p:nvSpPr>
          <p:cNvPr id="34" name="TextBox 33"/>
          <p:cNvSpPr txBox="1"/>
          <p:nvPr/>
        </p:nvSpPr>
        <p:spPr>
          <a:xfrm>
            <a:off x="3" y="1"/>
            <a:ext cx="2" cy="2057400"/>
          </a:xfrm>
          <a:prstGeom prst="rect">
            <a:avLst/>
          </a:prstGeom>
          <a:noFill/>
        </p:spPr>
        <p:txBody>
          <a:bodyPr wrap="square">
            <a:spAutoFit/>
          </a:bodyPr>
          <a:lstStyle/>
          <a:p>
            <a:pPr algn="ctr"/>
            <a:r>
              <a:rPr sz="900" b="0" i="0">
                <a:solidFill>
                  <a:srgbClr val="5B6B47"/>
                </a:solidFill>
                <a:latin typeface="Calibri"/>
              </a:rPr>
              <a:t>LOW RISK</a:t>
            </a:r>
          </a:p>
        </p:txBody>
      </p:sp>
      <p:graphicFrame>
        <p:nvGraphicFramePr>
          <p:cNvPr id="35" name="Table 34"/>
          <p:cNvGraphicFramePr>
            <a:graphicFrameLocks noGrp="1"/>
          </p:cNvGraphicFramePr>
          <p:nvPr/>
        </p:nvGraphicFramePr>
        <p:xfrm>
          <a:off x="103629407.5" y="10629900.0"/>
          <a:ext cx="54862627" cy="19202400.0"/>
        </p:xfrm>
        <a:graphic>
          <a:graphicData uri="http://schemas.openxmlformats.org/drawingml/2006/table">
            <a:tbl>
              <a:tblPr firstRow="1" bandRow="1">
                <a:tableStyleId>{5C22544A-7EE6-4342-B048-85BDC9FD1C3A}</a:tableStyleId>
              </a:tblPr>
              <a:tblGrid>
                <a:gridCol w="24383390"/>
                <a:gridCol w="6095847"/>
                <a:gridCol w="7315017"/>
                <a:gridCol w="17068373"/>
              </a:tblGrid>
              <a:tr h="2743200">
                <a:tc>
                  <a:txBody>
                    <a:bodyPr wrap="square"/>
                    <a:lstStyle/>
                    <a:p>
                      <a:pPr algn="l"/>
                      <a:r>
                        <a:rPr sz="900">
                          <a:solidFill>
                            <a:srgbClr val="FFFFFF"/>
                          </a:solidFill>
                          <a:latin typeface="Calibri"/>
                        </a:rPr>
                        <a:t>Risk</a:t>
                      </a:r>
                    </a:p>
                  </a:txBody>
                  <a:tcPr>
                    <a:solidFill>
                      <a:srgbClr val="8C5A2E"/>
                    </a:solidFill>
                  </a:tcPr>
                </a:tc>
                <a:tc>
                  <a:txBody>
                    <a:bodyPr wrap="square"/>
                    <a:lstStyle/>
                    <a:p>
                      <a:pPr algn="l"/>
                      <a:r>
                        <a:rPr sz="900">
                          <a:solidFill>
                            <a:srgbClr val="FFFFFF"/>
                          </a:solidFill>
                          <a:latin typeface="Calibri"/>
                        </a:rPr>
                        <a:t>L</a:t>
                      </a:r>
                    </a:p>
                  </a:txBody>
                  <a:tcPr>
                    <a:solidFill>
                      <a:srgbClr val="8C5A2E"/>
                    </a:solidFill>
                  </a:tcPr>
                </a:tc>
                <a:tc>
                  <a:txBody>
                    <a:bodyPr wrap="square"/>
                    <a:lstStyle/>
                    <a:p>
                      <a:pPr algn="l"/>
                      <a:r>
                        <a:rPr sz="900">
                          <a:solidFill>
                            <a:srgbClr val="FFFFFF"/>
                          </a:solidFill>
                          <a:latin typeface="Calibri"/>
                        </a:rPr>
                        <a:t>Impact</a:t>
                      </a:r>
                    </a:p>
                  </a:txBody>
                  <a:tcPr>
                    <a:solidFill>
                      <a:srgbClr val="8C5A2E"/>
                    </a:solidFill>
                  </a:tcPr>
                </a:tc>
                <a:tc>
                  <a:txBody>
                    <a:bodyPr wrap="square"/>
                    <a:lstStyle/>
                    <a:p>
                      <a:pPr algn="l"/>
                      <a:r>
                        <a:rPr sz="900">
                          <a:solidFill>
                            <a:srgbClr val="FFFFFF"/>
                          </a:solidFill>
                          <a:latin typeface="Calibri"/>
                        </a:rPr>
                        <a:t>Zone</a:t>
                      </a:r>
                    </a:p>
                  </a:txBody>
                  <a:tcPr>
                    <a:solidFill>
                      <a:srgbClr val="8C5A2E"/>
                    </a:solidFill>
                  </a:tcPr>
                </a:tc>
              </a:tr>
              <a:tr h="2743200">
                <a:tc>
                  <a:txBody>
                    <a:bodyPr wrap="square"/>
                    <a:lstStyle/>
                    <a:p>
                      <a:pPr algn="l"/>
                      <a:r>
                        <a:rPr sz="900">
                          <a:solidFill>
                            <a:srgbClr val="2B2419"/>
                          </a:solidFill>
                          <a:latin typeface="Calibri"/>
                        </a:rPr>
                        <a:t>R1 — Member unavailable</a:t>
                      </a:r>
                    </a:p>
                  </a:txBody>
                  <a:tcPr>
                    <a:solidFill>
                      <a:srgbClr val="F5EFE6"/>
                    </a:solidFill>
                  </a:tcPr>
                </a:tc>
                <a:tc>
                  <a:txBody>
                    <a:bodyPr wrap="square"/>
                    <a:lstStyle/>
                    <a:p>
                      <a:pPr algn="l"/>
                      <a:r>
                        <a:rPr sz="900">
                          <a:solidFill>
                            <a:srgbClr val="2B2419"/>
                          </a:solidFill>
                          <a:latin typeface="Calibri"/>
                        </a:rPr>
                        <a:t>0.30</a:t>
                      </a:r>
                    </a:p>
                  </a:txBody>
                  <a:tcPr>
                    <a:solidFill>
                      <a:srgbClr val="F5EFE6"/>
                    </a:solidFill>
                  </a:tcPr>
                </a:tc>
                <a:tc>
                  <a:txBody>
                    <a:bodyPr wrap="square"/>
                    <a:lstStyle/>
                    <a:p>
                      <a:pPr algn="l"/>
                      <a:r>
                        <a:rPr sz="900">
                          <a:solidFill>
                            <a:srgbClr val="2B2419"/>
                          </a:solidFill>
                          <a:latin typeface="Calibri"/>
                        </a:rPr>
                        <a:t>5 d</a:t>
                      </a:r>
                    </a:p>
                  </a:txBody>
                  <a:tcPr>
                    <a:solidFill>
                      <a:srgbClr val="F5EFE6"/>
                    </a:solidFill>
                  </a:tcPr>
                </a:tc>
                <a:tc>
                  <a:txBody>
                    <a:bodyPr wrap="square"/>
                    <a:lstStyle/>
                    <a:p>
                      <a:pPr algn="l"/>
                      <a:r>
                        <a:rPr sz="900">
                          <a:solidFill>
                            <a:srgbClr val="2B2419"/>
                          </a:solidFill>
                          <a:latin typeface="Calibri"/>
                        </a:rPr>
                        <a:t>Medium</a:t>
                      </a:r>
                    </a:p>
                  </a:txBody>
                  <a:tcPr>
                    <a:solidFill>
                      <a:srgbClr val="F5EFE6"/>
                    </a:solidFill>
                  </a:tcPr>
                </a:tc>
              </a:tr>
              <a:tr h="2743200">
                <a:tc>
                  <a:txBody>
                    <a:bodyPr wrap="square"/>
                    <a:lstStyle/>
                    <a:p>
                      <a:pPr algn="l"/>
                      <a:r>
                        <a:rPr sz="900">
                          <a:solidFill>
                            <a:srgbClr val="2B2419"/>
                          </a:solidFill>
                          <a:latin typeface="Calibri"/>
                        </a:rPr>
                        <a:t>R2 — Scope creep</a:t>
                      </a:r>
                    </a:p>
                  </a:txBody>
                  <a:tcPr>
                    <a:solidFill>
                      <a:srgbClr val="F5EFE6"/>
                    </a:solidFill>
                  </a:tcPr>
                </a:tc>
                <a:tc>
                  <a:txBody>
                    <a:bodyPr wrap="square"/>
                    <a:lstStyle/>
                    <a:p>
                      <a:pPr algn="l"/>
                      <a:r>
                        <a:rPr sz="900">
                          <a:solidFill>
                            <a:srgbClr val="2B2419"/>
                          </a:solidFill>
                          <a:latin typeface="Calibri"/>
                        </a:rPr>
                        <a:t>0.50</a:t>
                      </a:r>
                    </a:p>
                  </a:txBody>
                  <a:tcPr>
                    <a:solidFill>
                      <a:srgbClr val="F5EFE6"/>
                    </a:solidFill>
                  </a:tcPr>
                </a:tc>
                <a:tc>
                  <a:txBody>
                    <a:bodyPr wrap="square"/>
                    <a:lstStyle/>
                    <a:p>
                      <a:pPr algn="l"/>
                      <a:r>
                        <a:rPr sz="900">
                          <a:solidFill>
                            <a:srgbClr val="2B2419"/>
                          </a:solidFill>
                          <a:latin typeface="Calibri"/>
                        </a:rPr>
                        <a:t>10 d</a:t>
                      </a:r>
                    </a:p>
                  </a:txBody>
                  <a:tcPr>
                    <a:solidFill>
                      <a:srgbClr val="F5EFE6"/>
                    </a:solidFill>
                  </a:tcPr>
                </a:tc>
                <a:tc>
                  <a:txBody>
                    <a:bodyPr wrap="square"/>
                    <a:lstStyle/>
                    <a:p>
                      <a:pPr algn="l"/>
                      <a:r>
                        <a:rPr sz="900">
                          <a:solidFill>
                            <a:srgbClr val="2B2419"/>
                          </a:solidFill>
                          <a:latin typeface="Calibri"/>
                        </a:rPr>
                        <a:t>High</a:t>
                      </a:r>
                    </a:p>
                  </a:txBody>
                  <a:tcPr>
                    <a:solidFill>
                      <a:srgbClr val="F5EFE6"/>
                    </a:solidFill>
                  </a:tcPr>
                </a:tc>
              </a:tr>
              <a:tr h="2743200">
                <a:tc>
                  <a:txBody>
                    <a:bodyPr wrap="square"/>
                    <a:lstStyle/>
                    <a:p>
                      <a:pPr algn="l"/>
                      <a:r>
                        <a:rPr sz="900">
                          <a:solidFill>
                            <a:srgbClr val="2B2419"/>
                          </a:solidFill>
                          <a:latin typeface="Calibri"/>
                        </a:rPr>
                        <a:t>R3 — Stack unfamiliarity</a:t>
                      </a:r>
                    </a:p>
                  </a:txBody>
                  <a:tcPr>
                    <a:solidFill>
                      <a:srgbClr val="F5EFE6"/>
                    </a:solidFill>
                  </a:tcPr>
                </a:tc>
                <a:tc>
                  <a:txBody>
                    <a:bodyPr wrap="square"/>
                    <a:lstStyle/>
                    <a:p>
                      <a:pPr algn="l"/>
                      <a:r>
                        <a:rPr sz="900">
                          <a:solidFill>
                            <a:srgbClr val="2B2419"/>
                          </a:solidFill>
                          <a:latin typeface="Calibri"/>
                        </a:rPr>
                        <a:t>0.40</a:t>
                      </a:r>
                    </a:p>
                  </a:txBody>
                  <a:tcPr>
                    <a:solidFill>
                      <a:srgbClr val="F5EFE6"/>
                    </a:solidFill>
                  </a:tcPr>
                </a:tc>
                <a:tc>
                  <a:txBody>
                    <a:bodyPr wrap="square"/>
                    <a:lstStyle/>
                    <a:p>
                      <a:pPr algn="l"/>
                      <a:r>
                        <a:rPr sz="900">
                          <a:solidFill>
                            <a:srgbClr val="2B2419"/>
                          </a:solidFill>
                          <a:latin typeface="Calibri"/>
                        </a:rPr>
                        <a:t>7 d</a:t>
                      </a:r>
                    </a:p>
                  </a:txBody>
                  <a:tcPr>
                    <a:solidFill>
                      <a:srgbClr val="F5EFE6"/>
                    </a:solidFill>
                  </a:tcPr>
                </a:tc>
                <a:tc>
                  <a:txBody>
                    <a:bodyPr wrap="square"/>
                    <a:lstStyle/>
                    <a:p>
                      <a:pPr algn="l"/>
                      <a:r>
                        <a:rPr sz="900">
                          <a:solidFill>
                            <a:srgbClr val="2B2419"/>
                          </a:solidFill>
                          <a:latin typeface="Calibri"/>
                        </a:rPr>
                        <a:t>High</a:t>
                      </a:r>
                    </a:p>
                  </a:txBody>
                  <a:tcPr>
                    <a:solidFill>
                      <a:srgbClr val="F5EFE6"/>
                    </a:solidFill>
                  </a:tcPr>
                </a:tc>
              </a:tr>
              <a:tr h="2743200">
                <a:tc>
                  <a:txBody>
                    <a:bodyPr wrap="square"/>
                    <a:lstStyle/>
                    <a:p>
                      <a:pPr algn="l"/>
                      <a:r>
                        <a:rPr sz="900">
                          <a:solidFill>
                            <a:srgbClr val="2B2419"/>
                          </a:solidFill>
                          <a:latin typeface="Calibri"/>
                        </a:rPr>
                        <a:t>R4 — Data loss</a:t>
                      </a:r>
                    </a:p>
                  </a:txBody>
                  <a:tcPr>
                    <a:solidFill>
                      <a:srgbClr val="F5EFE6"/>
                    </a:solidFill>
                  </a:tcPr>
                </a:tc>
                <a:tc>
                  <a:txBody>
                    <a:bodyPr wrap="square"/>
                    <a:lstStyle/>
                    <a:p>
                      <a:pPr algn="l"/>
                      <a:r>
                        <a:rPr sz="900">
                          <a:solidFill>
                            <a:srgbClr val="2B2419"/>
                          </a:solidFill>
                          <a:latin typeface="Calibri"/>
                        </a:rPr>
                        <a:t>0.15</a:t>
                      </a:r>
                    </a:p>
                  </a:txBody>
                  <a:tcPr>
                    <a:solidFill>
                      <a:srgbClr val="F5EFE6"/>
                    </a:solidFill>
                  </a:tcPr>
                </a:tc>
                <a:tc>
                  <a:txBody>
                    <a:bodyPr wrap="square"/>
                    <a:lstStyle/>
                    <a:p>
                      <a:pPr algn="l"/>
                      <a:r>
                        <a:rPr sz="900">
                          <a:solidFill>
                            <a:srgbClr val="2B2419"/>
                          </a:solidFill>
                          <a:latin typeface="Calibri"/>
                        </a:rPr>
                        <a:t>3 d</a:t>
                      </a:r>
                    </a:p>
                  </a:txBody>
                  <a:tcPr>
                    <a:solidFill>
                      <a:srgbClr val="F5EFE6"/>
                    </a:solidFill>
                  </a:tcPr>
                </a:tc>
                <a:tc>
                  <a:txBody>
                    <a:bodyPr wrap="square"/>
                    <a:lstStyle/>
                    <a:p>
                      <a:pPr algn="l"/>
                      <a:r>
                        <a:rPr sz="900">
                          <a:solidFill>
                            <a:srgbClr val="2B2419"/>
                          </a:solidFill>
                          <a:latin typeface="Calibri"/>
                        </a:rPr>
                        <a:t>Low</a:t>
                      </a:r>
                    </a:p>
                  </a:txBody>
                  <a:tcPr>
                    <a:solidFill>
                      <a:srgbClr val="F5EFE6"/>
                    </a:solidFill>
                  </a:tcPr>
                </a:tc>
              </a:tr>
              <a:tr h="2743200">
                <a:tc>
                  <a:txBody>
                    <a:bodyPr wrap="square"/>
                    <a:lstStyle/>
                    <a:p>
                      <a:pPr algn="l"/>
                      <a:r>
                        <a:rPr sz="900">
                          <a:solidFill>
                            <a:srgbClr val="2B2419"/>
                          </a:solidFill>
                          <a:latin typeface="Calibri"/>
                        </a:rPr>
                        <a:t>R5 — Integration failure</a:t>
                      </a:r>
                    </a:p>
                  </a:txBody>
                  <a:tcPr>
                    <a:solidFill>
                      <a:srgbClr val="F5EFE6"/>
                    </a:solidFill>
                  </a:tcPr>
                </a:tc>
                <a:tc>
                  <a:txBody>
                    <a:bodyPr wrap="square"/>
                    <a:lstStyle/>
                    <a:p>
                      <a:pPr algn="l"/>
                      <a:r>
                        <a:rPr sz="900">
                          <a:solidFill>
                            <a:srgbClr val="2B2419"/>
                          </a:solidFill>
                          <a:latin typeface="Calibri"/>
                        </a:rPr>
                        <a:t>0.35</a:t>
                      </a:r>
                    </a:p>
                  </a:txBody>
                  <a:tcPr>
                    <a:solidFill>
                      <a:srgbClr val="F5EFE6"/>
                    </a:solidFill>
                  </a:tcPr>
                </a:tc>
                <a:tc>
                  <a:txBody>
                    <a:bodyPr wrap="square"/>
                    <a:lstStyle/>
                    <a:p>
                      <a:pPr algn="l"/>
                      <a:r>
                        <a:rPr sz="900">
                          <a:solidFill>
                            <a:srgbClr val="2B2419"/>
                          </a:solidFill>
                          <a:latin typeface="Calibri"/>
                        </a:rPr>
                        <a:t>8 d</a:t>
                      </a:r>
                    </a:p>
                  </a:txBody>
                  <a:tcPr>
                    <a:solidFill>
                      <a:srgbClr val="F5EFE6"/>
                    </a:solidFill>
                  </a:tcPr>
                </a:tc>
                <a:tc>
                  <a:txBody>
                    <a:bodyPr wrap="square"/>
                    <a:lstStyle/>
                    <a:p>
                      <a:pPr algn="l"/>
                      <a:r>
                        <a:rPr sz="900">
                          <a:solidFill>
                            <a:srgbClr val="2B2419"/>
                          </a:solidFill>
                          <a:latin typeface="Calibri"/>
                        </a:rPr>
                        <a:t>High</a:t>
                      </a:r>
                    </a:p>
                  </a:txBody>
                  <a:tcPr>
                    <a:solidFill>
                      <a:srgbClr val="F5EFE6"/>
                    </a:solidFill>
                  </a:tcPr>
                </a:tc>
              </a:tr>
              <a:tr h="2743200">
                <a:tc>
                  <a:txBody>
                    <a:bodyPr wrap="square"/>
                    <a:lstStyle/>
                    <a:p>
                      <a:pPr algn="l"/>
                      <a:r>
                        <a:rPr sz="900">
                          <a:solidFill>
                            <a:srgbClr val="2B2419"/>
                          </a:solidFill>
                          <a:latin typeface="Calibri"/>
                        </a:rPr>
                        <a:t>R6 — Meeting issues</a:t>
                      </a:r>
                    </a:p>
                  </a:txBody>
                  <a:tcPr>
                    <a:solidFill>
                      <a:srgbClr val="F5EFE6"/>
                    </a:solidFill>
                  </a:tcPr>
                </a:tc>
                <a:tc>
                  <a:txBody>
                    <a:bodyPr wrap="square"/>
                    <a:lstStyle/>
                    <a:p>
                      <a:pPr algn="l"/>
                      <a:r>
                        <a:rPr sz="900">
                          <a:solidFill>
                            <a:srgbClr val="2B2419"/>
                          </a:solidFill>
                          <a:latin typeface="Calibri"/>
                        </a:rPr>
                        <a:t>0.40</a:t>
                      </a:r>
                    </a:p>
                  </a:txBody>
                  <a:tcPr>
                    <a:solidFill>
                      <a:srgbClr val="F5EFE6"/>
                    </a:solidFill>
                  </a:tcPr>
                </a:tc>
                <a:tc>
                  <a:txBody>
                    <a:bodyPr wrap="square"/>
                    <a:lstStyle/>
                    <a:p>
                      <a:pPr algn="l"/>
                      <a:r>
                        <a:rPr sz="900">
                          <a:solidFill>
                            <a:srgbClr val="2B2419"/>
                          </a:solidFill>
                          <a:latin typeface="Calibri"/>
                        </a:rPr>
                        <a:t>2 d</a:t>
                      </a:r>
                    </a:p>
                  </a:txBody>
                  <a:tcPr>
                    <a:solidFill>
                      <a:srgbClr val="F5EFE6"/>
                    </a:solidFill>
                  </a:tcPr>
                </a:tc>
                <a:tc>
                  <a:txBody>
                    <a:bodyPr wrap="square"/>
                    <a:lstStyle/>
                    <a:p>
                      <a:pPr algn="l"/>
                      <a:r>
                        <a:rPr sz="900">
                          <a:solidFill>
                            <a:srgbClr val="2B2419"/>
                          </a:solidFill>
                          <a:latin typeface="Calibri"/>
                        </a:rPr>
                        <a:t>Medium</a:t>
                      </a:r>
                    </a:p>
                  </a:txBody>
                  <a:tcPr>
                    <a:solidFill>
                      <a:srgbClr val="F5EFE6"/>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RISK MANAGEMENT</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8C5A2E"/>
                </a:solidFill>
                <a:latin typeface="Georgia"/>
              </a:rPr>
              <a:t>EMV Reconciliation</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15 / 24</a:t>
            </a:r>
          </a:p>
        </p:txBody>
      </p:sp>
      <p:graphicFrame>
        <p:nvGraphicFramePr>
          <p:cNvPr id="9" name="Table 8"/>
          <p:cNvGraphicFramePr>
            <a:graphicFrameLocks noGrp="1"/>
          </p:cNvGraphicFramePr>
          <p:nvPr/>
        </p:nvGraphicFramePr>
        <p:xfrm>
          <a:off x="8534186.5" y="10629900.0"/>
          <a:ext cx="97533559" cy="26060400.0"/>
        </p:xfrm>
        <a:graphic>
          <a:graphicData uri="http://schemas.openxmlformats.org/drawingml/2006/table">
            <a:tbl>
              <a:tblPr firstRow="1" bandRow="1">
                <a:tableStyleId>{5C22544A-7EE6-4342-B048-85BDC9FD1C3A}</a:tableStyleId>
              </a:tblPr>
              <a:tblGrid>
                <a:gridCol w="42670932"/>
                <a:gridCol w="21945051"/>
                <a:gridCol w="32917576"/>
              </a:tblGrid>
              <a:tr h="3257550">
                <a:tc>
                  <a:txBody>
                    <a:bodyPr wrap="square"/>
                    <a:lstStyle/>
                    <a:p>
                      <a:pPr algn="l"/>
                      <a:r>
                        <a:rPr sz="1100">
                          <a:solidFill>
                            <a:srgbClr val="FFFFFF"/>
                          </a:solidFill>
                          <a:latin typeface="Calibri"/>
                        </a:rPr>
                        <a:t>Item</a:t>
                      </a:r>
                    </a:p>
                  </a:txBody>
                  <a:tcPr>
                    <a:solidFill>
                      <a:srgbClr val="8C5A2E"/>
                    </a:solidFill>
                  </a:tcPr>
                </a:tc>
                <a:tc>
                  <a:txBody>
                    <a:bodyPr wrap="square"/>
                    <a:lstStyle/>
                    <a:p>
                      <a:pPr algn="l"/>
                      <a:r>
                        <a:rPr sz="1100">
                          <a:solidFill>
                            <a:srgbClr val="FFFFFF"/>
                          </a:solidFill>
                          <a:latin typeface="Calibri"/>
                        </a:rPr>
                        <a:t>Amount (VND)</a:t>
                      </a:r>
                    </a:p>
                  </a:txBody>
                  <a:tcPr>
                    <a:solidFill>
                      <a:srgbClr val="8C5A2E"/>
                    </a:solidFill>
                  </a:tcPr>
                </a:tc>
                <a:tc>
                  <a:txBody>
                    <a:bodyPr wrap="square"/>
                    <a:lstStyle/>
                    <a:p>
                      <a:pPr algn="l"/>
                      <a:r>
                        <a:rPr sz="1100">
                          <a:solidFill>
                            <a:srgbClr val="FFFFFF"/>
                          </a:solidFill>
                          <a:latin typeface="Calibri"/>
                        </a:rPr>
                        <a:t>Notes</a:t>
                      </a:r>
                    </a:p>
                  </a:txBody>
                  <a:tcPr>
                    <a:solidFill>
                      <a:srgbClr val="8C5A2E"/>
                    </a:solidFill>
                  </a:tcPr>
                </a:tc>
              </a:tr>
              <a:tr h="3257550">
                <a:tc>
                  <a:txBody>
                    <a:bodyPr wrap="square"/>
                    <a:lstStyle/>
                    <a:p>
                      <a:pPr algn="l"/>
                      <a:r>
                        <a:rPr sz="1100">
                          <a:solidFill>
                            <a:srgbClr val="2B2419"/>
                          </a:solidFill>
                          <a:latin typeface="Calibri"/>
                        </a:rPr>
                        <a:t>Total Risk EMV (cost)</a:t>
                      </a:r>
                    </a:p>
                  </a:txBody>
                  <a:tcPr>
                    <a:solidFill>
                      <a:srgbClr val="F5EFE6"/>
                    </a:solidFill>
                  </a:tcPr>
                </a:tc>
                <a:tc>
                  <a:txBody>
                    <a:bodyPr wrap="square"/>
                    <a:lstStyle/>
                    <a:p>
                      <a:pPr algn="l"/>
                      <a:r>
                        <a:rPr sz="1100">
                          <a:solidFill>
                            <a:srgbClr val="2B2419"/>
                          </a:solidFill>
                          <a:latin typeface="Calibri"/>
                        </a:rPr>
                        <a:t>3,080,000</a:t>
                      </a:r>
                    </a:p>
                  </a:txBody>
                  <a:tcPr>
                    <a:solidFill>
                      <a:srgbClr val="F5EFE6"/>
                    </a:solidFill>
                  </a:tcPr>
                </a:tc>
                <a:tc>
                  <a:txBody>
                    <a:bodyPr wrap="square"/>
                    <a:lstStyle/>
                    <a:p>
                      <a:pPr algn="l"/>
                      <a:r>
                        <a:rPr sz="1100">
                          <a:solidFill>
                            <a:srgbClr val="2B2419"/>
                          </a:solidFill>
                          <a:latin typeface="Calibri"/>
                        </a:rPr>
                        <a:t>From risk register Table 14</a:t>
                      </a:r>
                    </a:p>
                  </a:txBody>
                  <a:tcPr>
                    <a:solidFill>
                      <a:srgbClr val="F5EFE6"/>
                    </a:solidFill>
                  </a:tcPr>
                </a:tc>
              </a:tr>
              <a:tr h="3257550">
                <a:tc>
                  <a:txBody>
                    <a:bodyPr wrap="square"/>
                    <a:lstStyle/>
                    <a:p>
                      <a:pPr algn="l"/>
                      <a:r>
                        <a:rPr sz="1100">
                          <a:solidFill>
                            <a:srgbClr val="2B2419"/>
                          </a:solidFill>
                          <a:latin typeface="Calibri"/>
                        </a:rPr>
                        <a:t>Contingency reserve (10% of labor)</a:t>
                      </a:r>
                    </a:p>
                  </a:txBody>
                  <a:tcPr>
                    <a:solidFill>
                      <a:srgbClr val="F5EFE6"/>
                    </a:solidFill>
                  </a:tcPr>
                </a:tc>
                <a:tc>
                  <a:txBody>
                    <a:bodyPr wrap="square"/>
                    <a:lstStyle/>
                    <a:p>
                      <a:pPr algn="l"/>
                      <a:r>
                        <a:rPr sz="1100">
                          <a:solidFill>
                            <a:srgbClr val="2B2419"/>
                          </a:solidFill>
                          <a:latin typeface="Calibri"/>
                        </a:rPr>
                        <a:t>2,400,000</a:t>
                      </a:r>
                    </a:p>
                  </a:txBody>
                  <a:tcPr>
                    <a:solidFill>
                      <a:srgbClr val="F5EFE6"/>
                    </a:solidFill>
                  </a:tcPr>
                </a:tc>
                <a:tc>
                  <a:txBody>
                    <a:bodyPr wrap="square"/>
                    <a:lstStyle/>
                    <a:p>
                      <a:pPr algn="l"/>
                      <a:r>
                        <a:rPr sz="1100">
                          <a:solidFill>
                            <a:srgbClr val="2B2419"/>
                          </a:solidFill>
                          <a:latin typeface="Calibri"/>
                        </a:rPr>
                        <a:t>From budget baseline Table 10</a:t>
                      </a:r>
                    </a:p>
                  </a:txBody>
                  <a:tcPr>
                    <a:solidFill>
                      <a:srgbClr val="F5EFE6"/>
                    </a:solidFill>
                  </a:tcPr>
                </a:tc>
              </a:tr>
              <a:tr h="3257550">
                <a:tc>
                  <a:txBody>
                    <a:bodyPr wrap="square"/>
                    <a:lstStyle/>
                    <a:p>
                      <a:pPr algn="l"/>
                      <a:r>
                        <a:rPr sz="1100">
                          <a:solidFill>
                            <a:srgbClr val="2B2419"/>
                          </a:solidFill>
                          <a:latin typeface="Calibri"/>
                        </a:rPr>
                        <a:t>Gap (EMV − Contingency)</a:t>
                      </a:r>
                    </a:p>
                  </a:txBody>
                  <a:tcPr>
                    <a:solidFill>
                      <a:srgbClr val="F5EFE6"/>
                    </a:solidFill>
                  </a:tcPr>
                </a:tc>
                <a:tc>
                  <a:txBody>
                    <a:bodyPr wrap="square"/>
                    <a:lstStyle/>
                    <a:p>
                      <a:pPr algn="l"/>
                      <a:r>
                        <a:rPr sz="1100">
                          <a:solidFill>
                            <a:srgbClr val="2B2419"/>
                          </a:solidFill>
                          <a:latin typeface="Calibri"/>
                        </a:rPr>
                        <a:t>680,000</a:t>
                      </a:r>
                    </a:p>
                  </a:txBody>
                  <a:tcPr>
                    <a:solidFill>
                      <a:srgbClr val="F5EFE6"/>
                    </a:solidFill>
                  </a:tcPr>
                </a:tc>
                <a:tc>
                  <a:txBody>
                    <a:bodyPr wrap="square"/>
                    <a:lstStyle/>
                    <a:p>
                      <a:pPr algn="l"/>
                      <a:r>
                        <a:rPr sz="1100">
                          <a:solidFill>
                            <a:srgbClr val="2B2419"/>
                          </a:solidFill>
                          <a:latin typeface="Calibri"/>
                        </a:rPr>
                        <a:t>EMV exceeds contingency</a:t>
                      </a:r>
                    </a:p>
                  </a:txBody>
                  <a:tcPr>
                    <a:solidFill>
                      <a:srgbClr val="F5EFE6"/>
                    </a:solidFill>
                  </a:tcPr>
                </a:tc>
              </a:tr>
              <a:tr h="3257550">
                <a:tc>
                  <a:txBody>
                    <a:bodyPr wrap="square"/>
                    <a:lstStyle/>
                    <a:p>
                      <a:pPr algn="l"/>
                      <a:r>
                        <a:rPr sz="1100">
                          <a:solidFill>
                            <a:srgbClr val="2B2419"/>
                          </a:solidFill>
                          <a:latin typeface="Calibri"/>
                        </a:rPr>
                        <a:t>Management reserve (from G&amp;A buffer)</a:t>
                      </a:r>
                    </a:p>
                  </a:txBody>
                  <a:tcPr>
                    <a:solidFill>
                      <a:srgbClr val="F0E9DD"/>
                    </a:solidFill>
                  </a:tcPr>
                </a:tc>
                <a:tc>
                  <a:txBody>
                    <a:bodyPr wrap="square"/>
                    <a:lstStyle/>
                    <a:p>
                      <a:pPr algn="l"/>
                      <a:r>
                        <a:rPr sz="1100">
                          <a:solidFill>
                            <a:srgbClr val="2B2419"/>
                          </a:solidFill>
                          <a:latin typeface="Calibri"/>
                        </a:rPr>
                        <a:t>+ 680,000</a:t>
                      </a:r>
                    </a:p>
                  </a:txBody>
                  <a:tcPr>
                    <a:solidFill>
                      <a:srgbClr val="F0E9DD"/>
                    </a:solidFill>
                  </a:tcPr>
                </a:tc>
                <a:tc>
                  <a:txBody>
                    <a:bodyPr wrap="square"/>
                    <a:lstStyle/>
                    <a:p>
                      <a:pPr algn="l"/>
                      <a:r>
                        <a:rPr sz="1100">
                          <a:solidFill>
                            <a:srgbClr val="2B2419"/>
                          </a:solidFill>
                          <a:latin typeface="Calibri"/>
                        </a:rPr>
                        <a:t>Drawn from G&amp;A; approved by PM</a:t>
                      </a:r>
                    </a:p>
                  </a:txBody>
                  <a:tcPr>
                    <a:solidFill>
                      <a:srgbClr val="F0E9DD"/>
                    </a:solidFill>
                  </a:tcPr>
                </a:tc>
              </a:tr>
              <a:tr h="3257550">
                <a:tc>
                  <a:txBody>
                    <a:bodyPr wrap="square"/>
                    <a:lstStyle/>
                    <a:p>
                      <a:pPr algn="l"/>
                      <a:r>
                        <a:rPr sz="1100">
                          <a:solidFill>
                            <a:srgbClr val="2B2419"/>
                          </a:solidFill>
                          <a:latin typeface="Calibri"/>
                        </a:rPr>
                        <a:t>Adjusted G&amp;A (reduced from 2,400,000)</a:t>
                      </a:r>
                    </a:p>
                  </a:txBody>
                  <a:tcPr>
                    <a:solidFill>
                      <a:srgbClr val="F5EFE6"/>
                    </a:solidFill>
                  </a:tcPr>
                </a:tc>
                <a:tc>
                  <a:txBody>
                    <a:bodyPr wrap="square"/>
                    <a:lstStyle/>
                    <a:p>
                      <a:pPr algn="l"/>
                      <a:r>
                        <a:rPr sz="1100">
                          <a:solidFill>
                            <a:srgbClr val="2B2419"/>
                          </a:solidFill>
                          <a:latin typeface="Calibri"/>
                        </a:rPr>
                        <a:t>1,720,000</a:t>
                      </a:r>
                    </a:p>
                  </a:txBody>
                  <a:tcPr>
                    <a:solidFill>
                      <a:srgbClr val="F5EFE6"/>
                    </a:solidFill>
                  </a:tcPr>
                </a:tc>
                <a:tc>
                  <a:txBody>
                    <a:bodyPr wrap="square"/>
                    <a:lstStyle/>
                    <a:p>
                      <a:pPr algn="l"/>
                      <a:r>
                        <a:rPr sz="1100">
                          <a:solidFill>
                            <a:srgbClr val="2B2419"/>
                          </a:solidFill>
                          <a:latin typeface="Calibri"/>
                        </a:rPr>
                        <a:t>G&amp;A reduced by 680,000</a:t>
                      </a:r>
                    </a:p>
                  </a:txBody>
                  <a:tcPr>
                    <a:solidFill>
                      <a:srgbClr val="F5EFE6"/>
                    </a:solidFill>
                  </a:tcPr>
                </a:tc>
              </a:tr>
              <a:tr h="3257550">
                <a:tc>
                  <a:txBody>
                    <a:bodyPr wrap="square"/>
                    <a:lstStyle/>
                    <a:p>
                      <a:pPr algn="l"/>
                      <a:r>
                        <a:rPr sz="1100">
                          <a:solidFill>
                            <a:srgbClr val="2B2419"/>
                          </a:solidFill>
                          <a:latin typeface="Calibri"/>
                        </a:rPr>
                        <a:t>TOTAL RISK COVERAGE</a:t>
                      </a:r>
                    </a:p>
                  </a:txBody>
                  <a:tcPr>
                    <a:solidFill>
                      <a:srgbClr val="F5EFE6"/>
                    </a:solidFill>
                  </a:tcPr>
                </a:tc>
                <a:tc>
                  <a:txBody>
                    <a:bodyPr wrap="square"/>
                    <a:lstStyle/>
                    <a:p>
                      <a:pPr algn="l"/>
                      <a:r>
                        <a:rPr sz="1100">
                          <a:solidFill>
                            <a:srgbClr val="2B2419"/>
                          </a:solidFill>
                          <a:latin typeface="Calibri"/>
                        </a:rPr>
                        <a:t>3,080,000 VND</a:t>
                      </a:r>
                    </a:p>
                  </a:txBody>
                  <a:tcPr>
                    <a:solidFill>
                      <a:srgbClr val="F5EFE6"/>
                    </a:solidFill>
                  </a:tcPr>
                </a:tc>
                <a:tc>
                  <a:txBody>
                    <a:bodyPr wrap="square"/>
                    <a:lstStyle/>
                    <a:p>
                      <a:pPr algn="l"/>
                      <a:r>
                        <a:rPr sz="1100">
                          <a:solidFill>
                            <a:srgbClr val="2B2419"/>
                          </a:solidFill>
                          <a:latin typeface="Calibri"/>
                        </a:rPr>
                        <a:t>Full EMV covered ✓</a:t>
                      </a:r>
                    </a:p>
                  </a:txBody>
                  <a:tcPr>
                    <a:solidFill>
                      <a:srgbClr val="F5EFE6"/>
                    </a:solidFill>
                  </a:tcPr>
                </a:tc>
              </a:tr>
              <a:tr h="3257550">
                <a:tc>
                  <a:txBody>
                    <a:bodyPr wrap="square"/>
                    <a:lstStyle/>
                    <a:p>
                      <a:pPr algn="l"/>
                      <a:r>
                        <a:rPr sz="1100">
                          <a:solidFill>
                            <a:srgbClr val="2B2419"/>
                          </a:solidFill>
                          <a:latin typeface="Calibri"/>
                        </a:rPr>
                        <a:t>Budget at Completion (unchanged)</a:t>
                      </a:r>
                    </a:p>
                  </a:txBody>
                  <a:tcPr>
                    <a:solidFill>
                      <a:srgbClr val="E8D5BC"/>
                    </a:solidFill>
                  </a:tcPr>
                </a:tc>
                <a:tc>
                  <a:txBody>
                    <a:bodyPr wrap="square"/>
                    <a:lstStyle/>
                    <a:p>
                      <a:pPr algn="l"/>
                      <a:r>
                        <a:rPr sz="1100">
                          <a:solidFill>
                            <a:srgbClr val="2B2419"/>
                          </a:solidFill>
                          <a:latin typeface="Calibri"/>
                        </a:rPr>
                        <a:t>33,600,000</a:t>
                      </a:r>
                    </a:p>
                  </a:txBody>
                  <a:tcPr>
                    <a:solidFill>
                      <a:srgbClr val="E8D5BC"/>
                    </a:solidFill>
                  </a:tcPr>
                </a:tc>
                <a:tc>
                  <a:txBody>
                    <a:bodyPr wrap="square"/>
                    <a:lstStyle/>
                    <a:p>
                      <a:pPr algn="l"/>
                      <a:r>
                        <a:rPr sz="1100">
                          <a:solidFill>
                            <a:srgbClr val="2B2419"/>
                          </a:solidFill>
                          <a:latin typeface="Calibri"/>
                        </a:rPr>
                        <a:t>Total budget unchanged</a:t>
                      </a:r>
                    </a:p>
                  </a:txBody>
                  <a:tcPr>
                    <a:solidFill>
                      <a:srgbClr val="E8D5BC"/>
                    </a:solidFill>
                  </a:tcPr>
                </a:tc>
              </a:tr>
            </a:tbl>
          </a:graphicData>
        </a:graphic>
      </p:graphicFrame>
      <p:sp>
        <p:nvSpPr>
          <p:cNvPr id="10" name="Rectangle 9"/>
          <p:cNvSpPr/>
          <p:nvPr/>
        </p:nvSpPr>
        <p:spPr>
          <a:xfrm>
            <a:off x="9" y="1"/>
            <a:ext cx="4" cy="2"/>
          </a:xfrm>
          <a:prstGeom prst="rect">
            <a:avLst/>
          </a:prstGeom>
          <a:solidFill>
            <a:srgbClr val="8C5A2E"/>
          </a:solidFill>
          <a:ln w="12700">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 y="1"/>
            <a:ext cx="3" cy="3086100"/>
          </a:xfrm>
          <a:prstGeom prst="rect">
            <a:avLst/>
          </a:prstGeom>
          <a:noFill/>
        </p:spPr>
        <p:txBody>
          <a:bodyPr wrap="square">
            <a:spAutoFit/>
          </a:bodyPr>
          <a:lstStyle/>
          <a:p>
            <a:pPr algn="ctr"/>
            <a:r>
              <a:rPr sz="1100" b="0" i="0">
                <a:solidFill>
                  <a:srgbClr val="FFFFFF"/>
                </a:solidFill>
                <a:latin typeface="Calibri"/>
              </a:rPr>
              <a:t>EMV = Contingency + Mgmt Reserve</a:t>
            </a:r>
          </a:p>
        </p:txBody>
      </p:sp>
      <p:sp>
        <p:nvSpPr>
          <p:cNvPr id="12" name="TextBox 11"/>
          <p:cNvSpPr txBox="1"/>
          <p:nvPr/>
        </p:nvSpPr>
        <p:spPr>
          <a:xfrm>
            <a:off x="9" y="2"/>
            <a:ext cx="3" cy="4800600"/>
          </a:xfrm>
          <a:prstGeom prst="rect">
            <a:avLst/>
          </a:prstGeom>
          <a:noFill/>
        </p:spPr>
        <p:txBody>
          <a:bodyPr wrap="square">
            <a:spAutoFit/>
          </a:bodyPr>
          <a:lstStyle/>
          <a:p>
            <a:pPr algn="ctr"/>
            <a:r>
              <a:rPr sz="3200" b="1" i="0">
                <a:solidFill>
                  <a:srgbClr val="FFFFFF"/>
                </a:solidFill>
                <a:latin typeface="Georgia"/>
              </a:rPr>
              <a:t>3,080,000</a:t>
            </a:r>
          </a:p>
        </p:txBody>
      </p:sp>
      <p:sp>
        <p:nvSpPr>
          <p:cNvPr id="13" name="TextBox 12"/>
          <p:cNvSpPr txBox="1"/>
          <p:nvPr/>
        </p:nvSpPr>
        <p:spPr>
          <a:xfrm>
            <a:off x="9" y="2"/>
            <a:ext cx="3" cy="2057400"/>
          </a:xfrm>
          <a:prstGeom prst="rect">
            <a:avLst/>
          </a:prstGeom>
          <a:noFill/>
        </p:spPr>
        <p:txBody>
          <a:bodyPr wrap="square">
            <a:spAutoFit/>
          </a:bodyPr>
          <a:lstStyle/>
          <a:p>
            <a:pPr algn="ctr"/>
            <a:r>
              <a:rPr sz="1400" b="0" i="0">
                <a:solidFill>
                  <a:srgbClr val="FFFFFF"/>
                </a:solidFill>
                <a:latin typeface="Calibri"/>
              </a:rPr>
              <a:t>VND</a:t>
            </a:r>
          </a:p>
        </p:txBody>
      </p:sp>
      <p:sp>
        <p:nvSpPr>
          <p:cNvPr id="14" name="TextBox 13"/>
          <p:cNvSpPr txBox="1"/>
          <p:nvPr/>
        </p:nvSpPr>
        <p:spPr>
          <a:xfrm>
            <a:off x="9" y="3"/>
            <a:ext cx="3" cy="2057400"/>
          </a:xfrm>
          <a:prstGeom prst="rect">
            <a:avLst/>
          </a:prstGeom>
          <a:noFill/>
        </p:spPr>
        <p:txBody>
          <a:bodyPr wrap="square">
            <a:spAutoFit/>
          </a:bodyPr>
          <a:lstStyle/>
          <a:p>
            <a:pPr algn="ctr"/>
            <a:r>
              <a:rPr sz="1100" b="0" i="1">
                <a:solidFill>
                  <a:srgbClr val="FFFFFF"/>
                </a:solidFill>
                <a:latin typeface="Calibri"/>
              </a:rPr>
              <a:t>= 2,400,000 + 680,000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356" y="1"/>
            <a:ext cx="2" cy="1"/>
          </a:xfrm>
          <a:prstGeom prst="rect">
            <a:avLst/>
          </a:prstGeom>
          <a:noFill/>
        </p:spPr>
        <p:txBody>
          <a:bodyPr wrap="square">
            <a:spAutoFit/>
          </a:bodyPr>
          <a:lstStyle/>
          <a:p>
            <a:pPr algn="l"/>
            <a:r>
              <a:rPr sz="12000" b="0" i="1">
                <a:solidFill>
                  <a:srgbClr val="8C5A2E"/>
                </a:solidFill>
                <a:latin typeface="Georgia"/>
              </a:rPr>
              <a:t>§</a:t>
            </a:r>
          </a:p>
        </p:txBody>
      </p:sp>
      <p:sp>
        <p:nvSpPr>
          <p:cNvPr id="6" name="TextBox 5"/>
          <p:cNvSpPr txBox="1"/>
          <p:nvPr/>
        </p:nvSpPr>
        <p:spPr>
          <a:xfrm>
            <a:off x="2" y="1"/>
            <a:ext cx="2" cy="1"/>
          </a:xfrm>
          <a:prstGeom prst="rect">
            <a:avLst/>
          </a:prstGeom>
          <a:noFill/>
        </p:spPr>
        <p:txBody>
          <a:bodyPr wrap="square">
            <a:spAutoFit/>
          </a:bodyPr>
          <a:lstStyle/>
          <a:p>
            <a:pPr algn="l"/>
            <a:r>
              <a:rPr sz="4800" b="0" i="1">
                <a:solidFill>
                  <a:srgbClr val="E8D5BC"/>
                </a:solidFill>
                <a:latin typeface="Georgia"/>
              </a:rPr>
              <a:t>VI</a:t>
            </a:r>
          </a:p>
        </p:txBody>
      </p:sp>
      <p:sp>
        <p:nvSpPr>
          <p:cNvPr id="7" name="TextBox 6"/>
          <p:cNvSpPr txBox="1"/>
          <p:nvPr/>
        </p:nvSpPr>
        <p:spPr>
          <a:xfrm>
            <a:off x="9753356" y="3"/>
            <a:ext cx="11" cy="1"/>
          </a:xfrm>
          <a:prstGeom prst="rect">
            <a:avLst/>
          </a:prstGeom>
          <a:noFill/>
        </p:spPr>
        <p:txBody>
          <a:bodyPr wrap="square">
            <a:spAutoFit/>
          </a:bodyPr>
          <a:lstStyle/>
          <a:p>
            <a:pPr algn="l"/>
            <a:r>
              <a:rPr sz="4400" b="1" i="0">
                <a:solidFill>
                  <a:srgbClr val="2B2419"/>
                </a:solidFill>
                <a:latin typeface="Georgia"/>
              </a:rPr>
              <a:t>Communication &amp; Collaboration</a:t>
            </a:r>
          </a:p>
        </p:txBody>
      </p:sp>
      <p:sp>
        <p:nvSpPr>
          <p:cNvPr id="8" name="TextBox 7"/>
          <p:cNvSpPr txBox="1"/>
          <p:nvPr/>
        </p:nvSpPr>
        <p:spPr>
          <a:xfrm>
            <a:off x="9753356" y="4"/>
            <a:ext cx="10" cy="3429000"/>
          </a:xfrm>
          <a:prstGeom prst="rect">
            <a:avLst/>
          </a:prstGeom>
          <a:noFill/>
        </p:spPr>
        <p:txBody>
          <a:bodyPr wrap="square">
            <a:spAutoFit/>
          </a:bodyPr>
          <a:lstStyle/>
          <a:p>
            <a:pPr algn="l"/>
            <a:r>
              <a:rPr sz="1400" b="0" i="1">
                <a:solidFill>
                  <a:srgbClr val="8A7A66"/>
                </a:solidFill>
                <a:latin typeface="Calibri"/>
              </a:rPr>
              <a:t>CLO 4, 5, 8, 9, 12 · Ch. 9, 11, 12</a:t>
            </a:r>
          </a:p>
        </p:txBody>
      </p:sp>
      <p:sp>
        <p:nvSpPr>
          <p:cNvPr id="9" name="Rectangle 8"/>
          <p:cNvSpPr/>
          <p:nvPr/>
        </p:nvSpPr>
        <p:spPr>
          <a:xfrm>
            <a:off x="975335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COMMUNICATION</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Conflict Resolution &amp; Stakeholder Strategy</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16 / 24</a:t>
            </a:r>
          </a:p>
        </p:txBody>
      </p:sp>
      <p:sp>
        <p:nvSpPr>
          <p:cNvPr id="9" name="TextBox 8"/>
          <p:cNvSpPr txBox="1"/>
          <p:nvPr/>
        </p:nvSpPr>
        <p:spPr>
          <a:xfrm>
            <a:off x="8534186" y="1"/>
            <a:ext cx="6" cy="2743200"/>
          </a:xfrm>
          <a:prstGeom prst="rect">
            <a:avLst/>
          </a:prstGeom>
          <a:noFill/>
        </p:spPr>
        <p:txBody>
          <a:bodyPr wrap="square">
            <a:spAutoFit/>
          </a:bodyPr>
          <a:lstStyle/>
          <a:p>
            <a:pPr algn="l"/>
            <a:r>
              <a:rPr sz="1600" b="1" i="0">
                <a:solidFill>
                  <a:srgbClr val="2B2419"/>
                </a:solidFill>
                <a:latin typeface="Georgia"/>
              </a:rPr>
              <a:t>6-Step Conflict Resolution</a:t>
            </a:r>
          </a:p>
        </p:txBody>
      </p:sp>
      <p:sp>
        <p:nvSpPr>
          <p:cNvPr id="10" name="Rectangle 9"/>
          <p:cNvSpPr/>
          <p:nvPr/>
        </p:nvSpPr>
        <p:spPr>
          <a:xfrm>
            <a:off x="8534186" y="2"/>
            <a:ext cx="4876678" cy="44577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34186" y="2"/>
            <a:ext cx="4876678" cy="4457700"/>
          </a:xfrm>
          <a:prstGeom prst="rect">
            <a:avLst/>
          </a:prstGeom>
          <a:noFill/>
        </p:spPr>
        <p:txBody>
          <a:bodyPr wrap="square">
            <a:spAutoFit/>
          </a:bodyPr>
          <a:lstStyle/>
          <a:p>
            <a:pPr algn="ctr"/>
            <a:r>
              <a:rPr sz="1800" b="1" i="0">
                <a:solidFill>
                  <a:srgbClr val="FFFFFF"/>
                </a:solidFill>
                <a:latin typeface="Georgia"/>
              </a:rPr>
              <a:t>1</a:t>
            </a:r>
          </a:p>
        </p:txBody>
      </p:sp>
      <p:sp>
        <p:nvSpPr>
          <p:cNvPr id="12" name="TextBox 11"/>
          <p:cNvSpPr txBox="1"/>
          <p:nvPr/>
        </p:nvSpPr>
        <p:spPr>
          <a:xfrm>
            <a:off x="1" y="2"/>
            <a:ext cx="2" cy="2057400"/>
          </a:xfrm>
          <a:prstGeom prst="rect">
            <a:avLst/>
          </a:prstGeom>
          <a:noFill/>
        </p:spPr>
        <p:txBody>
          <a:bodyPr wrap="square">
            <a:spAutoFit/>
          </a:bodyPr>
          <a:lstStyle/>
          <a:p>
            <a:pPr algn="l"/>
            <a:r>
              <a:rPr sz="1100" b="1" i="0">
                <a:solidFill>
                  <a:srgbClr val="2B2419"/>
                </a:solidFill>
                <a:latin typeface="Calibri"/>
              </a:rPr>
              <a:t>Identify root causes</a:t>
            </a:r>
          </a:p>
        </p:txBody>
      </p:sp>
      <p:sp>
        <p:nvSpPr>
          <p:cNvPr id="13" name="TextBox 12"/>
          <p:cNvSpPr txBox="1"/>
          <p:nvPr/>
        </p:nvSpPr>
        <p:spPr>
          <a:xfrm>
            <a:off x="1" y="2"/>
            <a:ext cx="5" cy="2743200"/>
          </a:xfrm>
          <a:prstGeom prst="rect">
            <a:avLst/>
          </a:prstGeom>
          <a:noFill/>
        </p:spPr>
        <p:txBody>
          <a:bodyPr wrap="square">
            <a:spAutoFit/>
          </a:bodyPr>
          <a:lstStyle/>
          <a:p>
            <a:pPr algn="l"/>
            <a:r>
              <a:rPr sz="1000" b="0" i="0">
                <a:solidFill>
                  <a:srgbClr val="5C4F3F"/>
                </a:solidFill>
                <a:latin typeface="Calibri"/>
              </a:rPr>
              <a:t>PM calls private session; each party states position in one sentence</a:t>
            </a:r>
          </a:p>
        </p:txBody>
      </p:sp>
      <p:sp>
        <p:nvSpPr>
          <p:cNvPr id="14" name="Rectangle 13"/>
          <p:cNvSpPr/>
          <p:nvPr/>
        </p:nvSpPr>
        <p:spPr>
          <a:xfrm>
            <a:off x="8534186" y="2"/>
            <a:ext cx="4876678" cy="44577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4186" y="2"/>
            <a:ext cx="4876678" cy="4457700"/>
          </a:xfrm>
          <a:prstGeom prst="rect">
            <a:avLst/>
          </a:prstGeom>
          <a:noFill/>
        </p:spPr>
        <p:txBody>
          <a:bodyPr wrap="square">
            <a:spAutoFit/>
          </a:bodyPr>
          <a:lstStyle/>
          <a:p>
            <a:pPr algn="ctr"/>
            <a:r>
              <a:rPr sz="1800" b="1" i="0">
                <a:solidFill>
                  <a:srgbClr val="FFFFFF"/>
                </a:solidFill>
                <a:latin typeface="Georgia"/>
              </a:rPr>
              <a:t>2</a:t>
            </a:r>
          </a:p>
        </p:txBody>
      </p:sp>
      <p:sp>
        <p:nvSpPr>
          <p:cNvPr id="16" name="TextBox 15"/>
          <p:cNvSpPr txBox="1"/>
          <p:nvPr/>
        </p:nvSpPr>
        <p:spPr>
          <a:xfrm>
            <a:off x="1" y="2"/>
            <a:ext cx="2" cy="2057400"/>
          </a:xfrm>
          <a:prstGeom prst="rect">
            <a:avLst/>
          </a:prstGeom>
          <a:noFill/>
        </p:spPr>
        <p:txBody>
          <a:bodyPr wrap="square">
            <a:spAutoFit/>
          </a:bodyPr>
          <a:lstStyle/>
          <a:p>
            <a:pPr algn="l"/>
            <a:r>
              <a:rPr sz="1100" b="1" i="0">
                <a:solidFill>
                  <a:srgbClr val="2B2419"/>
                </a:solidFill>
                <a:latin typeface="Calibri"/>
              </a:rPr>
              <a:t>Gather facts</a:t>
            </a:r>
          </a:p>
        </p:txBody>
      </p:sp>
      <p:sp>
        <p:nvSpPr>
          <p:cNvPr id="17" name="TextBox 16"/>
          <p:cNvSpPr txBox="1"/>
          <p:nvPr/>
        </p:nvSpPr>
        <p:spPr>
          <a:xfrm>
            <a:off x="1" y="3"/>
            <a:ext cx="5" cy="2743200"/>
          </a:xfrm>
          <a:prstGeom prst="rect">
            <a:avLst/>
          </a:prstGeom>
          <a:noFill/>
        </p:spPr>
        <p:txBody>
          <a:bodyPr wrap="square">
            <a:spAutoFit/>
          </a:bodyPr>
          <a:lstStyle/>
          <a:p>
            <a:pPr algn="l"/>
            <a:r>
              <a:rPr sz="1000" b="0" i="0">
                <a:solidFill>
                  <a:srgbClr val="5C4F3F"/>
                </a:solidFill>
                <a:latin typeface="Calibri"/>
              </a:rPr>
              <a:t>Review task logs, commit history, WBS — no hearsay</a:t>
            </a:r>
          </a:p>
        </p:txBody>
      </p:sp>
      <p:sp>
        <p:nvSpPr>
          <p:cNvPr id="18" name="Rectangle 17"/>
          <p:cNvSpPr/>
          <p:nvPr/>
        </p:nvSpPr>
        <p:spPr>
          <a:xfrm>
            <a:off x="8534186" y="3"/>
            <a:ext cx="4876678" cy="44577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4186" y="3"/>
            <a:ext cx="4876678" cy="4457700"/>
          </a:xfrm>
          <a:prstGeom prst="rect">
            <a:avLst/>
          </a:prstGeom>
          <a:noFill/>
        </p:spPr>
        <p:txBody>
          <a:bodyPr wrap="square">
            <a:spAutoFit/>
          </a:bodyPr>
          <a:lstStyle/>
          <a:p>
            <a:pPr algn="ctr"/>
            <a:r>
              <a:rPr sz="1800" b="1" i="0">
                <a:solidFill>
                  <a:srgbClr val="FFFFFF"/>
                </a:solidFill>
                <a:latin typeface="Georgia"/>
              </a:rPr>
              <a:t>3</a:t>
            </a:r>
          </a:p>
        </p:txBody>
      </p:sp>
      <p:sp>
        <p:nvSpPr>
          <p:cNvPr id="20" name="TextBox 19"/>
          <p:cNvSpPr txBox="1"/>
          <p:nvPr/>
        </p:nvSpPr>
        <p:spPr>
          <a:xfrm>
            <a:off x="1" y="3"/>
            <a:ext cx="2" cy="2057400"/>
          </a:xfrm>
          <a:prstGeom prst="rect">
            <a:avLst/>
          </a:prstGeom>
          <a:noFill/>
        </p:spPr>
        <p:txBody>
          <a:bodyPr wrap="square">
            <a:spAutoFit/>
          </a:bodyPr>
          <a:lstStyle/>
          <a:p>
            <a:pPr algn="l"/>
            <a:r>
              <a:rPr sz="1100" b="1" i="0">
                <a:solidFill>
                  <a:srgbClr val="2B2419"/>
                </a:solidFill>
                <a:latin typeface="Calibri"/>
              </a:rPr>
              <a:t>Facilitate open discussion</a:t>
            </a:r>
          </a:p>
        </p:txBody>
      </p:sp>
      <p:sp>
        <p:nvSpPr>
          <p:cNvPr id="21" name="TextBox 20"/>
          <p:cNvSpPr txBox="1"/>
          <p:nvPr/>
        </p:nvSpPr>
        <p:spPr>
          <a:xfrm>
            <a:off x="1" y="3"/>
            <a:ext cx="5" cy="2743200"/>
          </a:xfrm>
          <a:prstGeom prst="rect">
            <a:avLst/>
          </a:prstGeom>
          <a:noFill/>
        </p:spPr>
        <p:txBody>
          <a:bodyPr wrap="square">
            <a:spAutoFit/>
          </a:bodyPr>
          <a:lstStyle/>
          <a:p>
            <a:pPr algn="l"/>
            <a:r>
              <a:rPr sz="1000" b="0" i="0">
                <a:solidFill>
                  <a:srgbClr val="5C4F3F"/>
                </a:solidFill>
                <a:latin typeface="Calibri"/>
              </a:rPr>
              <a:t>Moderated by PM; time-boxed to 15 min per issue</a:t>
            </a:r>
          </a:p>
        </p:txBody>
      </p:sp>
      <p:sp>
        <p:nvSpPr>
          <p:cNvPr id="22" name="Rectangle 21"/>
          <p:cNvSpPr/>
          <p:nvPr/>
        </p:nvSpPr>
        <p:spPr>
          <a:xfrm>
            <a:off x="8534186" y="4"/>
            <a:ext cx="4876678" cy="44577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34186" y="4"/>
            <a:ext cx="4876678" cy="4457700"/>
          </a:xfrm>
          <a:prstGeom prst="rect">
            <a:avLst/>
          </a:prstGeom>
          <a:noFill/>
        </p:spPr>
        <p:txBody>
          <a:bodyPr wrap="square">
            <a:spAutoFit/>
          </a:bodyPr>
          <a:lstStyle/>
          <a:p>
            <a:pPr algn="ctr"/>
            <a:r>
              <a:rPr sz="1800" b="1" i="0">
                <a:solidFill>
                  <a:srgbClr val="FFFFFF"/>
                </a:solidFill>
                <a:latin typeface="Georgia"/>
              </a:rPr>
              <a:t>4</a:t>
            </a:r>
          </a:p>
        </p:txBody>
      </p:sp>
      <p:sp>
        <p:nvSpPr>
          <p:cNvPr id="24" name="TextBox 23"/>
          <p:cNvSpPr txBox="1"/>
          <p:nvPr/>
        </p:nvSpPr>
        <p:spPr>
          <a:xfrm>
            <a:off x="1" y="4"/>
            <a:ext cx="2" cy="2057400"/>
          </a:xfrm>
          <a:prstGeom prst="rect">
            <a:avLst/>
          </a:prstGeom>
          <a:noFill/>
        </p:spPr>
        <p:txBody>
          <a:bodyPr wrap="square">
            <a:spAutoFit/>
          </a:bodyPr>
          <a:lstStyle/>
          <a:p>
            <a:pPr algn="l"/>
            <a:r>
              <a:rPr sz="1100" b="1" i="0">
                <a:solidFill>
                  <a:srgbClr val="2B2419"/>
                </a:solidFill>
                <a:latin typeface="Calibri"/>
              </a:rPr>
              <a:t>Focus on issues, not personalities</a:t>
            </a:r>
          </a:p>
        </p:txBody>
      </p:sp>
      <p:sp>
        <p:nvSpPr>
          <p:cNvPr id="25" name="TextBox 24"/>
          <p:cNvSpPr txBox="1"/>
          <p:nvPr/>
        </p:nvSpPr>
        <p:spPr>
          <a:xfrm>
            <a:off x="1" y="4"/>
            <a:ext cx="5" cy="2743200"/>
          </a:xfrm>
          <a:prstGeom prst="rect">
            <a:avLst/>
          </a:prstGeom>
          <a:noFill/>
        </p:spPr>
        <p:txBody>
          <a:bodyPr wrap="square">
            <a:spAutoFit/>
          </a:bodyPr>
          <a:lstStyle/>
          <a:p>
            <a:pPr algn="l"/>
            <a:r>
              <a:rPr sz="1000" b="0" i="0">
                <a:solidFill>
                  <a:srgbClr val="5C4F3F"/>
                </a:solidFill>
                <a:latin typeface="Calibri"/>
              </a:rPr>
              <a:t>PM enforces ground rules; redirect from 'you' to 'the decision'</a:t>
            </a:r>
          </a:p>
        </p:txBody>
      </p:sp>
      <p:sp>
        <p:nvSpPr>
          <p:cNvPr id="26" name="Rectangle 25"/>
          <p:cNvSpPr/>
          <p:nvPr/>
        </p:nvSpPr>
        <p:spPr>
          <a:xfrm>
            <a:off x="8534186" y="5"/>
            <a:ext cx="4876678" cy="44577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4186" y="5"/>
            <a:ext cx="4876678" cy="4457700"/>
          </a:xfrm>
          <a:prstGeom prst="rect">
            <a:avLst/>
          </a:prstGeom>
          <a:noFill/>
        </p:spPr>
        <p:txBody>
          <a:bodyPr wrap="square">
            <a:spAutoFit/>
          </a:bodyPr>
          <a:lstStyle/>
          <a:p>
            <a:pPr algn="ctr"/>
            <a:r>
              <a:rPr sz="1800" b="1" i="0">
                <a:solidFill>
                  <a:srgbClr val="FFFFFF"/>
                </a:solidFill>
                <a:latin typeface="Georgia"/>
              </a:rPr>
              <a:t>5</a:t>
            </a:r>
          </a:p>
        </p:txBody>
      </p:sp>
      <p:sp>
        <p:nvSpPr>
          <p:cNvPr id="28" name="TextBox 27"/>
          <p:cNvSpPr txBox="1"/>
          <p:nvPr/>
        </p:nvSpPr>
        <p:spPr>
          <a:xfrm>
            <a:off x="1" y="5"/>
            <a:ext cx="2" cy="2057400"/>
          </a:xfrm>
          <a:prstGeom prst="rect">
            <a:avLst/>
          </a:prstGeom>
          <a:noFill/>
        </p:spPr>
        <p:txBody>
          <a:bodyPr wrap="square">
            <a:spAutoFit/>
          </a:bodyPr>
          <a:lstStyle/>
          <a:p>
            <a:pPr algn="l"/>
            <a:r>
              <a:rPr sz="1100" b="1" i="0">
                <a:solidFill>
                  <a:srgbClr val="2B2419"/>
                </a:solidFill>
                <a:latin typeface="Calibri"/>
              </a:rPr>
              <a:t>Seek win-win resolutions</a:t>
            </a:r>
          </a:p>
        </p:txBody>
      </p:sp>
      <p:sp>
        <p:nvSpPr>
          <p:cNvPr id="29" name="TextBox 28"/>
          <p:cNvSpPr txBox="1"/>
          <p:nvPr/>
        </p:nvSpPr>
        <p:spPr>
          <a:xfrm>
            <a:off x="1" y="5"/>
            <a:ext cx="5" cy="2743200"/>
          </a:xfrm>
          <a:prstGeom prst="rect">
            <a:avLst/>
          </a:prstGeom>
          <a:noFill/>
        </p:spPr>
        <p:txBody>
          <a:bodyPr wrap="square">
            <a:spAutoFit/>
          </a:bodyPr>
          <a:lstStyle/>
          <a:p>
            <a:pPr algn="l"/>
            <a:r>
              <a:rPr sz="1000" b="0" i="0">
                <a:solidFill>
                  <a:srgbClr val="5C4F3F"/>
                </a:solidFill>
                <a:latin typeface="Calibri"/>
              </a:rPr>
              <a:t>Explore trade-offs; document rationale</a:t>
            </a:r>
          </a:p>
        </p:txBody>
      </p:sp>
      <p:sp>
        <p:nvSpPr>
          <p:cNvPr id="30" name="Rectangle 29"/>
          <p:cNvSpPr/>
          <p:nvPr/>
        </p:nvSpPr>
        <p:spPr>
          <a:xfrm>
            <a:off x="8534186" y="5"/>
            <a:ext cx="4876678" cy="44577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34186" y="5"/>
            <a:ext cx="4876678" cy="4457700"/>
          </a:xfrm>
          <a:prstGeom prst="rect">
            <a:avLst/>
          </a:prstGeom>
          <a:noFill/>
        </p:spPr>
        <p:txBody>
          <a:bodyPr wrap="square">
            <a:spAutoFit/>
          </a:bodyPr>
          <a:lstStyle/>
          <a:p>
            <a:pPr algn="ctr"/>
            <a:r>
              <a:rPr sz="1800" b="1" i="0">
                <a:solidFill>
                  <a:srgbClr val="FFFFFF"/>
                </a:solidFill>
                <a:latin typeface="Georgia"/>
              </a:rPr>
              <a:t>6</a:t>
            </a:r>
          </a:p>
        </p:txBody>
      </p:sp>
      <p:sp>
        <p:nvSpPr>
          <p:cNvPr id="32" name="TextBox 31"/>
          <p:cNvSpPr txBox="1"/>
          <p:nvPr/>
        </p:nvSpPr>
        <p:spPr>
          <a:xfrm>
            <a:off x="1" y="5"/>
            <a:ext cx="2" cy="2057400"/>
          </a:xfrm>
          <a:prstGeom prst="rect">
            <a:avLst/>
          </a:prstGeom>
          <a:noFill/>
        </p:spPr>
        <p:txBody>
          <a:bodyPr wrap="square">
            <a:spAutoFit/>
          </a:bodyPr>
          <a:lstStyle/>
          <a:p>
            <a:pPr algn="l"/>
            <a:r>
              <a:rPr sz="1100" b="1" i="0">
                <a:solidFill>
                  <a:srgbClr val="2B2419"/>
                </a:solidFill>
                <a:latin typeface="Calibri"/>
              </a:rPr>
              <a:t>Document agreements</a:t>
            </a:r>
          </a:p>
        </p:txBody>
      </p:sp>
      <p:sp>
        <p:nvSpPr>
          <p:cNvPr id="33" name="TextBox 32"/>
          <p:cNvSpPr txBox="1"/>
          <p:nvPr/>
        </p:nvSpPr>
        <p:spPr>
          <a:xfrm>
            <a:off x="1" y="6"/>
            <a:ext cx="5" cy="2743200"/>
          </a:xfrm>
          <a:prstGeom prst="rect">
            <a:avLst/>
          </a:prstGeom>
          <a:noFill/>
        </p:spPr>
        <p:txBody>
          <a:bodyPr wrap="square">
            <a:spAutoFit/>
          </a:bodyPr>
          <a:lstStyle/>
          <a:p>
            <a:pPr algn="l"/>
            <a:r>
              <a:rPr sz="1000" b="0" i="0">
                <a:solidFill>
                  <a:srgbClr val="5C4F3F"/>
                </a:solidFill>
                <a:latin typeface="Calibri"/>
              </a:rPr>
              <a:t>Added to meeting minutes within 24 h; all parties confirm via Teams</a:t>
            </a:r>
          </a:p>
        </p:txBody>
      </p:sp>
      <p:sp>
        <p:nvSpPr>
          <p:cNvPr id="34" name="TextBox 33"/>
          <p:cNvSpPr txBox="1"/>
          <p:nvPr/>
        </p:nvSpPr>
        <p:spPr>
          <a:xfrm>
            <a:off x="7" y="1"/>
            <a:ext cx="5" cy="2743200"/>
          </a:xfrm>
          <a:prstGeom prst="rect">
            <a:avLst/>
          </a:prstGeom>
          <a:noFill/>
        </p:spPr>
        <p:txBody>
          <a:bodyPr wrap="square">
            <a:spAutoFit/>
          </a:bodyPr>
          <a:lstStyle/>
          <a:p>
            <a:pPr algn="l"/>
            <a:r>
              <a:rPr sz="1600" b="1" i="0">
                <a:solidFill>
                  <a:srgbClr val="2B2419"/>
                </a:solidFill>
                <a:latin typeface="Georgia"/>
              </a:rPr>
              <a:t>Stakeholder Power / Interest Grid</a:t>
            </a:r>
          </a:p>
        </p:txBody>
      </p:sp>
      <p:graphicFrame>
        <p:nvGraphicFramePr>
          <p:cNvPr id="35" name="Table 34"/>
          <p:cNvGraphicFramePr>
            <a:graphicFrameLocks noGrp="1"/>
          </p:cNvGraphicFramePr>
          <p:nvPr/>
        </p:nvGraphicFramePr>
        <p:xfrm>
          <a:off x="6858000" y="1828800"/>
          <a:ext cx="4937760" cy="3200400"/>
        </p:xfrm>
        <a:graphic>
          <a:graphicData uri="http://schemas.openxmlformats.org/drawingml/2006/table">
            <a:tbl>
              <a:tblPr firstRow="1" bandRow="1">
                <a:tableStyleId>{5C22544A-7EE6-4342-B048-85BDC9FD1C3A}</a:tableStyleId>
              </a:tblPr>
              <a:tblGrid>
                <a:gridCol w="1645920"/>
                <a:gridCol w="1645920"/>
                <a:gridCol w="1645920"/>
              </a:tblGrid>
              <a:tr h="1066800">
                <a:tc>
                  <a:txBody>
                    <a:bodyPr wrap="square"/>
                    <a:lstStyle/>
                    <a:p>
                      <a:pPr algn="ctr"/>
                      <a:r>
                        <a:rPr sz="1000">
                          <a:solidFill>
                            <a:srgbClr val="FFFFFF"/>
                          </a:solidFill>
                          <a:latin typeface="Calibri"/>
                        </a:rPr>
                        <a:t/>
                      </a:r>
                    </a:p>
                  </a:txBody>
                  <a:tcPr>
                    <a:solidFill>
                      <a:srgbClr val="8C5A2E"/>
                    </a:solidFill>
                  </a:tcPr>
                </a:tc>
                <a:tc>
                  <a:txBody>
                    <a:bodyPr wrap="square"/>
                    <a:lstStyle/>
                    <a:p>
                      <a:pPr algn="ctr"/>
                      <a:r>
                        <a:rPr sz="1000">
                          <a:solidFill>
                            <a:srgbClr val="FFFFFF"/>
                          </a:solidFill>
                          <a:latin typeface="Calibri"/>
                        </a:rPr>
                        <a:t>Low Interest</a:t>
                      </a:r>
                    </a:p>
                  </a:txBody>
                  <a:tcPr>
                    <a:solidFill>
                      <a:srgbClr val="8C5A2E"/>
                    </a:solidFill>
                  </a:tcPr>
                </a:tc>
                <a:tc>
                  <a:txBody>
                    <a:bodyPr wrap="square"/>
                    <a:lstStyle/>
                    <a:p>
                      <a:pPr algn="ctr"/>
                      <a:r>
                        <a:rPr sz="1000">
                          <a:solidFill>
                            <a:srgbClr val="FFFFFF"/>
                          </a:solidFill>
                          <a:latin typeface="Calibri"/>
                        </a:rPr>
                        <a:t>High Interest</a:t>
                      </a:r>
                    </a:p>
                  </a:txBody>
                  <a:tcPr>
                    <a:solidFill>
                      <a:srgbClr val="8C5A2E"/>
                    </a:solidFill>
                  </a:tcPr>
                </a:tc>
              </a:tr>
              <a:tr h="1066800">
                <a:tc>
                  <a:txBody>
                    <a:bodyPr wrap="square"/>
                    <a:lstStyle/>
                    <a:p>
                      <a:pPr algn="ctr"/>
                      <a:r>
                        <a:rPr sz="1000">
                          <a:solidFill>
                            <a:srgbClr val="2B2419"/>
                          </a:solidFill>
                          <a:latin typeface="Calibri"/>
                        </a:rPr>
                        <a:t>High
Power</a:t>
                      </a:r>
                    </a:p>
                  </a:txBody>
                  <a:tcPr>
                    <a:solidFill>
                      <a:srgbClr val="F0E9DD"/>
                    </a:solidFill>
                  </a:tcPr>
                </a:tc>
                <a:tc>
                  <a:txBody>
                    <a:bodyPr wrap="square"/>
                    <a:lstStyle/>
                    <a:p>
                      <a:pPr algn="ctr"/>
                      <a:r>
                        <a:rPr sz="1000">
                          <a:solidFill>
                            <a:srgbClr val="2B2419"/>
                          </a:solidFill>
                          <a:latin typeface="Calibri"/>
                        </a:rPr>
                        <a:t>Monitor
(Peer Groups)</a:t>
                      </a:r>
                    </a:p>
                  </a:txBody>
                  <a:tcPr>
                    <a:solidFill>
                      <a:srgbClr val="5B6B47"/>
                    </a:solidFill>
                  </a:tcPr>
                </a:tc>
                <a:tc>
                  <a:txBody>
                    <a:bodyPr wrap="square"/>
                    <a:lstStyle/>
                    <a:p>
                      <a:pPr algn="ctr"/>
                      <a:r>
                        <a:rPr sz="1000">
                          <a:solidFill>
                            <a:srgbClr val="2B2419"/>
                          </a:solidFill>
                          <a:latin typeface="Calibri"/>
                        </a:rPr>
                        <a:t>Keep Satisfied
(Instructor, Univ.)</a:t>
                      </a:r>
                    </a:p>
                  </a:txBody>
                  <a:tcPr>
                    <a:solidFill>
                      <a:srgbClr val="E8D5BC"/>
                    </a:solidFill>
                  </a:tcPr>
                </a:tc>
              </a:tr>
              <a:tr h="1066800">
                <a:tc>
                  <a:txBody>
                    <a:bodyPr wrap="square"/>
                    <a:lstStyle/>
                    <a:p>
                      <a:pPr algn="ctr"/>
                      <a:r>
                        <a:rPr sz="1000">
                          <a:solidFill>
                            <a:srgbClr val="2B2419"/>
                          </a:solidFill>
                          <a:latin typeface="Calibri"/>
                        </a:rPr>
                        <a:t>Low
Power</a:t>
                      </a:r>
                    </a:p>
                  </a:txBody>
                  <a:tcPr>
                    <a:solidFill>
                      <a:srgbClr val="F0E9DD"/>
                    </a:solidFill>
                  </a:tcPr>
                </a:tc>
                <a:tc>
                  <a:txBody>
                    <a:bodyPr wrap="square"/>
                    <a:lstStyle/>
                    <a:p>
                      <a:pPr algn="ctr"/>
                      <a:r>
                        <a:rPr sz="1000">
                          <a:solidFill>
                            <a:srgbClr val="2B2419"/>
                          </a:solidFill>
                          <a:latin typeface="Calibri"/>
                        </a:rPr>
                        <a:t>Keep Informed
(Bystanders)</a:t>
                      </a:r>
                    </a:p>
                  </a:txBody>
                  <a:tcPr>
                    <a:solidFill>
                      <a:srgbClr val="F5EFE6"/>
                    </a:solidFill>
                  </a:tcPr>
                </a:tc>
                <a:tc>
                  <a:txBody>
                    <a:bodyPr wrap="square"/>
                    <a:lstStyle/>
                    <a:p>
                      <a:pPr algn="ctr"/>
                      <a:r>
                        <a:rPr sz="1000">
                          <a:solidFill>
                            <a:srgbClr val="2B2419"/>
                          </a:solidFill>
                          <a:latin typeface="Calibri"/>
                        </a:rPr>
                        <a:t>Keep Informed
(End Users)</a:t>
                      </a:r>
                    </a:p>
                  </a:txBody>
                  <a:tcPr>
                    <a:solidFill>
                      <a:srgbClr val="E8D5BC"/>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356" y="1"/>
            <a:ext cx="2" cy="1"/>
          </a:xfrm>
          <a:prstGeom prst="rect">
            <a:avLst/>
          </a:prstGeom>
          <a:noFill/>
        </p:spPr>
        <p:txBody>
          <a:bodyPr wrap="square">
            <a:spAutoFit/>
          </a:bodyPr>
          <a:lstStyle/>
          <a:p>
            <a:pPr algn="l"/>
            <a:r>
              <a:rPr sz="12000" b="0" i="1">
                <a:solidFill>
                  <a:srgbClr val="8C5A2E"/>
                </a:solidFill>
                <a:latin typeface="Georgia"/>
              </a:rPr>
              <a:t>§</a:t>
            </a:r>
          </a:p>
        </p:txBody>
      </p:sp>
      <p:sp>
        <p:nvSpPr>
          <p:cNvPr id="6" name="TextBox 5"/>
          <p:cNvSpPr txBox="1"/>
          <p:nvPr/>
        </p:nvSpPr>
        <p:spPr>
          <a:xfrm>
            <a:off x="2" y="1"/>
            <a:ext cx="2" cy="1"/>
          </a:xfrm>
          <a:prstGeom prst="rect">
            <a:avLst/>
          </a:prstGeom>
          <a:noFill/>
        </p:spPr>
        <p:txBody>
          <a:bodyPr wrap="square">
            <a:spAutoFit/>
          </a:bodyPr>
          <a:lstStyle/>
          <a:p>
            <a:pPr algn="l"/>
            <a:r>
              <a:rPr sz="4800" b="0" i="1">
                <a:solidFill>
                  <a:srgbClr val="E8D5BC"/>
                </a:solidFill>
                <a:latin typeface="Georgia"/>
              </a:rPr>
              <a:t>VII</a:t>
            </a:r>
          </a:p>
        </p:txBody>
      </p:sp>
      <p:sp>
        <p:nvSpPr>
          <p:cNvPr id="7" name="TextBox 6"/>
          <p:cNvSpPr txBox="1"/>
          <p:nvPr/>
        </p:nvSpPr>
        <p:spPr>
          <a:xfrm>
            <a:off x="9753356" y="3"/>
            <a:ext cx="11" cy="1"/>
          </a:xfrm>
          <a:prstGeom prst="rect">
            <a:avLst/>
          </a:prstGeom>
          <a:noFill/>
        </p:spPr>
        <p:txBody>
          <a:bodyPr wrap="square">
            <a:spAutoFit/>
          </a:bodyPr>
          <a:lstStyle/>
          <a:p>
            <a:pPr algn="l"/>
            <a:r>
              <a:rPr sz="4400" b="1" i="0">
                <a:solidFill>
                  <a:srgbClr val="2B2419"/>
                </a:solidFill>
                <a:latin typeface="Georgia"/>
              </a:rPr>
              <a:t>Monitoring &amp; EVM</a:t>
            </a:r>
          </a:p>
        </p:txBody>
      </p:sp>
      <p:sp>
        <p:nvSpPr>
          <p:cNvPr id="8" name="TextBox 7"/>
          <p:cNvSpPr txBox="1"/>
          <p:nvPr/>
        </p:nvSpPr>
        <p:spPr>
          <a:xfrm>
            <a:off x="9753356" y="4"/>
            <a:ext cx="10" cy="3429000"/>
          </a:xfrm>
          <a:prstGeom prst="rect">
            <a:avLst/>
          </a:prstGeom>
          <a:noFill/>
        </p:spPr>
        <p:txBody>
          <a:bodyPr wrap="square">
            <a:spAutoFit/>
          </a:bodyPr>
          <a:lstStyle/>
          <a:p>
            <a:pPr algn="l"/>
            <a:r>
              <a:rPr sz="1400" b="0" i="1">
                <a:solidFill>
                  <a:srgbClr val="8A7A66"/>
                </a:solidFill>
                <a:latin typeface="Calibri"/>
              </a:rPr>
              <a:t>CLO 7 · Ch. 10</a:t>
            </a:r>
          </a:p>
        </p:txBody>
      </p:sp>
      <p:sp>
        <p:nvSpPr>
          <p:cNvPr id="9" name="Rectangle 8"/>
          <p:cNvSpPr/>
          <p:nvPr/>
        </p:nvSpPr>
        <p:spPr>
          <a:xfrm>
            <a:off x="975335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MONITORING &amp; EVM</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8C5A2E"/>
                </a:solidFill>
                <a:latin typeface="Georgia"/>
              </a:rPr>
              <a:t>EVM Status — Week 6 Snapshot</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17 / 24</a:t>
            </a:r>
          </a:p>
        </p:txBody>
      </p:sp>
      <p:sp>
        <p:nvSpPr>
          <p:cNvPr id="9" name="Rectangle 8"/>
          <p:cNvSpPr/>
          <p:nvPr/>
        </p:nvSpPr>
        <p:spPr>
          <a:xfrm>
            <a:off x="8534186" y="1"/>
            <a:ext cx="2" cy="1"/>
          </a:xfrm>
          <a:prstGeom prst="rect">
            <a:avLst/>
          </a:prstGeom>
          <a:solidFill>
            <a:srgbClr val="E8D5BC"/>
          </a:solidFill>
          <a:ln w="9525">
            <a:solidFill>
              <a:srgbClr val="8C5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1"/>
            <a:ext cx="2" cy="1"/>
          </a:xfrm>
          <a:prstGeom prst="rect">
            <a:avLst/>
          </a:prstGeom>
          <a:noFill/>
        </p:spPr>
        <p:txBody>
          <a:bodyPr wrap="square">
            <a:spAutoFit/>
          </a:bodyPr>
          <a:lstStyle/>
          <a:p>
            <a:pPr algn="ctr"/>
            <a:r>
              <a:rPr sz="2800" b="1" i="0">
                <a:solidFill>
                  <a:srgbClr val="8C5A2E"/>
                </a:solidFill>
                <a:latin typeface="Georgia"/>
              </a:rPr>
              <a:t>0.75</a:t>
            </a:r>
          </a:p>
        </p:txBody>
      </p:sp>
      <p:sp>
        <p:nvSpPr>
          <p:cNvPr id="11" name="TextBox 10"/>
          <p:cNvSpPr txBox="1"/>
          <p:nvPr/>
        </p:nvSpPr>
        <p:spPr>
          <a:xfrm>
            <a:off x="9143771" y="2"/>
            <a:ext cx="2" cy="2914650"/>
          </a:xfrm>
          <a:prstGeom prst="rect">
            <a:avLst/>
          </a:prstGeom>
          <a:noFill/>
        </p:spPr>
        <p:txBody>
          <a:bodyPr wrap="square">
            <a:spAutoFit/>
          </a:bodyPr>
          <a:lstStyle/>
          <a:p>
            <a:pPr algn="ctr"/>
            <a:r>
              <a:rPr sz="1000" b="0" i="0">
                <a:solidFill>
                  <a:srgbClr val="5C4F3F"/>
                </a:solidFill>
                <a:latin typeface="Calibri"/>
              </a:rPr>
              <a:t>Cost Performance
Index (CPI)</a:t>
            </a:r>
          </a:p>
        </p:txBody>
      </p:sp>
      <p:sp>
        <p:nvSpPr>
          <p:cNvPr id="12" name="TextBox 11"/>
          <p:cNvSpPr txBox="1"/>
          <p:nvPr/>
        </p:nvSpPr>
        <p:spPr>
          <a:xfrm>
            <a:off x="9143771" y="2"/>
            <a:ext cx="2" cy="2331720"/>
          </a:xfrm>
          <a:prstGeom prst="rect">
            <a:avLst/>
          </a:prstGeom>
          <a:noFill/>
        </p:spPr>
        <p:txBody>
          <a:bodyPr wrap="square">
            <a:spAutoFit/>
          </a:bodyPr>
          <a:lstStyle/>
          <a:p>
            <a:pPr algn="ctr"/>
            <a:r>
              <a:rPr sz="900" b="0" i="1">
                <a:solidFill>
                  <a:srgbClr val="8A7A66"/>
                </a:solidFill>
                <a:latin typeface="Calibri"/>
              </a:rPr>
              <a:t>Over budget</a:t>
            </a:r>
          </a:p>
        </p:txBody>
      </p:sp>
      <p:sp>
        <p:nvSpPr>
          <p:cNvPr id="13" name="Rectangle 12"/>
          <p:cNvSpPr/>
          <p:nvPr/>
        </p:nvSpPr>
        <p:spPr>
          <a:xfrm>
            <a:off x="3" y="1"/>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 y="1"/>
            <a:ext cx="2" cy="1"/>
          </a:xfrm>
          <a:prstGeom prst="rect">
            <a:avLst/>
          </a:prstGeom>
          <a:noFill/>
        </p:spPr>
        <p:txBody>
          <a:bodyPr wrap="square">
            <a:spAutoFit/>
          </a:bodyPr>
          <a:lstStyle/>
          <a:p>
            <a:pPr algn="ctr"/>
            <a:r>
              <a:rPr sz="2800" b="1" i="0">
                <a:solidFill>
                  <a:srgbClr val="2B2419"/>
                </a:solidFill>
                <a:latin typeface="Georgia"/>
              </a:rPr>
              <a:t>0.45</a:t>
            </a:r>
          </a:p>
        </p:txBody>
      </p:sp>
      <p:sp>
        <p:nvSpPr>
          <p:cNvPr id="15" name="TextBox 14"/>
          <p:cNvSpPr txBox="1"/>
          <p:nvPr/>
        </p:nvSpPr>
        <p:spPr>
          <a:xfrm>
            <a:off x="3" y="2"/>
            <a:ext cx="2" cy="2914650"/>
          </a:xfrm>
          <a:prstGeom prst="rect">
            <a:avLst/>
          </a:prstGeom>
          <a:noFill/>
        </p:spPr>
        <p:txBody>
          <a:bodyPr wrap="square">
            <a:spAutoFit/>
          </a:bodyPr>
          <a:lstStyle/>
          <a:p>
            <a:pPr algn="ctr"/>
            <a:r>
              <a:rPr sz="1000" b="0" i="0">
                <a:solidFill>
                  <a:srgbClr val="5C4F3F"/>
                </a:solidFill>
                <a:latin typeface="Calibri"/>
              </a:rPr>
              <a:t>Schedule Perf.
Index (SPI)</a:t>
            </a:r>
          </a:p>
        </p:txBody>
      </p:sp>
      <p:sp>
        <p:nvSpPr>
          <p:cNvPr id="16" name="TextBox 15"/>
          <p:cNvSpPr txBox="1"/>
          <p:nvPr/>
        </p:nvSpPr>
        <p:spPr>
          <a:xfrm>
            <a:off x="3" y="2"/>
            <a:ext cx="2" cy="2331720"/>
          </a:xfrm>
          <a:prstGeom prst="rect">
            <a:avLst/>
          </a:prstGeom>
          <a:noFill/>
        </p:spPr>
        <p:txBody>
          <a:bodyPr wrap="square">
            <a:spAutoFit/>
          </a:bodyPr>
          <a:lstStyle/>
          <a:p>
            <a:pPr algn="ctr"/>
            <a:r>
              <a:rPr sz="900" b="0" i="1">
                <a:solidFill>
                  <a:srgbClr val="8A7A66"/>
                </a:solidFill>
                <a:latin typeface="Calibri"/>
              </a:rPr>
              <a:t>Behind schedule</a:t>
            </a:r>
          </a:p>
        </p:txBody>
      </p:sp>
      <p:sp>
        <p:nvSpPr>
          <p:cNvPr id="17" name="Rectangle 16"/>
          <p:cNvSpPr/>
          <p:nvPr/>
        </p:nvSpPr>
        <p:spPr>
          <a:xfrm>
            <a:off x="5" y="1"/>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 y="1"/>
            <a:ext cx="2" cy="1"/>
          </a:xfrm>
          <a:prstGeom prst="rect">
            <a:avLst/>
          </a:prstGeom>
          <a:noFill/>
        </p:spPr>
        <p:txBody>
          <a:bodyPr wrap="square">
            <a:spAutoFit/>
          </a:bodyPr>
          <a:lstStyle/>
          <a:p>
            <a:pPr algn="ctr"/>
            <a:r>
              <a:rPr sz="2800" b="1" i="0">
                <a:solidFill>
                  <a:srgbClr val="2B2419"/>
                </a:solidFill>
                <a:latin typeface="Georgia"/>
              </a:rPr>
              <a:t>44.8M</a:t>
            </a:r>
          </a:p>
        </p:txBody>
      </p:sp>
      <p:sp>
        <p:nvSpPr>
          <p:cNvPr id="19" name="TextBox 18"/>
          <p:cNvSpPr txBox="1"/>
          <p:nvPr/>
        </p:nvSpPr>
        <p:spPr>
          <a:xfrm>
            <a:off x="5" y="2"/>
            <a:ext cx="2" cy="2914650"/>
          </a:xfrm>
          <a:prstGeom prst="rect">
            <a:avLst/>
          </a:prstGeom>
          <a:noFill/>
        </p:spPr>
        <p:txBody>
          <a:bodyPr wrap="square">
            <a:spAutoFit/>
          </a:bodyPr>
          <a:lstStyle/>
          <a:p>
            <a:pPr algn="ctr"/>
            <a:r>
              <a:rPr sz="1000" b="0" i="0">
                <a:solidFill>
                  <a:srgbClr val="5C4F3F"/>
                </a:solidFill>
                <a:latin typeface="Calibri"/>
              </a:rPr>
              <a:t>Est. at Completion
(EAC)</a:t>
            </a:r>
          </a:p>
        </p:txBody>
      </p:sp>
      <p:sp>
        <p:nvSpPr>
          <p:cNvPr id="20" name="TextBox 19"/>
          <p:cNvSpPr txBox="1"/>
          <p:nvPr/>
        </p:nvSpPr>
        <p:spPr>
          <a:xfrm>
            <a:off x="5" y="2"/>
            <a:ext cx="2" cy="2331720"/>
          </a:xfrm>
          <a:prstGeom prst="rect">
            <a:avLst/>
          </a:prstGeom>
          <a:noFill/>
        </p:spPr>
        <p:txBody>
          <a:bodyPr wrap="square">
            <a:spAutoFit/>
          </a:bodyPr>
          <a:lstStyle/>
          <a:p>
            <a:pPr algn="ctr"/>
            <a:r>
              <a:rPr sz="900" b="0" i="1">
                <a:solidFill>
                  <a:srgbClr val="8A7A66"/>
                </a:solidFill>
                <a:latin typeface="Calibri"/>
              </a:rPr>
              <a:t>Forecast: 33.6M → 44.8M</a:t>
            </a:r>
          </a:p>
        </p:txBody>
      </p:sp>
      <p:sp>
        <p:nvSpPr>
          <p:cNvPr id="21" name="Rectangle 20"/>
          <p:cNvSpPr/>
          <p:nvPr/>
        </p:nvSpPr>
        <p:spPr>
          <a:xfrm>
            <a:off x="8" y="1"/>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 y="1"/>
            <a:ext cx="2" cy="1"/>
          </a:xfrm>
          <a:prstGeom prst="rect">
            <a:avLst/>
          </a:prstGeom>
          <a:noFill/>
        </p:spPr>
        <p:txBody>
          <a:bodyPr wrap="square">
            <a:spAutoFit/>
          </a:bodyPr>
          <a:lstStyle/>
          <a:p>
            <a:pPr algn="ctr"/>
            <a:r>
              <a:rPr sz="2800" b="1" i="0">
                <a:solidFill>
                  <a:srgbClr val="2B2419"/>
                </a:solidFill>
                <a:latin typeface="Georgia"/>
              </a:rPr>
              <a:t>−2.5M</a:t>
            </a:r>
          </a:p>
        </p:txBody>
      </p:sp>
      <p:sp>
        <p:nvSpPr>
          <p:cNvPr id="23" name="TextBox 22"/>
          <p:cNvSpPr txBox="1"/>
          <p:nvPr/>
        </p:nvSpPr>
        <p:spPr>
          <a:xfrm>
            <a:off x="8" y="2"/>
            <a:ext cx="2" cy="2914650"/>
          </a:xfrm>
          <a:prstGeom prst="rect">
            <a:avLst/>
          </a:prstGeom>
          <a:noFill/>
        </p:spPr>
        <p:txBody>
          <a:bodyPr wrap="square">
            <a:spAutoFit/>
          </a:bodyPr>
          <a:lstStyle/>
          <a:p>
            <a:pPr algn="ctr"/>
            <a:r>
              <a:rPr sz="1000" b="0" i="0">
                <a:solidFill>
                  <a:srgbClr val="5C4F3F"/>
                </a:solidFill>
                <a:latin typeface="Calibri"/>
              </a:rPr>
              <a:t>Cost Variance
(CV)</a:t>
            </a:r>
          </a:p>
        </p:txBody>
      </p:sp>
      <p:sp>
        <p:nvSpPr>
          <p:cNvPr id="24" name="TextBox 23"/>
          <p:cNvSpPr txBox="1"/>
          <p:nvPr/>
        </p:nvSpPr>
        <p:spPr>
          <a:xfrm>
            <a:off x="8" y="2"/>
            <a:ext cx="2" cy="2331720"/>
          </a:xfrm>
          <a:prstGeom prst="rect">
            <a:avLst/>
          </a:prstGeom>
          <a:noFill/>
        </p:spPr>
        <p:txBody>
          <a:bodyPr wrap="square">
            <a:spAutoFit/>
          </a:bodyPr>
          <a:lstStyle/>
          <a:p>
            <a:pPr algn="ctr"/>
            <a:r>
              <a:rPr sz="900" b="0" i="1">
                <a:solidFill>
                  <a:srgbClr val="8A7A66"/>
                </a:solidFill>
                <a:latin typeface="Calibri"/>
              </a:rPr>
              <a:t>Over budget by 2.5M</a:t>
            </a:r>
          </a:p>
        </p:txBody>
      </p:sp>
      <p:sp>
        <p:nvSpPr>
          <p:cNvPr id="25" name="Rectangle 24"/>
          <p:cNvSpPr/>
          <p:nvPr/>
        </p:nvSpPr>
        <p:spPr>
          <a:xfrm>
            <a:off x="10" y="1"/>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 y="1"/>
            <a:ext cx="2" cy="1"/>
          </a:xfrm>
          <a:prstGeom prst="rect">
            <a:avLst/>
          </a:prstGeom>
          <a:noFill/>
        </p:spPr>
        <p:txBody>
          <a:bodyPr wrap="square">
            <a:spAutoFit/>
          </a:bodyPr>
          <a:lstStyle/>
          <a:p>
            <a:pPr algn="ctr"/>
            <a:r>
              <a:rPr sz="2800" b="1" i="0">
                <a:solidFill>
                  <a:srgbClr val="2B2419"/>
                </a:solidFill>
                <a:latin typeface="Georgia"/>
              </a:rPr>
              <a:t>−11.2M</a:t>
            </a:r>
          </a:p>
        </p:txBody>
      </p:sp>
      <p:sp>
        <p:nvSpPr>
          <p:cNvPr id="27" name="TextBox 26"/>
          <p:cNvSpPr txBox="1"/>
          <p:nvPr/>
        </p:nvSpPr>
        <p:spPr>
          <a:xfrm>
            <a:off x="10" y="2"/>
            <a:ext cx="2" cy="2914650"/>
          </a:xfrm>
          <a:prstGeom prst="rect">
            <a:avLst/>
          </a:prstGeom>
          <a:noFill/>
        </p:spPr>
        <p:txBody>
          <a:bodyPr wrap="square">
            <a:spAutoFit/>
          </a:bodyPr>
          <a:lstStyle/>
          <a:p>
            <a:pPr algn="ctr"/>
            <a:r>
              <a:rPr sz="1000" b="0" i="0">
                <a:solidFill>
                  <a:srgbClr val="5C4F3F"/>
                </a:solidFill>
                <a:latin typeface="Calibri"/>
              </a:rPr>
              <a:t>Variance at
Completion (VAC)</a:t>
            </a:r>
          </a:p>
        </p:txBody>
      </p:sp>
      <p:sp>
        <p:nvSpPr>
          <p:cNvPr id="28" name="TextBox 27"/>
          <p:cNvSpPr txBox="1"/>
          <p:nvPr/>
        </p:nvSpPr>
        <p:spPr>
          <a:xfrm>
            <a:off x="10" y="2"/>
            <a:ext cx="2" cy="2331720"/>
          </a:xfrm>
          <a:prstGeom prst="rect">
            <a:avLst/>
          </a:prstGeom>
          <a:noFill/>
        </p:spPr>
        <p:txBody>
          <a:bodyPr wrap="square">
            <a:spAutoFit/>
          </a:bodyPr>
          <a:lstStyle/>
          <a:p>
            <a:pPr algn="ctr"/>
            <a:r>
              <a:rPr sz="900" b="0" i="1">
                <a:solidFill>
                  <a:srgbClr val="8A7A66"/>
                </a:solidFill>
                <a:latin typeface="Calibri"/>
              </a:rPr>
              <a:t>Forecast overrun</a:t>
            </a:r>
          </a:p>
        </p:txBody>
      </p:sp>
      <p:graphicFrame>
        <p:nvGraphicFramePr>
          <p:cNvPr id="29" name="Table 28"/>
          <p:cNvGraphicFramePr>
            <a:graphicFrameLocks noGrp="1"/>
          </p:cNvGraphicFramePr>
          <p:nvPr/>
        </p:nvGraphicFramePr>
        <p:xfrm>
          <a:off x="8534186.5" y="23317200.0"/>
          <a:ext cx="149957847" cy="24688800.0"/>
        </p:xfrm>
        <a:graphic>
          <a:graphicData uri="http://schemas.openxmlformats.org/drawingml/2006/table">
            <a:tbl>
              <a:tblPr firstRow="1" bandRow="1">
                <a:tableStyleId>{5C22544A-7EE6-4342-B048-85BDC9FD1C3A}</a:tableStyleId>
              </a:tblPr>
              <a:tblGrid>
                <a:gridCol w="11928465"/>
                <a:gridCol w="34081329"/>
                <a:gridCol w="69866724"/>
                <a:gridCol w="34081329"/>
              </a:tblGrid>
              <a:tr h="2057400">
                <a:tc>
                  <a:txBody>
                    <a:bodyPr wrap="square"/>
                    <a:lstStyle/>
                    <a:p>
                      <a:pPr algn="l"/>
                      <a:r>
                        <a:rPr sz="900">
                          <a:solidFill>
                            <a:srgbClr val="FFFFFF"/>
                          </a:solidFill>
                          <a:latin typeface="Calibri"/>
                        </a:rPr>
                        <a:t>Metric</a:t>
                      </a:r>
                    </a:p>
                  </a:txBody>
                  <a:tcPr>
                    <a:solidFill>
                      <a:srgbClr val="8C5A2E"/>
                    </a:solidFill>
                  </a:tcPr>
                </a:tc>
                <a:tc>
                  <a:txBody>
                    <a:bodyPr wrap="square"/>
                    <a:lstStyle/>
                    <a:p>
                      <a:pPr algn="l"/>
                      <a:r>
                        <a:rPr sz="900">
                          <a:solidFill>
                            <a:srgbClr val="FFFFFF"/>
                          </a:solidFill>
                          <a:latin typeface="Calibri"/>
                        </a:rPr>
                        <a:t>Formula</a:t>
                      </a:r>
                    </a:p>
                  </a:txBody>
                  <a:tcPr>
                    <a:solidFill>
                      <a:srgbClr val="8C5A2E"/>
                    </a:solidFill>
                  </a:tcPr>
                </a:tc>
                <a:tc>
                  <a:txBody>
                    <a:bodyPr wrap="square"/>
                    <a:lstStyle/>
                    <a:p>
                      <a:pPr algn="l"/>
                      <a:r>
                        <a:rPr sz="900">
                          <a:solidFill>
                            <a:srgbClr val="FFFFFF"/>
                          </a:solidFill>
                          <a:latin typeface="Calibri"/>
                        </a:rPr>
                        <a:t>Workings</a:t>
                      </a:r>
                    </a:p>
                  </a:txBody>
                  <a:tcPr>
                    <a:solidFill>
                      <a:srgbClr val="8C5A2E"/>
                    </a:solidFill>
                  </a:tcPr>
                </a:tc>
                <a:tc>
                  <a:txBody>
                    <a:bodyPr wrap="square"/>
                    <a:lstStyle/>
                    <a:p>
                      <a:pPr algn="l"/>
                      <a:r>
                        <a:rPr sz="900">
                          <a:solidFill>
                            <a:srgbClr val="FFFFFF"/>
                          </a:solidFill>
                          <a:latin typeface="Calibri"/>
                        </a:rPr>
                        <a:t>Value</a:t>
                      </a:r>
                    </a:p>
                  </a:txBody>
                  <a:tcPr>
                    <a:solidFill>
                      <a:srgbClr val="8C5A2E"/>
                    </a:solidFill>
                  </a:tcPr>
                </a:tc>
              </a:tr>
              <a:tr h="2057400">
                <a:tc>
                  <a:txBody>
                    <a:bodyPr wrap="square"/>
                    <a:lstStyle/>
                    <a:p>
                      <a:pPr algn="l"/>
                      <a:r>
                        <a:rPr sz="900">
                          <a:solidFill>
                            <a:srgbClr val="2B2419"/>
                          </a:solidFill>
                          <a:latin typeface="Calibri"/>
                        </a:rPr>
                        <a:t>BAC</a:t>
                      </a:r>
                    </a:p>
                  </a:txBody>
                  <a:tcPr>
                    <a:solidFill>
                      <a:srgbClr val="F5EFE6"/>
                    </a:solidFill>
                  </a:tcPr>
                </a:tc>
                <a:tc>
                  <a:txBody>
                    <a:bodyPr wrap="square"/>
                    <a:lstStyle/>
                    <a:p>
                      <a:pPr algn="l"/>
                      <a:r>
                        <a:rPr sz="900">
                          <a:solidFill>
                            <a:srgbClr val="2B2419"/>
                          </a:solidFill>
                          <a:latin typeface="Calibri"/>
                        </a:rPr>
                        <a:t>Budget at Completion</a:t>
                      </a:r>
                    </a:p>
                  </a:txBody>
                  <a:tcPr>
                    <a:solidFill>
                      <a:srgbClr val="F5EFE6"/>
                    </a:solidFill>
                  </a:tcPr>
                </a:tc>
                <a:tc>
                  <a:txBody>
                    <a:bodyPr wrap="square"/>
                    <a:lstStyle/>
                    <a:p>
                      <a:pPr algn="l"/>
                      <a:r>
                        <a:rPr sz="900">
                          <a:solidFill>
                            <a:srgbClr val="2B2419"/>
                          </a:solidFill>
                          <a:latin typeface="Calibri"/>
                        </a:rPr>
                        <a:t>From budget baseline</a:t>
                      </a:r>
                    </a:p>
                  </a:txBody>
                  <a:tcPr>
                    <a:solidFill>
                      <a:srgbClr val="F5EFE6"/>
                    </a:solidFill>
                  </a:tcPr>
                </a:tc>
                <a:tc>
                  <a:txBody>
                    <a:bodyPr wrap="square"/>
                    <a:lstStyle/>
                    <a:p>
                      <a:pPr algn="l"/>
                      <a:r>
                        <a:rPr sz="900">
                          <a:solidFill>
                            <a:srgbClr val="2B2419"/>
                          </a:solidFill>
                          <a:latin typeface="Calibri"/>
                        </a:rPr>
                        <a:t>33,600,000 VND</a:t>
                      </a:r>
                    </a:p>
                  </a:txBody>
                  <a:tcPr>
                    <a:solidFill>
                      <a:srgbClr val="F5EFE6"/>
                    </a:solidFill>
                  </a:tcPr>
                </a:tc>
              </a:tr>
              <a:tr h="2057400">
                <a:tc>
                  <a:txBody>
                    <a:bodyPr wrap="square"/>
                    <a:lstStyle/>
                    <a:p>
                      <a:pPr algn="l"/>
                      <a:r>
                        <a:rPr sz="900">
                          <a:solidFill>
                            <a:srgbClr val="2B2419"/>
                          </a:solidFill>
                          <a:latin typeface="Calibri"/>
                        </a:rPr>
                        <a:t>PV</a:t>
                      </a:r>
                    </a:p>
                  </a:txBody>
                  <a:tcPr>
                    <a:solidFill>
                      <a:srgbClr val="F5EFE6"/>
                    </a:solidFill>
                  </a:tcPr>
                </a:tc>
                <a:tc>
                  <a:txBody>
                    <a:bodyPr wrap="square"/>
                    <a:lstStyle/>
                    <a:p>
                      <a:pPr algn="l"/>
                      <a:r>
                        <a:rPr sz="900">
                          <a:solidFill>
                            <a:srgbClr val="2B2419"/>
                          </a:solidFill>
                          <a:latin typeface="Calibri"/>
                        </a:rPr>
                        <a:t>Planned Value at W6</a:t>
                      </a:r>
                    </a:p>
                  </a:txBody>
                  <a:tcPr>
                    <a:solidFill>
                      <a:srgbClr val="F5EFE6"/>
                    </a:solidFill>
                  </a:tcPr>
                </a:tc>
                <a:tc>
                  <a:txBody>
                    <a:bodyPr wrap="square"/>
                    <a:lstStyle/>
                    <a:p>
                      <a:pPr algn="l"/>
                      <a:r>
                        <a:rPr sz="900">
                          <a:solidFill>
                            <a:srgbClr val="2B2419"/>
                          </a:solidFill>
                          <a:latin typeface="Calibri"/>
                        </a:rPr>
                        <a:t>50% of BAC</a:t>
                      </a:r>
                    </a:p>
                  </a:txBody>
                  <a:tcPr>
                    <a:solidFill>
                      <a:srgbClr val="F5EFE6"/>
                    </a:solidFill>
                  </a:tcPr>
                </a:tc>
                <a:tc>
                  <a:txBody>
                    <a:bodyPr wrap="square"/>
                    <a:lstStyle/>
                    <a:p>
                      <a:pPr algn="l"/>
                      <a:r>
                        <a:rPr sz="900">
                          <a:solidFill>
                            <a:srgbClr val="2B2419"/>
                          </a:solidFill>
                          <a:latin typeface="Calibri"/>
                        </a:rPr>
                        <a:t>16,800,000 VND</a:t>
                      </a:r>
                    </a:p>
                  </a:txBody>
                  <a:tcPr>
                    <a:solidFill>
                      <a:srgbClr val="F5EFE6"/>
                    </a:solidFill>
                  </a:tcPr>
                </a:tc>
              </a:tr>
              <a:tr h="2057400">
                <a:tc>
                  <a:txBody>
                    <a:bodyPr wrap="square"/>
                    <a:lstStyle/>
                    <a:p>
                      <a:pPr algn="l"/>
                      <a:r>
                        <a:rPr sz="900">
                          <a:solidFill>
                            <a:srgbClr val="2B2419"/>
                          </a:solidFill>
                          <a:latin typeface="Calibri"/>
                        </a:rPr>
                        <a:t>EV</a:t>
                      </a:r>
                    </a:p>
                  </a:txBody>
                  <a:tcPr>
                    <a:solidFill>
                      <a:srgbClr val="F5EFE6"/>
                    </a:solidFill>
                  </a:tcPr>
                </a:tc>
                <a:tc>
                  <a:txBody>
                    <a:bodyPr wrap="square"/>
                    <a:lstStyle/>
                    <a:p>
                      <a:pPr algn="l"/>
                      <a:r>
                        <a:rPr sz="900">
                          <a:solidFill>
                            <a:srgbClr val="2B2419"/>
                          </a:solidFill>
                          <a:latin typeface="Calibri"/>
                        </a:rPr>
                        <a:t>Earned Value</a:t>
                      </a:r>
                    </a:p>
                  </a:txBody>
                  <a:tcPr>
                    <a:solidFill>
                      <a:srgbClr val="F5EFE6"/>
                    </a:solidFill>
                  </a:tcPr>
                </a:tc>
                <a:tc>
                  <a:txBody>
                    <a:bodyPr wrap="square"/>
                    <a:lstStyle/>
                    <a:p>
                      <a:pPr algn="l"/>
                      <a:r>
                        <a:rPr sz="900">
                          <a:solidFill>
                            <a:srgbClr val="2B2419"/>
                          </a:solidFill>
                          <a:latin typeface="Calibri"/>
                        </a:rPr>
                        <a:t>M1+M2+M3+partial = 500K+2.5M+4M+0.5M</a:t>
                      </a:r>
                    </a:p>
                  </a:txBody>
                  <a:tcPr>
                    <a:solidFill>
                      <a:srgbClr val="F5EFE6"/>
                    </a:solidFill>
                  </a:tcPr>
                </a:tc>
                <a:tc>
                  <a:txBody>
                    <a:bodyPr wrap="square"/>
                    <a:lstStyle/>
                    <a:p>
                      <a:pPr algn="l"/>
                      <a:r>
                        <a:rPr sz="900">
                          <a:solidFill>
                            <a:srgbClr val="2B2419"/>
                          </a:solidFill>
                          <a:latin typeface="Calibri"/>
                        </a:rPr>
                        <a:t>7,500,000 VND</a:t>
                      </a:r>
                    </a:p>
                  </a:txBody>
                  <a:tcPr>
                    <a:solidFill>
                      <a:srgbClr val="F5EFE6"/>
                    </a:solidFill>
                  </a:tcPr>
                </a:tc>
              </a:tr>
              <a:tr h="2057400">
                <a:tc>
                  <a:txBody>
                    <a:bodyPr wrap="square"/>
                    <a:lstStyle/>
                    <a:p>
                      <a:pPr algn="l"/>
                      <a:r>
                        <a:rPr sz="900">
                          <a:solidFill>
                            <a:srgbClr val="2B2419"/>
                          </a:solidFill>
                          <a:latin typeface="Calibri"/>
                        </a:rPr>
                        <a:t>AC</a:t>
                      </a:r>
                    </a:p>
                  </a:txBody>
                  <a:tcPr>
                    <a:solidFill>
                      <a:srgbClr val="F5EFE6"/>
                    </a:solidFill>
                  </a:tcPr>
                </a:tc>
                <a:tc>
                  <a:txBody>
                    <a:bodyPr wrap="square"/>
                    <a:lstStyle/>
                    <a:p>
                      <a:pPr algn="l"/>
                      <a:r>
                        <a:rPr sz="900">
                          <a:solidFill>
                            <a:srgbClr val="2B2419"/>
                          </a:solidFill>
                          <a:latin typeface="Calibri"/>
                        </a:rPr>
                        <a:t>Actual Cost</a:t>
                      </a:r>
                    </a:p>
                  </a:txBody>
                  <a:tcPr>
                    <a:solidFill>
                      <a:srgbClr val="F5EFE6"/>
                    </a:solidFill>
                  </a:tcPr>
                </a:tc>
                <a:tc>
                  <a:txBody>
                    <a:bodyPr wrap="square"/>
                    <a:lstStyle/>
                    <a:p>
                      <a:pPr algn="l"/>
                      <a:r>
                        <a:rPr sz="900">
                          <a:solidFill>
                            <a:srgbClr val="2B2419"/>
                          </a:solidFill>
                          <a:latin typeface="Calibri"/>
                        </a:rPr>
                        <a:t>200 h × 50,000 VND/h</a:t>
                      </a:r>
                    </a:p>
                  </a:txBody>
                  <a:tcPr>
                    <a:solidFill>
                      <a:srgbClr val="F5EFE6"/>
                    </a:solidFill>
                  </a:tcPr>
                </a:tc>
                <a:tc>
                  <a:txBody>
                    <a:bodyPr wrap="square"/>
                    <a:lstStyle/>
                    <a:p>
                      <a:pPr algn="l"/>
                      <a:r>
                        <a:rPr sz="900">
                          <a:solidFill>
                            <a:srgbClr val="2B2419"/>
                          </a:solidFill>
                          <a:latin typeface="Calibri"/>
                        </a:rPr>
                        <a:t>10,000,000 VND</a:t>
                      </a:r>
                    </a:p>
                  </a:txBody>
                  <a:tcPr>
                    <a:solidFill>
                      <a:srgbClr val="F5EFE6"/>
                    </a:solidFill>
                  </a:tcPr>
                </a:tc>
              </a:tr>
              <a:tr h="2057400">
                <a:tc>
                  <a:txBody>
                    <a:bodyPr wrap="square"/>
                    <a:lstStyle/>
                    <a:p>
                      <a:pPr algn="l"/>
                      <a:r>
                        <a:rPr sz="900">
                          <a:solidFill>
                            <a:srgbClr val="2B2419"/>
                          </a:solidFill>
                          <a:latin typeface="Calibri"/>
                        </a:rPr>
                        <a:t>CV</a:t>
                      </a:r>
                    </a:p>
                  </a:txBody>
                  <a:tcPr>
                    <a:solidFill>
                      <a:srgbClr val="A65D3F"/>
                    </a:solidFill>
                  </a:tcPr>
                </a:tc>
                <a:tc>
                  <a:txBody>
                    <a:bodyPr wrap="square"/>
                    <a:lstStyle/>
                    <a:p>
                      <a:pPr algn="l"/>
                      <a:r>
                        <a:rPr sz="900">
                          <a:solidFill>
                            <a:srgbClr val="2B2419"/>
                          </a:solidFill>
                          <a:latin typeface="Calibri"/>
                        </a:rPr>
                        <a:t>Cost Variance</a:t>
                      </a:r>
                    </a:p>
                  </a:txBody>
                  <a:tcPr>
                    <a:solidFill>
                      <a:srgbClr val="A65D3F"/>
                    </a:solidFill>
                  </a:tcPr>
                </a:tc>
                <a:tc>
                  <a:txBody>
                    <a:bodyPr wrap="square"/>
                    <a:lstStyle/>
                    <a:p>
                      <a:pPr algn="l"/>
                      <a:r>
                        <a:rPr sz="900">
                          <a:solidFill>
                            <a:srgbClr val="2B2419"/>
                          </a:solidFill>
                          <a:latin typeface="Calibri"/>
                        </a:rPr>
                        <a:t>EV − AC = 7.5M − 10M</a:t>
                      </a:r>
                    </a:p>
                  </a:txBody>
                  <a:tcPr>
                    <a:solidFill>
                      <a:srgbClr val="A65D3F"/>
                    </a:solidFill>
                  </a:tcPr>
                </a:tc>
                <a:tc>
                  <a:txBody>
                    <a:bodyPr wrap="square"/>
                    <a:lstStyle/>
                    <a:p>
                      <a:pPr algn="l"/>
                      <a:r>
                        <a:rPr sz="900">
                          <a:solidFill>
                            <a:srgbClr val="2B2419"/>
                          </a:solidFill>
                          <a:latin typeface="Calibri"/>
                        </a:rPr>
                        <a:t>−2,500,000 VND</a:t>
                      </a:r>
                    </a:p>
                  </a:txBody>
                  <a:tcPr>
                    <a:solidFill>
                      <a:srgbClr val="A65D3F"/>
                    </a:solidFill>
                  </a:tcPr>
                </a:tc>
              </a:tr>
              <a:tr h="2057400">
                <a:tc>
                  <a:txBody>
                    <a:bodyPr wrap="square"/>
                    <a:lstStyle/>
                    <a:p>
                      <a:pPr algn="l"/>
                      <a:r>
                        <a:rPr sz="900">
                          <a:solidFill>
                            <a:srgbClr val="2B2419"/>
                          </a:solidFill>
                          <a:latin typeface="Calibri"/>
                        </a:rPr>
                        <a:t>SV</a:t>
                      </a:r>
                    </a:p>
                  </a:txBody>
                  <a:tcPr>
                    <a:solidFill>
                      <a:srgbClr val="A65D3F"/>
                    </a:solidFill>
                  </a:tcPr>
                </a:tc>
                <a:tc>
                  <a:txBody>
                    <a:bodyPr wrap="square"/>
                    <a:lstStyle/>
                    <a:p>
                      <a:pPr algn="l"/>
                      <a:r>
                        <a:rPr sz="900">
                          <a:solidFill>
                            <a:srgbClr val="2B2419"/>
                          </a:solidFill>
                          <a:latin typeface="Calibri"/>
                        </a:rPr>
                        <a:t>Schedule Variance</a:t>
                      </a:r>
                    </a:p>
                  </a:txBody>
                  <a:tcPr>
                    <a:solidFill>
                      <a:srgbClr val="A65D3F"/>
                    </a:solidFill>
                  </a:tcPr>
                </a:tc>
                <a:tc>
                  <a:txBody>
                    <a:bodyPr wrap="square"/>
                    <a:lstStyle/>
                    <a:p>
                      <a:pPr algn="l"/>
                      <a:r>
                        <a:rPr sz="900">
                          <a:solidFill>
                            <a:srgbClr val="2B2419"/>
                          </a:solidFill>
                          <a:latin typeface="Calibri"/>
                        </a:rPr>
                        <a:t>EV − PV = 7.5M − 16.8M</a:t>
                      </a:r>
                    </a:p>
                  </a:txBody>
                  <a:tcPr>
                    <a:solidFill>
                      <a:srgbClr val="A65D3F"/>
                    </a:solidFill>
                  </a:tcPr>
                </a:tc>
                <a:tc>
                  <a:txBody>
                    <a:bodyPr wrap="square"/>
                    <a:lstStyle/>
                    <a:p>
                      <a:pPr algn="l"/>
                      <a:r>
                        <a:rPr sz="900">
                          <a:solidFill>
                            <a:srgbClr val="2B2419"/>
                          </a:solidFill>
                          <a:latin typeface="Calibri"/>
                        </a:rPr>
                        <a:t>−9,300,000 VND</a:t>
                      </a:r>
                    </a:p>
                  </a:txBody>
                  <a:tcPr>
                    <a:solidFill>
                      <a:srgbClr val="A65D3F"/>
                    </a:solidFill>
                  </a:tcPr>
                </a:tc>
              </a:tr>
              <a:tr h="2057400">
                <a:tc>
                  <a:txBody>
                    <a:bodyPr wrap="square"/>
                    <a:lstStyle/>
                    <a:p>
                      <a:pPr algn="l"/>
                      <a:r>
                        <a:rPr sz="900">
                          <a:solidFill>
                            <a:srgbClr val="2B2419"/>
                          </a:solidFill>
                          <a:latin typeface="Calibri"/>
                        </a:rPr>
                        <a:t>CPI</a:t>
                      </a:r>
                    </a:p>
                  </a:txBody>
                  <a:tcPr>
                    <a:solidFill>
                      <a:srgbClr val="F5EFE6"/>
                    </a:solidFill>
                  </a:tcPr>
                </a:tc>
                <a:tc>
                  <a:txBody>
                    <a:bodyPr wrap="square"/>
                    <a:lstStyle/>
                    <a:p>
                      <a:pPr algn="l"/>
                      <a:r>
                        <a:rPr sz="900">
                          <a:solidFill>
                            <a:srgbClr val="2B2419"/>
                          </a:solidFill>
                          <a:latin typeface="Calibri"/>
                        </a:rPr>
                        <a:t>Cost Perf. Index</a:t>
                      </a:r>
                    </a:p>
                  </a:txBody>
                  <a:tcPr>
                    <a:solidFill>
                      <a:srgbClr val="F5EFE6"/>
                    </a:solidFill>
                  </a:tcPr>
                </a:tc>
                <a:tc>
                  <a:txBody>
                    <a:bodyPr wrap="square"/>
                    <a:lstStyle/>
                    <a:p>
                      <a:pPr algn="l"/>
                      <a:r>
                        <a:rPr sz="900">
                          <a:solidFill>
                            <a:srgbClr val="2B2419"/>
                          </a:solidFill>
                          <a:latin typeface="Calibri"/>
                        </a:rPr>
                        <a:t>EV / AC = 7.5M / 10M</a:t>
                      </a:r>
                    </a:p>
                  </a:txBody>
                  <a:tcPr>
                    <a:solidFill>
                      <a:srgbClr val="F5EFE6"/>
                    </a:solidFill>
                  </a:tcPr>
                </a:tc>
                <a:tc>
                  <a:txBody>
                    <a:bodyPr wrap="square"/>
                    <a:lstStyle/>
                    <a:p>
                      <a:pPr algn="l"/>
                      <a:r>
                        <a:rPr sz="900">
                          <a:solidFill>
                            <a:srgbClr val="2B2419"/>
                          </a:solidFill>
                          <a:latin typeface="Calibri"/>
                        </a:rPr>
                        <a:t>0.75</a:t>
                      </a:r>
                    </a:p>
                  </a:txBody>
                  <a:tcPr>
                    <a:solidFill>
                      <a:srgbClr val="F5EFE6"/>
                    </a:solidFill>
                  </a:tcPr>
                </a:tc>
              </a:tr>
              <a:tr h="2057400">
                <a:tc>
                  <a:txBody>
                    <a:bodyPr wrap="square"/>
                    <a:lstStyle/>
                    <a:p>
                      <a:pPr algn="l"/>
                      <a:r>
                        <a:rPr sz="900">
                          <a:solidFill>
                            <a:srgbClr val="2B2419"/>
                          </a:solidFill>
                          <a:latin typeface="Calibri"/>
                        </a:rPr>
                        <a:t>SPI</a:t>
                      </a:r>
                    </a:p>
                  </a:txBody>
                  <a:tcPr>
                    <a:solidFill>
                      <a:srgbClr val="F5EFE6"/>
                    </a:solidFill>
                  </a:tcPr>
                </a:tc>
                <a:tc>
                  <a:txBody>
                    <a:bodyPr wrap="square"/>
                    <a:lstStyle/>
                    <a:p>
                      <a:pPr algn="l"/>
                      <a:r>
                        <a:rPr sz="900">
                          <a:solidFill>
                            <a:srgbClr val="2B2419"/>
                          </a:solidFill>
                          <a:latin typeface="Calibri"/>
                        </a:rPr>
                        <a:t>Schedule Perf. Index</a:t>
                      </a:r>
                    </a:p>
                  </a:txBody>
                  <a:tcPr>
                    <a:solidFill>
                      <a:srgbClr val="F5EFE6"/>
                    </a:solidFill>
                  </a:tcPr>
                </a:tc>
                <a:tc>
                  <a:txBody>
                    <a:bodyPr wrap="square"/>
                    <a:lstStyle/>
                    <a:p>
                      <a:pPr algn="l"/>
                      <a:r>
                        <a:rPr sz="900">
                          <a:solidFill>
                            <a:srgbClr val="2B2419"/>
                          </a:solidFill>
                          <a:latin typeface="Calibri"/>
                        </a:rPr>
                        <a:t>EV / PV = 7.5M / 16.8M</a:t>
                      </a:r>
                    </a:p>
                  </a:txBody>
                  <a:tcPr>
                    <a:solidFill>
                      <a:srgbClr val="F5EFE6"/>
                    </a:solidFill>
                  </a:tcPr>
                </a:tc>
                <a:tc>
                  <a:txBody>
                    <a:bodyPr wrap="square"/>
                    <a:lstStyle/>
                    <a:p>
                      <a:pPr algn="l"/>
                      <a:r>
                        <a:rPr sz="900">
                          <a:solidFill>
                            <a:srgbClr val="2B2419"/>
                          </a:solidFill>
                          <a:latin typeface="Calibri"/>
                        </a:rPr>
                        <a:t>≈ 0.45</a:t>
                      </a:r>
                    </a:p>
                  </a:txBody>
                  <a:tcPr>
                    <a:solidFill>
                      <a:srgbClr val="F5EFE6"/>
                    </a:solidFill>
                  </a:tcPr>
                </a:tc>
              </a:tr>
              <a:tr h="2057400">
                <a:tc>
                  <a:txBody>
                    <a:bodyPr wrap="square"/>
                    <a:lstStyle/>
                    <a:p>
                      <a:pPr algn="l"/>
                      <a:r>
                        <a:rPr sz="900">
                          <a:solidFill>
                            <a:srgbClr val="2B2419"/>
                          </a:solidFill>
                          <a:latin typeface="Calibri"/>
                        </a:rPr>
                        <a:t>EAC</a:t>
                      </a:r>
                    </a:p>
                  </a:txBody>
                  <a:tcPr>
                    <a:solidFill>
                      <a:srgbClr val="F5EFE6"/>
                    </a:solidFill>
                  </a:tcPr>
                </a:tc>
                <a:tc>
                  <a:txBody>
                    <a:bodyPr wrap="square"/>
                    <a:lstStyle/>
                    <a:p>
                      <a:pPr algn="l"/>
                      <a:r>
                        <a:rPr sz="900">
                          <a:solidFill>
                            <a:srgbClr val="2B2419"/>
                          </a:solidFill>
                          <a:latin typeface="Calibri"/>
                        </a:rPr>
                        <a:t>Estimate at Completion</a:t>
                      </a:r>
                    </a:p>
                  </a:txBody>
                  <a:tcPr>
                    <a:solidFill>
                      <a:srgbClr val="F5EFE6"/>
                    </a:solidFill>
                  </a:tcPr>
                </a:tc>
                <a:tc>
                  <a:txBody>
                    <a:bodyPr wrap="square"/>
                    <a:lstStyle/>
                    <a:p>
                      <a:pPr algn="l"/>
                      <a:r>
                        <a:rPr sz="900">
                          <a:solidFill>
                            <a:srgbClr val="2B2419"/>
                          </a:solidFill>
                          <a:latin typeface="Calibri"/>
                        </a:rPr>
                        <a:t>BAC / CPI = 33.6M / 0.75</a:t>
                      </a:r>
                    </a:p>
                  </a:txBody>
                  <a:tcPr>
                    <a:solidFill>
                      <a:srgbClr val="F5EFE6"/>
                    </a:solidFill>
                  </a:tcPr>
                </a:tc>
                <a:tc>
                  <a:txBody>
                    <a:bodyPr wrap="square"/>
                    <a:lstStyle/>
                    <a:p>
                      <a:pPr algn="l"/>
                      <a:r>
                        <a:rPr sz="900">
                          <a:solidFill>
                            <a:srgbClr val="2B2419"/>
                          </a:solidFill>
                          <a:latin typeface="Calibri"/>
                        </a:rPr>
                        <a:t>44,800,000 VND</a:t>
                      </a:r>
                    </a:p>
                  </a:txBody>
                  <a:tcPr>
                    <a:solidFill>
                      <a:srgbClr val="F5EFE6"/>
                    </a:solidFill>
                  </a:tcPr>
                </a:tc>
              </a:tr>
              <a:tr h="2057400">
                <a:tc>
                  <a:txBody>
                    <a:bodyPr wrap="square"/>
                    <a:lstStyle/>
                    <a:p>
                      <a:pPr algn="l"/>
                      <a:r>
                        <a:rPr sz="900">
                          <a:solidFill>
                            <a:srgbClr val="2B2419"/>
                          </a:solidFill>
                          <a:latin typeface="Calibri"/>
                        </a:rPr>
                        <a:t>ETC</a:t>
                      </a:r>
                    </a:p>
                  </a:txBody>
                  <a:tcPr>
                    <a:solidFill>
                      <a:srgbClr val="F5EFE6"/>
                    </a:solidFill>
                  </a:tcPr>
                </a:tc>
                <a:tc>
                  <a:txBody>
                    <a:bodyPr wrap="square"/>
                    <a:lstStyle/>
                    <a:p>
                      <a:pPr algn="l"/>
                      <a:r>
                        <a:rPr sz="900">
                          <a:solidFill>
                            <a:srgbClr val="2B2419"/>
                          </a:solidFill>
                          <a:latin typeface="Calibri"/>
                        </a:rPr>
                        <a:t>Estimate to Complete</a:t>
                      </a:r>
                    </a:p>
                  </a:txBody>
                  <a:tcPr>
                    <a:solidFill>
                      <a:srgbClr val="F5EFE6"/>
                    </a:solidFill>
                  </a:tcPr>
                </a:tc>
                <a:tc>
                  <a:txBody>
                    <a:bodyPr wrap="square"/>
                    <a:lstStyle/>
                    <a:p>
                      <a:pPr algn="l"/>
                      <a:r>
                        <a:rPr sz="900">
                          <a:solidFill>
                            <a:srgbClr val="2B2419"/>
                          </a:solidFill>
                          <a:latin typeface="Calibri"/>
                        </a:rPr>
                        <a:t>EAC − AC = 44.8M − 10M</a:t>
                      </a:r>
                    </a:p>
                  </a:txBody>
                  <a:tcPr>
                    <a:solidFill>
                      <a:srgbClr val="F5EFE6"/>
                    </a:solidFill>
                  </a:tcPr>
                </a:tc>
                <a:tc>
                  <a:txBody>
                    <a:bodyPr wrap="square"/>
                    <a:lstStyle/>
                    <a:p>
                      <a:pPr algn="l"/>
                      <a:r>
                        <a:rPr sz="900">
                          <a:solidFill>
                            <a:srgbClr val="2B2419"/>
                          </a:solidFill>
                          <a:latin typeface="Calibri"/>
                        </a:rPr>
                        <a:t>34,800,000 VND</a:t>
                      </a:r>
                    </a:p>
                  </a:txBody>
                  <a:tcPr>
                    <a:solidFill>
                      <a:srgbClr val="F5EFE6"/>
                    </a:solidFill>
                  </a:tcPr>
                </a:tc>
              </a:tr>
              <a:tr h="2057400">
                <a:tc>
                  <a:txBody>
                    <a:bodyPr wrap="square"/>
                    <a:lstStyle/>
                    <a:p>
                      <a:pPr algn="l"/>
                      <a:r>
                        <a:rPr sz="900">
                          <a:solidFill>
                            <a:srgbClr val="2B2419"/>
                          </a:solidFill>
                          <a:latin typeface="Calibri"/>
                        </a:rPr>
                        <a:t>VAC</a:t>
                      </a:r>
                    </a:p>
                  </a:txBody>
                  <a:tcPr>
                    <a:solidFill>
                      <a:srgbClr val="F5EFE6"/>
                    </a:solidFill>
                  </a:tcPr>
                </a:tc>
                <a:tc>
                  <a:txBody>
                    <a:bodyPr wrap="square"/>
                    <a:lstStyle/>
                    <a:p>
                      <a:pPr algn="l"/>
                      <a:r>
                        <a:rPr sz="900">
                          <a:solidFill>
                            <a:srgbClr val="2B2419"/>
                          </a:solidFill>
                          <a:latin typeface="Calibri"/>
                        </a:rPr>
                        <a:t>Variance at Completion</a:t>
                      </a:r>
                    </a:p>
                  </a:txBody>
                  <a:tcPr>
                    <a:solidFill>
                      <a:srgbClr val="F5EFE6"/>
                    </a:solidFill>
                  </a:tcPr>
                </a:tc>
                <a:tc>
                  <a:txBody>
                    <a:bodyPr wrap="square"/>
                    <a:lstStyle/>
                    <a:p>
                      <a:pPr algn="l"/>
                      <a:r>
                        <a:rPr sz="900">
                          <a:solidFill>
                            <a:srgbClr val="2B2419"/>
                          </a:solidFill>
                          <a:latin typeface="Calibri"/>
                        </a:rPr>
                        <a:t>BAC − EAC = 33.6M − 44.8M</a:t>
                      </a:r>
                    </a:p>
                  </a:txBody>
                  <a:tcPr>
                    <a:solidFill>
                      <a:srgbClr val="F5EFE6"/>
                    </a:solidFill>
                  </a:tcPr>
                </a:tc>
                <a:tc>
                  <a:txBody>
                    <a:bodyPr wrap="square"/>
                    <a:lstStyle/>
                    <a:p>
                      <a:pPr algn="l"/>
                      <a:r>
                        <a:rPr sz="900">
                          <a:solidFill>
                            <a:srgbClr val="2B2419"/>
                          </a:solidFill>
                          <a:latin typeface="Calibri"/>
                        </a:rPr>
                        <a:t>−11,200,000 VND</a:t>
                      </a:r>
                    </a:p>
                  </a:txBody>
                  <a:tcPr>
                    <a:solidFill>
                      <a:srgbClr val="F5EFE6"/>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MONITORING &amp; EVM</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Issue Log &amp; Change Control</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18 / 24</a:t>
            </a:r>
          </a:p>
        </p:txBody>
      </p:sp>
      <p:sp>
        <p:nvSpPr>
          <p:cNvPr id="9" name="TextBox 8"/>
          <p:cNvSpPr txBox="1"/>
          <p:nvPr/>
        </p:nvSpPr>
        <p:spPr>
          <a:xfrm>
            <a:off x="8534186" y="1"/>
            <a:ext cx="5" cy="2743200"/>
          </a:xfrm>
          <a:prstGeom prst="rect">
            <a:avLst/>
          </a:prstGeom>
          <a:noFill/>
        </p:spPr>
        <p:txBody>
          <a:bodyPr wrap="square">
            <a:spAutoFit/>
          </a:bodyPr>
          <a:lstStyle/>
          <a:p>
            <a:pPr algn="l"/>
            <a:r>
              <a:rPr sz="1500" b="1" i="0">
                <a:solidFill>
                  <a:srgbClr val="2B2419"/>
                </a:solidFill>
                <a:latin typeface="Georgia"/>
              </a:rPr>
              <a:t>Issue Log</a:t>
            </a:r>
          </a:p>
        </p:txBody>
      </p:sp>
      <p:graphicFrame>
        <p:nvGraphicFramePr>
          <p:cNvPr id="10" name="Table 9"/>
          <p:cNvGraphicFramePr>
            <a:graphicFrameLocks noGrp="1"/>
          </p:cNvGraphicFramePr>
          <p:nvPr/>
        </p:nvGraphicFramePr>
        <p:xfrm>
          <a:off x="8534186.5" y="13716000.0"/>
          <a:ext cx="70711829" cy="12344400.0"/>
        </p:xfrm>
        <a:graphic>
          <a:graphicData uri="http://schemas.openxmlformats.org/drawingml/2006/table">
            <a:tbl>
              <a:tblPr firstRow="1" bandRow="1">
                <a:tableStyleId>{5C22544A-7EE6-4342-B048-85BDC9FD1C3A}</a:tableStyleId>
              </a:tblPr>
              <a:tblGrid>
                <a:gridCol w="8433521"/>
                <a:gridCol w="6487323"/>
                <a:gridCol w="38923943"/>
                <a:gridCol w="8433521"/>
                <a:gridCol w="8433521"/>
              </a:tblGrid>
              <a:tr h="3086100">
                <a:tc>
                  <a:txBody>
                    <a:bodyPr wrap="square"/>
                    <a:lstStyle/>
                    <a:p>
                      <a:pPr algn="l"/>
                      <a:r>
                        <a:rPr sz="900">
                          <a:solidFill>
                            <a:srgbClr val="FFFFFF"/>
                          </a:solidFill>
                          <a:latin typeface="Calibri"/>
                        </a:rPr>
                        <a:t>ID</a:t>
                      </a:r>
                    </a:p>
                  </a:txBody>
                  <a:tcPr>
                    <a:solidFill>
                      <a:srgbClr val="8C5A2E"/>
                    </a:solidFill>
                  </a:tcPr>
                </a:tc>
                <a:tc>
                  <a:txBody>
                    <a:bodyPr wrap="square"/>
                    <a:lstStyle/>
                    <a:p>
                      <a:pPr algn="l"/>
                      <a:r>
                        <a:rPr sz="900">
                          <a:solidFill>
                            <a:srgbClr val="FFFFFF"/>
                          </a:solidFill>
                          <a:latin typeface="Calibri"/>
                        </a:rPr>
                        <a:t>Week</a:t>
                      </a:r>
                    </a:p>
                  </a:txBody>
                  <a:tcPr>
                    <a:solidFill>
                      <a:srgbClr val="8C5A2E"/>
                    </a:solidFill>
                  </a:tcPr>
                </a:tc>
                <a:tc>
                  <a:txBody>
                    <a:bodyPr wrap="square"/>
                    <a:lstStyle/>
                    <a:p>
                      <a:pPr algn="l"/>
                      <a:r>
                        <a:rPr sz="900">
                          <a:solidFill>
                            <a:srgbClr val="FFFFFF"/>
                          </a:solidFill>
                          <a:latin typeface="Calibri"/>
                        </a:rPr>
                        <a:t>Description</a:t>
                      </a:r>
                    </a:p>
                  </a:txBody>
                  <a:tcPr>
                    <a:solidFill>
                      <a:srgbClr val="8C5A2E"/>
                    </a:solidFill>
                  </a:tcPr>
                </a:tc>
                <a:tc>
                  <a:txBody>
                    <a:bodyPr wrap="square"/>
                    <a:lstStyle/>
                    <a:p>
                      <a:pPr algn="l"/>
                      <a:r>
                        <a:rPr sz="900">
                          <a:solidFill>
                            <a:srgbClr val="FFFFFF"/>
                          </a:solidFill>
                          <a:latin typeface="Calibri"/>
                        </a:rPr>
                        <a:t>Owner</a:t>
                      </a:r>
                    </a:p>
                  </a:txBody>
                  <a:tcPr>
                    <a:solidFill>
                      <a:srgbClr val="8C5A2E"/>
                    </a:solidFill>
                  </a:tcPr>
                </a:tc>
                <a:tc>
                  <a:txBody>
                    <a:bodyPr wrap="square"/>
                    <a:lstStyle/>
                    <a:p>
                      <a:pPr algn="l"/>
                      <a:r>
                        <a:rPr sz="900">
                          <a:solidFill>
                            <a:srgbClr val="FFFFFF"/>
                          </a:solidFill>
                          <a:latin typeface="Calibri"/>
                        </a:rPr>
                        <a:t>Status</a:t>
                      </a:r>
                    </a:p>
                  </a:txBody>
                  <a:tcPr>
                    <a:solidFill>
                      <a:srgbClr val="8C5A2E"/>
                    </a:solidFill>
                  </a:tcPr>
                </a:tc>
              </a:tr>
              <a:tr h="3086100">
                <a:tc>
                  <a:txBody>
                    <a:bodyPr wrap="square"/>
                    <a:lstStyle/>
                    <a:p>
                      <a:pPr algn="l"/>
                      <a:r>
                        <a:rPr sz="900">
                          <a:solidFill>
                            <a:srgbClr val="2B2419"/>
                          </a:solidFill>
                          <a:latin typeface="Calibri"/>
                        </a:rPr>
                        <a:t>ISS-001</a:t>
                      </a:r>
                    </a:p>
                  </a:txBody>
                  <a:tcPr>
                    <a:solidFill>
                      <a:srgbClr val="F5EFE6"/>
                    </a:solidFill>
                  </a:tcPr>
                </a:tc>
                <a:tc>
                  <a:txBody>
                    <a:bodyPr wrap="square"/>
                    <a:lstStyle/>
                    <a:p>
                      <a:pPr algn="l"/>
                      <a:r>
                        <a:rPr sz="900">
                          <a:solidFill>
                            <a:srgbClr val="2B2419"/>
                          </a:solidFill>
                          <a:latin typeface="Calibri"/>
                        </a:rPr>
                        <a:t>W3</a:t>
                      </a:r>
                    </a:p>
                  </a:txBody>
                  <a:tcPr>
                    <a:solidFill>
                      <a:srgbClr val="F5EFE6"/>
                    </a:solidFill>
                  </a:tcPr>
                </a:tc>
                <a:tc>
                  <a:txBody>
                    <a:bodyPr wrap="square"/>
                    <a:lstStyle/>
                    <a:p>
                      <a:pPr algn="l"/>
                      <a:r>
                        <a:rPr sz="900">
                          <a:solidFill>
                            <a:srgbClr val="2B2419"/>
                          </a:solidFill>
                          <a:latin typeface="Calibri"/>
                        </a:rPr>
                        <a:t>Stakeholder interviews took +3 h</a:t>
                      </a:r>
                    </a:p>
                  </a:txBody>
                  <a:tcPr>
                    <a:solidFill>
                      <a:srgbClr val="F5EFE6"/>
                    </a:solidFill>
                  </a:tcPr>
                </a:tc>
                <a:tc>
                  <a:txBody>
                    <a:bodyPr wrap="square"/>
                    <a:lstStyle/>
                    <a:p>
                      <a:pPr algn="l"/>
                      <a:r>
                        <a:rPr sz="900">
                          <a:solidFill>
                            <a:srgbClr val="2B2419"/>
                          </a:solidFill>
                          <a:latin typeface="Calibri"/>
                        </a:rPr>
                        <a:t>Đức</a:t>
                      </a:r>
                    </a:p>
                  </a:txBody>
                  <a:tcPr>
                    <a:solidFill>
                      <a:srgbClr val="F5EFE6"/>
                    </a:solidFill>
                  </a:tcPr>
                </a:tc>
                <a:tc>
                  <a:txBody>
                    <a:bodyPr wrap="square"/>
                    <a:lstStyle/>
                    <a:p>
                      <a:pPr algn="l"/>
                      <a:r>
                        <a:rPr sz="900">
                          <a:solidFill>
                            <a:srgbClr val="2B2419"/>
                          </a:solidFill>
                          <a:latin typeface="Calibri"/>
                        </a:rPr>
                        <a:t>Closed</a:t>
                      </a:r>
                    </a:p>
                  </a:txBody>
                  <a:tcPr>
                    <a:solidFill>
                      <a:srgbClr val="F5EFE6"/>
                    </a:solidFill>
                  </a:tcPr>
                </a:tc>
              </a:tr>
              <a:tr h="3086100">
                <a:tc>
                  <a:txBody>
                    <a:bodyPr wrap="square"/>
                    <a:lstStyle/>
                    <a:p>
                      <a:pPr algn="l"/>
                      <a:r>
                        <a:rPr sz="900">
                          <a:solidFill>
                            <a:srgbClr val="2B2419"/>
                          </a:solidFill>
                          <a:latin typeface="Calibri"/>
                        </a:rPr>
                        <a:t>ISS-002</a:t>
                      </a:r>
                    </a:p>
                  </a:txBody>
                  <a:tcPr>
                    <a:solidFill>
                      <a:srgbClr val="E8F0E4"/>
                    </a:solidFill>
                  </a:tcPr>
                </a:tc>
                <a:tc>
                  <a:txBody>
                    <a:bodyPr wrap="square"/>
                    <a:lstStyle/>
                    <a:p>
                      <a:pPr algn="l"/>
                      <a:r>
                        <a:rPr sz="900">
                          <a:solidFill>
                            <a:srgbClr val="2B2419"/>
                          </a:solidFill>
                          <a:latin typeface="Calibri"/>
                        </a:rPr>
                        <a:t>W5</a:t>
                      </a:r>
                    </a:p>
                  </a:txBody>
                  <a:tcPr>
                    <a:solidFill>
                      <a:srgbClr val="E8F0E4"/>
                    </a:solidFill>
                  </a:tcPr>
                </a:tc>
                <a:tc>
                  <a:txBody>
                    <a:bodyPr wrap="square"/>
                    <a:lstStyle/>
                    <a:p>
                      <a:pPr algn="l"/>
                      <a:r>
                        <a:rPr sz="900">
                          <a:solidFill>
                            <a:srgbClr val="2B2419"/>
                          </a:solidFill>
                          <a:latin typeface="Calibri"/>
                        </a:rPr>
                        <a:t>react-router-dom v7 routing broken</a:t>
                      </a:r>
                    </a:p>
                  </a:txBody>
                  <a:tcPr>
                    <a:solidFill>
                      <a:srgbClr val="E8F0E4"/>
                    </a:solidFill>
                  </a:tcPr>
                </a:tc>
                <a:tc>
                  <a:txBody>
                    <a:bodyPr wrap="square"/>
                    <a:lstStyle/>
                    <a:p>
                      <a:pPr algn="l"/>
                      <a:r>
                        <a:rPr sz="900">
                          <a:solidFill>
                            <a:srgbClr val="2B2419"/>
                          </a:solidFill>
                          <a:latin typeface="Calibri"/>
                        </a:rPr>
                        <a:t>Bảo</a:t>
                      </a:r>
                    </a:p>
                  </a:txBody>
                  <a:tcPr>
                    <a:solidFill>
                      <a:srgbClr val="E8F0E4"/>
                    </a:solidFill>
                  </a:tcPr>
                </a:tc>
                <a:tc>
                  <a:txBody>
                    <a:bodyPr wrap="square"/>
                    <a:lstStyle/>
                    <a:p>
                      <a:pPr algn="l"/>
                      <a:r>
                        <a:rPr sz="900">
                          <a:solidFill>
                            <a:srgbClr val="2B2419"/>
                          </a:solidFill>
                          <a:latin typeface="Calibri"/>
                        </a:rPr>
                        <a:t>Closed</a:t>
                      </a:r>
                    </a:p>
                  </a:txBody>
                  <a:tcPr>
                    <a:solidFill>
                      <a:srgbClr val="E8F0E4"/>
                    </a:solidFill>
                  </a:tcPr>
                </a:tc>
              </a:tr>
              <a:tr h="3086100">
                <a:tc>
                  <a:txBody>
                    <a:bodyPr wrap="square"/>
                    <a:lstStyle/>
                    <a:p>
                      <a:pPr algn="l"/>
                      <a:r>
                        <a:rPr sz="900">
                          <a:solidFill>
                            <a:srgbClr val="2B2419"/>
                          </a:solidFill>
                          <a:latin typeface="Calibri"/>
                        </a:rPr>
                        <a:t>ISS-003</a:t>
                      </a:r>
                    </a:p>
                  </a:txBody>
                  <a:tcPr>
                    <a:solidFill>
                      <a:srgbClr val="F5EFE6"/>
                    </a:solidFill>
                  </a:tcPr>
                </a:tc>
                <a:tc>
                  <a:txBody>
                    <a:bodyPr wrap="square"/>
                    <a:lstStyle/>
                    <a:p>
                      <a:pPr algn="l"/>
                      <a:r>
                        <a:rPr sz="900">
                          <a:solidFill>
                            <a:srgbClr val="2B2419"/>
                          </a:solidFill>
                          <a:latin typeface="Calibri"/>
                        </a:rPr>
                        <a:t>W6</a:t>
                      </a:r>
                    </a:p>
                  </a:txBody>
                  <a:tcPr>
                    <a:solidFill>
                      <a:srgbClr val="F5EFE6"/>
                    </a:solidFill>
                  </a:tcPr>
                </a:tc>
                <a:tc>
                  <a:txBody>
                    <a:bodyPr wrap="square"/>
                    <a:lstStyle/>
                    <a:p>
                      <a:pPr algn="l"/>
                      <a:r>
                        <a:rPr sz="900">
                          <a:solidFill>
                            <a:srgbClr val="2B2419"/>
                          </a:solidFill>
                          <a:latin typeface="Calibri"/>
                        </a:rPr>
                        <a:t>M4 Integration milestone at risk</a:t>
                      </a:r>
                    </a:p>
                  </a:txBody>
                  <a:tcPr>
                    <a:solidFill>
                      <a:srgbClr val="F5EFE6"/>
                    </a:solidFill>
                  </a:tcPr>
                </a:tc>
                <a:tc>
                  <a:txBody>
                    <a:bodyPr wrap="square"/>
                    <a:lstStyle/>
                    <a:p>
                      <a:pPr algn="l"/>
                      <a:r>
                        <a:rPr sz="900">
                          <a:solidFill>
                            <a:srgbClr val="2B2419"/>
                          </a:solidFill>
                          <a:latin typeface="Calibri"/>
                        </a:rPr>
                        <a:t>Đức</a:t>
                      </a:r>
                    </a:p>
                  </a:txBody>
                  <a:tcPr>
                    <a:solidFill>
                      <a:srgbClr val="F5EFE6"/>
                    </a:solidFill>
                  </a:tcPr>
                </a:tc>
                <a:tc>
                  <a:txBody>
                    <a:bodyPr wrap="square"/>
                    <a:lstStyle/>
                    <a:p>
                      <a:pPr algn="l"/>
                      <a:r>
                        <a:rPr sz="900">
                          <a:solidFill>
                            <a:srgbClr val="2B2419"/>
                          </a:solidFill>
                          <a:latin typeface="Calibri"/>
                        </a:rPr>
                        <a:t>Open</a:t>
                      </a:r>
                    </a:p>
                  </a:txBody>
                  <a:tcPr>
                    <a:solidFill>
                      <a:srgbClr val="F5EFE6"/>
                    </a:solidFill>
                  </a:tcPr>
                </a:tc>
              </a:tr>
            </a:tbl>
          </a:graphicData>
        </a:graphic>
      </p:graphicFrame>
      <p:sp>
        <p:nvSpPr>
          <p:cNvPr id="11" name="TextBox 10"/>
          <p:cNvSpPr txBox="1"/>
          <p:nvPr/>
        </p:nvSpPr>
        <p:spPr>
          <a:xfrm>
            <a:off x="6" y="1"/>
            <a:ext cx="6" cy="2743200"/>
          </a:xfrm>
          <a:prstGeom prst="rect">
            <a:avLst/>
          </a:prstGeom>
          <a:noFill/>
        </p:spPr>
        <p:txBody>
          <a:bodyPr wrap="square">
            <a:spAutoFit/>
          </a:bodyPr>
          <a:lstStyle/>
          <a:p>
            <a:pPr algn="l"/>
            <a:r>
              <a:rPr sz="1500" b="1" i="0">
                <a:solidFill>
                  <a:srgbClr val="2B2419"/>
                </a:solidFill>
                <a:latin typeface="Georgia"/>
              </a:rPr>
              <a:t>Change Request CR-001</a:t>
            </a:r>
          </a:p>
        </p:txBody>
      </p:sp>
      <p:graphicFrame>
        <p:nvGraphicFramePr>
          <p:cNvPr id="12" name="Table 11"/>
          <p:cNvGraphicFramePr>
            <a:graphicFrameLocks noGrp="1"/>
          </p:cNvGraphicFramePr>
          <p:nvPr/>
        </p:nvGraphicFramePr>
        <p:xfrm>
          <a:off x="82903526.0" y="13716000.0"/>
          <a:ext cx="75588509" cy="24688800.0"/>
        </p:xfrm>
        <a:graphic>
          <a:graphicData uri="http://schemas.openxmlformats.org/drawingml/2006/table">
            <a:tbl>
              <a:tblPr firstRow="1" bandRow="1">
                <a:tableStyleId>{5C22544A-7EE6-4342-B048-85BDC9FD1C3A}</a:tableStyleId>
              </a:tblPr>
              <a:tblGrid>
                <a:gridCol w="19506712"/>
                <a:gridCol w="56081797"/>
              </a:tblGrid>
              <a:tr h="2743200">
                <a:tc>
                  <a:txBody>
                    <a:bodyPr wrap="square"/>
                    <a:lstStyle/>
                    <a:p>
                      <a:pPr algn="l"/>
                      <a:r>
                        <a:rPr sz="900">
                          <a:solidFill>
                            <a:srgbClr val="FFFFFF"/>
                          </a:solidFill>
                          <a:latin typeface="Calibri"/>
                        </a:rPr>
                        <a:t>Field</a:t>
                      </a:r>
                    </a:p>
                  </a:txBody>
                  <a:tcPr>
                    <a:solidFill>
                      <a:srgbClr val="8C5A2E"/>
                    </a:solidFill>
                  </a:tcPr>
                </a:tc>
                <a:tc>
                  <a:txBody>
                    <a:bodyPr wrap="square"/>
                    <a:lstStyle/>
                    <a:p>
                      <a:pPr algn="l"/>
                      <a:r>
                        <a:rPr sz="900">
                          <a:solidFill>
                            <a:srgbClr val="FFFFFF"/>
                          </a:solidFill>
                          <a:latin typeface="Calibri"/>
                        </a:rPr>
                        <a:t>Value</a:t>
                      </a:r>
                    </a:p>
                  </a:txBody>
                  <a:tcPr>
                    <a:solidFill>
                      <a:srgbClr val="8C5A2E"/>
                    </a:solidFill>
                  </a:tcPr>
                </a:tc>
              </a:tr>
              <a:tr h="2743200">
                <a:tc>
                  <a:txBody>
                    <a:bodyPr wrap="square"/>
                    <a:lstStyle/>
                    <a:p>
                      <a:pPr algn="l"/>
                      <a:r>
                        <a:rPr sz="900">
                          <a:solidFill>
                            <a:srgbClr val="2B2419"/>
                          </a:solidFill>
                          <a:latin typeface="Calibri"/>
                        </a:rPr>
                        <a:t>Date</a:t>
                      </a:r>
                    </a:p>
                  </a:txBody>
                  <a:tcPr>
                    <a:solidFill>
                      <a:srgbClr val="F5EFE6"/>
                    </a:solidFill>
                  </a:tcPr>
                </a:tc>
                <a:tc>
                  <a:txBody>
                    <a:bodyPr wrap="square"/>
                    <a:lstStyle/>
                    <a:p>
                      <a:pPr algn="l"/>
                      <a:r>
                        <a:rPr sz="900">
                          <a:solidFill>
                            <a:srgbClr val="2B2419"/>
                          </a:solidFill>
                          <a:latin typeface="Calibri"/>
                        </a:rPr>
                        <a:t>Week 6</a:t>
                      </a:r>
                    </a:p>
                  </a:txBody>
                  <a:tcPr>
                    <a:solidFill>
                      <a:srgbClr val="F5EFE6"/>
                    </a:solidFill>
                  </a:tcPr>
                </a:tc>
              </a:tr>
              <a:tr h="2743200">
                <a:tc>
                  <a:txBody>
                    <a:bodyPr wrap="square"/>
                    <a:lstStyle/>
                    <a:p>
                      <a:pPr algn="l"/>
                      <a:r>
                        <a:rPr sz="900">
                          <a:solidFill>
                            <a:srgbClr val="2B2419"/>
                          </a:solidFill>
                          <a:latin typeface="Calibri"/>
                        </a:rPr>
                        <a:t>Requester</a:t>
                      </a:r>
                    </a:p>
                  </a:txBody>
                  <a:tcPr>
                    <a:solidFill>
                      <a:srgbClr val="F5EFE6"/>
                    </a:solidFill>
                  </a:tcPr>
                </a:tc>
                <a:tc>
                  <a:txBody>
                    <a:bodyPr wrap="square"/>
                    <a:lstStyle/>
                    <a:p>
                      <a:pPr algn="l"/>
                      <a:r>
                        <a:rPr sz="900">
                          <a:solidFill>
                            <a:srgbClr val="2B2419"/>
                          </a:solidFill>
                          <a:latin typeface="Calibri"/>
                        </a:rPr>
                        <a:t>Bảo</a:t>
                      </a:r>
                    </a:p>
                  </a:txBody>
                  <a:tcPr>
                    <a:solidFill>
                      <a:srgbClr val="F5EFE6"/>
                    </a:solidFill>
                  </a:tcPr>
                </a:tc>
              </a:tr>
              <a:tr h="2743200">
                <a:tc>
                  <a:txBody>
                    <a:bodyPr wrap="square"/>
                    <a:lstStyle/>
                    <a:p>
                      <a:pPr algn="l"/>
                      <a:r>
                        <a:rPr sz="900">
                          <a:solidFill>
                            <a:srgbClr val="2B2419"/>
                          </a:solidFill>
                          <a:latin typeface="Calibri"/>
                        </a:rPr>
                        <a:t>Description</a:t>
                      </a:r>
                    </a:p>
                  </a:txBody>
                  <a:tcPr>
                    <a:solidFill>
                      <a:srgbClr val="F5EFE6"/>
                    </a:solidFill>
                  </a:tcPr>
                </a:tc>
                <a:tc>
                  <a:txBody>
                    <a:bodyPr wrap="square"/>
                    <a:lstStyle/>
                    <a:p>
                      <a:pPr algn="l"/>
                      <a:r>
                        <a:rPr sz="900">
                          <a:solidFill>
                            <a:srgbClr val="2B2419"/>
                          </a:solidFill>
                          <a:latin typeface="Calibri"/>
                        </a:rPr>
                        <a:t>Replace Supabase (cloud) with local state + mock data</a:t>
                      </a:r>
                    </a:p>
                  </a:txBody>
                  <a:tcPr>
                    <a:solidFill>
                      <a:srgbClr val="F5EFE6"/>
                    </a:solidFill>
                  </a:tcPr>
                </a:tc>
              </a:tr>
              <a:tr h="2743200">
                <a:tc>
                  <a:txBody>
                    <a:bodyPr wrap="square"/>
                    <a:lstStyle/>
                    <a:p>
                      <a:pPr algn="l"/>
                      <a:r>
                        <a:rPr sz="900">
                          <a:solidFill>
                            <a:srgbClr val="2B2419"/>
                          </a:solidFill>
                          <a:latin typeface="Calibri"/>
                        </a:rPr>
                        <a:t>Impact — Time</a:t>
                      </a:r>
                    </a:p>
                  </a:txBody>
                  <a:tcPr>
                    <a:solidFill>
                      <a:srgbClr val="F5EFE6"/>
                    </a:solidFill>
                  </a:tcPr>
                </a:tc>
                <a:tc>
                  <a:txBody>
                    <a:bodyPr wrap="square"/>
                    <a:lstStyle/>
                    <a:p>
                      <a:pPr algn="l"/>
                      <a:r>
                        <a:rPr sz="900">
                          <a:solidFill>
                            <a:srgbClr val="2B2419"/>
                          </a:solidFill>
                          <a:latin typeface="Calibri"/>
                        </a:rPr>
                        <a:t>+1 day float recovered; no schedule impact</a:t>
                      </a:r>
                    </a:p>
                  </a:txBody>
                  <a:tcPr>
                    <a:solidFill>
                      <a:srgbClr val="F5EFE6"/>
                    </a:solidFill>
                  </a:tcPr>
                </a:tc>
              </a:tr>
              <a:tr h="2743200">
                <a:tc>
                  <a:txBody>
                    <a:bodyPr wrap="square"/>
                    <a:lstStyle/>
                    <a:p>
                      <a:pPr algn="l"/>
                      <a:r>
                        <a:rPr sz="900">
                          <a:solidFill>
                            <a:srgbClr val="2B2419"/>
                          </a:solidFill>
                          <a:latin typeface="Calibri"/>
                        </a:rPr>
                        <a:t>Impact — Cost</a:t>
                      </a:r>
                    </a:p>
                  </a:txBody>
                  <a:tcPr>
                    <a:solidFill>
                      <a:srgbClr val="F5EFE6"/>
                    </a:solidFill>
                  </a:tcPr>
                </a:tc>
                <a:tc>
                  <a:txBody>
                    <a:bodyPr wrap="square"/>
                    <a:lstStyle/>
                    <a:p>
                      <a:pPr algn="l"/>
                      <a:r>
                        <a:rPr sz="900">
                          <a:solidFill>
                            <a:srgbClr val="2B2419"/>
                          </a:solidFill>
                          <a:latin typeface="Calibri"/>
                        </a:rPr>
                        <a:t>−200,000 VND (eliminates Supabase setup)</a:t>
                      </a:r>
                    </a:p>
                  </a:txBody>
                  <a:tcPr>
                    <a:solidFill>
                      <a:srgbClr val="F5EFE6"/>
                    </a:solidFill>
                  </a:tcPr>
                </a:tc>
              </a:tr>
              <a:tr h="2743200">
                <a:tc>
                  <a:txBody>
                    <a:bodyPr wrap="square"/>
                    <a:lstStyle/>
                    <a:p>
                      <a:pPr algn="l"/>
                      <a:r>
                        <a:rPr sz="900">
                          <a:solidFill>
                            <a:srgbClr val="2B2419"/>
                          </a:solidFill>
                          <a:latin typeface="Calibri"/>
                        </a:rPr>
                        <a:t>Impact — Scope</a:t>
                      </a:r>
                    </a:p>
                  </a:txBody>
                  <a:tcPr>
                    <a:solidFill>
                      <a:srgbClr val="F5EFE6"/>
                    </a:solidFill>
                  </a:tcPr>
                </a:tc>
                <a:tc>
                  <a:txBody>
                    <a:bodyPr wrap="square"/>
                    <a:lstStyle/>
                    <a:p>
                      <a:pPr algn="l"/>
                      <a:r>
                        <a:rPr sz="900">
                          <a:solidFill>
                            <a:srgbClr val="2B2419"/>
                          </a:solidFill>
                          <a:latin typeface="Calibri"/>
                        </a:rPr>
                        <a:t>Removes cloud sync; already in Out-of-Scope</a:t>
                      </a:r>
                    </a:p>
                  </a:txBody>
                  <a:tcPr>
                    <a:solidFill>
                      <a:srgbClr val="F5EFE6"/>
                    </a:solidFill>
                  </a:tcPr>
                </a:tc>
              </a:tr>
              <a:tr h="2743200">
                <a:tc>
                  <a:txBody>
                    <a:bodyPr wrap="square"/>
                    <a:lstStyle/>
                    <a:p>
                      <a:pPr algn="l"/>
                      <a:r>
                        <a:rPr sz="900">
                          <a:solidFill>
                            <a:srgbClr val="2B2419"/>
                          </a:solidFill>
                          <a:latin typeface="Calibri"/>
                        </a:rPr>
                        <a:t>Decision</a:t>
                      </a:r>
                    </a:p>
                  </a:txBody>
                  <a:tcPr>
                    <a:solidFill>
                      <a:srgbClr val="F5EFE6"/>
                    </a:solidFill>
                  </a:tcPr>
                </a:tc>
                <a:tc>
                  <a:txBody>
                    <a:bodyPr wrap="square"/>
                    <a:lstStyle/>
                    <a:p>
                      <a:pPr algn="l"/>
                      <a:r>
                        <a:rPr sz="900">
                          <a:solidFill>
                            <a:srgbClr val="2B2419"/>
                          </a:solidFill>
                          <a:latin typeface="Calibri"/>
                        </a:rPr>
                        <a:t>APPROVED</a:t>
                      </a:r>
                    </a:p>
                  </a:txBody>
                  <a:tcPr>
                    <a:solidFill>
                      <a:srgbClr val="F5EFE6"/>
                    </a:solidFill>
                  </a:tcPr>
                </a:tc>
              </a:tr>
              <a:tr h="2743200">
                <a:tc>
                  <a:txBody>
                    <a:bodyPr wrap="square"/>
                    <a:lstStyle/>
                    <a:p>
                      <a:pPr algn="l"/>
                      <a:r>
                        <a:rPr sz="900">
                          <a:solidFill>
                            <a:srgbClr val="2B2419"/>
                          </a:solidFill>
                          <a:latin typeface="Calibri"/>
                        </a:rPr>
                        <a:t>Status</a:t>
                      </a:r>
                    </a:p>
                  </a:txBody>
                  <a:tcPr>
                    <a:solidFill>
                      <a:srgbClr val="5B6B47"/>
                    </a:solidFill>
                  </a:tcPr>
                </a:tc>
                <a:tc>
                  <a:txBody>
                    <a:bodyPr wrap="square"/>
                    <a:lstStyle/>
                    <a:p>
                      <a:pPr algn="l"/>
                      <a:r>
                        <a:rPr sz="900">
                          <a:solidFill>
                            <a:srgbClr val="2B2419"/>
                          </a:solidFill>
                          <a:latin typeface="Calibri"/>
                        </a:rPr>
                        <a:t>IMPLEMENTED</a:t>
                      </a:r>
                    </a:p>
                  </a:txBody>
                  <a:tcPr>
                    <a:solidFill>
                      <a:srgbClr val="5B6B47"/>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 cy="5486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356" y="1"/>
            <a:ext cx="2" cy="1"/>
          </a:xfrm>
          <a:prstGeom prst="rect">
            <a:avLst/>
          </a:prstGeom>
          <a:noFill/>
        </p:spPr>
        <p:txBody>
          <a:bodyPr wrap="square">
            <a:spAutoFit/>
          </a:bodyPr>
          <a:lstStyle/>
          <a:p>
            <a:pPr algn="l"/>
            <a:r>
              <a:rPr sz="12000" b="0" i="1">
                <a:solidFill>
                  <a:srgbClr val="8C5A2E"/>
                </a:solidFill>
                <a:latin typeface="Georgia"/>
              </a:rPr>
              <a:t>§</a:t>
            </a:r>
          </a:p>
        </p:txBody>
      </p:sp>
      <p:sp>
        <p:nvSpPr>
          <p:cNvPr id="6" name="TextBox 5"/>
          <p:cNvSpPr txBox="1"/>
          <p:nvPr/>
        </p:nvSpPr>
        <p:spPr>
          <a:xfrm>
            <a:off x="2" y="1"/>
            <a:ext cx="2" cy="1"/>
          </a:xfrm>
          <a:prstGeom prst="rect">
            <a:avLst/>
          </a:prstGeom>
          <a:noFill/>
        </p:spPr>
        <p:txBody>
          <a:bodyPr wrap="square">
            <a:spAutoFit/>
          </a:bodyPr>
          <a:lstStyle/>
          <a:p>
            <a:pPr algn="l"/>
            <a:r>
              <a:rPr sz="4800" b="0" i="1">
                <a:solidFill>
                  <a:srgbClr val="E8D5BC"/>
                </a:solidFill>
                <a:latin typeface="Georgia"/>
              </a:rPr>
              <a:t>VIII</a:t>
            </a:r>
          </a:p>
        </p:txBody>
      </p:sp>
      <p:sp>
        <p:nvSpPr>
          <p:cNvPr id="7" name="TextBox 6"/>
          <p:cNvSpPr txBox="1"/>
          <p:nvPr/>
        </p:nvSpPr>
        <p:spPr>
          <a:xfrm>
            <a:off x="9753356" y="3"/>
            <a:ext cx="11" cy="1"/>
          </a:xfrm>
          <a:prstGeom prst="rect">
            <a:avLst/>
          </a:prstGeom>
          <a:noFill/>
        </p:spPr>
        <p:txBody>
          <a:bodyPr wrap="square">
            <a:spAutoFit/>
          </a:bodyPr>
          <a:lstStyle/>
          <a:p>
            <a:pPr algn="l"/>
            <a:r>
              <a:rPr sz="4400" b="1" i="0">
                <a:solidFill>
                  <a:srgbClr val="2B2419"/>
                </a:solidFill>
                <a:latin typeface="Georgia"/>
              </a:rPr>
              <a:t>Prototype &amp; Lessons</a:t>
            </a:r>
          </a:p>
        </p:txBody>
      </p:sp>
      <p:sp>
        <p:nvSpPr>
          <p:cNvPr id="8" name="TextBox 7"/>
          <p:cNvSpPr txBox="1"/>
          <p:nvPr/>
        </p:nvSpPr>
        <p:spPr>
          <a:xfrm>
            <a:off x="9753356" y="4"/>
            <a:ext cx="10" cy="3429000"/>
          </a:xfrm>
          <a:prstGeom prst="rect">
            <a:avLst/>
          </a:prstGeom>
          <a:noFill/>
        </p:spPr>
        <p:txBody>
          <a:bodyPr wrap="square">
            <a:spAutoFit/>
          </a:bodyPr>
          <a:lstStyle/>
          <a:p>
            <a:pPr algn="l"/>
            <a:r>
              <a:rPr sz="1400" b="0" i="1">
                <a:solidFill>
                  <a:srgbClr val="8A7A66"/>
                </a:solidFill>
                <a:latin typeface="Calibri"/>
              </a:rPr>
              <a:t>CLO 7, 8, 9 · Ch. 13</a:t>
            </a:r>
          </a:p>
        </p:txBody>
      </p:sp>
      <p:sp>
        <p:nvSpPr>
          <p:cNvPr id="9" name="Rectangle 8"/>
          <p:cNvSpPr/>
          <p:nvPr/>
        </p:nvSpPr>
        <p:spPr>
          <a:xfrm>
            <a:off x="975335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35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PROTOTYPE &amp; LESSONS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Prototype Demonstration Plan</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19 / 24</a:t>
            </a:r>
          </a:p>
        </p:txBody>
      </p:sp>
      <p:sp>
        <p:nvSpPr>
          <p:cNvPr id="9" name="Rectangle 8"/>
          <p:cNvSpPr/>
          <p:nvPr/>
        </p:nvSpPr>
        <p:spPr>
          <a:xfrm>
            <a:off x="8534186" y="1"/>
            <a:ext cx="3" cy="30861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34186" y="1"/>
            <a:ext cx="3" cy="3086100"/>
          </a:xfrm>
          <a:prstGeom prst="rect">
            <a:avLst/>
          </a:prstGeom>
          <a:noFill/>
        </p:spPr>
        <p:txBody>
          <a:bodyPr wrap="square">
            <a:spAutoFit/>
          </a:bodyPr>
          <a:lstStyle/>
          <a:p>
            <a:pPr algn="ctr"/>
            <a:r>
              <a:rPr sz="1300" b="1" i="0">
                <a:solidFill>
                  <a:srgbClr val="FFFFFF"/>
                </a:solidFill>
                <a:latin typeface="Calibri"/>
              </a:rPr>
              <a:t>Feature 1  ·  90 s</a:t>
            </a:r>
          </a:p>
        </p:txBody>
      </p:sp>
      <p:sp>
        <p:nvSpPr>
          <p:cNvPr id="11" name="Rectangle 10"/>
          <p:cNvSpPr/>
          <p:nvPr/>
        </p:nvSpPr>
        <p:spPr>
          <a:xfrm>
            <a:off x="8534186" y="2"/>
            <a:ext cx="3" cy="4"/>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53356" y="2"/>
            <a:ext cx="3" cy="4457700"/>
          </a:xfrm>
          <a:prstGeom prst="rect">
            <a:avLst/>
          </a:prstGeom>
          <a:noFill/>
        </p:spPr>
        <p:txBody>
          <a:bodyPr wrap="square">
            <a:spAutoFit/>
          </a:bodyPr>
          <a:lstStyle/>
          <a:p>
            <a:pPr algn="l"/>
            <a:r>
              <a:rPr sz="1400" b="1" i="0">
                <a:solidFill>
                  <a:srgbClr val="8C5A2E"/>
                </a:solidFill>
                <a:latin typeface="Georgia"/>
              </a:rPr>
              <a:t>Task CRUD + Assignment</a:t>
            </a:r>
          </a:p>
        </p:txBody>
      </p:sp>
      <p:sp>
        <p:nvSpPr>
          <p:cNvPr id="13" name="TextBox 12"/>
          <p:cNvSpPr txBox="1"/>
          <p:nvPr/>
        </p:nvSpPr>
        <p:spPr>
          <a:xfrm>
            <a:off x="9753356" y="2"/>
            <a:ext cx="3" cy="2057400"/>
          </a:xfrm>
          <a:prstGeom prst="rect">
            <a:avLst/>
          </a:prstGeom>
          <a:noFill/>
        </p:spPr>
        <p:txBody>
          <a:bodyPr wrap="square">
            <a:spAutoFit/>
          </a:bodyPr>
          <a:lstStyle/>
          <a:p>
            <a:pPr algn="l"/>
            <a:r>
              <a:rPr sz="1000" b="1" i="0">
                <a:solidFill>
                  <a:srgbClr val="8A7A66"/>
                </a:solidFill>
                <a:latin typeface="Calibri"/>
              </a:rPr>
              <a:t>Script:</a:t>
            </a:r>
          </a:p>
        </p:txBody>
      </p:sp>
      <p:sp>
        <p:nvSpPr>
          <p:cNvPr id="14" name="TextBox 13"/>
          <p:cNvSpPr txBox="1"/>
          <p:nvPr/>
        </p:nvSpPr>
        <p:spPr>
          <a:xfrm>
            <a:off x="9753356" y="3"/>
            <a:ext cx="3" cy="2"/>
          </a:xfrm>
          <a:prstGeom prst="rect">
            <a:avLst/>
          </a:prstGeom>
          <a:noFill/>
        </p:spPr>
        <p:txBody>
          <a:bodyPr wrap="square">
            <a:spAutoFit/>
          </a:bodyPr>
          <a:lstStyle/>
          <a:p>
            <a:pPr algn="l"/>
            <a:r>
              <a:rPr sz="1000" b="0" i="0">
                <a:solidFill>
                  <a:srgbClr val="2B2419"/>
                </a:solidFill>
                <a:latin typeface="Calibri"/>
              </a:rPr>
              <a:t>Navigate to /tasks
Create task: 'Design landing page',
assignee = 'Bảo', deadline = June 20,
priority = High
→ Verify task appears with assignee badge</a:t>
            </a:r>
          </a:p>
        </p:txBody>
      </p:sp>
      <p:sp>
        <p:nvSpPr>
          <p:cNvPr id="15" name="TextBox 14"/>
          <p:cNvSpPr txBox="1"/>
          <p:nvPr/>
        </p:nvSpPr>
        <p:spPr>
          <a:xfrm>
            <a:off x="9753356" y="5"/>
            <a:ext cx="3" cy="2057400"/>
          </a:xfrm>
          <a:prstGeom prst="rect">
            <a:avLst/>
          </a:prstGeom>
          <a:noFill/>
        </p:spPr>
        <p:txBody>
          <a:bodyPr wrap="square">
            <a:spAutoFit/>
          </a:bodyPr>
          <a:lstStyle/>
          <a:p>
            <a:pPr algn="l"/>
            <a:r>
              <a:rPr sz="1000" b="0" i="0">
                <a:solidFill>
                  <a:srgbClr val="8A7A66"/>
                </a:solidFill>
                <a:latin typeface="Calibri"/>
              </a:rPr>
              <a:t>WBS: WBS 1.4.1</a:t>
            </a:r>
          </a:p>
        </p:txBody>
      </p:sp>
      <p:sp>
        <p:nvSpPr>
          <p:cNvPr id="16" name="TextBox 15"/>
          <p:cNvSpPr txBox="1"/>
          <p:nvPr/>
        </p:nvSpPr>
        <p:spPr>
          <a:xfrm>
            <a:off x="9753356" y="5"/>
            <a:ext cx="3" cy="2057400"/>
          </a:xfrm>
          <a:prstGeom prst="rect">
            <a:avLst/>
          </a:prstGeom>
          <a:noFill/>
        </p:spPr>
        <p:txBody>
          <a:bodyPr wrap="square">
            <a:spAutoFit/>
          </a:bodyPr>
          <a:lstStyle/>
          <a:p>
            <a:pPr algn="l"/>
            <a:r>
              <a:rPr sz="1000" b="0" i="0">
                <a:solidFill>
                  <a:srgbClr val="8A7A66"/>
                </a:solidFill>
                <a:latin typeface="Calibri"/>
              </a:rPr>
              <a:t>Owner: Bảo + Thịnh</a:t>
            </a:r>
          </a:p>
        </p:txBody>
      </p:sp>
      <p:sp>
        <p:nvSpPr>
          <p:cNvPr id="17" name="Rectangle 16"/>
          <p:cNvSpPr/>
          <p:nvPr/>
        </p:nvSpPr>
        <p:spPr>
          <a:xfrm>
            <a:off x="4" y="1"/>
            <a:ext cx="3" cy="30861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 y="1"/>
            <a:ext cx="3" cy="3086100"/>
          </a:xfrm>
          <a:prstGeom prst="rect">
            <a:avLst/>
          </a:prstGeom>
          <a:noFill/>
        </p:spPr>
        <p:txBody>
          <a:bodyPr wrap="square">
            <a:spAutoFit/>
          </a:bodyPr>
          <a:lstStyle/>
          <a:p>
            <a:pPr algn="ctr"/>
            <a:r>
              <a:rPr sz="1300" b="1" i="0">
                <a:solidFill>
                  <a:srgbClr val="FFFFFF"/>
                </a:solidFill>
                <a:latin typeface="Calibri"/>
              </a:rPr>
              <a:t>Feature 2  ·  60 s</a:t>
            </a:r>
          </a:p>
        </p:txBody>
      </p:sp>
      <p:sp>
        <p:nvSpPr>
          <p:cNvPr id="19" name="Rectangle 18"/>
          <p:cNvSpPr/>
          <p:nvPr/>
        </p:nvSpPr>
        <p:spPr>
          <a:xfrm>
            <a:off x="4" y="2"/>
            <a:ext cx="3" cy="4"/>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 y="2"/>
            <a:ext cx="3" cy="4457700"/>
          </a:xfrm>
          <a:prstGeom prst="rect">
            <a:avLst/>
          </a:prstGeom>
          <a:noFill/>
        </p:spPr>
        <p:txBody>
          <a:bodyPr wrap="square">
            <a:spAutoFit/>
          </a:bodyPr>
          <a:lstStyle/>
          <a:p>
            <a:pPr algn="l"/>
            <a:r>
              <a:rPr sz="1400" b="1" i="0">
                <a:solidFill>
                  <a:srgbClr val="8C5A2E"/>
                </a:solidFill>
                <a:latin typeface="Georgia"/>
              </a:rPr>
              <a:t>Deadline Management
+ Overdue Highlight</a:t>
            </a:r>
          </a:p>
        </p:txBody>
      </p:sp>
      <p:sp>
        <p:nvSpPr>
          <p:cNvPr id="21" name="TextBox 20"/>
          <p:cNvSpPr txBox="1"/>
          <p:nvPr/>
        </p:nvSpPr>
        <p:spPr>
          <a:xfrm>
            <a:off x="4" y="2"/>
            <a:ext cx="3" cy="2057400"/>
          </a:xfrm>
          <a:prstGeom prst="rect">
            <a:avLst/>
          </a:prstGeom>
          <a:noFill/>
        </p:spPr>
        <p:txBody>
          <a:bodyPr wrap="square">
            <a:spAutoFit/>
          </a:bodyPr>
          <a:lstStyle/>
          <a:p>
            <a:pPr algn="l"/>
            <a:r>
              <a:rPr sz="1000" b="1" i="0">
                <a:solidFill>
                  <a:srgbClr val="8A7A66"/>
                </a:solidFill>
                <a:latin typeface="Calibri"/>
              </a:rPr>
              <a:t>Script:</a:t>
            </a:r>
          </a:p>
        </p:txBody>
      </p:sp>
      <p:sp>
        <p:nvSpPr>
          <p:cNvPr id="22" name="TextBox 21"/>
          <p:cNvSpPr txBox="1"/>
          <p:nvPr/>
        </p:nvSpPr>
        <p:spPr>
          <a:xfrm>
            <a:off x="4" y="3"/>
            <a:ext cx="3" cy="2"/>
          </a:xfrm>
          <a:prstGeom prst="rect">
            <a:avLst/>
          </a:prstGeom>
          <a:noFill/>
        </p:spPr>
        <p:txBody>
          <a:bodyPr wrap="square">
            <a:spAutoFit/>
          </a:bodyPr>
          <a:lstStyle/>
          <a:p>
            <a:pPr algn="l"/>
            <a:r>
              <a:rPr sz="1000" b="0" i="0">
                <a:solidFill>
                  <a:srgbClr val="2B2419"/>
                </a:solidFill>
                <a:latin typeface="Calibri"/>
              </a:rPr>
              <a:t>Show task with past deadline
(yesterday: June 15)
→ Red overdue badge displayed
→ Filter by 'Overdue'</a:t>
            </a:r>
          </a:p>
        </p:txBody>
      </p:sp>
      <p:sp>
        <p:nvSpPr>
          <p:cNvPr id="23" name="TextBox 22"/>
          <p:cNvSpPr txBox="1"/>
          <p:nvPr/>
        </p:nvSpPr>
        <p:spPr>
          <a:xfrm>
            <a:off x="4" y="5"/>
            <a:ext cx="3" cy="2057400"/>
          </a:xfrm>
          <a:prstGeom prst="rect">
            <a:avLst/>
          </a:prstGeom>
          <a:noFill/>
        </p:spPr>
        <p:txBody>
          <a:bodyPr wrap="square">
            <a:spAutoFit/>
          </a:bodyPr>
          <a:lstStyle/>
          <a:p>
            <a:pPr algn="l"/>
            <a:r>
              <a:rPr sz="1000" b="0" i="0">
                <a:solidFill>
                  <a:srgbClr val="8A7A66"/>
                </a:solidFill>
                <a:latin typeface="Calibri"/>
              </a:rPr>
              <a:t>WBS: WBS 1.3.1</a:t>
            </a:r>
          </a:p>
        </p:txBody>
      </p:sp>
      <p:sp>
        <p:nvSpPr>
          <p:cNvPr id="24" name="TextBox 23"/>
          <p:cNvSpPr txBox="1"/>
          <p:nvPr/>
        </p:nvSpPr>
        <p:spPr>
          <a:xfrm>
            <a:off x="4" y="5"/>
            <a:ext cx="3" cy="2057400"/>
          </a:xfrm>
          <a:prstGeom prst="rect">
            <a:avLst/>
          </a:prstGeom>
          <a:noFill/>
        </p:spPr>
        <p:txBody>
          <a:bodyPr wrap="square">
            <a:spAutoFit/>
          </a:bodyPr>
          <a:lstStyle/>
          <a:p>
            <a:pPr algn="l"/>
            <a:r>
              <a:rPr sz="1000" b="0" i="0">
                <a:solidFill>
                  <a:srgbClr val="8A7A66"/>
                </a:solidFill>
                <a:latin typeface="Calibri"/>
              </a:rPr>
              <a:t>Owner: Thịnh</a:t>
            </a:r>
          </a:p>
        </p:txBody>
      </p:sp>
      <p:sp>
        <p:nvSpPr>
          <p:cNvPr id="25" name="Rectangle 24"/>
          <p:cNvSpPr/>
          <p:nvPr/>
        </p:nvSpPr>
        <p:spPr>
          <a:xfrm>
            <a:off x="8" y="1"/>
            <a:ext cx="3" cy="3086100"/>
          </a:xfrm>
          <a:prstGeom prst="rect">
            <a:avLst/>
          </a:prstGeom>
          <a:solidFill>
            <a:srgbClr val="8C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 y="1"/>
            <a:ext cx="3" cy="3086100"/>
          </a:xfrm>
          <a:prstGeom prst="rect">
            <a:avLst/>
          </a:prstGeom>
          <a:noFill/>
        </p:spPr>
        <p:txBody>
          <a:bodyPr wrap="square">
            <a:spAutoFit/>
          </a:bodyPr>
          <a:lstStyle/>
          <a:p>
            <a:pPr algn="ctr"/>
            <a:r>
              <a:rPr sz="1300" b="1" i="0">
                <a:solidFill>
                  <a:srgbClr val="FFFFFF"/>
                </a:solidFill>
                <a:latin typeface="Calibri"/>
              </a:rPr>
              <a:t>Feature 3  ·  60 s</a:t>
            </a:r>
          </a:p>
        </p:txBody>
      </p:sp>
      <p:sp>
        <p:nvSpPr>
          <p:cNvPr id="27" name="Rectangle 26"/>
          <p:cNvSpPr/>
          <p:nvPr/>
        </p:nvSpPr>
        <p:spPr>
          <a:xfrm>
            <a:off x="8" y="2"/>
            <a:ext cx="3" cy="4"/>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 y="2"/>
            <a:ext cx="3" cy="4457700"/>
          </a:xfrm>
          <a:prstGeom prst="rect">
            <a:avLst/>
          </a:prstGeom>
          <a:noFill/>
        </p:spPr>
        <p:txBody>
          <a:bodyPr wrap="square">
            <a:spAutoFit/>
          </a:bodyPr>
          <a:lstStyle/>
          <a:p>
            <a:pPr algn="l"/>
            <a:r>
              <a:rPr sz="1400" b="1" i="0">
                <a:solidFill>
                  <a:srgbClr val="8C5A2E"/>
                </a:solidFill>
                <a:latin typeface="Georgia"/>
              </a:rPr>
              <a:t>Progress Dashboard</a:t>
            </a:r>
          </a:p>
        </p:txBody>
      </p:sp>
      <p:sp>
        <p:nvSpPr>
          <p:cNvPr id="29" name="TextBox 28"/>
          <p:cNvSpPr txBox="1"/>
          <p:nvPr/>
        </p:nvSpPr>
        <p:spPr>
          <a:xfrm>
            <a:off x="8" y="2"/>
            <a:ext cx="3" cy="2057400"/>
          </a:xfrm>
          <a:prstGeom prst="rect">
            <a:avLst/>
          </a:prstGeom>
          <a:noFill/>
        </p:spPr>
        <p:txBody>
          <a:bodyPr wrap="square">
            <a:spAutoFit/>
          </a:bodyPr>
          <a:lstStyle/>
          <a:p>
            <a:pPr algn="l"/>
            <a:r>
              <a:rPr sz="1000" b="1" i="0">
                <a:solidFill>
                  <a:srgbClr val="8A7A66"/>
                </a:solidFill>
                <a:latin typeface="Calibri"/>
              </a:rPr>
              <a:t>Script:</a:t>
            </a:r>
          </a:p>
        </p:txBody>
      </p:sp>
      <p:sp>
        <p:nvSpPr>
          <p:cNvPr id="30" name="TextBox 29"/>
          <p:cNvSpPr txBox="1"/>
          <p:nvPr/>
        </p:nvSpPr>
        <p:spPr>
          <a:xfrm>
            <a:off x="8" y="3"/>
            <a:ext cx="3" cy="2"/>
          </a:xfrm>
          <a:prstGeom prst="rect">
            <a:avLst/>
          </a:prstGeom>
          <a:noFill/>
        </p:spPr>
        <p:txBody>
          <a:bodyPr wrap="square">
            <a:spAutoFit/>
          </a:bodyPr>
          <a:lstStyle/>
          <a:p>
            <a:pPr algn="l"/>
            <a:r>
              <a:rPr sz="1000" b="0" i="0">
                <a:solidFill>
                  <a:srgbClr val="2B2419"/>
                </a:solidFill>
                <a:latin typeface="Calibri"/>
              </a:rPr>
              <a:t>Navigate to /dashboard
→ Project cards with counts
→ Task progress bar (e.g., 60%)
→ Real-time metric aggregation</a:t>
            </a:r>
          </a:p>
        </p:txBody>
      </p:sp>
      <p:sp>
        <p:nvSpPr>
          <p:cNvPr id="31" name="TextBox 30"/>
          <p:cNvSpPr txBox="1"/>
          <p:nvPr/>
        </p:nvSpPr>
        <p:spPr>
          <a:xfrm>
            <a:off x="8" y="5"/>
            <a:ext cx="3" cy="2057400"/>
          </a:xfrm>
          <a:prstGeom prst="rect">
            <a:avLst/>
          </a:prstGeom>
          <a:noFill/>
        </p:spPr>
        <p:txBody>
          <a:bodyPr wrap="square">
            <a:spAutoFit/>
          </a:bodyPr>
          <a:lstStyle/>
          <a:p>
            <a:pPr algn="l"/>
            <a:r>
              <a:rPr sz="1000" b="0" i="0">
                <a:solidFill>
                  <a:srgbClr val="8A7A66"/>
                </a:solidFill>
                <a:latin typeface="Calibri"/>
              </a:rPr>
              <a:t>WBS: WBS 1.4.1, 1.4.2</a:t>
            </a:r>
          </a:p>
        </p:txBody>
      </p:sp>
      <p:sp>
        <p:nvSpPr>
          <p:cNvPr id="32" name="TextBox 31"/>
          <p:cNvSpPr txBox="1"/>
          <p:nvPr/>
        </p:nvSpPr>
        <p:spPr>
          <a:xfrm>
            <a:off x="8" y="5"/>
            <a:ext cx="3" cy="2057400"/>
          </a:xfrm>
          <a:prstGeom prst="rect">
            <a:avLst/>
          </a:prstGeom>
          <a:noFill/>
        </p:spPr>
        <p:txBody>
          <a:bodyPr wrap="square">
            <a:spAutoFit/>
          </a:bodyPr>
          <a:lstStyle/>
          <a:p>
            <a:pPr algn="l"/>
            <a:r>
              <a:rPr sz="1000" b="0" i="0">
                <a:solidFill>
                  <a:srgbClr val="8A7A66"/>
                </a:solidFill>
                <a:latin typeface="Calibri"/>
              </a:rPr>
              <a:t>Owner: Bảo</a:t>
            </a:r>
          </a:p>
        </p:txBody>
      </p:sp>
      <p:sp>
        <p:nvSpPr>
          <p:cNvPr id="33" name="TextBox 32"/>
          <p:cNvSpPr txBox="1"/>
          <p:nvPr/>
        </p:nvSpPr>
        <p:spPr>
          <a:xfrm>
            <a:off x="8534186" y="7"/>
            <a:ext cx="12" cy="2057400"/>
          </a:xfrm>
          <a:prstGeom prst="rect">
            <a:avLst/>
          </a:prstGeom>
          <a:noFill/>
        </p:spPr>
        <p:txBody>
          <a:bodyPr wrap="square">
            <a:spAutoFit/>
          </a:bodyPr>
          <a:lstStyle/>
          <a:p>
            <a:pPr algn="l"/>
            <a:r>
              <a:rPr sz="1100" b="0" i="1">
                <a:solidFill>
                  <a:srgbClr val="8A7A66"/>
                </a:solidFill>
                <a:latin typeface="Calibri"/>
              </a:rPr>
              <a:t>Demo URL: http://localhost:5173  ·  Run: npm install &amp;&amp; npm run dev</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PROTOTYPE &amp; LESSONS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Lessons Learned</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20 / 24</a:t>
            </a:r>
          </a:p>
        </p:txBody>
      </p:sp>
      <p:graphicFrame>
        <p:nvGraphicFramePr>
          <p:cNvPr id="9" name="Table 8"/>
          <p:cNvGraphicFramePr>
            <a:graphicFrameLocks noGrp="1"/>
          </p:cNvGraphicFramePr>
          <p:nvPr/>
        </p:nvGraphicFramePr>
        <p:xfrm>
          <a:off x="8534186.5" y="10629900.0"/>
          <a:ext cx="149957847" cy="20574000.0"/>
        </p:xfrm>
        <a:graphic>
          <a:graphicData uri="http://schemas.openxmlformats.org/drawingml/2006/table">
            <a:tbl>
              <a:tblPr firstRow="1" bandRow="1">
                <a:tableStyleId>{5C22544A-7EE6-4342-B048-85BDC9FD1C3A}</a:tableStyleId>
              </a:tblPr>
              <a:tblGrid>
                <a:gridCol w="7930463"/>
                <a:gridCol w="31721852"/>
                <a:gridCol w="98049362"/>
                <a:gridCol w="12256170"/>
              </a:tblGrid>
              <a:tr h="3429000">
                <a:tc>
                  <a:txBody>
                    <a:bodyPr wrap="square"/>
                    <a:lstStyle/>
                    <a:p>
                      <a:pPr algn="l"/>
                      <a:r>
                        <a:rPr sz="1000">
                          <a:solidFill>
                            <a:srgbClr val="FFFFFF"/>
                          </a:solidFill>
                          <a:latin typeface="Calibri"/>
                        </a:rPr>
                        <a:t>ID</a:t>
                      </a:r>
                    </a:p>
                  </a:txBody>
                  <a:tcPr>
                    <a:solidFill>
                      <a:srgbClr val="8C5A2E"/>
                    </a:solidFill>
                  </a:tcPr>
                </a:tc>
                <a:tc>
                  <a:txBody>
                    <a:bodyPr wrap="square"/>
                    <a:lstStyle/>
                    <a:p>
                      <a:pPr algn="l"/>
                      <a:r>
                        <a:rPr sz="1000">
                          <a:solidFill>
                            <a:srgbClr val="FFFFFF"/>
                          </a:solidFill>
                          <a:latin typeface="Calibri"/>
                        </a:rPr>
                        <a:t>Lesson</a:t>
                      </a:r>
                    </a:p>
                  </a:txBody>
                  <a:tcPr>
                    <a:solidFill>
                      <a:srgbClr val="8C5A2E"/>
                    </a:solidFill>
                  </a:tcPr>
                </a:tc>
                <a:tc>
                  <a:txBody>
                    <a:bodyPr wrap="square"/>
                    <a:lstStyle/>
                    <a:p>
                      <a:pPr algn="l"/>
                      <a:r>
                        <a:rPr sz="1000">
                          <a:solidFill>
                            <a:srgbClr val="FFFFFF"/>
                          </a:solidFill>
                          <a:latin typeface="Calibri"/>
                        </a:rPr>
                        <a:t>Evidence / Action</a:t>
                      </a:r>
                    </a:p>
                  </a:txBody>
                  <a:tcPr>
                    <a:solidFill>
                      <a:srgbClr val="8C5A2E"/>
                    </a:solidFill>
                  </a:tcPr>
                </a:tc>
                <a:tc>
                  <a:txBody>
                    <a:bodyPr wrap="square"/>
                    <a:lstStyle/>
                    <a:p>
                      <a:pPr algn="l"/>
                      <a:r>
                        <a:rPr sz="1000">
                          <a:solidFill>
                            <a:srgbClr val="FFFFFF"/>
                          </a:solidFill>
                          <a:latin typeface="Calibri"/>
                        </a:rPr>
                        <a:t>CLO Tags</a:t>
                      </a:r>
                    </a:p>
                  </a:txBody>
                  <a:tcPr>
                    <a:solidFill>
                      <a:srgbClr val="8C5A2E"/>
                    </a:solidFill>
                  </a:tcPr>
                </a:tc>
              </a:tr>
              <a:tr h="3429000">
                <a:tc>
                  <a:txBody>
                    <a:bodyPr wrap="square"/>
                    <a:lstStyle/>
                    <a:p>
                      <a:pPr algn="l"/>
                      <a:r>
                        <a:rPr sz="1000">
                          <a:solidFill>
                            <a:srgbClr val="2B2419"/>
                          </a:solidFill>
                          <a:latin typeface="Calibri"/>
                        </a:rPr>
                        <a:t>LL-1</a:t>
                      </a:r>
                    </a:p>
                  </a:txBody>
                  <a:tcPr>
                    <a:solidFill>
                      <a:srgbClr val="F5EFE6"/>
                    </a:solidFill>
                  </a:tcPr>
                </a:tc>
                <a:tc>
                  <a:txBody>
                    <a:bodyPr wrap="square"/>
                    <a:lstStyle/>
                    <a:p>
                      <a:pPr algn="l"/>
                      <a:r>
                        <a:rPr sz="1000">
                          <a:solidFill>
                            <a:srgbClr val="2B2419"/>
                          </a:solidFill>
                          <a:latin typeface="Calibri"/>
                        </a:rPr>
                        <a:t>Scope creep at W6</a:t>
                      </a:r>
                    </a:p>
                  </a:txBody>
                  <a:tcPr>
                    <a:solidFill>
                      <a:srgbClr val="F5EFE6"/>
                    </a:solidFill>
                  </a:tcPr>
                </a:tc>
                <a:tc>
                  <a:txBody>
                    <a:bodyPr wrap="square"/>
                    <a:lstStyle/>
                    <a:p>
                      <a:pPr algn="l"/>
                      <a:r>
                        <a:rPr sz="1000">
                          <a:solidFill>
                            <a:srgbClr val="2B2419"/>
                          </a:solidFill>
                          <a:latin typeface="Calibri"/>
                        </a:rPr>
                        <a:t>CR-001 formalised scope lock; 4 h recovered</a:t>
                      </a:r>
                    </a:p>
                  </a:txBody>
                  <a:tcPr>
                    <a:solidFill>
                      <a:srgbClr val="F5EFE6"/>
                    </a:solidFill>
                  </a:tcPr>
                </a:tc>
                <a:tc>
                  <a:txBody>
                    <a:bodyPr wrap="square"/>
                    <a:lstStyle/>
                    <a:p>
                      <a:pPr algn="l"/>
                      <a:r>
                        <a:rPr sz="1000">
                          <a:solidFill>
                            <a:srgbClr val="2B2419"/>
                          </a:solidFill>
                          <a:latin typeface="Calibri"/>
                        </a:rPr>
                        <a:t>CLO 3, 9</a:t>
                      </a:r>
                    </a:p>
                  </a:txBody>
                  <a:tcPr>
                    <a:solidFill>
                      <a:srgbClr val="F5EFE6"/>
                    </a:solidFill>
                  </a:tcPr>
                </a:tc>
              </a:tr>
              <a:tr h="3429000">
                <a:tc>
                  <a:txBody>
                    <a:bodyPr wrap="square"/>
                    <a:lstStyle/>
                    <a:p>
                      <a:pPr algn="l"/>
                      <a:r>
                        <a:rPr sz="1000">
                          <a:solidFill>
                            <a:srgbClr val="2B2419"/>
                          </a:solidFill>
                          <a:latin typeface="Calibri"/>
                        </a:rPr>
                        <a:t>LL-2</a:t>
                      </a:r>
                    </a:p>
                  </a:txBody>
                  <a:tcPr>
                    <a:solidFill>
                      <a:srgbClr val="F5EFE6"/>
                    </a:solidFill>
                  </a:tcPr>
                </a:tc>
                <a:tc>
                  <a:txBody>
                    <a:bodyPr wrap="square"/>
                    <a:lstStyle/>
                    <a:p>
                      <a:pPr algn="l"/>
                      <a:r>
                        <a:rPr sz="1000">
                          <a:solidFill>
                            <a:srgbClr val="2B2419"/>
                          </a:solidFill>
                          <a:latin typeface="Calibri"/>
                        </a:rPr>
                        <a:t>PERT estimates too optimistic</a:t>
                      </a:r>
                    </a:p>
                  </a:txBody>
                  <a:tcPr>
                    <a:solidFill>
                      <a:srgbClr val="F5EFE6"/>
                    </a:solidFill>
                  </a:tcPr>
                </a:tc>
                <a:tc>
                  <a:txBody>
                    <a:bodyPr wrap="square"/>
                    <a:lstStyle/>
                    <a:p>
                      <a:pPr algn="l"/>
                      <a:r>
                        <a:rPr sz="1000">
                          <a:solidFill>
                            <a:srgbClr val="2B2419"/>
                          </a:solidFill>
                          <a:latin typeface="Calibri"/>
                        </a:rPr>
                        <a:t>Activity B took 14 days; TE=10.5. Use 1.2× multiplier.</a:t>
                      </a:r>
                    </a:p>
                  </a:txBody>
                  <a:tcPr>
                    <a:solidFill>
                      <a:srgbClr val="F5EFE6"/>
                    </a:solidFill>
                  </a:tcPr>
                </a:tc>
                <a:tc>
                  <a:txBody>
                    <a:bodyPr wrap="square"/>
                    <a:lstStyle/>
                    <a:p>
                      <a:pPr algn="l"/>
                      <a:r>
                        <a:rPr sz="1000">
                          <a:solidFill>
                            <a:srgbClr val="2B2419"/>
                          </a:solidFill>
                          <a:latin typeface="Calibri"/>
                        </a:rPr>
                        <a:t>CLO 2, 5</a:t>
                      </a:r>
                    </a:p>
                  </a:txBody>
                  <a:tcPr>
                    <a:solidFill>
                      <a:srgbClr val="F5EFE6"/>
                    </a:solidFill>
                  </a:tcPr>
                </a:tc>
              </a:tr>
              <a:tr h="3429000">
                <a:tc>
                  <a:txBody>
                    <a:bodyPr wrap="square"/>
                    <a:lstStyle/>
                    <a:p>
                      <a:pPr algn="l"/>
                      <a:r>
                        <a:rPr sz="1000">
                          <a:solidFill>
                            <a:srgbClr val="2B2419"/>
                          </a:solidFill>
                          <a:latin typeface="Calibri"/>
                        </a:rPr>
                        <a:t>LL-3</a:t>
                      </a:r>
                    </a:p>
                  </a:txBody>
                  <a:tcPr>
                    <a:solidFill>
                      <a:srgbClr val="F5EFE6"/>
                    </a:solidFill>
                  </a:tcPr>
                </a:tc>
                <a:tc>
                  <a:txBody>
                    <a:bodyPr wrap="square"/>
                    <a:lstStyle/>
                    <a:p>
                      <a:pPr algn="l"/>
                      <a:r>
                        <a:rPr sz="1000">
                          <a:solidFill>
                            <a:srgbClr val="2B2419"/>
                          </a:solidFill>
                          <a:latin typeface="Calibri"/>
                        </a:rPr>
                        <a:t>react-router v7 incompatibility</a:t>
                      </a:r>
                    </a:p>
                  </a:txBody>
                  <a:tcPr>
                    <a:solidFill>
                      <a:srgbClr val="F5EFE6"/>
                    </a:solidFill>
                  </a:tcPr>
                </a:tc>
                <a:tc>
                  <a:txBody>
                    <a:bodyPr wrap="square"/>
                    <a:lstStyle/>
                    <a:p>
                      <a:pPr algn="l"/>
                      <a:r>
                        <a:rPr sz="1000">
                          <a:solidFill>
                            <a:srgbClr val="2B2419"/>
                          </a:solidFill>
                          <a:latin typeface="Calibri"/>
                        </a:rPr>
                        <a:t>Downgraded to v6; 3 rollback commits. Pin versions.</a:t>
                      </a:r>
                    </a:p>
                  </a:txBody>
                  <a:tcPr>
                    <a:solidFill>
                      <a:srgbClr val="F5EFE6"/>
                    </a:solidFill>
                  </a:tcPr>
                </a:tc>
                <a:tc>
                  <a:txBody>
                    <a:bodyPr wrap="square"/>
                    <a:lstStyle/>
                    <a:p>
                      <a:pPr algn="l"/>
                      <a:r>
                        <a:rPr sz="1000">
                          <a:solidFill>
                            <a:srgbClr val="2B2419"/>
                          </a:solidFill>
                          <a:latin typeface="Calibri"/>
                        </a:rPr>
                        <a:t>CLO 3, 5</a:t>
                      </a:r>
                    </a:p>
                  </a:txBody>
                  <a:tcPr>
                    <a:solidFill>
                      <a:srgbClr val="F5EFE6"/>
                    </a:solidFill>
                  </a:tcPr>
                </a:tc>
              </a:tr>
              <a:tr h="3429000">
                <a:tc>
                  <a:txBody>
                    <a:bodyPr wrap="square"/>
                    <a:lstStyle/>
                    <a:p>
                      <a:pPr algn="l"/>
                      <a:r>
                        <a:rPr sz="1000">
                          <a:solidFill>
                            <a:srgbClr val="2B2419"/>
                          </a:solidFill>
                          <a:latin typeface="Calibri"/>
                        </a:rPr>
                        <a:t>LL-4</a:t>
                      </a:r>
                    </a:p>
                  </a:txBody>
                  <a:tcPr>
                    <a:solidFill>
                      <a:srgbClr val="F5EFE6"/>
                    </a:solidFill>
                  </a:tcPr>
                </a:tc>
                <a:tc>
                  <a:txBody>
                    <a:bodyPr wrap="square"/>
                    <a:lstStyle/>
                    <a:p>
                      <a:pPr algn="l"/>
                      <a:r>
                        <a:rPr sz="1000">
                          <a:solidFill>
                            <a:srgbClr val="2B2419"/>
                          </a:solidFill>
                          <a:latin typeface="Calibri"/>
                        </a:rPr>
                        <a:t>EVM was reactive, not proactive</a:t>
                      </a:r>
                    </a:p>
                  </a:txBody>
                  <a:tcPr>
                    <a:solidFill>
                      <a:srgbClr val="F5EFE6"/>
                    </a:solidFill>
                  </a:tcPr>
                </a:tc>
                <a:tc>
                  <a:txBody>
                    <a:bodyPr wrap="square"/>
                    <a:lstStyle/>
                    <a:p>
                      <a:pPr algn="l"/>
                      <a:r>
                        <a:rPr sz="1000">
                          <a:solidFill>
                            <a:srgbClr val="2B2419"/>
                          </a:solidFill>
                          <a:latin typeface="Calibri"/>
                        </a:rPr>
                        <a:t>Week 6 VAC = −11.2M. Implement weekly EVM mini-check.</a:t>
                      </a:r>
                    </a:p>
                  </a:txBody>
                  <a:tcPr>
                    <a:solidFill>
                      <a:srgbClr val="F5EFE6"/>
                    </a:solidFill>
                  </a:tcPr>
                </a:tc>
                <a:tc>
                  <a:txBody>
                    <a:bodyPr wrap="square"/>
                    <a:lstStyle/>
                    <a:p>
                      <a:pPr algn="l"/>
                      <a:r>
                        <a:rPr sz="1000">
                          <a:solidFill>
                            <a:srgbClr val="2B2419"/>
                          </a:solidFill>
                          <a:latin typeface="Calibri"/>
                        </a:rPr>
                        <a:t>CLO 6, 7</a:t>
                      </a:r>
                    </a:p>
                  </a:txBody>
                  <a:tcPr>
                    <a:solidFill>
                      <a:srgbClr val="F5EFE6"/>
                    </a:solidFill>
                  </a:tcPr>
                </a:tc>
              </a:tr>
              <a:tr h="3429000">
                <a:tc>
                  <a:txBody>
                    <a:bodyPr wrap="square"/>
                    <a:lstStyle/>
                    <a:p>
                      <a:pPr algn="l"/>
                      <a:r>
                        <a:rPr sz="1000">
                          <a:solidFill>
                            <a:srgbClr val="2B2419"/>
                          </a:solidFill>
                          <a:latin typeface="Calibri"/>
                        </a:rPr>
                        <a:t>LL-5</a:t>
                      </a:r>
                    </a:p>
                  </a:txBody>
                  <a:tcPr>
                    <a:solidFill>
                      <a:srgbClr val="F5EFE6"/>
                    </a:solidFill>
                  </a:tcPr>
                </a:tc>
                <a:tc>
                  <a:txBody>
                    <a:bodyPr wrap="square"/>
                    <a:lstStyle/>
                    <a:p>
                      <a:pPr algn="l"/>
                      <a:r>
                        <a:rPr sz="1000">
                          <a:solidFill>
                            <a:srgbClr val="2B2419"/>
                          </a:solidFill>
                          <a:latin typeface="Calibri"/>
                        </a:rPr>
                        <a:t>Parallel dev without frozen API contract</a:t>
                      </a:r>
                    </a:p>
                  </a:txBody>
                  <a:tcPr>
                    <a:solidFill>
                      <a:srgbClr val="F5EFE6"/>
                    </a:solidFill>
                  </a:tcPr>
                </a:tc>
                <a:tc>
                  <a:txBody>
                    <a:bodyPr wrap="square"/>
                    <a:lstStyle/>
                    <a:p>
                      <a:pPr algn="l"/>
                      <a:r>
                        <a:rPr sz="1000">
                          <a:solidFill>
                            <a:srgbClr val="2B2419"/>
                          </a:solidFill>
                          <a:latin typeface="Calibri"/>
                        </a:rPr>
                        <a:t>2 days rework at W7 integration. Freeze API at W5.</a:t>
                      </a:r>
                    </a:p>
                  </a:txBody>
                  <a:tcPr>
                    <a:solidFill>
                      <a:srgbClr val="F5EFE6"/>
                    </a:solidFill>
                  </a:tcPr>
                </a:tc>
                <a:tc>
                  <a:txBody>
                    <a:bodyPr wrap="square"/>
                    <a:lstStyle/>
                    <a:p>
                      <a:pPr algn="l"/>
                      <a:r>
                        <a:rPr sz="1000">
                          <a:solidFill>
                            <a:srgbClr val="2B2419"/>
                          </a:solidFill>
                          <a:latin typeface="Calibri"/>
                        </a:rPr>
                        <a:t>CLO 2, 4</a:t>
                      </a:r>
                    </a:p>
                  </a:txBody>
                  <a:tcPr>
                    <a:solidFill>
                      <a:srgbClr val="F5EFE6"/>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4186" y="1028700"/>
            <a:ext cx="8" cy="2400300"/>
          </a:xfrm>
          <a:prstGeom prst="rect">
            <a:avLst/>
          </a:prstGeom>
          <a:noFill/>
        </p:spPr>
        <p:txBody>
          <a:bodyPr wrap="square">
            <a:spAutoFit/>
          </a:bodyPr>
          <a:lstStyle/>
          <a:p>
            <a:pPr algn="l"/>
            <a:r>
              <a:rPr sz="1000" b="0" i="0">
                <a:solidFill>
                  <a:srgbClr val="8A7A66"/>
                </a:solidFill>
                <a:latin typeface="Calibri"/>
              </a:rPr>
              <a:t>PROTOTYPE &amp; LESSONS</a:t>
            </a:r>
          </a:p>
        </p:txBody>
      </p:sp>
      <p:sp>
        <p:nvSpPr>
          <p:cNvPr id="5" name="TextBox 4"/>
          <p:cNvSpPr txBox="1"/>
          <p:nvPr/>
        </p:nvSpPr>
        <p:spPr>
          <a:xfrm>
            <a:off x="8534186" y="3086100"/>
            <a:ext cx="12" cy="5486400"/>
          </a:xfrm>
          <a:prstGeom prst="rect">
            <a:avLst/>
          </a:prstGeom>
          <a:noFill/>
        </p:spPr>
        <p:txBody>
          <a:bodyPr wrap="square">
            <a:spAutoFit/>
          </a:bodyPr>
          <a:lstStyle/>
          <a:p>
            <a:pPr algn="l"/>
            <a:r>
              <a:rPr sz="3000" b="1" i="0">
                <a:solidFill>
                  <a:srgbClr val="2B2419"/>
                </a:solidFill>
                <a:latin typeface="Georgia"/>
              </a:rPr>
              <a:t>CLO Coverage Matrix — All 9 CLOs</a:t>
            </a:r>
          </a:p>
        </p:txBody>
      </p:sp>
      <p:sp>
        <p:nvSpPr>
          <p:cNvPr id="6" name="Rectangle 5"/>
          <p:cNvSpPr/>
          <p:nvPr/>
        </p:nvSpPr>
        <p:spPr>
          <a:xfrm>
            <a:off x="8534186" y="7"/>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4186" y="7"/>
            <a:ext cx="5" cy="2057400"/>
          </a:xfrm>
          <a:prstGeom prst="rect">
            <a:avLst/>
          </a:prstGeom>
          <a:noFill/>
        </p:spPr>
        <p:txBody>
          <a:bodyPr wrap="square">
            <a:spAutoFit/>
          </a:bodyPr>
          <a:lstStyle/>
          <a:p>
            <a:pPr algn="l"/>
            <a:r>
              <a:rPr sz="1000" b="0" i="0">
                <a:solidFill>
                  <a:srgbClr val="8A7A66"/>
                </a:solidFill>
                <a:latin typeface="Calibri"/>
              </a:rPr>
              <a:t>Group 14 · INS3044 · June 2026</a:t>
            </a:r>
          </a:p>
        </p:txBody>
      </p:sp>
      <p:sp>
        <p:nvSpPr>
          <p:cNvPr id="8" name="TextBox 7"/>
          <p:cNvSpPr txBox="1"/>
          <p:nvPr/>
        </p:nvSpPr>
        <p:spPr>
          <a:xfrm>
            <a:off x="12" y="7"/>
            <a:ext cx="1" cy="2057400"/>
          </a:xfrm>
          <a:prstGeom prst="rect">
            <a:avLst/>
          </a:prstGeom>
          <a:noFill/>
        </p:spPr>
        <p:txBody>
          <a:bodyPr wrap="square">
            <a:spAutoFit/>
          </a:bodyPr>
          <a:lstStyle/>
          <a:p>
            <a:pPr algn="r"/>
            <a:r>
              <a:rPr sz="1000" b="0" i="0">
                <a:solidFill>
                  <a:srgbClr val="8A7A66"/>
                </a:solidFill>
                <a:latin typeface="Calibri"/>
              </a:rPr>
              <a:t>21 / 24</a:t>
            </a:r>
          </a:p>
        </p:txBody>
      </p:sp>
      <p:graphicFrame>
        <p:nvGraphicFramePr>
          <p:cNvPr id="9" name="Table 8"/>
          <p:cNvGraphicFramePr>
            <a:graphicFrameLocks noGrp="1"/>
          </p:cNvGraphicFramePr>
          <p:nvPr/>
        </p:nvGraphicFramePr>
        <p:xfrm>
          <a:off x="8534186.5" y="10629900.0"/>
          <a:ext cx="149957847" cy="28803600.0"/>
        </p:xfrm>
        <a:graphic>
          <a:graphicData uri="http://schemas.openxmlformats.org/drawingml/2006/table">
            <a:tbl>
              <a:tblPr firstRow="1" bandRow="1">
                <a:tableStyleId>{5C22544A-7EE6-4342-B048-85BDC9FD1C3A}</a:tableStyleId>
              </a:tblPr>
              <a:tblGrid>
                <a:gridCol w="12416891"/>
                <a:gridCol w="61129314"/>
                <a:gridCol w="15282328"/>
                <a:gridCol w="61129314"/>
              </a:tblGrid>
              <a:tr h="2880360">
                <a:tc>
                  <a:txBody>
                    <a:bodyPr wrap="square"/>
                    <a:lstStyle/>
                    <a:p>
                      <a:pPr algn="l"/>
                      <a:r>
                        <a:rPr sz="1000">
                          <a:solidFill>
                            <a:srgbClr val="FFFFFF"/>
                          </a:solidFill>
                          <a:latin typeface="Calibri"/>
                        </a:rPr>
                        <a:t>CLO</a:t>
                      </a:r>
                    </a:p>
                  </a:txBody>
                  <a:tcPr>
                    <a:solidFill>
                      <a:srgbClr val="8C5A2E"/>
                    </a:solidFill>
                  </a:tcPr>
                </a:tc>
                <a:tc>
                  <a:txBody>
                    <a:bodyPr wrap="square"/>
                    <a:lstStyle/>
                    <a:p>
                      <a:pPr algn="l"/>
                      <a:r>
                        <a:rPr sz="1000">
                          <a:solidFill>
                            <a:srgbClr val="FFFFFF"/>
                          </a:solidFill>
                          <a:latin typeface="Calibri"/>
                        </a:rPr>
                        <a:t>Description</a:t>
                      </a:r>
                    </a:p>
                  </a:txBody>
                  <a:tcPr>
                    <a:solidFill>
                      <a:srgbClr val="8C5A2E"/>
                    </a:solidFill>
                  </a:tcPr>
                </a:tc>
                <a:tc>
                  <a:txBody>
                    <a:bodyPr wrap="square"/>
                    <a:lstStyle/>
                    <a:p>
                      <a:pPr algn="l"/>
                      <a:r>
                        <a:rPr sz="1000">
                          <a:solidFill>
                            <a:srgbClr val="FFFFFF"/>
                          </a:solidFill>
                          <a:latin typeface="Calibri"/>
                        </a:rPr>
                        <a:t>Section</a:t>
                      </a:r>
                    </a:p>
                  </a:txBody>
                  <a:tcPr>
                    <a:solidFill>
                      <a:srgbClr val="8C5A2E"/>
                    </a:solidFill>
                  </a:tcPr>
                </a:tc>
                <a:tc>
                  <a:txBody>
                    <a:bodyPr wrap="square"/>
                    <a:lstStyle/>
                    <a:p>
                      <a:pPr algn="l"/>
                      <a:r>
                        <a:rPr sz="1000">
                          <a:solidFill>
                            <a:srgbClr val="FFFFFF"/>
                          </a:solidFill>
                          <a:latin typeface="Calibri"/>
                        </a:rPr>
                        <a:t>Evidence</a:t>
                      </a:r>
                    </a:p>
                  </a:txBody>
                  <a:tcPr>
                    <a:solidFill>
                      <a:srgbClr val="8C5A2E"/>
                    </a:solidFill>
                  </a:tcPr>
                </a:tc>
              </a:tr>
              <a:tr h="2880360">
                <a:tc>
                  <a:txBody>
                    <a:bodyPr wrap="square"/>
                    <a:lstStyle/>
                    <a:p>
                      <a:pPr algn="l"/>
                      <a:r>
                        <a:rPr sz="1000">
                          <a:solidFill>
                            <a:srgbClr val="2B2419"/>
                          </a:solidFill>
                          <a:latin typeface="Calibri"/>
                        </a:rPr>
                        <a:t>CLO 1</a:t>
                      </a:r>
                    </a:p>
                  </a:txBody>
                  <a:tcPr>
                    <a:solidFill>
                      <a:srgbClr val="F5EFE6"/>
                    </a:solidFill>
                  </a:tcPr>
                </a:tc>
                <a:tc>
                  <a:txBody>
                    <a:bodyPr wrap="square"/>
                    <a:lstStyle/>
                    <a:p>
                      <a:pPr algn="l"/>
                      <a:r>
                        <a:rPr sz="1000">
                          <a:solidFill>
                            <a:srgbClr val="2B2419"/>
                          </a:solidFill>
                          <a:latin typeface="Calibri"/>
                        </a:rPr>
                        <a:t>APPLY PM principles</a:t>
                      </a:r>
                    </a:p>
                  </a:txBody>
                  <a:tcPr>
                    <a:solidFill>
                      <a:srgbClr val="F5EFE6"/>
                    </a:solidFill>
                  </a:tcPr>
                </a:tc>
                <a:tc>
                  <a:txBody>
                    <a:bodyPr wrap="square"/>
                    <a:lstStyle/>
                    <a:p>
                      <a:pPr algn="l"/>
                      <a:r>
                        <a:rPr sz="1000">
                          <a:solidFill>
                            <a:srgbClr val="2B2419"/>
                          </a:solidFill>
                          <a:latin typeface="Calibri"/>
                        </a:rPr>
                        <a:t>§ 1</a:t>
                      </a:r>
                    </a:p>
                  </a:txBody>
                  <a:tcPr>
                    <a:solidFill>
                      <a:srgbClr val="F5EFE6"/>
                    </a:solidFill>
                  </a:tcPr>
                </a:tc>
                <a:tc>
                  <a:txBody>
                    <a:bodyPr wrap="square"/>
                    <a:lstStyle/>
                    <a:p>
                      <a:pPr algn="l"/>
                      <a:r>
                        <a:rPr sz="1000">
                          <a:solidFill>
                            <a:srgbClr val="2B2419"/>
                          </a:solidFill>
                          <a:latin typeface="Calibri"/>
                        </a:rPr>
                        <a:t>SMART objectives; full PM cycle</a:t>
                      </a:r>
                    </a:p>
                  </a:txBody>
                  <a:tcPr>
                    <a:solidFill>
                      <a:srgbClr val="F5EFE6"/>
                    </a:solidFill>
                  </a:tcPr>
                </a:tc>
              </a:tr>
              <a:tr h="2880360">
                <a:tc>
                  <a:txBody>
                    <a:bodyPr wrap="square"/>
                    <a:lstStyle/>
                    <a:p>
                      <a:pPr algn="l"/>
                      <a:r>
                        <a:rPr sz="1000">
                          <a:solidFill>
                            <a:srgbClr val="2B2419"/>
                          </a:solidFill>
                          <a:latin typeface="Calibri"/>
                        </a:rPr>
                        <a:t>CLO 2</a:t>
                      </a:r>
                    </a:p>
                  </a:txBody>
                  <a:tcPr>
                    <a:solidFill>
                      <a:srgbClr val="F5EFE6"/>
                    </a:solidFill>
                  </a:tcPr>
                </a:tc>
                <a:tc>
                  <a:txBody>
                    <a:bodyPr wrap="square"/>
                    <a:lstStyle/>
                    <a:p>
                      <a:pPr algn="l"/>
                      <a:r>
                        <a:rPr sz="1000">
                          <a:solidFill>
                            <a:srgbClr val="2B2419"/>
                          </a:solidFill>
                          <a:latin typeface="Calibri"/>
                        </a:rPr>
                        <a:t>IMPLEMENT scope / HR / time / cost</a:t>
                      </a:r>
                    </a:p>
                  </a:txBody>
                  <a:tcPr>
                    <a:solidFill>
                      <a:srgbClr val="F5EFE6"/>
                    </a:solidFill>
                  </a:tcPr>
                </a:tc>
                <a:tc>
                  <a:txBody>
                    <a:bodyPr wrap="square"/>
                    <a:lstStyle/>
                    <a:p>
                      <a:pPr algn="l"/>
                      <a:r>
                        <a:rPr sz="1000">
                          <a:solidFill>
                            <a:srgbClr val="2B2419"/>
                          </a:solidFill>
                          <a:latin typeface="Calibri"/>
                        </a:rPr>
                        <a:t>§ 1–4</a:t>
                      </a:r>
                    </a:p>
                  </a:txBody>
                  <a:tcPr>
                    <a:solidFill>
                      <a:srgbClr val="F5EFE6"/>
                    </a:solidFill>
                  </a:tcPr>
                </a:tc>
                <a:tc>
                  <a:txBody>
                    <a:bodyPr wrap="square"/>
                    <a:lstStyle/>
                    <a:p>
                      <a:pPr algn="l"/>
                      <a:r>
                        <a:rPr sz="1000">
                          <a:solidFill>
                            <a:srgbClr val="2B2419"/>
                          </a:solidFill>
                          <a:latin typeface="Calibri"/>
                        </a:rPr>
                        <a:t>WBS, CPM, RACI, bottom-up budget</a:t>
                      </a:r>
                    </a:p>
                  </a:txBody>
                  <a:tcPr>
                    <a:solidFill>
                      <a:srgbClr val="F5EFE6"/>
                    </a:solidFill>
                  </a:tcPr>
                </a:tc>
              </a:tr>
              <a:tr h="2880360">
                <a:tc>
                  <a:txBody>
                    <a:bodyPr wrap="square"/>
                    <a:lstStyle/>
                    <a:p>
                      <a:pPr algn="l"/>
                      <a:r>
                        <a:rPr sz="1000">
                          <a:solidFill>
                            <a:srgbClr val="2B2419"/>
                          </a:solidFill>
                          <a:latin typeface="Calibri"/>
                        </a:rPr>
                        <a:t>CLO 3</a:t>
                      </a:r>
                    </a:p>
                  </a:txBody>
                  <a:tcPr>
                    <a:solidFill>
                      <a:srgbClr val="F5EFE6"/>
                    </a:solidFill>
                  </a:tcPr>
                </a:tc>
                <a:tc>
                  <a:txBody>
                    <a:bodyPr wrap="square"/>
                    <a:lstStyle/>
                    <a:p>
                      <a:pPr algn="l"/>
                      <a:r>
                        <a:rPr sz="1000">
                          <a:solidFill>
                            <a:srgbClr val="2B2419"/>
                          </a:solidFill>
                          <a:latin typeface="Calibri"/>
                        </a:rPr>
                        <a:t>IMPLEMENT integration / risk / quality</a:t>
                      </a:r>
                    </a:p>
                  </a:txBody>
                  <a:tcPr>
                    <a:solidFill>
                      <a:srgbClr val="F5EFE6"/>
                    </a:solidFill>
                  </a:tcPr>
                </a:tc>
                <a:tc>
                  <a:txBody>
                    <a:bodyPr wrap="square"/>
                    <a:lstStyle/>
                    <a:p>
                      <a:pPr algn="l"/>
                      <a:r>
                        <a:rPr sz="1000">
                          <a:solidFill>
                            <a:srgbClr val="2B2419"/>
                          </a:solidFill>
                          <a:latin typeface="Calibri"/>
                        </a:rPr>
                        <a:t>§ 5, § 8</a:t>
                      </a:r>
                    </a:p>
                  </a:txBody>
                  <a:tcPr>
                    <a:solidFill>
                      <a:srgbClr val="F5EFE6"/>
                    </a:solidFill>
                  </a:tcPr>
                </a:tc>
                <a:tc>
                  <a:txBody>
                    <a:bodyPr wrap="square"/>
                    <a:lstStyle/>
                    <a:p>
                      <a:pPr algn="l"/>
                      <a:r>
                        <a:rPr sz="1000">
                          <a:solidFill>
                            <a:srgbClr val="2B2419"/>
                          </a:solidFill>
                          <a:latin typeface="Calibri"/>
                        </a:rPr>
                        <a:t>Risk EMV; quality metrics; CR-001</a:t>
                      </a:r>
                    </a:p>
                  </a:txBody>
                  <a:tcPr>
                    <a:solidFill>
                      <a:srgbClr val="F5EFE6"/>
                    </a:solidFill>
                  </a:tcPr>
                </a:tc>
              </a:tr>
              <a:tr h="2880360">
                <a:tc>
                  <a:txBody>
                    <a:bodyPr wrap="square"/>
                    <a:lstStyle/>
                    <a:p>
                      <a:pPr algn="l"/>
                      <a:r>
                        <a:rPr sz="1000">
                          <a:solidFill>
                            <a:srgbClr val="2B2419"/>
                          </a:solidFill>
                          <a:latin typeface="Calibri"/>
                        </a:rPr>
                        <a:t>CLO 4</a:t>
                      </a:r>
                    </a:p>
                  </a:txBody>
                  <a:tcPr>
                    <a:solidFill>
                      <a:srgbClr val="F5EFE6"/>
                    </a:solidFill>
                  </a:tcPr>
                </a:tc>
                <a:tc>
                  <a:txBody>
                    <a:bodyPr wrap="square"/>
                    <a:lstStyle/>
                    <a:p>
                      <a:pPr algn="l"/>
                      <a:r>
                        <a:rPr sz="1000">
                          <a:solidFill>
                            <a:srgbClr val="2B2419"/>
                          </a:solidFill>
                          <a:latin typeface="Calibri"/>
                        </a:rPr>
                        <a:t>IMPLEMENT systems &amp; decisions</a:t>
                      </a:r>
                    </a:p>
                  </a:txBody>
                  <a:tcPr>
                    <a:solidFill>
                      <a:srgbClr val="F5EFE6"/>
                    </a:solidFill>
                  </a:tcPr>
                </a:tc>
                <a:tc>
                  <a:txBody>
                    <a:bodyPr wrap="square"/>
                    <a:lstStyle/>
                    <a:p>
                      <a:pPr algn="l"/>
                      <a:r>
                        <a:rPr sz="1000">
                          <a:solidFill>
                            <a:srgbClr val="2B2419"/>
                          </a:solidFill>
                          <a:latin typeface="Calibri"/>
                        </a:rPr>
                        <a:t>§ 6, § 8</a:t>
                      </a:r>
                    </a:p>
                  </a:txBody>
                  <a:tcPr>
                    <a:solidFill>
                      <a:srgbClr val="F5EFE6"/>
                    </a:solidFill>
                  </a:tcPr>
                </a:tc>
                <a:tc>
                  <a:txBody>
                    <a:bodyPr wrap="square"/>
                    <a:lstStyle/>
                    <a:p>
                      <a:pPr algn="l"/>
                      <a:r>
                        <a:rPr sz="1000">
                          <a:solidFill>
                            <a:srgbClr val="2B2419"/>
                          </a:solidFill>
                          <a:latin typeface="Calibri"/>
                        </a:rPr>
                        <a:t>Decision process; live demo</a:t>
                      </a:r>
                    </a:p>
                  </a:txBody>
                  <a:tcPr>
                    <a:solidFill>
                      <a:srgbClr val="F5EFE6"/>
                    </a:solidFill>
                  </a:tcPr>
                </a:tc>
              </a:tr>
              <a:tr h="2880360">
                <a:tc>
                  <a:txBody>
                    <a:bodyPr wrap="square"/>
                    <a:lstStyle/>
                    <a:p>
                      <a:pPr algn="l"/>
                      <a:r>
                        <a:rPr sz="1000">
                          <a:solidFill>
                            <a:srgbClr val="2B2419"/>
                          </a:solidFill>
                          <a:latin typeface="Calibri"/>
                        </a:rPr>
                        <a:t>CLO 5</a:t>
                      </a:r>
                    </a:p>
                  </a:txBody>
                  <a:tcPr>
                    <a:solidFill>
                      <a:srgbClr val="F5EFE6"/>
                    </a:solidFill>
                  </a:tcPr>
                </a:tc>
                <a:tc>
                  <a:txBody>
                    <a:bodyPr wrap="square"/>
                    <a:lstStyle/>
                    <a:p>
                      <a:pPr algn="l"/>
                      <a:r>
                        <a:rPr sz="1000">
                          <a:solidFill>
                            <a:srgbClr val="2B2419"/>
                          </a:solidFill>
                          <a:latin typeface="Calibri"/>
                        </a:rPr>
                        <a:t>USE tools / processes / techniques</a:t>
                      </a:r>
                    </a:p>
                  </a:txBody>
                  <a:tcPr>
                    <a:solidFill>
                      <a:srgbClr val="F5EFE6"/>
                    </a:solidFill>
                  </a:tcPr>
                </a:tc>
                <a:tc>
                  <a:txBody>
                    <a:bodyPr wrap="square"/>
                    <a:lstStyle/>
                    <a:p>
                      <a:pPr algn="l"/>
                      <a:r>
                        <a:rPr sz="1000">
                          <a:solidFill>
                            <a:srgbClr val="2B2419"/>
                          </a:solidFill>
                          <a:latin typeface="Calibri"/>
                        </a:rPr>
                        <a:t>§ 2–3</a:t>
                      </a:r>
                    </a:p>
                  </a:txBody>
                  <a:tcPr>
                    <a:solidFill>
                      <a:srgbClr val="F5EFE6"/>
                    </a:solidFill>
                  </a:tcPr>
                </a:tc>
                <a:tc>
                  <a:txBody>
                    <a:bodyPr wrap="square"/>
                    <a:lstStyle/>
                    <a:p>
                      <a:pPr algn="l"/>
                      <a:r>
                        <a:rPr sz="1000">
                          <a:solidFill>
                            <a:srgbClr val="2B2419"/>
                          </a:solidFill>
                          <a:latin typeface="Calibri"/>
                        </a:rPr>
                        <a:t>WBS tool, MS Project, PERT/CPM</a:t>
                      </a:r>
                    </a:p>
                  </a:txBody>
                  <a:tcPr>
                    <a:solidFill>
                      <a:srgbClr val="F5EFE6"/>
                    </a:solidFill>
                  </a:tcPr>
                </a:tc>
              </a:tr>
              <a:tr h="2880360">
                <a:tc>
                  <a:txBody>
                    <a:bodyPr wrap="square"/>
                    <a:lstStyle/>
                    <a:p>
                      <a:pPr algn="l"/>
                      <a:r>
                        <a:rPr sz="1000">
                          <a:solidFill>
                            <a:srgbClr val="2B2419"/>
                          </a:solidFill>
                          <a:latin typeface="Calibri"/>
                        </a:rPr>
                        <a:t>CLO 6</a:t>
                      </a:r>
                    </a:p>
                  </a:txBody>
                  <a:tcPr>
                    <a:solidFill>
                      <a:srgbClr val="F5EFE6"/>
                    </a:solidFill>
                  </a:tcPr>
                </a:tc>
                <a:tc>
                  <a:txBody>
                    <a:bodyPr wrap="square"/>
                    <a:lstStyle/>
                    <a:p>
                      <a:pPr algn="l"/>
                      <a:r>
                        <a:rPr sz="1000">
                          <a:solidFill>
                            <a:srgbClr val="2B2419"/>
                          </a:solidFill>
                          <a:latin typeface="Calibri"/>
                        </a:rPr>
                        <a:t>PERFORM risk analysis &amp; contingency</a:t>
                      </a:r>
                    </a:p>
                  </a:txBody>
                  <a:tcPr>
                    <a:solidFill>
                      <a:srgbClr val="F5EFE6"/>
                    </a:solidFill>
                  </a:tcPr>
                </a:tc>
                <a:tc>
                  <a:txBody>
                    <a:bodyPr wrap="square"/>
                    <a:lstStyle/>
                    <a:p>
                      <a:pPr algn="l"/>
                      <a:r>
                        <a:rPr sz="1000">
                          <a:solidFill>
                            <a:srgbClr val="2B2419"/>
                          </a:solidFill>
                          <a:latin typeface="Calibri"/>
                        </a:rPr>
                        <a:t>§ 5</a:t>
                      </a:r>
                    </a:p>
                  </a:txBody>
                  <a:tcPr>
                    <a:solidFill>
                      <a:srgbClr val="F5EFE6"/>
                    </a:solidFill>
                  </a:tcPr>
                </a:tc>
                <a:tc>
                  <a:txBody>
                    <a:bodyPr wrap="square"/>
                    <a:lstStyle/>
                    <a:p>
                      <a:pPr algn="l"/>
                      <a:r>
                        <a:rPr sz="1000">
                          <a:solidFill>
                            <a:srgbClr val="2B2419"/>
                          </a:solidFill>
                          <a:latin typeface="Calibri"/>
                        </a:rPr>
                        <a:t>6 risks; EMV; contingency reconciliation</a:t>
                      </a:r>
                    </a:p>
                  </a:txBody>
                  <a:tcPr>
                    <a:solidFill>
                      <a:srgbClr val="F5EFE6"/>
                    </a:solidFill>
                  </a:tcPr>
                </a:tc>
              </a:tr>
              <a:tr h="2880360">
                <a:tc>
                  <a:txBody>
                    <a:bodyPr wrap="square"/>
                    <a:lstStyle/>
                    <a:p>
                      <a:pPr algn="l"/>
                      <a:r>
                        <a:rPr sz="1000">
                          <a:solidFill>
                            <a:srgbClr val="2B2419"/>
                          </a:solidFill>
                          <a:latin typeface="Calibri"/>
                        </a:rPr>
                        <a:t>CLO 7</a:t>
                      </a:r>
                    </a:p>
                  </a:txBody>
                  <a:tcPr>
                    <a:solidFill>
                      <a:srgbClr val="F5EFE6"/>
                    </a:solidFill>
                  </a:tcPr>
                </a:tc>
                <a:tc>
                  <a:txBody>
                    <a:bodyPr wrap="square"/>
                    <a:lstStyle/>
                    <a:p>
                      <a:pPr algn="l"/>
                      <a:r>
                        <a:rPr sz="1000">
                          <a:solidFill>
                            <a:srgbClr val="2B2419"/>
                          </a:solidFill>
                          <a:latin typeface="Calibri"/>
                        </a:rPr>
                        <a:t>PERFORM overall evaluation</a:t>
                      </a:r>
                    </a:p>
                  </a:txBody>
                  <a:tcPr>
                    <a:solidFill>
                      <a:srgbClr val="F5EFE6"/>
                    </a:solidFill>
                  </a:tcPr>
                </a:tc>
                <a:tc>
                  <a:txBody>
                    <a:bodyPr wrap="square"/>
                    <a:lstStyle/>
                    <a:p>
                      <a:pPr algn="l"/>
                      <a:r>
                        <a:rPr sz="1000">
                          <a:solidFill>
                            <a:srgbClr val="2B2419"/>
                          </a:solidFill>
                          <a:latin typeface="Calibri"/>
                        </a:rPr>
                        <a:t>§ 7</a:t>
                      </a:r>
                    </a:p>
                  </a:txBody>
                  <a:tcPr>
                    <a:solidFill>
                      <a:srgbClr val="F5EFE6"/>
                    </a:solidFill>
                  </a:tcPr>
                </a:tc>
                <a:tc>
                  <a:txBody>
                    <a:bodyPr wrap="square"/>
                    <a:lstStyle/>
                    <a:p>
                      <a:pPr algn="l"/>
                      <a:r>
                        <a:rPr sz="1000">
                          <a:solidFill>
                            <a:srgbClr val="2B2419"/>
                          </a:solidFill>
                          <a:latin typeface="Calibri"/>
                        </a:rPr>
                        <a:t>10 EVM metrics; 5 lessons tagged</a:t>
                      </a:r>
                    </a:p>
                  </a:txBody>
                  <a:tcPr>
                    <a:solidFill>
                      <a:srgbClr val="F5EFE6"/>
                    </a:solidFill>
                  </a:tcPr>
                </a:tc>
              </a:tr>
              <a:tr h="2880360">
                <a:tc>
                  <a:txBody>
                    <a:bodyPr wrap="square"/>
                    <a:lstStyle/>
                    <a:p>
                      <a:pPr algn="l"/>
                      <a:r>
                        <a:rPr sz="1000">
                          <a:solidFill>
                            <a:srgbClr val="2B2419"/>
                          </a:solidFill>
                          <a:latin typeface="Calibri"/>
                        </a:rPr>
                        <a:t>CLO 8</a:t>
                      </a:r>
                    </a:p>
                  </a:txBody>
                  <a:tcPr>
                    <a:solidFill>
                      <a:srgbClr val="F5EFE6"/>
                    </a:solidFill>
                  </a:tcPr>
                </a:tc>
                <a:tc>
                  <a:txBody>
                    <a:bodyPr wrap="square"/>
                    <a:lstStyle/>
                    <a:p>
                      <a:pPr algn="l"/>
                      <a:r>
                        <a:rPr sz="1000">
                          <a:solidFill>
                            <a:srgbClr val="2B2419"/>
                          </a:solidFill>
                          <a:latin typeface="Calibri"/>
                        </a:rPr>
                        <a:t>IMPLEMENT overall project plans</a:t>
                      </a:r>
                    </a:p>
                  </a:txBody>
                  <a:tcPr>
                    <a:solidFill>
                      <a:srgbClr val="F5EFE6"/>
                    </a:solidFill>
                  </a:tcPr>
                </a:tc>
                <a:tc>
                  <a:txBody>
                    <a:bodyPr wrap="square"/>
                    <a:lstStyle/>
                    <a:p>
                      <a:pPr algn="l"/>
                      <a:r>
                        <a:rPr sz="1000">
                          <a:solidFill>
                            <a:srgbClr val="2B2419"/>
                          </a:solidFill>
                          <a:latin typeface="Calibri"/>
                        </a:rPr>
                        <a:t>All</a:t>
                      </a:r>
                    </a:p>
                  </a:txBody>
                  <a:tcPr>
                    <a:solidFill>
                      <a:srgbClr val="F5EFE6"/>
                    </a:solidFill>
                  </a:tcPr>
                </a:tc>
                <a:tc>
                  <a:txBody>
                    <a:bodyPr wrap="square"/>
                    <a:lstStyle/>
                    <a:p>
                      <a:pPr algn="l"/>
                      <a:r>
                        <a:rPr sz="1000">
                          <a:solidFill>
                            <a:srgbClr val="2B2419"/>
                          </a:solidFill>
                          <a:latin typeface="Calibri"/>
                        </a:rPr>
                        <a:t>Report is the project plan; ZIP package</a:t>
                      </a:r>
                    </a:p>
                  </a:txBody>
                  <a:tcPr>
                    <a:solidFill>
                      <a:srgbClr val="F5EFE6"/>
                    </a:solidFill>
                  </a:tcPr>
                </a:tc>
              </a:tr>
              <a:tr h="2880360">
                <a:tc>
                  <a:txBody>
                    <a:bodyPr wrap="square"/>
                    <a:lstStyle/>
                    <a:p>
                      <a:pPr algn="l"/>
                      <a:r>
                        <a:rPr sz="1000">
                          <a:solidFill>
                            <a:srgbClr val="2B2419"/>
                          </a:solidFill>
                          <a:latin typeface="Calibri"/>
                        </a:rPr>
                        <a:t>CLO 9</a:t>
                      </a:r>
                    </a:p>
                  </a:txBody>
                  <a:tcPr>
                    <a:solidFill>
                      <a:srgbClr val="F5EFE6"/>
                    </a:solidFill>
                  </a:tcPr>
                </a:tc>
                <a:tc>
                  <a:txBody>
                    <a:bodyPr wrap="square"/>
                    <a:lstStyle/>
                    <a:p>
                      <a:pPr algn="l"/>
                      <a:r>
                        <a:rPr sz="1000">
                          <a:solidFill>
                            <a:srgbClr val="2B2419"/>
                          </a:solidFill>
                          <a:latin typeface="Calibri"/>
                        </a:rPr>
                        <a:t>Autonomy &amp; personal qualities</a:t>
                      </a:r>
                    </a:p>
                  </a:txBody>
                  <a:tcPr>
                    <a:solidFill>
                      <a:srgbClr val="F5EFE6"/>
                    </a:solidFill>
                  </a:tcPr>
                </a:tc>
                <a:tc>
                  <a:txBody>
                    <a:bodyPr wrap="square"/>
                    <a:lstStyle/>
                    <a:p>
                      <a:pPr algn="l"/>
                      <a:r>
                        <a:rPr sz="1000">
                          <a:solidFill>
                            <a:srgbClr val="2B2419"/>
                          </a:solidFill>
                          <a:latin typeface="Calibri"/>
                        </a:rPr>
                        <a:t>§ 6, § 8</a:t>
                      </a:r>
                    </a:p>
                  </a:txBody>
                  <a:tcPr>
                    <a:solidFill>
                      <a:srgbClr val="F5EFE6"/>
                    </a:solidFill>
                  </a:tcPr>
                </a:tc>
                <a:tc>
                  <a:txBody>
                    <a:bodyPr wrap="square"/>
                    <a:lstStyle/>
                    <a:p>
                      <a:pPr algn="l"/>
                      <a:r>
                        <a:rPr sz="1000">
                          <a:solidFill>
                            <a:srgbClr val="2B2419"/>
                          </a:solidFill>
                          <a:latin typeface="Calibri"/>
                        </a:rPr>
                        <a:t>4 members with A/R roles; conflict process</a:t>
                      </a:r>
                    </a:p>
                  </a:txBody>
                  <a:tcPr>
                    <a:solidFill>
                      <a:srgbClr val="F5EFE6"/>
                    </a:solidFill>
                  </a:tcPr>
                </a:tc>
              </a:tr>
            </a:tbl>
          </a:graphicData>
        </a:graphic>
      </p:graphicFrame>
      <p:sp>
        <p:nvSpPr>
          <p:cNvPr id="10" name="Rectangle 9"/>
          <p:cNvSpPr/>
          <p:nvPr/>
        </p:nvSpPr>
        <p:spPr>
          <a:xfrm>
            <a:off x="8534186" y="5"/>
            <a:ext cx="12"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34186" y="6"/>
            <a:ext cx="12" cy="2743200"/>
          </a:xfrm>
          <a:prstGeom prst="rect">
            <a:avLst/>
          </a:prstGeom>
          <a:noFill/>
        </p:spPr>
        <p:txBody>
          <a:bodyPr wrap="square">
            <a:spAutoFit/>
          </a:bodyPr>
          <a:lstStyle/>
          <a:p>
            <a:pPr algn="l"/>
            <a:r>
              <a:rPr sz="1200" b="1" i="0">
                <a:solidFill>
                  <a:srgbClr val="5B6B47"/>
                </a:solidFill>
                <a:latin typeface="Calibri"/>
              </a:rPr>
              <a:t>Coverage check: All 9 CLOs are demonstrably addressed through specific report sections and evidence.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 cy="34290"/>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525" y="1"/>
            <a:ext cx="11" cy="1"/>
          </a:xfrm>
          <a:prstGeom prst="rect">
            <a:avLst/>
          </a:prstGeom>
          <a:noFill/>
        </p:spPr>
        <p:txBody>
          <a:bodyPr wrap="square">
            <a:spAutoFit/>
          </a:bodyPr>
          <a:lstStyle/>
          <a:p>
            <a:pPr algn="l"/>
            <a:r>
              <a:rPr sz="7200" b="1" i="1">
                <a:solidFill>
                  <a:srgbClr val="2B2419"/>
                </a:solidFill>
                <a:latin typeface="Georgia"/>
              </a:rPr>
              <a:t>Thank you</a:t>
            </a:r>
          </a:p>
        </p:txBody>
      </p:sp>
      <p:sp>
        <p:nvSpPr>
          <p:cNvPr id="5" name="TextBox 4"/>
          <p:cNvSpPr txBox="1"/>
          <p:nvPr/>
        </p:nvSpPr>
        <p:spPr>
          <a:xfrm>
            <a:off x="10972525" y="2"/>
            <a:ext cx="11" cy="4800600"/>
          </a:xfrm>
          <a:prstGeom prst="rect">
            <a:avLst/>
          </a:prstGeom>
          <a:noFill/>
        </p:spPr>
        <p:txBody>
          <a:bodyPr wrap="square">
            <a:spAutoFit/>
          </a:bodyPr>
          <a:lstStyle/>
          <a:p>
            <a:pPr algn="l"/>
            <a:r>
              <a:rPr sz="3200" b="0" i="1">
                <a:solidFill>
                  <a:srgbClr val="5C4F3F"/>
                </a:solidFill>
                <a:latin typeface="Georgia"/>
              </a:rPr>
              <a:t>Questions &amp; Discussion</a:t>
            </a:r>
          </a:p>
        </p:txBody>
      </p:sp>
      <p:sp>
        <p:nvSpPr>
          <p:cNvPr id="6" name="Rectangle 5"/>
          <p:cNvSpPr/>
          <p:nvPr/>
        </p:nvSpPr>
        <p:spPr>
          <a:xfrm>
            <a:off x="10972525" y="3"/>
            <a:ext cx="11" cy="20574"/>
          </a:xfrm>
          <a:prstGeom prst="rect">
            <a:avLst/>
          </a:prstGeom>
          <a:noFill/>
          <a:ln w="12700">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525" y="3"/>
            <a:ext cx="11" cy="2743200"/>
          </a:xfrm>
          <a:prstGeom prst="rect">
            <a:avLst/>
          </a:prstGeom>
          <a:noFill/>
        </p:spPr>
        <p:txBody>
          <a:bodyPr wrap="square">
            <a:spAutoFit/>
          </a:bodyPr>
          <a:lstStyle/>
          <a:p>
            <a:pPr algn="l"/>
            <a:r>
              <a:rPr sz="1400" b="0" i="0">
                <a:solidFill>
                  <a:srgbClr val="8A7A66"/>
                </a:solidFill>
                <a:latin typeface="Calibri"/>
              </a:rPr>
              <a:t>Group 14 · INS3044 IT Project Management</a:t>
            </a:r>
          </a:p>
        </p:txBody>
      </p:sp>
      <p:sp>
        <p:nvSpPr>
          <p:cNvPr id="8" name="Rectangle 7"/>
          <p:cNvSpPr/>
          <p:nvPr/>
        </p:nvSpPr>
        <p:spPr>
          <a:xfrm>
            <a:off x="10972525" y="4"/>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 y="4"/>
            <a:ext cx="2" cy="2057400"/>
          </a:xfrm>
          <a:prstGeom prst="rect">
            <a:avLst/>
          </a:prstGeom>
          <a:noFill/>
        </p:spPr>
        <p:txBody>
          <a:bodyPr wrap="square">
            <a:spAutoFit/>
          </a:bodyPr>
          <a:lstStyle/>
          <a:p>
            <a:pPr algn="l"/>
            <a:r>
              <a:rPr sz="900" b="0" i="0">
                <a:solidFill>
                  <a:srgbClr val="8A7A66"/>
                </a:solidFill>
                <a:latin typeface="Calibri"/>
              </a:rPr>
              <a:t>PM · Leader</a:t>
            </a:r>
          </a:p>
        </p:txBody>
      </p:sp>
      <p:sp>
        <p:nvSpPr>
          <p:cNvPr id="10" name="TextBox 9"/>
          <p:cNvSpPr txBox="1"/>
          <p:nvPr/>
        </p:nvSpPr>
        <p:spPr>
          <a:xfrm>
            <a:off x="1" y="4"/>
            <a:ext cx="2" cy="2400300"/>
          </a:xfrm>
          <a:prstGeom prst="rect">
            <a:avLst/>
          </a:prstGeom>
          <a:noFill/>
        </p:spPr>
        <p:txBody>
          <a:bodyPr wrap="square">
            <a:spAutoFit/>
          </a:bodyPr>
          <a:lstStyle/>
          <a:p>
            <a:pPr algn="l"/>
            <a:r>
              <a:rPr sz="1400" b="1" i="0">
                <a:solidFill>
                  <a:srgbClr val="2B2419"/>
                </a:solidFill>
                <a:latin typeface="Georgia"/>
              </a:rPr>
              <a:t>Nguyễn Long Đức</a:t>
            </a:r>
          </a:p>
        </p:txBody>
      </p:sp>
      <p:sp>
        <p:nvSpPr>
          <p:cNvPr id="11" name="TextBox 10"/>
          <p:cNvSpPr txBox="1"/>
          <p:nvPr/>
        </p:nvSpPr>
        <p:spPr>
          <a:xfrm>
            <a:off x="1" y="4"/>
            <a:ext cx="2" cy="2057400"/>
          </a:xfrm>
          <a:prstGeom prst="rect">
            <a:avLst/>
          </a:prstGeom>
          <a:noFill/>
        </p:spPr>
        <p:txBody>
          <a:bodyPr wrap="square">
            <a:spAutoFit/>
          </a:bodyPr>
          <a:lstStyle/>
          <a:p>
            <a:pPr algn="l"/>
            <a:r>
              <a:rPr sz="1000" b="0" i="0">
                <a:solidFill>
                  <a:srgbClr val="8A7A66"/>
                </a:solidFill>
                <a:latin typeface="Calibri"/>
              </a:rPr>
              <a:t>23070435</a:t>
            </a:r>
          </a:p>
        </p:txBody>
      </p:sp>
      <p:sp>
        <p:nvSpPr>
          <p:cNvPr id="12" name="Rectangle 11"/>
          <p:cNvSpPr/>
          <p:nvPr/>
        </p:nvSpPr>
        <p:spPr>
          <a:xfrm>
            <a:off x="3" y="4"/>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 y="4"/>
            <a:ext cx="2" cy="2057400"/>
          </a:xfrm>
          <a:prstGeom prst="rect">
            <a:avLst/>
          </a:prstGeom>
          <a:noFill/>
        </p:spPr>
        <p:txBody>
          <a:bodyPr wrap="square">
            <a:spAutoFit/>
          </a:bodyPr>
          <a:lstStyle/>
          <a:p>
            <a:pPr algn="l"/>
            <a:r>
              <a:rPr sz="900" b="0" i="0">
                <a:solidFill>
                  <a:srgbClr val="8A7A66"/>
                </a:solidFill>
                <a:latin typeface="Calibri"/>
              </a:rPr>
              <a:t>Developer</a:t>
            </a:r>
          </a:p>
        </p:txBody>
      </p:sp>
      <p:sp>
        <p:nvSpPr>
          <p:cNvPr id="14" name="TextBox 13"/>
          <p:cNvSpPr txBox="1"/>
          <p:nvPr/>
        </p:nvSpPr>
        <p:spPr>
          <a:xfrm>
            <a:off x="3" y="4"/>
            <a:ext cx="2" cy="2400300"/>
          </a:xfrm>
          <a:prstGeom prst="rect">
            <a:avLst/>
          </a:prstGeom>
          <a:noFill/>
        </p:spPr>
        <p:txBody>
          <a:bodyPr wrap="square">
            <a:spAutoFit/>
          </a:bodyPr>
          <a:lstStyle/>
          <a:p>
            <a:pPr algn="l"/>
            <a:r>
              <a:rPr sz="1400" b="1" i="0">
                <a:solidFill>
                  <a:srgbClr val="2B2419"/>
                </a:solidFill>
                <a:latin typeface="Georgia"/>
              </a:rPr>
              <a:t>Phạm Hồ Bảo</a:t>
            </a:r>
          </a:p>
        </p:txBody>
      </p:sp>
      <p:sp>
        <p:nvSpPr>
          <p:cNvPr id="15" name="TextBox 14"/>
          <p:cNvSpPr txBox="1"/>
          <p:nvPr/>
        </p:nvSpPr>
        <p:spPr>
          <a:xfrm>
            <a:off x="3" y="4"/>
            <a:ext cx="2" cy="2057400"/>
          </a:xfrm>
          <a:prstGeom prst="rect">
            <a:avLst/>
          </a:prstGeom>
          <a:noFill/>
        </p:spPr>
        <p:txBody>
          <a:bodyPr wrap="square">
            <a:spAutoFit/>
          </a:bodyPr>
          <a:lstStyle/>
          <a:p>
            <a:pPr algn="l"/>
            <a:r>
              <a:rPr sz="1000" b="0" i="0">
                <a:solidFill>
                  <a:srgbClr val="8A7A66"/>
                </a:solidFill>
                <a:latin typeface="Calibri"/>
              </a:rPr>
              <a:t>23070455</a:t>
            </a:r>
          </a:p>
        </p:txBody>
      </p:sp>
      <p:sp>
        <p:nvSpPr>
          <p:cNvPr id="16" name="Rectangle 15"/>
          <p:cNvSpPr/>
          <p:nvPr/>
        </p:nvSpPr>
        <p:spPr>
          <a:xfrm>
            <a:off x="6" y="4"/>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 y="4"/>
            <a:ext cx="2" cy="2057400"/>
          </a:xfrm>
          <a:prstGeom prst="rect">
            <a:avLst/>
          </a:prstGeom>
          <a:noFill/>
        </p:spPr>
        <p:txBody>
          <a:bodyPr wrap="square">
            <a:spAutoFit/>
          </a:bodyPr>
          <a:lstStyle/>
          <a:p>
            <a:pPr algn="l"/>
            <a:r>
              <a:rPr sz="900" b="0" i="0">
                <a:solidFill>
                  <a:srgbClr val="8A7A66"/>
                </a:solidFill>
                <a:latin typeface="Calibri"/>
              </a:rPr>
              <a:t>UI / UX Designer</a:t>
            </a:r>
          </a:p>
        </p:txBody>
      </p:sp>
      <p:sp>
        <p:nvSpPr>
          <p:cNvPr id="18" name="TextBox 17"/>
          <p:cNvSpPr txBox="1"/>
          <p:nvPr/>
        </p:nvSpPr>
        <p:spPr>
          <a:xfrm>
            <a:off x="6" y="4"/>
            <a:ext cx="2" cy="2400300"/>
          </a:xfrm>
          <a:prstGeom prst="rect">
            <a:avLst/>
          </a:prstGeom>
          <a:noFill/>
        </p:spPr>
        <p:txBody>
          <a:bodyPr wrap="square">
            <a:spAutoFit/>
          </a:bodyPr>
          <a:lstStyle/>
          <a:p>
            <a:pPr algn="l"/>
            <a:r>
              <a:rPr sz="1400" b="1" i="0">
                <a:solidFill>
                  <a:srgbClr val="2B2419"/>
                </a:solidFill>
                <a:latin typeface="Georgia"/>
              </a:rPr>
              <a:t>Kiều Bá Thịnh</a:t>
            </a:r>
          </a:p>
        </p:txBody>
      </p:sp>
      <p:sp>
        <p:nvSpPr>
          <p:cNvPr id="19" name="TextBox 18"/>
          <p:cNvSpPr txBox="1"/>
          <p:nvPr/>
        </p:nvSpPr>
        <p:spPr>
          <a:xfrm>
            <a:off x="6" y="4"/>
            <a:ext cx="2" cy="2057400"/>
          </a:xfrm>
          <a:prstGeom prst="rect">
            <a:avLst/>
          </a:prstGeom>
          <a:noFill/>
        </p:spPr>
        <p:txBody>
          <a:bodyPr wrap="square">
            <a:spAutoFit/>
          </a:bodyPr>
          <a:lstStyle/>
          <a:p>
            <a:pPr algn="l"/>
            <a:r>
              <a:rPr sz="1000" b="0" i="0">
                <a:solidFill>
                  <a:srgbClr val="8A7A66"/>
                </a:solidFill>
                <a:latin typeface="Calibri"/>
              </a:rPr>
              <a:t>23070247</a:t>
            </a:r>
          </a:p>
        </p:txBody>
      </p:sp>
      <p:sp>
        <p:nvSpPr>
          <p:cNvPr id="20" name="Rectangle 19"/>
          <p:cNvSpPr/>
          <p:nvPr/>
        </p:nvSpPr>
        <p:spPr>
          <a:xfrm>
            <a:off x="9" y="4"/>
            <a:ext cx="2" cy="1"/>
          </a:xfrm>
          <a:prstGeom prst="rect">
            <a:avLst/>
          </a:prstGeom>
          <a:solidFill>
            <a:srgbClr val="EDE4D3"/>
          </a:solid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 y="4"/>
            <a:ext cx="2" cy="2057400"/>
          </a:xfrm>
          <a:prstGeom prst="rect">
            <a:avLst/>
          </a:prstGeom>
          <a:noFill/>
        </p:spPr>
        <p:txBody>
          <a:bodyPr wrap="square">
            <a:spAutoFit/>
          </a:bodyPr>
          <a:lstStyle/>
          <a:p>
            <a:pPr algn="l"/>
            <a:r>
              <a:rPr sz="900" b="0" i="0">
                <a:solidFill>
                  <a:srgbClr val="8A7A66"/>
                </a:solidFill>
                <a:latin typeface="Calibri"/>
              </a:rPr>
              <a:t>Quality Assurance</a:t>
            </a:r>
          </a:p>
        </p:txBody>
      </p:sp>
      <p:sp>
        <p:nvSpPr>
          <p:cNvPr id="22" name="TextBox 21"/>
          <p:cNvSpPr txBox="1"/>
          <p:nvPr/>
        </p:nvSpPr>
        <p:spPr>
          <a:xfrm>
            <a:off x="9" y="4"/>
            <a:ext cx="2" cy="2400300"/>
          </a:xfrm>
          <a:prstGeom prst="rect">
            <a:avLst/>
          </a:prstGeom>
          <a:noFill/>
        </p:spPr>
        <p:txBody>
          <a:bodyPr wrap="square">
            <a:spAutoFit/>
          </a:bodyPr>
          <a:lstStyle/>
          <a:p>
            <a:pPr algn="l"/>
            <a:r>
              <a:rPr sz="1400" b="1" i="0">
                <a:solidFill>
                  <a:srgbClr val="2B2419"/>
                </a:solidFill>
                <a:latin typeface="Georgia"/>
              </a:rPr>
              <a:t>Đỗ Huy Hiếu</a:t>
            </a:r>
          </a:p>
        </p:txBody>
      </p:sp>
      <p:sp>
        <p:nvSpPr>
          <p:cNvPr id="23" name="TextBox 22"/>
          <p:cNvSpPr txBox="1"/>
          <p:nvPr/>
        </p:nvSpPr>
        <p:spPr>
          <a:xfrm>
            <a:off x="9" y="4"/>
            <a:ext cx="2" cy="2057400"/>
          </a:xfrm>
          <a:prstGeom prst="rect">
            <a:avLst/>
          </a:prstGeom>
          <a:noFill/>
        </p:spPr>
        <p:txBody>
          <a:bodyPr wrap="square">
            <a:spAutoFit/>
          </a:bodyPr>
          <a:lstStyle/>
          <a:p>
            <a:pPr algn="l"/>
            <a:r>
              <a:rPr sz="1000" b="0" i="0">
                <a:solidFill>
                  <a:srgbClr val="8A7A66"/>
                </a:solidFill>
                <a:latin typeface="Calibri"/>
              </a:rPr>
              <a:t>23070325</a:t>
            </a:r>
          </a:p>
        </p:txBody>
      </p:sp>
      <p:sp>
        <p:nvSpPr>
          <p:cNvPr id="24" name="Rectangle 23"/>
          <p:cNvSpPr/>
          <p:nvPr/>
        </p:nvSpPr>
        <p:spPr>
          <a:xfrm>
            <a:off x="10972525" y="5"/>
            <a:ext cx="11" cy="20574"/>
          </a:xfrm>
          <a:prstGeom prst="rect">
            <a:avLst/>
          </a:prstGeom>
          <a:noFill/>
          <a:ln w="9525">
            <a:solidFill>
              <a:srgbClr val="D9C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525" y="5"/>
            <a:ext cx="11" cy="2743200"/>
          </a:xfrm>
          <a:prstGeom prst="rect">
            <a:avLst/>
          </a:prstGeom>
          <a:noFill/>
        </p:spPr>
        <p:txBody>
          <a:bodyPr wrap="square">
            <a:spAutoFit/>
          </a:bodyPr>
          <a:lstStyle/>
          <a:p>
            <a:pPr algn="l"/>
            <a:r>
              <a:rPr sz="1100" b="0" i="0">
                <a:solidFill>
                  <a:srgbClr val="5C4F3F"/>
                </a:solidFill>
                <a:latin typeface="Calibri"/>
              </a:rPr>
              <a:t>Nguyễn Long Đức (23070435) · Phạm Hồ Bảo (23070455) · Kiều Bá Thịnh (23070247) · Đỗ Huy Hiếu (23070325)</a:t>
            </a:r>
          </a:p>
        </p:txBody>
      </p:sp>
      <p:sp>
        <p:nvSpPr>
          <p:cNvPr id="26" name="TextBox 25"/>
          <p:cNvSpPr txBox="1"/>
          <p:nvPr/>
        </p:nvSpPr>
        <p:spPr>
          <a:xfrm>
            <a:off x="10972525" y="6"/>
            <a:ext cx="11" cy="2057400"/>
          </a:xfrm>
          <a:prstGeom prst="rect">
            <a:avLst/>
          </a:prstGeom>
          <a:noFill/>
        </p:spPr>
        <p:txBody>
          <a:bodyPr wrap="square">
            <a:spAutoFit/>
          </a:bodyPr>
          <a:lstStyle/>
          <a:p>
            <a:pPr algn="l"/>
            <a:r>
              <a:rPr sz="1100" b="0" i="0">
                <a:solidFill>
                  <a:srgbClr val="8A7A66"/>
                </a:solidFill>
                <a:latin typeface="Calibri"/>
              </a:rPr>
              <a:t>Faculty of Applied Sciences · Vietnam National University · June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